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74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51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0408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CI/CD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· Cloud Services · Pipelines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1828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Automatización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33472" y="2907792"/>
            <a:ext cx="1828800" cy="3840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633472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CI/CD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2907792"/>
            <a:ext cx="182880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09744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6016" y="2907792"/>
            <a:ext cx="1828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986016" y="2907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Pipelines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Pruebas, CI/CD y Servicios en la Nube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automatizar?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velocidad, confianza y el caso de negocio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automatizar?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y las pruebas candidatas a automatizar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pipeline, herramientas populares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CI en detalle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Actions, GitLab CI, CircleCI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en la nube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 — DevOps as a Service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y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ejemplos comentados + taller práctico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 / 35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Automatizar?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negocio de la automatización de pruebas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Manuales vs. Automatizadas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31920"/>
          </a:xfrm>
          <a:prstGeom prst="rect">
            <a:avLst/>
          </a:prstGeom>
          <a:solidFill>
            <a:srgbClr val="1A1200"/>
          </a:solidFill>
          <a:ln w="1524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Manual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66928" y="149047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 por una persona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947672"/>
            <a:ext cx="3986784" cy="420624"/>
          </a:xfrm>
          <a:prstGeom prst="rect">
            <a:avLst/>
          </a:prstGeom>
          <a:solidFill>
            <a:srgbClr val="1A1200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66928" y="199339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Lenta: horas/días por ciclo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45059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66928" y="249631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Inconsistente — varía por tester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953512"/>
            <a:ext cx="3986784" cy="420624"/>
          </a:xfrm>
          <a:prstGeom prst="rect">
            <a:avLst/>
          </a:prstGeom>
          <a:solidFill>
            <a:srgbClr val="1A1200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66928" y="299923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 con el equipo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45643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6928" y="350215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Costosa a largo plazo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959352"/>
            <a:ext cx="3986784" cy="420624"/>
          </a:xfrm>
          <a:prstGeom prst="rect">
            <a:avLst/>
          </a:prstGeom>
          <a:solidFill>
            <a:srgbClr val="1A1200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66928" y="400507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para exploratory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206240" cy="3931920"/>
          </a:xfrm>
          <a:prstGeom prst="rect">
            <a:avLst/>
          </a:prstGeom>
          <a:solidFill>
            <a:srgbClr val="002832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2062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64608" y="96012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Automatizada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64608" y="144475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56048" y="149047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 por scripts/herramientas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1947672"/>
            <a:ext cx="3986784" cy="420624"/>
          </a:xfrm>
          <a:prstGeom prst="rect">
            <a:avLst/>
          </a:prstGeom>
          <a:solidFill>
            <a:srgbClr val="002832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56048" y="199339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Rápida: segundos/minutos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245059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956048" y="249631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— siempre igual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64608" y="2953512"/>
            <a:ext cx="3986784" cy="420624"/>
          </a:xfrm>
          <a:prstGeom prst="rect">
            <a:avLst/>
          </a:prstGeom>
          <a:solidFill>
            <a:srgbClr val="002832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956048" y="299923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 el equipo fácilmente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64608" y="3456432"/>
            <a:ext cx="3986784" cy="420624"/>
          </a:xfrm>
          <a:prstGeom prst="rect">
            <a:avLst/>
          </a:prstGeom>
          <a:solidFill>
            <a:srgbClr val="0A0F1A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956048" y="350215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inicial, ahorro después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64608" y="3959352"/>
            <a:ext cx="3986784" cy="420624"/>
          </a:xfrm>
          <a:prstGeom prst="rect">
            <a:avLst/>
          </a:prstGeom>
          <a:solidFill>
            <a:srgbClr val="002832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regression/smoke/load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4 / 35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NO Automatizar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empresas líderes automatizan desde el día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2062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20624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56616" y="10789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6616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costoso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" y="20482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 bug en producción cuesta 10 veces más que detectarlo antes del merge.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987552"/>
            <a:ext cx="42062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690872" y="987552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18888" y="107899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18888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tiempo en regresión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20482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sin automatización gastan el 85% del tiempo en pruebas de regresión manuales repetitivas.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42062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2907792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56616" y="29992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4.600+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56616" y="3685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deployments/día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despliega a producción más de 4.600 veces al día — imposible sin automatización total.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907792"/>
            <a:ext cx="42062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90872" y="2907792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18888" y="29992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818888" y="3685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bugs en prod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reporta 40% menos bugs en producción desde implementar CI/CD completo con pruebas automatizadas.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5 / 35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Automatización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automatizar primero y con qué propósito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493008"/>
            <a:ext cx="768096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04672" y="3557016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—  Muchos · Rápidos · Baratos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00200" y="2761488"/>
            <a:ext cx="59436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673352" y="282549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 —  Módulos integrados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2029968"/>
            <a:ext cx="43891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450592" y="20939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Contract Tests  —  Contratos entre servicios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325880"/>
            <a:ext cx="2926080" cy="5943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182112" y="13898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UI Tests  —  Flujos críticos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658368"/>
            <a:ext cx="1645920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822192" y="7223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  —  Carga y estrés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251960"/>
            <a:ext cx="8686800" cy="658368"/>
          </a:xfrm>
          <a:prstGeom prst="rect">
            <a:avLst/>
          </a:prstGeom>
          <a:solidFill>
            <a:srgbClr val="ECFEFF"/>
          </a:solidFill>
          <a:ln w="1651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4251960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70-20-10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67258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Unit Tests | 20% Integration/API | 10% E2E. Más tests abajo = suite más rápida y confiable.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6 / 35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Automatizar?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para decidir qué pruebas merecen ser automatizadas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AUTOMATIZAR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453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con alta frecuencia (regresión)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29968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 de negocio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642616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deterministas (mismo input = mismo output)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55264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y rendimiento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867912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muchos casos de datos (data-driven)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480560"/>
            <a:ext cx="4206240" cy="521208"/>
          </a:xfrm>
          <a:prstGeom prst="rect">
            <a:avLst/>
          </a:prstGeom>
          <a:solidFill>
            <a:srgbClr val="DCFCE7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65760" y="45171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el equipo humano olvida o se salta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AUTOMATIZAR (o diferir)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00600" y="14538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exploratorias de usabilidad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029968"/>
            <a:ext cx="4206240" cy="521208"/>
          </a:xfrm>
          <a:prstGeom prst="rect">
            <a:avLst/>
          </a:prstGeom>
          <a:solidFill>
            <a:srgbClr val="FFE4E6"/>
          </a:solidFill>
          <a:ln w="762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00600" y="20665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UX/accesibilidad subjetivos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642616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00600" y="26791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que cambian muy frecuentemente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55264"/>
            <a:ext cx="4206240" cy="521208"/>
          </a:xfrm>
          <a:prstGeom prst="rect">
            <a:avLst/>
          </a:prstGeom>
          <a:solidFill>
            <a:srgbClr val="FFE4E6"/>
          </a:solidFill>
          <a:ln w="762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0060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un solo uso (exploratory one-time)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867912"/>
            <a:ext cx="4206240" cy="5212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80060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aceptación informales con el cliente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7 / 35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ROI de la Automatización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la inversión se paga sola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194560"/>
          </a:xfrm>
          <a:prstGeom prst="rect">
            <a:avLst/>
          </a:prstGeom>
          <a:solidFill>
            <a:srgbClr val="060C14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Fórmula del ROI de automatización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costo_manual = tiempo_ejecucion_h * salario_hora * frecuencia_año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costo_auto   = tiempo_creacion_h * salario_hora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mantenimiento_año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roi_anual = costo_manual - (costo_auto + mantenimiento_año)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real: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200 tests manuales × 4h/ciclo × $25/h × 52 ciclos/año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Costo manual: $1.040.000 USD/año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Costo automatización: $40.000 USD (una vez) + $5.000/año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ROI año 1: $995.000 USD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ROI año 2: $1.035.000 USD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170432"/>
          </a:xfrm>
          <a:prstGeom prst="rect">
            <a:avLst/>
          </a:prstGeom>
          <a:solidFill>
            <a:srgbClr val="ECFEFF"/>
          </a:solidFill>
          <a:ln w="1651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típico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6 meses en proyectos activos.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años en proyectos con releases poco frecuentes.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258568"/>
            <a:ext cx="3337560" cy="1170432"/>
          </a:xfrm>
          <a:prstGeom prst="rect">
            <a:avLst/>
          </a:prstGeom>
          <a:solidFill>
            <a:srgbClr val="FFE4E6"/>
          </a:solidFill>
          <a:ln w="1651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2258568"/>
            <a:ext cx="45720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 NO se paga solo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79192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cambian con cada sprint.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pantallas que se rediseñan frecuentemente.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557016"/>
            <a:ext cx="3337560" cy="1170432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557016"/>
            <a:ext cx="457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648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 mejor ROI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de lógica de negocio estable.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APIs y contratos entre servicios.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8 / 35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que hace posible el desarrollo ágil moderno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Continuous Integration?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005840"/>
          </a:xfrm>
          <a:prstGeom prst="rect">
            <a:avLst/>
          </a:prstGeom>
          <a:solidFill>
            <a:srgbClr val="151E30"/>
          </a:solidFill>
          <a:ln w="1905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54864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es la práctica de integrar el código de todos los desarrolladores en un repositorio compartido varias veces al día, ejecutando de forma automática una suite de pruebas y verificaciones en cada integración para detectar errores de forma temprana.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1554480" cy="10789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38528" y="239572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2084832"/>
            <a:ext cx="1554480" cy="10789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103120" y="208483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5888" y="239572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40480" y="2084832"/>
            <a:ext cx="15544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840480" y="208483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Unit/Integ.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239572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2084832"/>
            <a:ext cx="155448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577840" y="208483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50608" y="239572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2084832"/>
            <a:ext cx="155448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0" y="2084832"/>
            <a:ext cx="1554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Notify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64992"/>
            <a:ext cx="2697480" cy="1417320"/>
          </a:xfrm>
          <a:prstGeom prst="rect">
            <a:avLst/>
          </a:prstGeom>
          <a:solidFill>
            <a:srgbClr val="151E3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65760" y="3364992"/>
            <a:ext cx="269748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5488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clave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fast: detectar errores en segundos, no días. Cada commit dispara el pipeline.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364992"/>
            <a:ext cx="2697480" cy="1417320"/>
          </a:xfrm>
          <a:prstGeom prst="rect">
            <a:avLst/>
          </a:prstGeom>
          <a:solidFill>
            <a:srgbClr val="151E30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218688" y="3364992"/>
            <a:ext cx="269748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328416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28416" y="37673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 integración por día. Equipos ágiles: decenas al día.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3364992"/>
            <a:ext cx="2697480" cy="1417320"/>
          </a:xfrm>
          <a:prstGeom prst="rect">
            <a:avLst/>
          </a:prstGeom>
          <a:solidFill>
            <a:srgbClr val="151E30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071616" y="3364992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81344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central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1344" y="37673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'integration hell': caos de integrar código separado semanas.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10 / 35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vs CD — ¿Cuál es la diferencia?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Integration, Delivery y Deployment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913632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130552" y="1051560"/>
            <a:ext cx="731520" cy="3200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130552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051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" y="14813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y probar el código automáticamente en cada commit. El objetivo es detectar errores de integración lo antes posible.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3200400"/>
            <a:ext cx="2523744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8328" y="32004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¿El código funciona junto?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" y="376732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 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960120"/>
            <a:ext cx="2743200" cy="3913632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038344" y="1051560"/>
            <a:ext cx="731520" cy="3200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38344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1051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46120" y="14813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que el software siempre esté listo para ser desplegado. El deploy a producción es manual y deliberado.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523744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246120" y="32004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¿Está listo para producción?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376732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Manual deliberado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44184" y="960120"/>
            <a:ext cx="2743200" cy="3913632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946136" y="1051560"/>
            <a:ext cx="7315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946136" y="1051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3912" y="1051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53912" y="1481328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 pasa todas las pruebas se despliega automáticamente a producción sin intervención humana.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53912" y="3200400"/>
            <a:ext cx="2523744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53912" y="32004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¿Ya está en producción?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53912" y="376732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Automático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11 / 35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CI más usado en 2024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Conceptos Fundamentales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esencial para entender cualquier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YAML en .github/workflows/. Define cuándo y cómo correr las acciones. Puedes tener múltiples workflows por proyecto.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(trigger)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3441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dispara el workflow: push, pull_request, schedule, workflow_dispatch. Puedes combinar triggers con filtros (branches, paths).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25856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258568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42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trabajo que corre en una máquina (runner). Los jobs pueden correr en paralelo o en secuencia (needs:).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258568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2258568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6426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o acción dentro de un job. Los steps de un job se ejecutan en orden secuencial.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557016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3557016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9410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reutilizable pre-construido (ej: actions/checkout@v4). Puedes crear las tuyas o usar las del marketplace.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3557016"/>
            <a:ext cx="42062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3557016"/>
            <a:ext cx="54864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9410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virtual que ejecuta el job. GitHub ofrece runners Ubuntu, Windows y macOS. Puedes tener self-hosted runners.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13 / 35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Workflow — Estructura YAML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archivo de GitHub 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60C14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.github/workflows/tests.yml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Suite de Pruebas Automatizadas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Triggers: cuándo se activa este workflow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 main, develop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 main 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Ejecutar pruebas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   # runner de GitHub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1. Descargar el código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2. Configurar Python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python-version: '3.12'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3. Instalar dependencias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Instalar dependencias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pip install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4. Ejecutar pytest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Ejecutar suite de pruebas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pytest tests/ -v --tb=short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48272" y="141732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 .github/workflows/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189280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760720" y="192024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48272" y="192024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 pull_request son los más usados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7568" y="2395728"/>
            <a:ext cx="30632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runs-on: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48272" y="242316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 es gratis y el más estable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87568" y="289864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760720" y="292608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checkout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48272" y="29260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el primer step — clona el repo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3401568"/>
            <a:ext cx="3063240" cy="429768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760720" y="34290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48272" y="342900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shell directo. Multi-línea con |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390448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760720" y="393192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48272" y="393192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verde o ❌ rojo en el PR automáticamente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14 / 35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CI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· GitHub Actions · GitLab CI · CircleCI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El Veterano del 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CI más instalado en el mundo empresarial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Jenkins?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es un servidor de automatización open-source escrito en Java. Puede ejecutar cualquier tarea automatizable y tiene más de 1.800 plugins. Es la opción preferida en empresas con infraestructura on-premise.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965960"/>
            <a:ext cx="5120640" cy="2377440"/>
          </a:xfrm>
          <a:prstGeom prst="rect">
            <a:avLst/>
          </a:prstGeom>
          <a:solidFill>
            <a:srgbClr val="060C1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28600" y="1965960"/>
            <a:ext cx="36576" cy="2377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4983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Jenkinsfile — Pipeline declarativo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  // usar cualquier runner disponible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'mvn clean compile'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stage('Test')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'mvn test'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always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junit 'target/surefire-reports/*.xml'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 Staging')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{ branch 'main'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'./deploy.sh staging'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1965960"/>
            <a:ext cx="150876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57784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359152"/>
            <a:ext cx="1508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650992" y="23957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sin costo de licencia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862072"/>
            <a:ext cx="1508760" cy="42976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50992" y="289864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Altísima flexibilidad — 1800+ plugins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364992"/>
            <a:ext cx="1508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650992" y="34015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infraestructura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3867912"/>
            <a:ext cx="1508760" cy="42976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650992" y="390448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 cloud, cualquier SO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1965960"/>
            <a:ext cx="15087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17804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Contras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359152"/>
            <a:ext cx="1508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251192" y="23957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mantenimiento complejo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2862072"/>
            <a:ext cx="1508760" cy="42976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251192" y="289864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alta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78040" y="3364992"/>
            <a:ext cx="1508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251192" y="34015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desactualizada (mejorado con Blue Ocean)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78040" y="3867912"/>
            <a:ext cx="1508760" cy="42976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251192" y="390448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pueden romper plugins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16 / 35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Workflows Avanzados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builds, secrets, artifacts y ambientes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60C14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Workflow avanzado: matriz + secrets + artefactos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 Completo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Matrix: prueba en múltiples versiones de Python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python-version: ['3.10', '3.11', '3.12']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python-version: ${{ matrix.python-version }}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--cov=src --cov-report=xml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Subir reporte de cobertura como artefacto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actions/upload-artifact@v4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coverage-py${{ matrix.python-version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coverage.xml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Publicar en Codecov (usa secret del repo)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codecov/codecov-action@v4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token: ${{ secrets.CODECOV_TOKEN }}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914400"/>
          </a:xfrm>
          <a:prstGeom prst="rect">
            <a:avLst/>
          </a:prstGeom>
          <a:solidFill>
            <a:srgbClr val="E0F2FE"/>
          </a:solidFill>
          <a:ln w="1651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9144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builds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el mismo job con múltiples versiones de Python, Node, etc. Detecta incompatibilidades.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984248"/>
            <a:ext cx="3337560" cy="914400"/>
          </a:xfrm>
          <a:prstGeom prst="rect">
            <a:avLst/>
          </a:prstGeom>
          <a:solidFill>
            <a:srgbClr val="EEF2FF"/>
          </a:solidFill>
          <a:ln w="1651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1984248"/>
            <a:ext cx="45720" cy="9144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0756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40487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cifradas (${{ secrets.TOKEN }}) — nunca en texto plano en el YAML.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008376"/>
            <a:ext cx="3337560" cy="914400"/>
          </a:xfrm>
          <a:prstGeom prst="rect">
            <a:avLst/>
          </a:prstGeom>
          <a:solidFill>
            <a:srgbClr val="DCFCE7"/>
          </a:solidFill>
          <a:ln w="1651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008376"/>
            <a:ext cx="4572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0998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42900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generados (reportes, binarios) que pueden descargarse después del run.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4032504"/>
            <a:ext cx="3337560" cy="91440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577840" y="4032504"/>
            <a:ext cx="4572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715000" y="412394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Codecov/SonarCloud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4453128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que reciben el reporte de cobertura y lo muestran en el PR con tendencia histórica.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17 / 35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 — Todo en Uno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+ CI/CD + Registry + Deploy en una plataforma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743200"/>
          </a:xfrm>
          <a:prstGeom prst="rect">
            <a:avLst/>
          </a:prstGeom>
          <a:solidFill>
            <a:srgbClr val="060C1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.gitlab-ci.yml — Pipeline completo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stages:          # orden de ejecución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deploy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1: 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run_tests: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stage: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python:3.12   # imagen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pytest tests/ --junitxml=report.xml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artifacts: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junit: report.xml  # GitLab muestra los tests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2: Build Docker Image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build_image: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stage: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docker build -t $CI_REGISTRY_IMAGE:$CI_COMMIT_SHA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docker push $CI_REGISTRY_IMAGE:$CI_COMMIT_SHA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3: Deploy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deploy_staging: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stage: deploy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only: [ main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kubectl apply -f k8s/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170432"/>
          </a:xfrm>
          <a:prstGeom prst="rect">
            <a:avLst/>
          </a:prstGeom>
          <a:solidFill>
            <a:srgbClr val="000000"/>
          </a:solidFill>
          <a:ln w="1651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 automáticas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$CI_COMMIT_SHA, $CI_PROJECT_NAME, etc. — no necesitas configurarlas.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258568"/>
            <a:ext cx="3337560" cy="1170432"/>
          </a:xfrm>
          <a:prstGeom prst="rect">
            <a:avLst/>
          </a:prstGeom>
          <a:solidFill>
            <a:srgbClr val="EEF2FF"/>
          </a:solidFill>
          <a:ln w="1651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2258568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79192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rastrea deploys por ambiente (staging, prod) con historial y rollback.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557016"/>
            <a:ext cx="3337560" cy="1170432"/>
          </a:xfrm>
          <a:prstGeom prst="rect">
            <a:avLst/>
          </a:prstGeom>
          <a:solidFill>
            <a:srgbClr val="E0F2FE"/>
          </a:solidFill>
          <a:ln w="1651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557016"/>
            <a:ext cx="45720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648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vs GitHub 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 es más potente para monorepos; GitHub Actions tiene más integración con el ecosistema OSS.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18 / 35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Herramientas 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elegir según el contexto del proyecto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GitLab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8132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(Git-native)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(Git-native)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98424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precio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(infra propia)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+ por minuto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+ por minuto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+ por crédito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aprendizaje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9008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Jenkinsfile (Groovy)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(.github/)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(.gitlab-ci.yml)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(config.yml)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49300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para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 on-premise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en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en GitLab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de alto rendimiento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99592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Ecosistema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1800+ plugins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 con GitLab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Orbs reutilizables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Shape 4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E0F2FE"/>
          </a:solidFill>
          <a:ln w="1651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5"/>
          <p:cNvSpPr/>
          <p:nvPr/>
        </p:nvSpPr>
        <p:spPr>
          <a:xfrm>
            <a:off x="228600" y="4572000"/>
            <a:ext cx="45720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6"/>
          <p:cNvSpPr/>
          <p:nvPr/>
        </p:nvSpPr>
        <p:spPr>
          <a:xfrm>
            <a:off x="365760" y="466344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curso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365760" y="499262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gratis para repositorios públicos, integrado con GitHub, YAML limpio, miles de acciones en el marketplace.</a:t>
            </a:r>
            <a:endParaRPr lang="en-US" sz="1050" dirty="0"/>
          </a:p>
        </p:txBody>
      </p:sp>
      <p:sp>
        <p:nvSpPr>
          <p:cNvPr id="17" name="Text 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19 / 35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en la Nube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CodePipeline · Azure DevOps · Google Cloud Build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DevOps en Amazon Web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· CodeBuild · CodeDeploy · ECR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ofrece un ecosistema completo de DevOps. CodePipeline orquesta los pasos; CodeBuild ejecuta el CI; CodeDeploy gestiona el deployment; ECR almacena imágenes Docker. Todo integrado con IAM, S3 y los demás servicios de AWS.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5120640" cy="2286000"/>
          </a:xfrm>
          <a:prstGeom prst="rect">
            <a:avLst/>
          </a:prstGeom>
          <a:solidFill>
            <a:srgbClr val="060C14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36576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498348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buildspec.yml — CodeBuild (equivalente a YAML de CI)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0.2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install: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runtime-versions: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python: 3.12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pip install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pre_build: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echo 'Ejecutando pruebas...'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pytest tests/ --tb=short --junitxml=test-results.xml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docker build -t $ECR_REPO:$CODEBUILD_RESOLVED_SOURCE_VERSION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docker push $ECR_REPO:$CODEBUILD_RESOLVED_SOURCE_VERSION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pytest_reports: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test-results.xml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file-format: JUNITXML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1664208"/>
            <a:ext cx="3337560" cy="96012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577840" y="1664208"/>
            <a:ext cx="457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715000" y="175564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208483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— define las etapas y los triggers (S3, GitHub, CodeCommit).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2734056"/>
            <a:ext cx="3337560" cy="96012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577840" y="2734056"/>
            <a:ext cx="457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715000" y="282549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31546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build serverless — paga por minuto de uso. Sin mantener infraestructura.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3803904"/>
            <a:ext cx="3337560" cy="960120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577840" y="3803904"/>
            <a:ext cx="4572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715000" y="389534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42245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Container Registry — almacén privado de imágenes Docker integrado con ECS/EKS.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21 / 35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— Microsoft en la Nube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· Repos · Boards · Test Plans integrados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743200"/>
          </a:xfrm>
          <a:prstGeom prst="rect">
            <a:avLst/>
          </a:prstGeom>
          <a:solidFill>
            <a:srgbClr val="060C14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743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azure-pipelines.yml — Azure DevOps Pipelines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include: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develop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vmImage: 'ubuntu-latest'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pythonVersion: '3.12'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task: UsePythonVersion@0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versionSpec: '$(pythonVersion)'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script: 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displayName: 'Instalar dependencias'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script: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pytest tests/ --junitxml=junit/test-results.xml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--cov=src --cov-report=cobertura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displayName: 'Ejecutar pruebas con cobertura'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task: PublishTestResults@2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testResultsFiles: '**/test-results.xml'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task: PublishCodeCoverageResults@2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codeCoverageTool: Cobertura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summaryFileLocation: coverage.xml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170432"/>
          </a:xfrm>
          <a:prstGeom prst="rect">
            <a:avLst/>
          </a:prstGeom>
          <a:solidFill>
            <a:srgbClr val="E0F2FE"/>
          </a:solidFill>
          <a:ln w="1651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nativo integrado con Azure Pipelines. No necesitas GitHub.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258568"/>
            <a:ext cx="3337560" cy="1170432"/>
          </a:xfrm>
          <a:prstGeom prst="rect">
            <a:avLst/>
          </a:prstGeom>
          <a:solidFill>
            <a:srgbClr val="E0F2FE"/>
          </a:solidFill>
          <a:ln w="1651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2258568"/>
            <a:ext cx="4572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79192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pruebas manuales y automatizadas. Incluye análisis y trazabilidad.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557016"/>
            <a:ext cx="3337560" cy="1170432"/>
          </a:xfrm>
          <a:prstGeom prst="rect">
            <a:avLst/>
          </a:prstGeom>
          <a:solidFill>
            <a:srgbClr val="E0F2FE"/>
          </a:solidFill>
          <a:ln w="1651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557016"/>
            <a:ext cx="457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648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Microsoft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Visual Studio, Office 365 — ideal para empresas ya en el ecosistema Microsoft.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22 / 35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Build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serverless en la infraestructura de Google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331720"/>
          </a:xfrm>
          <a:prstGeom prst="rect">
            <a:avLst/>
          </a:prstGeom>
          <a:solidFill>
            <a:srgbClr val="060C14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331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cloudbuild.yaml — Google Cloud Build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Paso 1: Instalar dependencias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'python:3.12'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entrypoint: 'pip'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['install', '-r', 'requirements.txt']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Paso 2: Ejecutar pruebas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'python:3.12'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entrypoint: 'pytest'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['tests/', '-v', '--tb=short']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Paso 3: Build de la imagen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'gcr.io/cloud-builders/docker'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['build', '-t', 'gcr.io/$PROJECT_ID/app:$COMMIT_SHA', '.']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Paso 4: Push a Google Container Registry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'gcr.io/cloud-builders/docker'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 ['push', 'gcr.io/$PROJECT_ID/app:$COMMIT_SHA']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images: ['gcr.io/$PROJECT_ID/app:$COMMIT_SHA']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Cloud 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14264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14264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infraestructura que mantener. Paga por build-minute.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1847088"/>
            <a:ext cx="3063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760720" y="1883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GKE: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400" y="18836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directo a Google Kubernetes Engine.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87568" y="2304288"/>
            <a:ext cx="306324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60720" y="23408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23408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desde Cloud Source, GitHub o Bitbucket.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87568" y="2761488"/>
            <a:ext cx="3063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760720" y="27980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rápidos: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9400" y="2798064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alto rendimiento disponibles en segundos.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01568"/>
            <a:ext cx="8686800" cy="777240"/>
          </a:xfrm>
          <a:prstGeom prst="rect">
            <a:avLst/>
          </a:prstGeom>
          <a:solidFill>
            <a:srgbClr val="EEF2FF"/>
          </a:solidFill>
          <a:ln w="1651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3401568"/>
            <a:ext cx="45720" cy="7772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65760" y="34930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elegir Cloud Build?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82219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usas GCP (Google Kubernetes Engine, Cloud Run, Artifact Registry). La integración nativa elimina fricciones de configuración.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23 / 35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de estudio completos y comentados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API Python: Pipeline Completo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cobertura + linting + Docker en GitHub 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60C1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.github/workflows/python-ci.yml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Python CI — API Universitaria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 { branches: [main, develop]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branches: [main]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quality: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python-version: '3.12'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Cache pip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actions/cache@v4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~/.cache/pip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key: ${{ runner.os }}-pip-${{ hashFiles('requirements.txt') }}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Instalar dependencias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pip install -r requirements.txt -r requirements-dev.txt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Linting (flake8)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flake8 src/ --max-line-length=100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Type checking (mypy)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mypy src/ --ignore-missing-imports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Tests con cobertura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pytest tests/ --cov=src --cov-fail-under=80 --cov-report=xml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Publicar cobertura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codecov/codecov-action@v4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quality   # solo si quality pasa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Build Docker image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docker build -t api-universitaria:${{ github.sha }} 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este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42976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de pip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31152" y="141732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reinstalar en cada run — de 2min a 20s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189280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760720" y="192024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flake8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31152" y="192024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Linting: código limpio y sin errores de estilo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7568" y="2395728"/>
            <a:ext cx="3063240" cy="42976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31152" y="242316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 estático — bugs sin ejecutar el código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87568" y="289864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760720" y="292608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--cov-fail-under=80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31152" y="292608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FALLA si la cobertura baja del 80%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3401568"/>
            <a:ext cx="3063240" cy="42976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760720" y="342900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needs: quality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31152" y="342900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solo se construye si los tests pasan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87568" y="3904488"/>
            <a:ext cx="3063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760720" y="393192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github.sha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3931920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etiqueta con el commit exacto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25 / 35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Node.js Frontend: Jest + E2E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+ integración + Playwright en CI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60C1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.github/workflows/node-ci.yml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Node.js CI — Frontend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node-version: [18.x, 20.x]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node-version: ${{ matrix.node-version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cache: 'npm'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             # install reproducible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run build      # compilar TypeScript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test           # Jest unit tests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node-version: '20'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Instalar navegadores Playwright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npx playwright install --with-deps chromium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Iniciar app en background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npm start &amp;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E2E tests Playwright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npx playwright test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actions/upload-artifact@v4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if: failure()   # solo si algo falla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playwright-report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playwright-report/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170432"/>
          </a:xfrm>
          <a:prstGeom prst="rect">
            <a:avLst/>
          </a:prstGeom>
          <a:solidFill>
            <a:srgbClr val="DCFCE7"/>
          </a:solidFill>
          <a:ln w="1651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1170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vs npm install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usa el package-lock.json exacto — builds reproducibles. install puede actualizar versiones.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258568"/>
            <a:ext cx="3337560" cy="1170432"/>
          </a:xfrm>
          <a:prstGeom prst="rect">
            <a:avLst/>
          </a:prstGeom>
          <a:solidFill>
            <a:srgbClr val="000000"/>
          </a:solidFill>
          <a:ln w="1651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2258568"/>
            <a:ext cx="457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en 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79192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install descarga los navegadores en el runner. --with-deps instala dependencias del SO.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557016"/>
            <a:ext cx="3337560" cy="1170432"/>
          </a:xfrm>
          <a:prstGeom prst="rect">
            <a:avLst/>
          </a:prstGeom>
          <a:solidFill>
            <a:srgbClr val="EEF2FF"/>
          </a:solidFill>
          <a:ln w="1651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557016"/>
            <a:ext cx="45720" cy="11704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648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failure()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artefacto del reporte solo se sube cuando hay fallos — ahorra espacio y costos de storage.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26 / 35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Pipeline con Docker y Deploy Automático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Push imagen → Deploy a staging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2971800"/>
          </a:xfrm>
          <a:prstGeom prst="rect">
            <a:avLst/>
          </a:prstGeom>
          <a:solidFill>
            <a:srgbClr val="060C1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2971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completo: CI + CD a staging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CI/CD Completo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 { branches: [main]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test-and-build: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outputs:                          # pasar datos entre jobs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image-tag: ${{ steps.meta.outputs.tags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Login al registro de imágenes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docker/login-action@v3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registry: ghcr.io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username: ${{ github.actor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${{ secrets.GITHUB_TOKEN }}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Generar metadatos de la imagen (tags semánticos)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id: meta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docker/metadata-action@v5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images: ghcr.io/${{ github.repository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tags: type=sha,prefix=,suffix=,format=short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Build y push con caché de capas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docker/build-push-action@v5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push: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tags: ${{ steps.meta.outputs.tags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cache-from: type=gha  # GitHub Actions Cache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cache-to: type=gha,mode=max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deploy-staging: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test-and-build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staging          # requiere aprobación manual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Deploy a staging via SSH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appleboy/ssh-action@v1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host: ${{ secrets.STAGING_HOST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username: deploy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key: ${{ secrets.SSH_PRIVATE_KEY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script: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docker pull ghcr.io/${{ github.repository }}:$IMAGE_TAG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docker-compose up -d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27 / 35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Notificaciones y Calidad de Código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+ SonarCloud + PR comments automáticos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794760"/>
          </a:xfrm>
          <a:prstGeom prst="rect">
            <a:avLst/>
          </a:prstGeom>
          <a:solidFill>
            <a:srgbClr val="060C14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98348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Workflow con notificaciones y calidad de código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 con Calidad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quality-gate: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fetch-depth: 0    # SonarCloud necesita el historial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python-version: '3.12'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pytest tests/ --cov=src --cov-report=xml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--junitxml=test-results.xml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Análisis estático con SonarCloud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SonarSource/sonarcloud-github-action@master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SONAR_TOKEN: ${{ secrets.SONAR_TOKEN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GITHUB_TOKEN: ${{ secrets.GITHUB_TOKEN }}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Comentar el PR con el resumen de resultados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Comentar PR con resultados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EnricoMi/publish-unit-test-result-action@v2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if: always()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files: test-results.xml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Notificar a Slack si el job falla en main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Notificar Slack en fallo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if: failure() &amp;&amp; github.ref == 'refs/heads/main'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 slackapi/slack-github-action@v1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payload: '{"text":"❌ CI falló en main: ${{ github.event.head_commit.message }}"}'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SLACK_WEBHOOK_URL: ${{ secrets.SLACK_WEBHOOK }}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170432"/>
          </a:xfrm>
          <a:prstGeom prst="rect">
            <a:avLst/>
          </a:prstGeom>
          <a:solidFill>
            <a:srgbClr val="DCFCE7"/>
          </a:solidFill>
          <a:ln w="1651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577840" y="960120"/>
            <a:ext cx="45720" cy="11704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80744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deuda técnica, duplicación, bugs y vulnerabilidades. Muestra en el PR si aprueba o no.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258568"/>
            <a:ext cx="3337560" cy="1170432"/>
          </a:xfrm>
          <a:prstGeom prst="rect">
            <a:avLst/>
          </a:prstGeom>
          <a:solidFill>
            <a:srgbClr val="E0F2FE"/>
          </a:solidFill>
          <a:ln w="1651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577840" y="2258568"/>
            <a:ext cx="45720" cy="1170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715000" y="23500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679192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publish-unit-test-result-action publica un resumen de tests directamente en el PR.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557016"/>
            <a:ext cx="3337560" cy="1170432"/>
          </a:xfrm>
          <a:prstGeom prst="rect">
            <a:avLst/>
          </a:prstGeom>
          <a:solidFill>
            <a:srgbClr val="FEF3C7"/>
          </a:solidFill>
          <a:ln w="1651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3557016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715000" y="364845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failure() &amp;&amp; 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77640"/>
            <a:ext cx="3136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notificación a Slack solo se envía cuando falla en main — no en cada PR de feature.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28 / 35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Errores Comunes en CI/CD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CI/CD y Automatización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los equipos maduros siguen siempre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rápido y falla claro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más rápidas van primero. Un test unitario que tarda 100ms debe correr antes que un E2E de 5 minutos.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27832" y="1051560"/>
            <a:ext cx="329184" cy="329184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27832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es código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YAML están en el repositorio, versionados con el código. Tratan el CI como first-class citizen.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135624" y="1051560"/>
            <a:ext cx="329184" cy="3291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135624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47104" y="1069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secretos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53912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variables de entorno del sistema CI (${{ secrets.X }}). Nunca en el código ni en el YAML directo.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28600" y="289864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20040" y="299008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00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0083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deterministas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que a veces pasa y a veces falla (flaky) es peor que no tenerlo. Elimina todos los flaky tests.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36392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136392" y="2898648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227832" y="299008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27832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39312" y="30083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pipeline verde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46120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roto bloqueado por días no da información. Fix inmediato o revert del commit que lo rompió.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44184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6044184" y="289864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135624" y="29900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135624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47104" y="30083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dependencias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53912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actions/cache para pip, npm, maven. De 3 minutos a 20 segundos. Ahorra dinero y tiempo acumulado.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30 / 35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Errores Más Comunes en CI/CD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cometen los equipos que empiezan a automatizar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229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16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sin una estrategia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53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'Vamos a automatizar todo' sin prioridad genera suites lentas e inmantenibles.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2024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1920240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19751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los flaky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fallan intermitentemente erosionan la confianza en el pipeline. El equipo deja de hacerles caso.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4572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29352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136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 tarda más de 10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74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pipeline tarda 30 minutos, los desarrolladores dejan de esperar y hacen merges sin ver el resultado.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84048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228600" y="384048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65760" y="389534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texto plano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API key en un commit de GitHub es visible para siempre en la historia. Es una brecha de seguridad permanente.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96012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960120"/>
            <a:ext cx="45720" cy="8229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1216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notifications de fallo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1453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sabe que el pipeline rompió, el equipo trabaja sobre código roto sin saberlo.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0872" y="192024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690872" y="192024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28032" y="19751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2176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solo en local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'En mi máquina funciona' — sin CI, cada developer tiene un entorno diferente. El CI es el entorno de referencia.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90872" y="2880360"/>
            <a:ext cx="42062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690872" y="2880360"/>
            <a:ext cx="4572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28032" y="29352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3136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testear el propio 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3374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YAML del CI nunca se prueba. Un workflow roto puede bloquear al equipo completo.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31 / 35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Propuesto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tu primer pipeline CI/CD completo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3788" y="6724"/>
            <a:ext cx="9144000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— Sesión 9  |  60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51E30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01498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El sistema de notas de la Universitaria necesita un pipeline CI/CD completo. Tu tarea: crear el repositorio, los tests y el workflow de GitHub Actions.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2743200" cy="3200400"/>
          </a:xfrm>
          <a:prstGeom prst="rect">
            <a:avLst/>
          </a:prstGeom>
          <a:solidFill>
            <a:srgbClr val="151E3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(15 min)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Fork o crea un repo en GitHub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Crea una API Python simple (Flask/FastAPI) con 3 endpoints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Escribe 10 pruebas unitarias con pytest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Verifica que pasan localmente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36392" y="1664208"/>
            <a:ext cx="2743200" cy="3200400"/>
          </a:xfrm>
          <a:prstGeom prst="rect">
            <a:avLst/>
          </a:prstGeom>
          <a:solidFill>
            <a:srgbClr val="151E3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CI (25 min)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Crea .github/workflows/ci.yml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Configura: checkout, Python, pip cache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Agrega: linting, tests, cobertura ≥ 70%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Verifica que el pipeline pasa en GitHub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44184" y="1664208"/>
            <a:ext cx="2743200" cy="3200400"/>
          </a:xfrm>
          <a:prstGeom prst="rect">
            <a:avLst/>
          </a:prstGeom>
          <a:solidFill>
            <a:srgbClr val="151E30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y mejoras (20 min)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Agrega job de Docker build (after tests)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Configura notificación de fallo en el README badge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Crea una rama y un PR — observa el pipeline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Genera un fallo intencional y analiza el output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del repositorio GitHub con el pipeline verde (badge en el README)  |  Criterio: todos los checks pasan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33 / 35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Automatización y CI/CD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aprendido en una vista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automatizar?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confianza, ROI positivo. Los equipos ágiles modernos no pueden sobrevivir sin automatización.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7432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6440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automatización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unit, 20% integration/API, 10% E2E. Más en la base = más rápido y confiable.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74320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9048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y probar en cada commit. Fail fast. Eliminar el integration hell.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9864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en .github/workflows/. Workflow → Jobs → Steps. El estándar moderno.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54680" y="289864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6440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CI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6440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(legacy/enterprise), GitHub Actions (moderno), GitLab CI (monoplataforma), CircleCI.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80760" y="2898648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9048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DevOps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048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CodePipeline, Azure DevOps, Google Cloud Build. Todo-en-uno si ya usas la nube.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34 / 35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51E30"/>
          </a:solidFill>
          <a:ln w="12700">
            <a:solidFill>
              <a:srgbClr val="0284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Docs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docs.github.com/actions — Documentación oficial completa con ejemplos.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51E3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6460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Jenkins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jenkins.io/doc — Guía oficial. Ideal para entornos corporativos on-premise.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51E30"/>
          </a:solidFill>
          <a:ln w="12700">
            <a:solidFill>
              <a:srgbClr val="4338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404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Roadmap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roadmap.sh/devops — Mapa de aprendizaje interactivo del mundo DevOps.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51E30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6460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(libro)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Forsgren. La evidencia científica detrás de CI/CD y alto rendimiento en software.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Security Testing — OWASP Top 10, DAST, SAST y pruebas de seguridad en el pipeline CI/CD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 7mo Semestre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CI/CD  |  Sesión 9  |  Universitaria de Colombia  |  35 / 35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5583</Words>
  <Application>Microsoft Office PowerPoint</Application>
  <PresentationFormat>Presentación en pantalla (16:9)</PresentationFormat>
  <Paragraphs>862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9: Automatización de Pruebas y CI/CD</dc:title>
  <dc:subject>PptxGenJS Presentation</dc:subject>
  <dc:creator>Mg. Sergio Alejandro Burbano Mena</dc:creator>
  <cp:lastModifiedBy>Sergio Alejandro Burbano Mena</cp:lastModifiedBy>
  <cp:revision>3</cp:revision>
  <dcterms:created xsi:type="dcterms:W3CDTF">2026-04-15T22:49:09Z</dcterms:created>
  <dcterms:modified xsi:type="dcterms:W3CDTF">2026-04-17T20:41:17Z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2026-04-16T19:20:07Z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cac93ac8-02f0-4539-aea8-6589f4919b5a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