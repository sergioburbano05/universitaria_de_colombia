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Testing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inteligente sin scripts: intuición, hipótesis y descubrimiento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11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exploratory testing y diferenciarlo del testing basado en scripts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técnica Session-Based Test Management (SBTM)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charters de exploración efectivos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hallazgos con Test Tours y heurísticas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testing exploratorio con testing automatizado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el Exploratory Testing?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(James Bach — el padre del ET):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"Simultaneous learning, test design, and test execution"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testing ad-hoc o random — es testing INTELIGENTE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clave: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Testing: los pasos están predefinidos antes de ejecutar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Testing: el tester aprende el sistema mientras lo testea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 más valioso?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nuevos con poca documentación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bugs que los scripts no detectarían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usabilidad y experiencia de usuario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a suites automatizadas — encuentra lo inesperado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ET lo hace el tester más curioso, no el más metódico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Session-Based Test Management (SBTM)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una sesión exploratoria con: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de la sesión: '¿Qué voy a explorar y con qué objetivo?'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'Explorar el proceso de pago con tarjetas internacionales'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Timeboxed: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45-90 minutos de exploración concentrada sin interrupciones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y Bugs: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hallazgos, preguntas, bugs encontrados en tiempo real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post-sesión: ¿qué se cubrió, qué se encontró, qué queda por explorar?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SBTM: % time on mission, bugs/hour, areas covered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Tours y Heurísticas de Exploración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Test Tours (Bach &amp; Whittaker)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Guidebook Tour: explorar como si fuera la primera vez (usuario nuevo)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Tour: flujos que generan dinero al negocio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Tour: explorar desde los grandes features hacia los detalles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Tour: los casos más complejos y esquinas del sistema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Alley Tour: funciones menos usadas y obscuras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Heurísticas HICCUPPS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HICCUPPS (Heurísticas de Comparación):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¿era diferente antes?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¿coincide con la marca/imagen del producto?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Products: ¿otros productos similares lo hacen diferente?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¿cumple lo que promete la documentación?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Expectations: ¿el usuario esperaría este comportamiento?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Documentación y Reporteo del 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para documentar en tiempo real: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Reporter — aplicación ligera para notas de sesión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Chrome Extension — integrado al browser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TestBuddy, Notepad++ con plantillas SBTM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reporte de sesión: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Charter: [misión de la sesión]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[tiempo real de exploración]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Cubiertas: [módulos, flujos explorados]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Encontrados: [lista con severidad]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Abiertas: [cosas que requieren más investigación]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Sesión Recomendada: [charter sugerido]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reportes con Jira, Azure DevOps, o TestRail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+ Automatización: la Combinación Ganadora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automation tests y ET son COMPLEMENTARIOS: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Automatización: verifica lo que YA SABEMOS que debería funcionar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Testing: descubre lo que NO SABÍAMOS que podría fallar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recomendado: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Ejecutar suite automatizada → obtener feedback en 20 minutos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 los tests en verde: realizar sesión exploratoria enfocada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Bugs encontrados en ET → convertirlos en tests automatizados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 suite automatizada crece con los learnings del ET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recomendado en equipos maduros: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tiempo en testing automatizado + 30% en exploratorio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features nuevas o complejas: hasta 50/50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Microsoft y el Exploratory Testing en Windows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encuentran bugs que 10,000 tests automatizados no detectaron?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tiene más de 1,000 testers dedicados a exploratory testing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Usaron SBTM para testear Windows Vista y encontraron 600+ bugs críticos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Azure DevOps (VSTS), el ET encontró el 40% de los bugs en producción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Programa: 'Dogfooding' — todos los empleados usan versiones beta y reportan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más valioso: 'Explorar el comportamiento del sistema bajo condiciones de red degradada'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bugs de usabilidad que ningún script hubiera encontrado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El ET encontró el 40% de los bugs de Azure DevOps; evidencia que la automatización sola no es suficiente para productos de alta calidad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justificarías el valor del exploratory testing a un gerente que solo valora métricas automatizadas?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un charter de exploración para un módulo de pagos de una app fintech.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heurísticas de HICCUPPS son más relevantes para un sistema de salud (EMR/EHR)?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el ET puede ser más efectivo que 100 tests automatizados adicionales?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ET: aprendizaje, diseño y ejecución simultáneos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ad-hoc: es testing inteligente basado en charters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SBTM: timeboxed, charter, notas, debriefing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Tours: Guidebook, Money, Landmark, Back Alley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HICCUPPS para guiar la exploración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+ Automatización: complementarios, no excluyentes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CK — Chidamber &amp; Kemerer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cuantitativa de la complejidad y calidad del diseño OO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12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las 6 métricas CK sobre código Java/Python real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umbrales de alerta para cada métrica CK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las métricas CK con la testabilidad del código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herramientas como SonarQube y CKjm para calcular métricas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refactorizaciones basadas en valores problemáticos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Medir el Diseño Orientado a Objetos?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 not control what you can not measure" — Tom DeMarco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CK (1994) responden: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diseño de este sistema es mantenible?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clases son difíciles de testear y por qué?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la mayor deuda técnica del sistema?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testing: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complejidad ciclomática → más caminos a testear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acoplamiento → difícil aislar con mocks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cohesión → fácil de testear unitariamente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SonarQube, CKjm2 (Java), Radon (Python), NDepend (.NET)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WMC — Weighted Methods per Class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la complejidad ciclomática de todos los métodos de una clase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todos los métodos tienen complejidad 1: WMC = número de métodos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complejidad ciclomática: WMC = Σ CC(método_i)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alto → clase muy compleja, difícil de entender y testear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rama del método requiere un caso de test adicional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(McCabe Guidelines):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1-10: simple, fácil de testear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11-20: moderado, revisar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&gt; 40: riesgo alto — candidato a refactorizar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Refactorización: Extract Method, Extract Class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DIT y NOC — Jerarquía de Herencia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— Depth of Inheritance Tree: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niveles de herencia hasta la clase raíz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= 0: sin herencia | DIT = 3: 3 niveles de herencia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alto → mayor probabilidad de bugs heredados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Umbral: DIT ≤ 5 (recomendación CK)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test: deben testearse los métodos heredados también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— Number of Children: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subclases directas de una clase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alto → clase muy reutilizada → alto impacto si se modifica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&gt; 10 puede indicar sobre-generalización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riesgosa: DIT alto + NOC alto = 'fragile base class'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en clase base rompe N subclases → regresión costosa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CBO, RFC y LCOM — Acoplamiento y Cohesión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— Coupling Between Object Classes: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clases con las que una clase tiene acoplamiento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alto → difícil de testear aislado, requiere muchos mocks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Umbral: CBO ≤ 14 (varía por proyecto)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— Response For a Class: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métodos que pueden ejecutarse al llamar a la clase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alto → muchas rutas de código a testear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Umbral: RFC ≤ 50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— Lack of Cohesion in Methods: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'unida' está la clase (si los métodos usan los mismos atributos)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alto → clase hace demasiado (viola SRP)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alto = candidato a dividir en múltiples clases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cohesión (LCOM bajo) → tests más simples y precisos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Aplicando CK en la Práctica — Ejemplo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PaymentProcessor analizada con CKjm: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WMC: 67 → 🔴 muy compleja (umbral: &lt;20)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DIT: 3 → 🟡 aceptable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NOC: 8 → 🟡 revisar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CBO: 21 → 🔴 alto acoplamiento (umbral: &lt;14)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RFC: 89 → 🔴 alta complejidad de respuesta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LCOM: 0.72 → 🔴 baja cohesión (umbral: &lt;0.5)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PaymentProcessor es un 'God Class'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Violaciones de SRP: maneja validación, procesamiento Y notificación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refactorización: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Extraer: PaymentValidator, PaymentProcessor, PaymentNotifier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WMC &lt; 15, CBO &lt; 8, LCOM &lt; 0.3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Apache Commons Lang — Análisis CK en Open Source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las métricas CK guían el roadmap de refactorización?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Commons Lang es usada por miles de proyectos Java en el mundo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CK con CKjm2 reveló que StringUtils tenía WMC: 145 y CBO: 34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StringUtils tenía 220+ métodos estáticos — una God Class clásica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CK motivaron la división en StringUtils + StringEscapeUtils + WordUtils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post-refactorización: WMC &lt; 35 por clase, cobertura de tests de 98%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se simplificaron significativamente tras la separación de responsabilidades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Métricas CK guiaron la refactorización de StringUtils reduciendo WMC de 145 a &lt;35; la testabilidad mejoró dramáticamente y se alcanzó 98% de cobertura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usarías las métricas CK para priorizar qué clases requieren más tests unitarios?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LCOM alto dificulta el testing y qué técnica de refactorización aplicarías?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¿Un DIT de 6 es siempre problemático? ¿En qué contexto sería aceptable?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integrarías el análisis CK en un pipeline CI/CD para detectar deuda técnica automáticamente?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WMC: complejidad total de la clase → afecta # de tests necesarios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DIT/NOC: jerarquía de herencia → fragile base class risk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CBO: acoplamiento → dificulta el mocking y el aislamiento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RFC: complejidad de respuesta → rutas a cubrir con tests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LCOM: cohesión → clase con alta LCOM viola SRP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SonarQube, CKjm2, Radon, NDepend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Programación de Testing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algorítmico de estrategias de prueba: complejidad y cobertura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13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complejidad ciclomática y determinar el # mínimo de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técnicas de partición de equivalencia y análisis de valores límite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test suites con criterios de cobertura MC/DC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complejidad temporal de las suites de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Introducir los fundamentos de programación dinámica aplicada a testing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Complejidad Ciclomática — Fundamento Matemático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(Thomas McCabe, 1976):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E − N + 2P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aristas del grafo de flujo | N: nodos | P: componentes conexos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práctica: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número de caminos independientes en el código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número MÍNIMO de casos de prueba para cobertura de ramas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con: 1 if + 1 while + 1 if-else → M = 4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necesitan mínimo 4 tests para cobertura de ramas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McCabe: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≤ 10: simple | M 11-20: moderado | M &gt; 30: alto riesgo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WMC (CK): WMC = Σ M de todos los métodos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 de Diseño de Casos de Prueba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de Equivalencia (EP):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el dominio de entrada en clases que se comportan igual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Válidos: edad 18-65 → probar con 30 (representativo de la clase)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Inválidos: edad &lt; 0 y edad &gt; 120 → dos clases inválidas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Valores Límite (BVA):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en los BORDES de cada partición: mín, mín+1, máx-1, máx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bugs viven en los límites: off-by-one errors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Tables (Tablas de Decisión):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lógica con múltiples condiciones combinadas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condiciones → hasta 2^N combinaciones a evaluar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 (Modified Condition/Decision Coverage):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Requerido por DO-178C para software aeroespacial y NASA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Introducción a la Programación Dinámica en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Programación Dinámica (PD)?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para resolver problemas complejos descomponiéndolos en subproblemas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soluciones de subproblemas (memoización) para evitar recalcular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testing: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dado un sistema con N módulos y M tipos de test, ¿cuál es la asignación óptima de tests?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cobertura con restricciones de tiempo/recursos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de PD: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óptima: la solución óptima contiene soluciones óptimas de subproblemas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solapados: los mismos subproblemas se resuelven múltiples veces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en testing: selección óptima de casos, cobertura mínima de costo máximo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sesión: Fibonacci, Mochila, LCS como preparación para problemas de testing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Complejidad Temporal de Suites de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la complejidad de los tests?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suite lenta → CI/CD lento → feedback tarde → bugs en producción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complejidad: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unitario simple: O(1) — constante, independiente del input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 bucle sobre N elementos: O(N)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búsqueda en base de datos sin índice: O(N) en el peor caso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matriz de combinaciones: O(2^N) — exponencial (inaceptable)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Optimizaciones: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Paralelización: reducir de O(N) a O(N/k) con k workers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de fixtures: preparar datos una vez, usar en múltiples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Sharding: distribuir E2E tests en N runners paralelos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suite completa en &lt;15 minutos para CI efectivo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NASA — MC/DC en Software de Vuelo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NASA / FAA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donde un bug cuesta vidas — estándares de cobertura extremos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DO-178C (aviación) y NASA-STD-8739.8 exigen MC/DC coverage para software crítico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 requiere que cada condición en cada decisión afecte independientemente el resultado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del Mars Rover tenía MC/DC &gt; 99% antes del lanzamiento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 partición de equivalencia + BVA + MC/DC + mutation testing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el proceso de testing del software del Space Shuttle costaba $35M por misión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la inversión en testing riguroso es proporcional al costo del fallo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El rigor en el diseño de casos de prueba (EP, BVA, MC/DC) garantizó 0 fallos de software en misiones Mars Rover y Space Shuttle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calcularías el número mínimo de tests para un método con 3 condiciones if/else anidadas?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BVA detecta más bugs que EP simple? Da un ejemplo con condiciones de edad.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tipo de sistema real aplicarías MC/DC y por qué el estándar tradicional no sería suficiente?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aplicarías PD para optimizar la selección de tests en un presupuesto de 2 horas de CI?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Ciclomática: M = E-N+2P = mínimo de tests necesarios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EP: particiones de equivalencia — representativas de cada clase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BVA: valores límite — donde viven la mayoría de los bugs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MC/DC: cobertura para software crítico (aviación, NASA)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en testing: optimización de cobertura con restricciones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suite CI: &lt;15 minutos con paralelización y sharding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Programación Dinámica — Fundamentos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Memoización, tabulación y análisis de subproblemas solapados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14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problemas que tienen subestructura óptima y subproblemas solapados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PD con enfoque top-down (memoización) y bottom-up (tabulación)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complejidad temporal O() y espacial S() de soluciones PD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Fibonacci con PD y comparar con la solución recursiva ingenua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Plantear tests unitarios para verificar soluciones PD correctamente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Aplicar Programación Dinámica?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condiciones necesarias: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Subestructura Óptima: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óptima del problema contiene soluciones óptimas de sus subproblemas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camino más corto de A→C pasa por el camino más corto A→B→C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Subproblemas Solapados: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resolver el problema, los mismos subproblemas se resuelven repetidamente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recursión ingenua recalcula estos subproblemas → ineficiente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Divide &amp; Conquer: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D&amp;C: subproblemas independientes (MergeSort, QuickSort)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PD: subproblemas solapados que se reutilizan (Fibonacci, LCS, Mochila)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de problemas PD: optimización, conteo de caminos, subsecuencias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Top-Down vs Bottom-Up — Los Dos Enfoques PD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(Memoización):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+ caché (diccionario/array) de resultados calculados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fib(n, memo={}):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n in memo: return memo[n]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n &lt;= 1: return 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memo[n] = fib(n-1, memo) + fib(n-2, memo)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memo[n]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O(N) tiempo, O(N) espacio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(Tabulación):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 — llenar tabla desde casos base hacia la solución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= [0, 1]; for i in range(2, n+1): dp.append(dp[i-1]+dp[i-2])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más eficiente en espacio (puede optimizarse a O(1))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empezar con top-down, optimizar a bottom-up si es necesario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Fibonacci — Análisis de Complejidad Comparado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Ingenua (sin PD):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T(n-1) + T(n-2) + O(1) → O(2^N) — exponencial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fib(50) haría ~1 billón de llamadas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Memoización (Top-Down PD):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subproblema se calcula UNA VEZ → O(N) tiempo, O(N) espacio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fib(50) → 50 llamadas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Tabulación (Bottom-Up PD):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tiempo | Optimizable a O(1) espacio con 2 variables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la solución PD: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para caso base: fib(0)=0, fib(1)=1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para caso inductivo: fib(10)=55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performance: fib(1000) debe terminar en &lt; 1ms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números grandes: fib(100)=354224848179261915075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Terminología Esencial de PD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que necesitamos para resolver un subproblema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Fibonacci: el índice N es el estado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(Recurrencia):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entre el estado actual y los estados anteriores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Fibonacci: dp[n] = dp[n-1] + dp[n-2]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estados más pequeños cuya solución es directa (sin recursión)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Fibonacci: dp[0]=0, dp[1]=1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 (dp array):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que almacena los resultados de subproblemas resueltos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1D, 2D, o nD según la dimensión del estado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sobre la tabla: reconstruir la solución óptima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Optimización de Releases con PD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Ingeniería de Software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módulos podemos testear con N horas de CI disponibles?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5 módulos con tiempos de test [3, 4, 2, 5, 1] horas y valores de cobertura [90, 85, 70, 95, 60]%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Presupuesto: 8 horas de CI disponibles. Maximizar cobertura total.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exactamente el Problema de la Mochila 0/1 — resoluble con PD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 de 5×9 (módulos × horas): O(N × W) tiempo y espacio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óptima: módulos 1, 3, 5 → 6 horas, cobertura promedio 73%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(5h, 95%): se añade si el presupuesto aumenta a 9h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La PD optimizó la selección de tests para maximizar cobertura con restricción de tiempo — misma formulación que el Problema de la Mochila 0/1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recursión ingenua de Fibonacci es O(2^N)? Dibuja el árbol de llamadas para fib(6).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identificas que un problema tiene 'subproblemas solapados' antes de implementar la solución?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preferirías top-down sobre bottom-up? ¿Hay casos donde uno es imposible?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5 casos de prueba para validar una implementación correcta de Fibonacci con PD.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aplica cuando hay: subestructura óptima + subproblemas solapados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memoización recursiva — intuitivo, O(N) espacio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tabulación iterativa — eficiente, optimizable a O(1)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+ Transición + Caso Base: la trinidad de PD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Fibonacci: de O(2^N) a O(N) con memoización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PD: casos base, inductivos, performance, overflow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Segundo Parcial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— Sesiones 11 a 14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General — Sesiones 11 a 14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— Exploratory Testing: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SBTM, charters, Test Tours, HICCUPPS, ET + Automatización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— Métricas CK: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WMC, DIT, NOC, CBO, RFC, LCOM — umbrales e interpretación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— Programación de Testing: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ciclomática, EP, BVA, MC/DC, PD en optimización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— Programación Dinámica Fundamentos: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Bottom-Up, Estado/Transición/Caso Base, Fibonacci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adicional de Sesiones 1-9 (examen acumulativo)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EVALUACIÓN — Parcial 2 — Sección A: Conceptos (40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charter en SBTM y cuáles son sus elementos obligatorios? Da un ejemplo.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1051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WMC y explica cómo afecta la testabilidad para una clase con 5 métodos con CC = [3, 7, 2, 5, 1].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69464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15184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las dos condiciones necesarias para aplicar Programación Dinámica? Da un ejemplo de cada una.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374136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19856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la diferencia entre memoización (top-down) y tabulación (bottom-up). ¿Cuándo preferirías cada una?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EVALUACIÓN — Parcial 2 — Sección B: Aplicación (40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método con CBO=25 y LCOM=0.85, ¿qué problemas de testabilidad presenta? Propón una refactorización.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1051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(pseudocódigo) la solución PD para Fibonacci con memoización. Analiza su complejidad T y 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69464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15184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un charter de exploración para la función de 'recuperación de contraseña' de una app bancaria.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374136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19856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aplicarías BVA para testear una función que acepta descuentos entre 0% y 50% con 2 decimales?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EVALUACIÓN — Parcial 2 — Sección C: Programación Dinámica (20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Tienes 6 módulos para testear en 10 horas. Sus tiempos: [2, 3, 4, 1, 5, 2] y sus valores de cobertura: [85, 90, 95, 70, 80, 75]. Formúlalo como un Problema de la Mochila 0/1 y encuentra la selección óptima. Muestra la tabla DP. (20 pts)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Evaluación — Parcial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A — Conceptos (40 pts):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preguntas × 10 pts | Definición precisa con soporte técnico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B — Aplicación (40 pts):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preguntas × 10 pts | Proceso + resultado correcto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C — PD (20 pts):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 correcta del problema (5 pts)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 completa y correcta (10 pts)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óptima identificada (5 pts)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90 minutos | Recursos: hoja de fórmulas permitida (1 hoja)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aprobatoria: 60/100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de Software — Sesiones 11 a 15</dc:title>
  <dc:subject>PptxGenJS Presentation</dc:subject>
  <dc:creator>PptxGenJS</dc:creator>
  <cp:lastModifiedBy>PptxGenJS</cp:lastModifiedBy>
  <cp:revision>1</cp:revision>
  <dcterms:created xsi:type="dcterms:W3CDTF">2026-04-04T19:06:45Z</dcterms:created>
  <dcterms:modified xsi:type="dcterms:W3CDTF">2026-04-04T19:06:45Z</dcterms:modified>
</cp:coreProperties>
</file>