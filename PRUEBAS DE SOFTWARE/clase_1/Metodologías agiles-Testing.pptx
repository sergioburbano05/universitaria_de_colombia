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Día 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80</c:v>
                </c:pt>
                <c:pt idx="1">
                  <c:v>72</c:v>
                </c:pt>
                <c:pt idx="2">
                  <c:v>64</c:v>
                </c:pt>
                <c:pt idx="3">
                  <c:v>56</c:v>
                </c:pt>
                <c:pt idx="4">
                  <c:v>48</c:v>
                </c:pt>
                <c:pt idx="5">
                  <c:v>40</c:v>
                </c:pt>
                <c:pt idx="6">
                  <c:v>32</c:v>
                </c:pt>
                <c:pt idx="7">
                  <c:v>24</c:v>
                </c:pt>
                <c:pt idx="8">
                  <c:v>16</c:v>
                </c:pt>
                <c:pt idx="9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12-4916-BB25-EF44CA557C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Día 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80</c:v>
                </c:pt>
                <c:pt idx="1">
                  <c:v>75</c:v>
                </c:pt>
                <c:pt idx="2">
                  <c:v>70</c:v>
                </c:pt>
                <c:pt idx="3">
                  <c:v>60</c:v>
                </c:pt>
                <c:pt idx="4">
                  <c:v>58</c:v>
                </c:pt>
                <c:pt idx="5">
                  <c:v>45</c:v>
                </c:pt>
                <c:pt idx="6">
                  <c:v>35</c:v>
                </c:pt>
                <c:pt idx="7">
                  <c:v>28</c:v>
                </c:pt>
                <c:pt idx="8">
                  <c:v>15</c:v>
                </c:pt>
                <c:pt idx="9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12-4916-BB25-EF44CA557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18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0" y="109728"/>
            <a:ext cx="256032" cy="4919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132320" y="5486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dirty="0">
                <a:solidFill>
                  <a:srgbClr val="000000"/>
                </a:solidFill>
              </a:rPr>
              <a:t>🚀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METODOLOGÍAS ÁGILES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Pruebas Unitarias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· TDD · Unit Testing · Arquitecturas · Métricas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94360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 ·  7.° Semestre  ·  Módulo Completo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Módulos  ·  Scrum Framework  ·  TDD  ·  Arquitecturas  ·  Métricas 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🎯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Alcance y Gestión de Proyectos de Software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construimos antes de empezar a construirlo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fallan los proyectos de software?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5303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informe CHAOS Report (Standish Group) es devastador: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31% de proyectos de software se entregan en tiempo y presupuesto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52% termina tarde, sobrepasando el presupuesto o con menos funcionalidades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17% es cancelado antes de completarse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Causas principales de fallo: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incompletos o cambiantes (37%)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participación del usuario (13%)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poco realistas (12%)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soporte ejecutivo (7%)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del alcance difuso (Scope Creep):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pide "algo simple" y el proyecto crece sin control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feature no planificada incrementa tiempo y costo exponencialmente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577840" y="960120"/>
            <a:ext cx="329184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669280" y="10515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Datos Clave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0" y="1463040"/>
            <a:ext cx="3108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proyectos exitosos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con problemas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cancelados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refactoring tardío: 100x vs corrección temprana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IBM: un bug en producción cuesta 15x más que en diseño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del Alcance — Project Scope vs Product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 (Alcance del Proyecto):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necesario para entregar el producto con las características acordadas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entregables, tareas, fases, recursos y tiempo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Scope (Alcance del Producto):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y funciones que debe tener el producto final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documenta en el Product Backlog (Scrum) o Especificación de Requisitos (Waterfall)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 WBS — Work Breakdown Structure: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Descomponer el proyecto en tareas manejables y estimables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Entregables principales (Frontend, Backend, Base de datos, Pruebas)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2: Módulos (Autenticación, Usuarios, Reportes...)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3: Tareas concretas (Crear endpoint POST /users, Escribir tests unitarios...)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Regla: si no puedes estimar una tarea → descomponerla más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Triángulo de Hierro — Tiempo, Costo, Alcance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Restricción triple del proyecto: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Costo y Alcance están interrelacionados — cambiar uno afecta los otros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"Puedes tenerlo rápido, barato o completo — elige dos" — dicho clásico de PM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como cuarta dimensión: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no es uno de los vértices — es el área dentro del triángulo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calidad permite mover las otras tres restricciones temporalmente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deuda técnica es la calidad pospuesta que se paga con intereses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Scrum — el alcance es el único flexible: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Sprint tiene duración fija (tiempo fijo)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es fijo (costo fijo)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historias de usuario pueden priorizarse y repriorizarse (alcance variable)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la clave de la agilidad: adaptar el alcance, no el tiempo ni el costo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Healthcare.gov — $600M por mal alcance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del portal de salud del gobierno de EE.UU. (2013)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de EE.UU. lanzó Healthcare.gov en octubre 2013 para 26 millones de usuarios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colapsó el primer día: el sitio tardaba minutos en cargar o daba error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el alcance creció de un portal simple a integrar 55 sistemas legacy de diferentes agencias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hubo pruebas de carga ni de integración: el primer 'test real' fue el lanzamiento público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Solución: se contrató un nuevo equipo en modo Agile con sprints de 2 semanas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6 semanas (con metodología ágil y testing riguroso) se estabilizó el sistema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total: $600 millones de dólares — el doble del presupuesto original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El equipo ágil de rescate usó Scrum, TDD y pruebas de integración continua para estabilizar el sistema en 6 semanas lo que el modelo Waterfall no pudo en 3 años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Económico del Alcance Bien Definido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software entregados en tiempo y presupuesto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5728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395728" y="114300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395728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100x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87168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corrección en producción vs en diseño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62856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62856" y="1143000"/>
            <a:ext cx="196596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62856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sem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54296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Healthcare.gov: de caos a estable con metodología ágil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9984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729984" y="114300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729984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$600M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21424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fracaso de Healthcare.gov sin alcance claro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Fuente: Standish Group CHAOS Report 2020 · IBM Systems Sciences Institute · Reuters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Alcance y Gestión de Proyectos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proyectos software son exitosos — el alcance difuso es la causa #1 de fallo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vs Product Scope: el trabajo vs las funcionalidades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WBS: descomponer hasta tareas estimables y concretas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Triángulo de hierro: en Scrum el alcance es el único elemento flexible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Healthcare.gov: $600M por no definir el alcance ni realizar pruebas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metodología ágil permite recuperar proyectos fallidos iterando con feedback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1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🏃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Framework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ágil más adoptado en la industria del software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Scrum y cuándo nació?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 y origen: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1986: Takeuchi y Nonaka publican 'The New New Product Development Game' en HBR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1995: Jeff Sutherland y Ken Schwaber presentan Scrum en OOPSLA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2001: Firma del Manifiesto Ágil — Scrum es su implementación más popular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Scrum Guide actualizado (versión vigente)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NO es una metodología — es un framework: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provee estructura mínima y requiere que el equipo la complete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intencionalmente deja vacíos que el equipo debe llenar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Estadísticas de adopción (State of Agile 2023):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 de equipos ágiles usa Scrum como framework principal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94% de organizaciones practica Agile en alguna forma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71% reporta mejor velocidad de entrega con metodologías ágiles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Pilares y 5 Valores de Scrum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160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  Transparencia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y el trabajo deben ser visibles para todos los involucrados. Nada oculto.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92040" y="10241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Inspección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artefactos y el progreso deben inspeccionarse frecuentemente para detectar desviaciones.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28600" y="19659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228600" y="196596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" y="20756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Adaptación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detecta una desviación inaceptable, se debe ajustar el proceso o el trabajo.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754880" y="1965960"/>
            <a:ext cx="41605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92040" y="20756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💪  Coraje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92040" y="246888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lo correcto y trabajar en problemas difíciles. Dar feedback honesto.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28600" y="30175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228600" y="3017520"/>
            <a:ext cx="416052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65760" y="3127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Foco + Respeto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65760" y="35204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Enfocarse en el Sprint Goal. Respetar a cada miembro como profesional capaz.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92040" y="31272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Compromiso + Apertura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Comprometerse con los objetivos del equipo. Ser abierto sobre el trabajo y los desafíos.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3 Roles de Scrum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Owner (PO):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maximizar el valor del producto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y prioriza el Product Backlog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 comunica el objetivo del producto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decisiones sobre qué se construye y en qué orden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Scrum Master (SM):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que Scrum se entienda y se aplique correctamente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al equipo removiendo impedimentos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de Scrum para el equipo y la organización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project manager ni un jefe de equipo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Developers (Equipo de Desarrollo):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9 personas con todas las habilidades necesarias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Auto-organizados: deciden cómo hacer el trabajo del Sprint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de crear el Increment que cumpla el Definition of Done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5 Eventos de Scrum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(contenedor de todos los demás eventos):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fija: 1 a 4 semanas (recomendado: 2 semanas)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finalizar: Increment potencialmente entregable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Planning (máx. 8h para Sprint de 1 mes):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se puede entregar? → Sprint Backlog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hará el trabajo seleccionado?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Scrum (15 minutos, mismo lugar y hora):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hice ayer? ¿Qué haré hoy? ¿Qué obstáculos tengo?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(máx. 4h):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presenta el Increment a stakeholders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inspecciona el trabajo completado y se adapta el Product Backlog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Retrospective (máx. 3h):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salió bien? ¿Qué mejorar? ¿Qué acciones concretas tomaremos?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Tablero Scrum — Sprint Board Visual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2011680" cy="3840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82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BACKLOG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201168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468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🔨 EN CURSO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20116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754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REVISIÓN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95160" y="914400"/>
            <a:ext cx="2011680" cy="3840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040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LISTO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10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perfil usuario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783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1783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" y="23774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10312" y="24231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contraseña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783080" y="242316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783080" y="24231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23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496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OAuth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69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069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96312" y="20299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Ana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423160" y="23774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2496312" y="24231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US-06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métricas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69080" y="242316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069080" y="24231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96312" y="29900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Carlos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782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US-03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empresa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6355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82312" y="202996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Luis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95160" y="141732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068312" y="146304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641080" y="146304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8641080" y="146304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95160" y="2377440"/>
            <a:ext cx="20116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7068312" y="2423160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US-02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contacto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41080" y="2423160"/>
            <a:ext cx="29260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8641080" y="242316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Gráfico Burndown — Control del Sprint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960120"/>
          <a:ext cx="53035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926080" cy="3566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6080760" y="10515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leer el Burndown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463040"/>
            <a:ext cx="2651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Y: Story Points restantes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X: días del Sprint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ideal: ritmo perfecto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real: progreso real del equipo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línea real está SOBRE la ideal → el equipo va atrasado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 BAJO → van adelantados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Sprint: idealmente 0 SP restantes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Spotify y el Modelo Agile a Escala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Spotify escaló Scrum para 2,000+ ingenieros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adoptó Scrum pero lo evolucionó cuando creció a cientos de equipos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Crearon el 'Spotify Model': Squads (Scrum teams), Tribes, Chapters y Guilds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Squad (6-12 personas) es autónomo: su propio PO, SM y pila tecnológica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Squad puede hacer 15-20 deploys por día sin coordinación central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retrospectivas revelaron que el Daily Scrum de 15min era el evento más valioso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de 1 release/semana a más de 100 deploys/día con calidad constante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Con Scrum + autonomía de Squads, Spotify pasó de 1 a 100+ deploys/día sirviendo 600M usuarios activos sin sacrificar calidad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Scrum Framework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Scrum: framework, no metodología — 3 pilares: Transparencia, Inspección, Adaptación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roles: Product Owner (qué), Scrum Master (cómo), Developers (trabajo)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eventos: Sprint + Planning + Daily + Review + Retrospective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artefactos: Product Backlog, Sprint Backlog, Increment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chart: herramienta clave de transparencia del Sprint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Spotify: Scrum escalado → 100+ deploys/día con 2,000+ ingenieros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2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📝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Historias de Usuario y Requerimientos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qué quiere el usuario con claridad y testabilidad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 Requisito a la Historia de Usuario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Especificación de Requisitos Tradicional (SRS):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formal de 100+ páginas — tardaba meses en escribirse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cuando se completaba, el negocio ya había cambiado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unidireccional: del analista al desarrollador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 de Usuario — la alternativa ágil: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"Como [ROL], quiero [ACCIÓN], para [BENEFICIO]"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"Como usuario registrado, quiero recuperar mi contraseña por email, para acceder si la olvido"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INVEST para una buena Historia: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Independent: independiente de otras historias cuando sea posible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Negotiable: es una conversación, no un contrato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Valuable: entrega valor real al usuario o al negocio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Estimable: el equipo puede estimarla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Small: completable en un Sprint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Testable: tiene criterios de aceptación verificables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Aceptación y BDD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criterios de aceptación definen cuándo una historia está 'Done':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condiciones específicas, medibles y verificables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Escritos por el Product Owner con el equipo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 Gherkin (BDD — Behavior Driven Development):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Feature: Recuperar contraseña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Scenario: Email válido registrado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Given el usuario 'carlos@mail.com' está registrado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solicita recuperación de contraseña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recibe un email con enlace de recuperación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el enlace expira en 24 horas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BDD: Cucumber (Java/JS), Behave (Python), SpecFlow (.NET)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Gherkin se transforman directamente en tests automatizados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puede leer y validar los tests — lenguaje de negocio, no código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Points y Estimación con Planning Poker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Points — medida relativa de esfuerzo: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horas — son una comparación relativa entre historias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la secuencia Fibonacci: 1, 2, 3, 5, 8, 13, 21 (y ∞ para indefinido)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referencia: la más pequeña = 1 SP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Poker — técnica de estimación colaborativa: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desarrollador elige una carta sin ver las demás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revelan simultáneamente — se discuten las diferencias extremas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el 'efecto ancla': nadie se condiciona por la estimación de otro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hasta alcanzar consenso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del equipo: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= story points completados por Sprint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estabiliza después de 3-4 Sprints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predecir cuándo se completará el Product Backlog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equipo con velocity 35 SP/Sprint y 350 SP en Backlog → ~10 Sprints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 — El Contrato de Calidad del Equipo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 (DoD) — qué significa que una historia está completa: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acuerdo explícito del equipo, no una lista de deseos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TODAS las historias del equipo — no negociable por historia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de DoD para un equipo de software: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Código escrito y revisado mediante Pull Request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Tests unitarios escritos con cobertura ≥ 80%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Tests de integración pasando en el entorno de staging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Documentación de API actualizada (Swagger/OpenAPI)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Código desplegado en entorno de QA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Product Owner acepta los criterios de aceptación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Sin deudas técnicas críticas (SonarQube Quality Gate verde)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 una historia no cumple el DoD → no está en el Increment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el mecanismo de calidad más importante de Scrum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Amazon y las User Stories para AWS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Amazon define historias de usuario para servicios cloud usados por millones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usa un proceso llamado 'Working Backwards': empieza por el Press Release del producto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 Owner escribe el documento como si el producto ya existiera y hubiera sido exitoso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User Stories se derivan del PR: 'Como desarrollador, quiero crear un bucket S3 en 1 comando'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 medibles: crear bucket en &lt; 100ms, disponibilidad 99.99%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DoD de Amazon incluye: runbooks de operación, alarmas de CloudWatch y rollback plan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S3 tiene 99.999999999% (11 nueves) de durabilidad — el DoD exige esos criterios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El 'Working Backwards' de Amazon convierte visión de producto en User Stories con criterios de aceptación técnicos tan precisos que generaron el servicio cloud más confiable del mundo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Historias de Usuario y Requerimientos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Story: Como [ROL] quiero [ACCIÓN] para [BENEFICIO] — INVEST criteria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aceptación: condiciones verificables que definen 'Done'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+ Gherkin: Given/When/Then → tests automatizados legibles por el negocio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Points: estimación relativa con Fibonacci + Planning Poker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contrato de calidad del equipo, no negociable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'Working Backwards': PS → User Stories → DoD técnico riguroso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3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🧪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Pruebas Unitarias y TDD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Test-Driven Development: las pruebas como motor del diseño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son las Pruebas Unitarias?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prueba unitaria verifica el comportamiento de la unidad más pequeña de código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= una función, un método, o una clase en aislamiento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F.I.R.S.T.: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ejecutarse en milisegundos — miles de tests en segundos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Independent: no depende de otras pruebas ni del orden de ejecución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Repeatable: mismo resultado siempre, en cualquier entorno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Self-validating: pasa (verde) o falla (rojo) — sin interpretación manual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Timely: escritas junto al código de producción (o antes, en TDD)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Patrón AAA — Arrange, Act, Assert: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Arrange: preparar el contexto y los datos de entrada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 ejecutar la unidad bajo prueba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verificar que el resultado es el esperado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Completo — Prueba Unitaria con JUnit 5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· Patrón AAA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94960" cy="3657600"/>
          </a:xfrm>
          <a:prstGeom prst="rect">
            <a:avLst/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 sz="140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Clase bajo prueba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CarritoService {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double calcularTotal(List&lt;Item&gt; items) {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items.stream()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.mapToDouble(i -&gt; i.getPrecio() * i.getCantidad())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.sum();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 unitario con JUnit 5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@ExtendWith(MockitoExtension.class)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CarritoServiceTest {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@InjectMocks CarritoService carritoService;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@DisplayName('Debe calcular total con dos items')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debeCalcularTotalConDosItems() {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Arrange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List&lt;Item&gt; items = List.of(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Item('Laptop', 1500.0, 1),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Item('Mouse', 25.0, 2));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Act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total = carritoService.calcularTotal(items);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Assert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assertThat(total).isEqualTo(1550.0);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30175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89320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444752"/>
            <a:ext cx="2834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@ExtendWith: integra Mockito con JUnit 5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@InjectMocks: crea instancia con dependencias inyectadas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@Test: marca el método como caso de prueba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@DisplayName: descripción legible del test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AAA claramente separado con comentarios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assertThat de AssertJ: assertions más legibles que assertEquals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test es completamente independiente y determinista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 — Test-Driven Development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ciclo Red-Green-Refactor: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RED: Escribir un test que FALLE (la funcionalidad no existe aún)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GREEN: Escribir el código MÍNIMO para que el test pase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REFACTOR: Mejorar el código manteniendo el test en verde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regla de los tres: tres leyes del TDD (Robert C. Martin):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escribir código de producción sin tener un test fallando primero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escribir más del test necesario para que falle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escribir más código de producción del necesario para que el test pase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TDD mejora el diseño?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test es difícil de escribir → el código tiene alto acoplamiento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escrito con TDD naturalmente resulta con bajo acoplamiento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interfaces emergen de los tests, no de la imaginación del diseñador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suite de regresión completa desde el primer día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TDD en Acción — Ciclo Red-Green-Refactor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pytest · Kata: FizzBuzz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94960" cy="3657600"/>
          </a:xfrm>
          <a:prstGeom prst="rect">
            <a:avLst/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1: RED - El test falla (FizzBuzz no existe)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test_fizzbuzz_con_multiplo_de_3():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fizzbuzz(3) == 'Fizz'  # NameError!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2: GREEN - Código mínimo para pasar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fizzbuzz(n):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3 == 0: return 'Fizz'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str(n)  # test pasa ✓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Añadir más tests: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test_fizzbuzz_con_multiplo_de_5():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fizzbuzz(5) == 'Buzz'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test_fizzbuzz_con_multiplo_de_15():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fizzbuzz(15) == 'FizzBuzz'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PASO 3: REFACTOR - Código limpio, todos los tests pasan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84CC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fizzbuzz(n):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15 == 0: return </a:t>
            </a:r>
            <a:r>
              <a:rPr lang="en-US" sz="8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'FizzBuzz</a:t>
            </a: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3 == 0:  return 'Fizz'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 % 5 == 0:  return 'Buzz'</a:t>
            </a:r>
            <a:endParaRPr lang="en-US" sz="9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str(n)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30175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89320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444752"/>
            <a:ext cx="2834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TDD completo en 3 pasos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 con el test más simple posible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mínimo en Green puede ser 'feo' — no importa aún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refactorizamos cuando todos los tests están en verde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nuevo test agrega un comportamiento específico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finalizar: cobertura completa + código limpio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ejecutar con 'pytest -v' para ver cada test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Mocks, Stubs y Fakes — Aislar Dependencias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de las dependencias: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unidad real puede depender de BD, APIs externas, servicios de email...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hacer pruebas unitarias PURAS debemos aislar esas dependencias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Doubles (dobles de prueba):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Stub: retorna valores predefinidos, no verifica llamadas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Ejemplo: repositorio que siempre retorna un usuario fijo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Mock: verifica que se llamó con los argumentos correctos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Ejemplo: verificar que emailService.send() fue llamado exactamente 1 vez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implementación funcional simplificada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Ejemplo: base de datos en memoria (H2, SQLite in-memory)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Spy: envuelve el objeto real y permite verificar llamadas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Regla: una prueba unitaria NO debe tocar red, disco ni BD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tu test necesita internet → es una prueba de integración, no unitaria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Google y su Cultura de Testing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Google mantiene calidad con 2,000 millones de líneas de código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tiene más de 2,000 millones de líneas de código en un único repositorio monolítico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Ejecutan más de 1 millón de tests automáticos por día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regla: ningún código puede hacer merge sin tests que lo cubran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los tests son unitarios, 15% de integración, 5% end-to-end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'Google Testing Blog' popularizó el concepto de Test Coverage obligatoria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equipo de Google tiene un 'Testing Lead' responsable de la cultura de testing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Google ejecuta 1M+ tests/día. El 80% son unitarios: rápidos, deterministas y sin dependencias externas. Esto permite 1,000+ deploys diarios con confianza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Pruebas Unitarias y TDD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F.I.R.S.T.: Fast, Independent, Repeatable, Self-validating, Timely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AAA: Arrange → Act → Assert — estructura estándar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TDD: Red (falla) → Green (mínimo) → Refactor (mejora)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leyes de TDD: test primero, código mínimo, refactor seguro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Mocks/Stubs/Fakes: aislar dependencias para pruebas puras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1M+ tests/día — 80% unitarios, merge bloqueado sin cobertura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4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🏗️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Arquitecturas de Software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Cliente-Servidor, Microservicios y Arquitecturas Empresariales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importa la Arquitectura?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arquitectura es la decisión más costosa de cambiar: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mala arquitectura puede hacer imposible escalar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requisitos no funcionales (NFRs) son los que más impactan la arquitectura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 de calidad que guían la arquitectura (ISO 25010):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Rendimiento: tiempo de respuesta bajo carga real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Disponibilidad: uptime del sistema (99.9% = 8.7h downtime/año)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Escalabilidad: capacidad de crecer con la demanda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Mantenibilidad: facilidad de modificar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protección contra accesos no autorizados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Principios SOLID como base de buen diseño: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S: Single Responsibility — una clase, una razón para cambiar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Open/Closed — abierto a extensión, cerrado a modificación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L: Liskov Substitution — subtipos sustituibles por su base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Interface Segregation — interfaces específicas, no generales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Dependency Inversion — depender de abstracciones, no de concreciones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Monolítica vs Microservicios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6908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🏛️ Monolítica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en un único proceso desplegable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 desarrollar al inicio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hacer pruebas end-to-end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puede tumbar todo el sistema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requiere replicar TODO el monolito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desplegar todo por un cambio pequeño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startups, MVPs, equipos pequeños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WordPress, Ruby on Rails apps iniciales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406908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069080" cy="38404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92040" y="9601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Microservicios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417320"/>
            <a:ext cx="38404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dividida en servicios pequeños e independientes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tiene su propia BD y se despliega por separado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 un servicio no afecta a los demás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solo los servicios que lo necesitan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Complejidad: red, consistencia eventual, trazabilidad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DevOps maduro: CI/CD, contenedores, orquestación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sistemas complejos, múltiples equipos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Netflix, Amazon, Uber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en Capas — El Patrón Más Usado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N-Tier (N capas):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(UI): interfaces web, móvil o desktop — React, Angular, SwiftUI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(Lógica de negocio): reglas, validaciones, cálculos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persistencia, acceso a BD, repositorios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Ventajas de la separación en capas: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puede probarse de forma independiente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la BD no afecta la lógica de negocio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pueden trabajar en capas diferentes en paralelo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Architecture (Robert C. Martin):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capas internas no conocen a las capas externas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negocio (Dominio) no depende de frameworks ni BD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/ Ports &amp; Adapters: el dominio se conecta con el mundo exterior via puertos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enormemente las pruebas unitarias del dominio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APIs REST y Contratos de Servicio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— Representational State Transfer: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arquitectónico para APIs sobre HTTP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identificados por URLs: /api/users/{id}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HTTP como acciones: GET (leer), POST (crear), PUT (actualizar), DELETE (eliminar)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OpenAPI / Swagger — el contrato de la API: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YAML/JSON que describe todos los endpoints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documentación interactiva y clientes SDK automáticamente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pruebas de contrato: el frontend sabe exactamente qué esperar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de APIs — pruebas de integración: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Postman: manual y automatizado con colecciones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Assured (Java): DSL fluido para testing de REST en JUnit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Supertest (Node.js): testing HTTP integrado con Jest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given().when().get('/api/users/1').then().statusCode(200)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.body('name', equalTo('Carlos García'));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Netflix — De Monolito a 700+ Microservicios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de arquitectura más famosa de la industria (2008-2016)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2008, Netflix tenía un monolito que falló 3 días seguidos dejando sin servicio a millones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migrar a microservicios en AWS durante 7 años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tiene su propio equipo (Two Pizza Rule de Amazon: equipo que cabe en 2 pizzas)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Pruebas: Chaos Monkey — herramienta que mata instancias aleatoriamente en producción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sistema aguanta el Chaos Monkey, los tests de resiliencia pasan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700+ microservicios, 1,500 deploys/día, 99.99% disponibilidad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Netflix migró de 3 días de caída a 99.99% disponibilidad usando microservicios + Chaos Engineering + testing de resiliencia automatizado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Arquitecturas de Software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guiada por NFRs: rendimiento, disponibilidad, escalabilidad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SOLID: principios de diseño que hacen el código testeable y mantenible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vs Microservicios: cada uno tiene su contexto óptimo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Architecture: el dominio no depende de frameworks — fácil de testear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OpenAPI: contrato claro entre servicios — base del testing de integración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Netflix: 700+ microservicios + Chaos Monkey = 99.99% disponibilidad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5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📐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con UML y Modelos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la arquitectura con diagramas que hablan por sí solos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— Unified Modeling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UML y para qué sirve?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estándar (OMG) para visualizar, especificar y documentar sistemas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metodología — es una herramienta de comunicación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modelo vale más que mil palabras de especificación"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Categorías de diagramas UML: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Estructura: qué existe en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Clases, Componentes, Despliegue, Objetos, Paquetes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Comportamiento: cómo se comporta 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Casos de Uso, Secuencia, Estado, Actividad, Comunicación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más usados en la práctica del desarrollo ágil: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Clases: estructura del dominio y relaciones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Secuencia: flujo de llamadas entre objetos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Componentes: arquitectura de alto nivel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Uso: interacciones actor-sistema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Clases — El Mapa del Dominio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 principales: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Clase: nombre + atributos + métodos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Visibilidad: + (público), - (privado), # (protegido)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Relaciones entre clases: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Asociación: una clase usa objetos de otra (línea sólida)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Composición: una clase contiene y es responsable de la otra (rombo relleno)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Agregación: una clase contiene la otra pero no es responsable (rombo vacío)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/ Generalización: una clase extiende a otra (flecha con triángulo)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/ Realización: una clase implementa una interfaz (línea discontinua)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Dependencia: una clase usa temporalmente a otra (flecha discontinua)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se usa en Scrum: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modela el dominio al inicio del Sprint en el Sprint Planning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PlantUML (texto → diagrama), draw.io, Lucidchart, StarUML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es un artefacto vivo — se actualiza en cada Sprint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Secuencia — El Flujo en el Tiempo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usar un diagrama de secuencia?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documentar flujos complejos de llamadas entre objetos o servicios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comunicar cómo se implementa un caso de uso específico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diseñar APIs antes de codificarlas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Objetos/Actores en la parte superior (lifelines)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horizontales con flechas (llamadas síncronas → , asíncronas ----&gt;)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con flechas discontinuas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Fragmentos: alt (if/else), loop, par (paralelo), opt (opcional)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Ejemplo: secuencia de autenticación: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→ Frontend: POST /login {email, password}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AuthService: authenticate(email, password)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→ UserRepository: findByEmail(email)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UserRepository → DB: SELECT * FROM users WHERE email=?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→ UserRepository: User{id, hashedPassword}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→ JWTService: generateToken(userId)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Usuario: 200 OK {token, expiresIn}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de Dominio y DDD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Domain-Driven Design (DDD) — Eric Evans, 2003: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del negocio debe ser el centro del diseño del sistema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dominio refleja el lenguaje del negocio (Ubiquitous Language)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clave de DDD: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Entity: objeto con identidad propia (Usuario, Pedido, Producto)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Object: objeto sin identidad — definido por sus atributos (Dirección, Dinero)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Aggregate: cluster de entidades con un Aggregate Root (Pedido contiene Items)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interfaz para acceder a Aggregates (sin SQL en el dominio)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Service: lógica de negocio que no pertenece a una sola entidad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Context: límite explícito donde un modelo es válido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Relación con microservicios: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Bounded Context puede convertirse en un microservicio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microservicio tiene su propio modelo de dominio y BD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Uber y el Dominio Modelado con DDD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Uber estructura su sistema de 8,000+ ingenieros con DDD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tiene 8,000+ ingenieros trabajando en el mismo producto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DDD y Bounded Contexts, nadie sabría qué parte del sistema tocar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Contexts de Uber: Matching (conductor-pasajero), Pricing, Routing, Payments, Notifications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contexto tiene su Ubiquitous Language: 'Trip' en Matching vs 'Invoice' en Payments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UML de clases de cada contexto es la 'Biblia' del equipo correspondiente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secuencia documentan el protocolo entre contextos (via events/APIs)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DDD + UML permite que 8,000+ ingenieros de Uber trabajen en el mismo sistema sin pisarse. Los Bounded Contexts delimitan responsabilidades y los diagramas son la documentación viva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Diseño con UML y Modelos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UML: lenguaje de comunicación estándar — estructura + comportamiento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clases: mapa del dominio con relaciones y visibilidad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secuencia: flujo de llamadas en el tiempo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DDD: el dominio del negocio es el centro — Entities, Aggregates, Repositories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Context: límite explícito de un modelo — base de microservicios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Uber: DDD + UML para 8,000+ ingenieros sin caos organizacional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6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⚙️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Modernas y CI/CD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de herramientas que habilita la entrega continua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Ecosistema de Testing Moderno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Frameworks de pruebas unitarias por lenguaje: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Java: JUnit 5 + Mockito + AssertJ — el stack enterprise estándar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JavaScript/TypeScript: Jest (Meta) + Testing Library + Vitest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pytest + unittest.mock + coverage.py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.NET/C#: xUnit + Moq + FluentAssertions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Go: testing (built-in) + testify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cobertura y calidad de código: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(Java): reporte de cobertura con umbral configurable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Istanbul/NYC (JS): cobertura de statements, branches, functions, lines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SonarQube: análisis estático + cobertura + deuda técnica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Testing: PIT (Java), Stryker (JS) — testa la calidad de los tests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de integración y E2E: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Testcontainers: BD real en Docker para pruebas de integración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Cypress: E2E para frontends — graba y reproduce interacciones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(Microsoft): E2E multiplataforma y multilenguaje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Continua (CI) — El Guardián de la Calidad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 Integration — definición: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de integrar el código de todos los desarrolladores frecuentemente (mínimo diario)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integración es verificada por un build automatizado con tests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CI típico (GitHub Actions / Jenkins):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Developer hace push → trigger del 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Checkout del código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(compilación o instalación de dependencias)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Análisis estático (linting, checkstyle, detección de vulnerabilidades)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Pruebas unitarias + reporte de cobertura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Pruebas de integración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Quality Gate (SonarQube): cobertura ≥ 80%, 0 bugs críticos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Build del artefacto (JAR, Docker image)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Deploy automático a entorno de desarrollo/staging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 de oro: si el pipeline está rojo → todos se detienen a arreglarlo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 — Pipeline CI Completo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· Trigger en push/PR · Tests + Coverage + Quality Gate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394960" cy="3657600"/>
          </a:xfrm>
          <a:prstGeom prst="rect">
            <a:avLst/>
          </a:prstGeom>
          <a:solidFill>
            <a:srgbClr val="020617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074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CI Pipeline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[push, pull_request]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Setup Java 21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actions/setup-java@v4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java-version: '21' }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Tests with Coverage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./mvnw test jacoco:report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SonarQube Analysis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sonarsource/sonarqube-scan-action@v2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SONAR_TOKEN: ${{ secrets.SONAR_TOKEN }}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Quality Gate Check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uses: sonarsource/sonarqube-quality-gate-action@master</a:t>
            </a:r>
            <a:endParaRPr lang="en-US" sz="7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Falla el pipeline si cobertura &lt; 80%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852160" y="960120"/>
            <a:ext cx="3017520" cy="3657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89320" y="10241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Análisis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1444752"/>
            <a:ext cx="2834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[push, pull_request]: dispara en todo push y PR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ubuntu-latest: runner gratuito de GitHub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jacoco:report: genera reporte XML de cobertura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SonarQube: analiza calidad y cobertura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quality-gate: bloquea el PR si no cumple el umbral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falla: el merge queda bloqueado hasta corregir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 típico: 3-8 minutos para proyectos medianos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y Contenedores para Testing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Docker es fundamental para las pruebas?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"Funciona en mi máquina" — el problema que Docker resuelve para siempre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Docker: mismo entorno en desarrollo, CI y producción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Testcontainers — BD real en pruebas de integración: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un contenedor Docker de PostgreSQL, MySQL, Redis... durante el test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vive solo mientras el test se ejecuta — limpio siempre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@Container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PostgreSQLContainer&lt;?&gt; postgres = new PostgreSQLContainer&lt;&gt;('postgres:16');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.withDatabaseName('testdb');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para entornos de integración completos: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docker-compose.yml define toda la infraestructura del test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Backend + BD + Redis + Message Queue — todo en un comando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CI: 'docker-compose up' → run integration tests → 'docker-compose down'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Atlassian — CI/CD con 50,000 deploys/año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Jira y Confluence se construyen con entrega continua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(creadores de Jira, Confluence, Bitbucket) tiene un pipeline CI/CD altamente automatizado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pull request dispara un pipeline de 400+ pruebas unitarias e integración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completo tarda 8 minutos — un récord para una suite tan grande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cobertura de un módulo baja del umbral → el merge es bloqueado automáticamente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50,000+ deploys por año a producción con tasa de rollback &lt; 0.5%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Bitbucket Pipelines (su propio producto) para correr los pipelines CI/CD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Atlassian: 50,000 deploys/año, cobertura mínima obligatoria, pipeline de 8 minutos. La confianza en el código viene de los tests, no de los procesos de aprobación manual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Herramientas Modernas y CI/CD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por lenguaje: JUnit 5+Mockito (Java), Jest (JS), pytest (Python)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JaCoCo, Istanbul, SonarQube — Quality Gate en el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Testcontainers: BD real en Docker para integration tests deterministas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Pipeline: push → build → test → lint → quality gate → deploy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/ Jenkins: pipeline as code — versionado con el proyecto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Atlassian: 50K deploys/año con &lt; 0.5% rollback gracias al CI/CD maduro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7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0" y="7315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📊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6583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Software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calidad del código, del proceso y del equipo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7.° Semestre · Metodologías Ágiles &amp; Pruebas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medir? — El Modelo GQM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Victor Basili: "No puedes controlar lo que no puedes medir"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GQM — Goal-Question-Metric: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(Objetivo): ¿qué queremos lograr? → 'Mejorar la mantenibilidad del código'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(Pregunta): ¿qué necesitamos saber? → '¿Es el código fácil de entender?'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(Métrica): ¿cómo lo medimos? → 'Complejidad ciclomática &lt; 10 por método'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Categorías de métricas de software: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producto: calidad interna del código (complejidad, acoplamiento)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proceso: velocidad, tasa de defectos, tiempo de ciclo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proyecto: presupuesto, cronograma, alcance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métricas mal usadas destruyen equipos: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Code (LOC): incentiva código verboso, no valioso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bugs cerrados: incentiva abrir bugs innecesarios para cerrarlos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sin calidad de tests: tests que no fallan ante bugs reales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Código — Complejidad y Acoplamiento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Complejidad Ciclomática (McCabe, 1976):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número de caminos linealmente independientes en el código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Aristas - Nodos + 2 (para grafos de flujo de control)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1-10 simple, 11-20 moderado, 21+ complejo y difícil de testear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relacionada con el número mínimo de tests necesarios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acoplamiento: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(Coupling Between Objects): número de clases con las que una clase está acoplada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(Lack of Cohesion in Methods): mide si los métodos usan los mismos atributos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Afferent/Efferent Coupling: cuántas clases dependen de mí / de cuántas dependo yo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tamaño: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LOC: líneas de código — útil para normalizar otras métricas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Halstead Metrics: volumen, dificultad, esfuerzo del código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Points: funcionalidad desde la perspectiva del usuario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CK — Chidamber &amp; Kemerer Suite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Suite de métricas para código Orientado a Objetos (1994):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WMC (Weighted Methods per Class): suma de complejidades de todos los métodos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WMC: clase con demasiada responsabilidad — candidata a refactorizar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(Depth of Inheritance Tree): profundidad en la jerarquía de herencia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DIT &gt; 5: herencia muy profunda, difícil de entender y testear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(Number of Children): número de subclases directas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NOC alto: la clase es muy generalista — riesgo de fragilidad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(Coupling Between Objects): clases acopladas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CBO: clase difícil de probar aislada (necesita muchos mocks)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(Response For a Class): métodos que pueden ejecutarse al recibir un mensaje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RFC: complejo de entender y testear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LCOM (Lack of Cohesion in Methods): qué tan cohesiva es la clase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Alto LCOM: la clase debería dividirse en dos o más clases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Ágiles — Velocidad, Deuda Técnica y DORA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03920" cy="36576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Metrics: Deploy Frequency, Lead Time, MTTR, Change Failure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95728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395728" y="1143000"/>
            <a:ext cx="1965960" cy="54864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395728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24h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87168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promedio de equipos Elite (DORA 2023)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62856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62856" y="1143000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62856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54296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Failure Rate de equipos de alto rendimiento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9984" y="1143000"/>
            <a:ext cx="196596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729984" y="1143000"/>
            <a:ext cx="19659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729984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821424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(Mean Time To Restore) de equipos Elite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DORA = DevOps Research and Assessment | Datos de State of DevOps Report 2023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16459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— La Plataforma de Métricas en Práctica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03920" cy="36576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SonarQube analiza código en busca de: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Bugs: código que casi seguro fallará en producción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Smells: código que funciona pero es difícil de mantener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Vulnerabilities: problemas de seguridad (OWASP Top 10)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Hotspots: código que necesita revisión de seguridad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Gate — la puerta de calidad en CI: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≥ 80%: el código nuevo debe tener mínimo 80% de cobertura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Lines &lt; 3%: código duplicado es deuda técnica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Rating A: deuda técnica mínima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A: sin vulnerabilidades críticas o bloqueantes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Debt Ratio (TDR):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tiempo tomaría arreglar todos los code smells?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Expresado como % del tiempo de desarrollo original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 &lt; 5% = Rating A (excelente) | TDR &gt; 50% = Rating E (crítico)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274320" y="365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CASO PRÁCTICO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4320" y="3291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Práctico: Microsoft y las Métricas en Azure DevOps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Escenario: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051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Microsoft mide la calidad de sus 1,000+ equipos de desarrollo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85953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DevOps sirve a millones de desarrolladores — cero tolerancia a bugs críticos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SonarCloud (versión cloud de SonarQube) integrado en cada pipeline de Azure DevOps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obligatorio: cobertura mínima 80%, 0 bugs bloqueantes, Security Rating A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DORA muestran a Azure DevOps como equipo Elite: deploy diario, Lead Time &lt; 24h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Publican sus propias métricas de calidad en el Azure DevOps Blog trimestralmente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 .NET tiene 1M+ pruebas que corren en 10 minutos gracias a paralelización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Resultado:  Microsoft: SonarCloud + Quality Gate + DORA Metrics en cada uno de sus 1,000+ equipos. Cobertura mínima obligatoria y Lead Time &lt; 24h para Azure DevOps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Resumen — Métricas de Software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GQM: Goal → Question → Metric — medir con propósito claro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37760" y="1033272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ciclomática: 1-10 ideal, &gt; 20 refactorizar urgente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7432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CK: WMC, DIT, NOC, CBO, RFC, LCOM para código OO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21992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754880" y="2221992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Metrics: 4 métricas que miden el rendimiento del equipo DevOps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Quality Gate: cobertura ≥ 80%, 0 bugs críticos, Security 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3483864"/>
            <a:ext cx="425196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754880" y="3483864"/>
            <a:ext cx="6400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5570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métricas obligatorias en 1,000+ equipos + resultados públicos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 Ágiles &amp; Testing  |  Sesión 8  |  7.° Semestre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7913</Words>
  <Application>Microsoft Office PowerPoint</Application>
  <PresentationFormat>Presentación en pantalla (16:9)</PresentationFormat>
  <Paragraphs>893</Paragraphs>
  <Slides>61</Slides>
  <Notes>61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61</vt:i4>
      </vt:variant>
    </vt:vector>
  </HeadingPairs>
  <TitlesOfParts>
    <vt:vector size="66" baseType="lpstr">
      <vt:lpstr>Arial</vt:lpstr>
      <vt:lpstr>Calibri</vt:lpstr>
      <vt:lpstr>Courier New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Metodologías Ágiles &amp; Pruebas Unitarias — 7.° Semestre</dc:title>
  <dc:subject>PptxGenJS Presentation</dc:subject>
  <dc:creator>Ingeniería de Software</dc:creator>
  <cp:lastModifiedBy>Sergio Alejandro Burbano Mena</cp:lastModifiedBy>
  <cp:revision>2</cp:revision>
  <dcterms:created xsi:type="dcterms:W3CDTF">2026-04-06T01:54:17Z</dcterms:created>
  <dcterms:modified xsi:type="dcterms:W3CDTF">2026-04-06T02:06:48Z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dff26-5887-4e5c-8426-6e404c233df0_Enabled">
    <vt:lpwstr>true</vt:lpwstr>
  </property>
  <property fmtid="{D5CDD505-2E9C-101B-9397-08002B2CF9AE}" pid="3" name="MSIP_Label_71bdff26-5887-4e5c-8426-6e404c233df0_SetDate">
    <vt:lpwstr>2026-04-06T02:06:47Z</vt:lpwstr>
  </property>
  <property fmtid="{D5CDD505-2E9C-101B-9397-08002B2CF9AE}" pid="4" name="MSIP_Label_71bdff26-5887-4e5c-8426-6e404c233df0_Method">
    <vt:lpwstr>Standard</vt:lpwstr>
  </property>
  <property fmtid="{D5CDD505-2E9C-101B-9397-08002B2CF9AE}" pid="5" name="MSIP_Label_71bdff26-5887-4e5c-8426-6e404c233df0_Name">
    <vt:lpwstr>71bdff26-5887-4e5c-8426-6e404c233df0</vt:lpwstr>
  </property>
  <property fmtid="{D5CDD505-2E9C-101B-9397-08002B2CF9AE}" pid="6" name="MSIP_Label_71bdff26-5887-4e5c-8426-6e404c233df0_SiteId">
    <vt:lpwstr>b5e244bd-c492-495b-8b10-61bfd453e423</vt:lpwstr>
  </property>
  <property fmtid="{D5CDD505-2E9C-101B-9397-08002B2CF9AE}" pid="7" name="MSIP_Label_71bdff26-5887-4e5c-8426-6e404c233df0_ActionId">
    <vt:lpwstr>fd002f9f-5ecb-4a3e-aab3-e02f22dc0b67</vt:lpwstr>
  </property>
  <property fmtid="{D5CDD505-2E9C-101B-9397-08002B2CF9AE}" pid="8" name="MSIP_Label_71bdff26-5887-4e5c-8426-6e404c233df0_ContentBits">
    <vt:lpwstr>0</vt:lpwstr>
  </property>
  <property fmtid="{D5CDD505-2E9C-101B-9397-08002B2CF9AE}" pid="9" name="MSIP_Label_71bdff26-5887-4e5c-8426-6e404c233df0_Tag">
    <vt:lpwstr>10, 3, 0, 1</vt:lpwstr>
  </property>
</Properties>
</file>