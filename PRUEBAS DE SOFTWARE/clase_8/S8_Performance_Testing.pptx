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0"/>
            <a:ext cx="1188720" cy="5143500"/>
          </a:xfrm>
          <a:prstGeom prst="rect">
            <a:avLst/>
          </a:prstGeom>
          <a:solidFill>
            <a:srgbClr val="181F2E"/>
          </a:solidFill>
          <a:ln w="12700">
            <a:solidFill>
              <a:srgbClr val="181F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58200" y="0"/>
            <a:ext cx="685800" cy="5143500"/>
          </a:xfrm>
          <a:prstGeom prst="rect">
            <a:avLst/>
          </a:prstGeom>
          <a:solidFill>
            <a:srgbClr val="EA580C">
              <a:alpha val="25000"/>
            </a:srgbClr>
          </a:solidFill>
          <a:ln w="12700">
            <a:solidFill>
              <a:srgbClr val="EA580C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407408"/>
            <a:ext cx="9144000" cy="73609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743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8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457200" y="2331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Rendimiento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57200" y="3017520"/>
            <a:ext cx="1737360" cy="38404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30175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Carga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633472" y="3017520"/>
            <a:ext cx="1737360" cy="3840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633472" y="30175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Estrés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09744" y="301752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09744" y="30175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Escalabilidad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986016" y="3017520"/>
            <a:ext cx="17373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986016" y="30175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 Latencia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74320" y="446227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Mg. Sergio Alejandro Burbano Mena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74320" y="4745736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Software  |  7mo Semestre  |  Ing. Software  |  Universitaria de Colombia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81F2E"/>
          </a:solidFill>
          <a:ln w="12700">
            <a:solidFill>
              <a:srgbClr val="181F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— Sesión 8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Testing completo en una sesión de 3 horas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429768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960120"/>
            <a:ext cx="54864" cy="109728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3327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28930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Performance Testing?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160020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Concepto, importancia y contexto en el ciclo de QA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28600" y="2212848"/>
            <a:ext cx="429768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28600" y="2212848"/>
            <a:ext cx="54864" cy="109728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28600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254203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clave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285292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Latencia, throughput, TPS, percentiles, errores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3465576"/>
            <a:ext cx="429768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8600" y="3465576"/>
            <a:ext cx="54864" cy="109728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5387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379476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pruebas de rendimiento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65760" y="4105656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Load, Stress, Spike, Soak, Scalability, Volume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9160" y="960120"/>
            <a:ext cx="429768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09160" y="960120"/>
            <a:ext cx="54864" cy="109728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103327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46320" y="128930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46320" y="160020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k6, Locust, JMeter, Gatling — comparativa y selección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09160" y="2212848"/>
            <a:ext cx="429768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09160" y="2212848"/>
            <a:ext cx="54864" cy="109728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228600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46320" y="254203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 reales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846320" y="285292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casos de estudio con análisis de resultados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09160" y="3465576"/>
            <a:ext cx="429768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09160" y="3465576"/>
            <a:ext cx="54864" cy="109728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35387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46320" y="379476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Buenas prácticas y errores comunes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846320" y="4105656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hacer y qué evitar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Testing  |  Sesión 8  |  Universitaria de Colombia  |  2 / 35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Performance Testing?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1170432"/>
          </a:xfrm>
          <a:prstGeom prst="rect">
            <a:avLst/>
          </a:prstGeom>
          <a:solidFill>
            <a:srgbClr val="181F2E"/>
          </a:solidFill>
          <a:ln w="19050">
            <a:solidFill>
              <a:srgbClr val="EA580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54864" cy="117043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987552"/>
            <a:ext cx="8092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pruebas de rendimiento verifican que el sistema </a:t>
            </a:r>
            <a:pPr indent="0" marL="0">
              <a:buNone/>
            </a:pPr>
            <a:r>
              <a:rPr lang="en-US" sz="1450" b="1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comporta de forma aceptable bajo condiciones de carga real</a:t>
            </a:r>
            <a:pPr indent="0" marL="0">
              <a:buNone/>
            </a:pPr>
            <a:r>
              <a:rPr lang="en-US" sz="14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No buscan errores funcionales: buscan </a:t>
            </a:r>
            <a:pPr indent="0" marL="0">
              <a:buNone/>
            </a:pPr>
            <a:r>
              <a:rPr lang="en-US" sz="14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cuellos de botella, degradación y puntos de quiebre</a:t>
            </a:r>
            <a:pPr indent="0" marL="0">
              <a:buNone/>
            </a:pPr>
            <a:r>
              <a:rPr lang="en-US" sz="14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365760" y="2267712"/>
            <a:ext cx="2697480" cy="2331720"/>
          </a:xfrm>
          <a:prstGeom prst="rect">
            <a:avLst/>
          </a:prstGeom>
          <a:solidFill>
            <a:srgbClr val="1A0F00"/>
          </a:solidFill>
          <a:ln w="15240">
            <a:solidFill>
              <a:srgbClr val="EA580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2267712"/>
            <a:ext cx="2697480" cy="457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235915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Rendimiento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75488" y="2834640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comporta el sistema ante N usuarios concurrentes haciendo peticiones reales.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18688" y="2267712"/>
            <a:ext cx="2697480" cy="2331720"/>
          </a:xfrm>
          <a:prstGeom prst="rect">
            <a:avLst/>
          </a:prstGeom>
          <a:solidFill>
            <a:srgbClr val="1A1200"/>
          </a:solidFill>
          <a:ln w="1524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18688" y="2267712"/>
            <a:ext cx="269748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28416" y="235915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Medición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328416" y="2834640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Cuantifica métricas: tiempo de respuesta, transacciones/seg, uso de CPU/RAM, errores.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71616" y="2267712"/>
            <a:ext cx="2697480" cy="2331720"/>
          </a:xfrm>
          <a:prstGeom prst="rect">
            <a:avLst/>
          </a:prstGeom>
          <a:solidFill>
            <a:srgbClr val="001514"/>
          </a:solidFill>
          <a:ln w="1524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71616" y="2267712"/>
            <a:ext cx="269748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81344" y="235915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Diagnóstico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181344" y="2834640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 dónde está el cuello de botella: BD, red, CPU, código, configuración.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Testing  |  Sesión 8  |  Universitaria de Colombia  |  3 / 35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81F2E"/>
          </a:solidFill>
          <a:ln w="12700">
            <a:solidFill>
              <a:srgbClr val="181F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Importa el Performance Testing?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reales donde el rendimiento fue crítico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4206240" cy="1664208"/>
          </a:xfrm>
          <a:prstGeom prst="rect">
            <a:avLst/>
          </a:prstGeom>
          <a:solidFill>
            <a:srgbClr val="FFFFFF"/>
          </a:solidFill>
          <a:ln w="19050">
            <a:solidFill>
              <a:srgbClr val="EA580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960120"/>
            <a:ext cx="4206240" cy="457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6616" y="106984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Amazon: $1.6B por segundo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56616" y="141732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calculó que cada 100ms de latencia adicional le cuesta el 1% de ventas. En Prime Day, una caída de 1 minuto = $220.000 USD en pérdidas.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90872" y="960120"/>
            <a:ext cx="4206240" cy="1664208"/>
          </a:xfrm>
          <a:prstGeom prst="rect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90872" y="960120"/>
            <a:ext cx="4206240" cy="457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18888" y="106984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Knight Capital Group — 2012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18888" y="141732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bug de rendimiento/configuración ejecutó millones de órdenes en 45 minutos. Pérdida: $440 millones. La empresa quebró.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28600" y="2788920"/>
            <a:ext cx="4206240" cy="1664208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28600" y="2788920"/>
            <a:ext cx="420624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6616" y="289864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Healthcare.gov — Lanzamiento 2013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56616" y="324612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sitio colapsó el día de lanzamiento por falta de pruebas de carga. Solo 6 personas se inscribieron el primer día de 500.000 esperadas.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690872" y="2788920"/>
            <a:ext cx="4206240" cy="1664208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90872" y="2788920"/>
            <a:ext cx="420624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18888" y="289864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Ticketmaster vs Taylor Swift — 2022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18888" y="324612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millones de usuarios concurrentes. El sistema no pasó por load testing adecuado. 3.5M de personas en cola, caídas, bots, demandas legales.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Testing  |  Sesión 8  |  Universitaria de Colombia  |  4 / 35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5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74520"/>
            <a:ext cx="9144000" cy="1389888"/>
          </a:xfrm>
          <a:prstGeom prst="rect">
            <a:avLst/>
          </a:prstGeom>
          <a:solidFill>
            <a:srgbClr val="181F2E"/>
          </a:solidFill>
          <a:ln w="12700">
            <a:solidFill>
              <a:srgbClr val="181F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874520"/>
            <a:ext cx="73152" cy="138988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34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938528"/>
            <a:ext cx="82296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Clave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914400" y="33832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medir y cómo interpretarlo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81F2E"/>
          </a:solidFill>
          <a:ln w="12700">
            <a:solidFill>
              <a:srgbClr val="181F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Fundamentales de Performance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6 métricas que todo QA Engineer debe dominar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2743200" cy="1719072"/>
          </a:xfrm>
          <a:prstGeom prst="rect">
            <a:avLst/>
          </a:prstGeom>
          <a:solidFill>
            <a:srgbClr val="FFFFFF"/>
          </a:solidFill>
          <a:ln w="19050">
            <a:solidFill>
              <a:srgbClr val="EA580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960120"/>
            <a:ext cx="2743200" cy="457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40280" y="1033272"/>
            <a:ext cx="658368" cy="2743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40280" y="103327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/ 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8328" y="106984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Time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(Tiempo de respuesta)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38328" y="1581912"/>
            <a:ext cx="25237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desde que el usuario envía la petición hasta que recibe la respuesta completa.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típica: &lt; 200ms para APIs, &lt; 2s para páginas web.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54680" y="960120"/>
            <a:ext cx="2743200" cy="1719072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54680" y="960120"/>
            <a:ext cx="274320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166360" y="1033272"/>
            <a:ext cx="658368" cy="274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66360" y="103327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64408" y="106984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(Latencia)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264408" y="1581912"/>
            <a:ext cx="25237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hasta recibir el PRIMER byte de respuesta. Indica la demora de la red y del servidor para iniciar la respuesta.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80760" y="960120"/>
            <a:ext cx="2743200" cy="1719072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80760" y="960120"/>
            <a:ext cx="27432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92440" y="1033272"/>
            <a:ext cx="658368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92440" y="103327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req/s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190488" y="106984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(Rendimiento)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190488" y="1581912"/>
            <a:ext cx="25237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Cantidad de peticiones exitosas que el sistema puede manejar por unidad de tiempo. Mide la CAPACIDAD real.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28600" y="2880360"/>
            <a:ext cx="2743200" cy="1719072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28600" y="2880360"/>
            <a:ext cx="27432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40280" y="2953512"/>
            <a:ext cx="658368" cy="274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40280" y="295351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38328" y="299008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TPS / RPS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38328" y="3502152"/>
            <a:ext cx="25237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Transactions/Requests Per Second. Cuántas transacciones o peticiones completas se procesan por segundo.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154680" y="2880360"/>
            <a:ext cx="2743200" cy="1719072"/>
          </a:xfrm>
          <a:prstGeom prst="rect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154680" y="2880360"/>
            <a:ext cx="2743200" cy="457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166360" y="2953512"/>
            <a:ext cx="658368" cy="2743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66360" y="295351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264408" y="299008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Rate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(Tasa de errores)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3264408" y="3502152"/>
            <a:ext cx="25237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Porcentaje de peticiones que fallan (timeout, 5xx, excepciones). Meta: &lt; 1% en carga normal.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080760" y="2880360"/>
            <a:ext cx="2743200" cy="1719072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080760" y="2880360"/>
            <a:ext cx="274320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092440" y="2953512"/>
            <a:ext cx="658368" cy="274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092440" y="295351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190488" y="299008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Users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(Usuarios concurrentes)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6190488" y="3502152"/>
            <a:ext cx="25237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 de usuarios activos al mismo tiempo. A más usuarios, más recursos necesita el servidor.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Testing  |  Sesión 8  |  Universitaria de Colombia  |  6 / 35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81F2E"/>
          </a:solidFill>
          <a:ln w="12700">
            <a:solidFill>
              <a:srgbClr val="181F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Percentiles: La Métrica Que Más Importa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el promedio miente y los percentiles revelan la verdad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8686800" cy="68580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960120"/>
            <a:ext cx="45720" cy="6858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014984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100 usuarios tardan 100ms y 1 usuario tarda 10.000ms, el PROMEDIO dice 198ms ("aceptable"). Pero ese usuario tarda 10 segundos. El p99 revela eso — el promedio lo oculta.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28600" y="1755648"/>
            <a:ext cx="128016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1752" y="1801368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p50 (Mediana)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508760" y="1755648"/>
            <a:ext cx="109728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81912" y="1801368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200ms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606040" y="1755648"/>
            <a:ext cx="630936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79192" y="1801368"/>
            <a:ext cx="6172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50% de los usuarios tarda ≤ 200ms. La experiencia del usuario "típico".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28600" y="2258568"/>
            <a:ext cx="1280160" cy="429768"/>
          </a:xfrm>
          <a:prstGeom prst="rect">
            <a:avLst/>
          </a:prstGeom>
          <a:solidFill>
            <a:srgbClr val="FFFBE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1752" y="2304288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p75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508760" y="2258568"/>
            <a:ext cx="1097280" cy="429768"/>
          </a:xfrm>
          <a:prstGeom prst="rect">
            <a:avLst/>
          </a:prstGeom>
          <a:solidFill>
            <a:srgbClr val="FFFBE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581912" y="2304288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350ms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606040" y="2258568"/>
            <a:ext cx="6309360" cy="429768"/>
          </a:xfrm>
          <a:prstGeom prst="rect">
            <a:avLst/>
          </a:prstGeom>
          <a:solidFill>
            <a:srgbClr val="FFFBE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79192" y="2304288"/>
            <a:ext cx="6172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75% de los usuarios tarda ≤ 350ms. Mayoría con buena experiencia.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28600" y="2761488"/>
            <a:ext cx="128016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01752" y="2807208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508760" y="2761488"/>
            <a:ext cx="109728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581912" y="2807208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800ms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606040" y="2761488"/>
            <a:ext cx="630936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79192" y="2807208"/>
            <a:ext cx="6172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90% tarda ≤ 800ms. Comienza a detectar casos lentos.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28600" y="3264408"/>
            <a:ext cx="1280160" cy="429768"/>
          </a:xfrm>
          <a:prstGeom prst="rect">
            <a:avLst/>
          </a:prstGeom>
          <a:solidFill>
            <a:srgbClr val="FFFBE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01752" y="3310128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p95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508760" y="3264408"/>
            <a:ext cx="1097280" cy="429768"/>
          </a:xfrm>
          <a:prstGeom prst="rect">
            <a:avLst/>
          </a:prstGeom>
          <a:solidFill>
            <a:srgbClr val="FFFBE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581912" y="3310128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1.200ms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606040" y="3264408"/>
            <a:ext cx="6309360" cy="429768"/>
          </a:xfrm>
          <a:prstGeom prst="rect">
            <a:avLst/>
          </a:prstGeom>
          <a:solidFill>
            <a:srgbClr val="FFFBE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679192" y="3310128"/>
            <a:ext cx="6172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95% tarda ≤ 1.2s. Umbral común de SLA en producción.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228600" y="3767328"/>
            <a:ext cx="128016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01752" y="3813048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p99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1508760" y="3767328"/>
            <a:ext cx="109728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581912" y="3813048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3.500ms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606040" y="3767328"/>
            <a:ext cx="630936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679192" y="3813048"/>
            <a:ext cx="6172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99% tarda ≤ 3.5s. Los outliers — usuarios con peor experiencia.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228600" y="4270248"/>
            <a:ext cx="1280160" cy="429768"/>
          </a:xfrm>
          <a:prstGeom prst="rect">
            <a:avLst/>
          </a:prstGeom>
          <a:solidFill>
            <a:srgbClr val="FFFBE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01752" y="4315968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p99.9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1508760" y="4270248"/>
            <a:ext cx="1097280" cy="429768"/>
          </a:xfrm>
          <a:prstGeom prst="rect">
            <a:avLst/>
          </a:prstGeom>
          <a:solidFill>
            <a:srgbClr val="FFFBE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581912" y="4315968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10.000ms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2606040" y="4270248"/>
            <a:ext cx="6309360" cy="429768"/>
          </a:xfrm>
          <a:prstGeom prst="rect">
            <a:avLst/>
          </a:prstGeom>
          <a:solidFill>
            <a:srgbClr val="FFFBE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679192" y="4315968"/>
            <a:ext cx="6172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de cada 1.000 usuarios tarda ≤ 10s. Casos extremos.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Testing  |  Sesión 8  |  Universitaria de Colombia  |  7 / 35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5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74520"/>
            <a:ext cx="9144000" cy="1389888"/>
          </a:xfrm>
          <a:prstGeom prst="rect">
            <a:avLst/>
          </a:prstGeom>
          <a:solidFill>
            <a:srgbClr val="181F2E"/>
          </a:solidFill>
          <a:ln w="12700">
            <a:solidFill>
              <a:srgbClr val="181F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874520"/>
            <a:ext cx="73152" cy="138988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34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938528"/>
            <a:ext cx="82296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Performance Testing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914400" y="33832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tipos — cada uno responde una pregunta diferente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81F2E"/>
          </a:solidFill>
          <a:ln w="12700">
            <a:solidFill>
              <a:srgbClr val="181F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6 Tipos de Performance Testing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tipo responde una pregunta diferente sobre el sistema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2743200" cy="1719072"/>
          </a:xfrm>
          <a:prstGeom prst="rect">
            <a:avLst/>
          </a:prstGeom>
          <a:solidFill>
            <a:srgbClr val="FFFFFF"/>
          </a:solidFill>
          <a:ln w="19050">
            <a:solidFill>
              <a:srgbClr val="EA580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960120"/>
            <a:ext cx="2743200" cy="457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1051560"/>
            <a:ext cx="25237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Testing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🏋️ Prueba de Carga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38328" y="1572768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se comporta con la carga esperada?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8328" y="1874520"/>
            <a:ext cx="25237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 el número de usuarios real o esperado. Verifica que el sistema cumple los SLA.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154680" y="960120"/>
            <a:ext cx="2743200" cy="1719072"/>
          </a:xfrm>
          <a:prstGeom prst="rect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54680" y="960120"/>
            <a:ext cx="2743200" cy="457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64408" y="1051560"/>
            <a:ext cx="25237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Testing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Prueba de Estrés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264408" y="1572768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¿Hasta dónde llega antes de romperse?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64408" y="1874520"/>
            <a:ext cx="25237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Aumenta la carga más allá del límite para encontrar el punto de quiebre y cómo falla.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80760" y="960120"/>
            <a:ext cx="2743200" cy="1719072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80760" y="960120"/>
            <a:ext cx="274320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90488" y="1051560"/>
            <a:ext cx="25237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Spike Testing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Prueba de Picos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190488" y="1572768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pasa con aumentos súbitos de tráfico?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190488" y="1874520"/>
            <a:ext cx="25237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Aumenta la carga repentinamente (ej: campaña viral). Verifica recuperación rápida.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8600" y="2862072"/>
            <a:ext cx="2743200" cy="1719072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28600" y="2862072"/>
            <a:ext cx="27432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8328" y="2953512"/>
            <a:ext cx="25237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Soak Testing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🌊 Prueba de Resistencia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38328" y="3474720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¿El sistema se degrada con el tiempo?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38328" y="3776472"/>
            <a:ext cx="25237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 carga normal por muchas horas (8-24h). Detecta memory leaks y degradación.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154680" y="2862072"/>
            <a:ext cx="2743200" cy="1719072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154680" y="2862072"/>
            <a:ext cx="27432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64408" y="2953512"/>
            <a:ext cx="25237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Testing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Escalabilidad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264408" y="3474720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¿Mejora el rendimiento al agregar recursos?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264408" y="3776472"/>
            <a:ext cx="25237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 gradualmente usuarios/recursos. Mide si el sistema escala linealmente.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080760" y="2862072"/>
            <a:ext cx="2743200" cy="1719072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080760" y="2862072"/>
            <a:ext cx="274320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90488" y="2953512"/>
            <a:ext cx="25237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Testing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Volumen de Datos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190488" y="3474720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¿Funciona bien con grandes volúmenes de datos?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190488" y="3776472"/>
            <a:ext cx="25237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con cantidades masivas de datos en BD. Detecta consultas lentas con N grande.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Testing  |  Sesión 8  |  Universitaria de Colombia  |  9 / 35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81F2E"/>
          </a:solidFill>
          <a:ln w="12700">
            <a:solidFill>
              <a:srgbClr val="181F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Testing — Profundidad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tipo más común: verifica el comportamiento bajo carga esperada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28600" y="98755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8600" y="1353312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 el volumen de usuarios y transacciones que el sistema procesará en producción. El objetivo es verificar que los SLA (acuerdos de nivel de servicio) se cumplen bajo carga real.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28600" y="221284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 típico de carga: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28600" y="2542032"/>
            <a:ext cx="4206240" cy="1371600"/>
          </a:xfrm>
          <a:prstGeom prst="rect">
            <a:avLst/>
          </a:prstGeom>
          <a:solidFill>
            <a:srgbClr val="060A12"/>
          </a:solidFill>
          <a:ln w="12700">
            <a:solidFill>
              <a:srgbClr val="EA580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8600" y="2542032"/>
            <a:ext cx="36576" cy="13716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2633472"/>
            <a:ext cx="40690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Fase 1 — Ramp-up:    0  → 100 usuarios en 2 min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Fase 2 — Steady:     100 usuarios por 10 min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Fase 3 — Ramp-down: 100 → 0  usuarios en 1 min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Criterio de éxito: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• p95 de respuesta &lt; 500ms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• Error rate &lt; 1%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• CPU &lt; 70%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846320" y="987552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¿Cuándo ejecutar?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846320" y="1371600"/>
            <a:ext cx="406908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FED7A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1408176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Antes de cada release a producción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46320" y="1993392"/>
            <a:ext cx="4069080" cy="530352"/>
          </a:xfrm>
          <a:prstGeom prst="rect">
            <a:avLst/>
          </a:prstGeom>
          <a:solidFill>
            <a:srgbClr val="FFF7ED"/>
          </a:solidFill>
          <a:ln w="10160">
            <a:solidFill>
              <a:srgbClr val="FED7A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2029968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Al agregar nuevas funcionalidades críticas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46320" y="2615184"/>
            <a:ext cx="406908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FED7A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2651760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Antes de campañas de marketing o eventos especiales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3236976"/>
            <a:ext cx="4069080" cy="530352"/>
          </a:xfrm>
          <a:prstGeom prst="rect">
            <a:avLst/>
          </a:prstGeom>
          <a:solidFill>
            <a:srgbClr val="FFF7ED"/>
          </a:solidFill>
          <a:ln w="10160">
            <a:solidFill>
              <a:srgbClr val="FED7A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3273552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Después de optimizaciones de rendimiento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46320" y="3931920"/>
            <a:ext cx="4069080" cy="868680"/>
          </a:xfrm>
          <a:prstGeom prst="rect">
            <a:avLst/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46320" y="3931920"/>
            <a:ext cx="45720" cy="8686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83480" y="4023360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de SLA real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83480" y="4352544"/>
            <a:ext cx="3867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Google: p99 &lt; 200ms | Netflix: p95 &lt; 100ms | Bancos: p99 &lt; 500ms en transacciones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Testing  |  Sesión 8  |  Universitaria de Colombia  |  10 / 35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81F2E"/>
          </a:solidFill>
          <a:ln w="12700">
            <a:solidFill>
              <a:srgbClr val="181F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Testing vs Spike Testing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tipos para situaciones extremas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4206240" cy="3931920"/>
          </a:xfrm>
          <a:prstGeom prst="rect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960120"/>
            <a:ext cx="4206240" cy="3840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" y="1005840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Stress Testing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9184" y="1444752"/>
            <a:ext cx="4005072" cy="402336"/>
          </a:xfrm>
          <a:prstGeom prst="rect">
            <a:avLst/>
          </a:prstGeom>
          <a:solidFill>
            <a:srgbClr val="FFF5F5"/>
          </a:solidFill>
          <a:ln w="7620">
            <a:solidFill>
              <a:srgbClr val="FECAC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" y="1481328"/>
            <a:ext cx="3822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Aumenta carga progresivamente más allá del límite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9184" y="1920240"/>
            <a:ext cx="4005072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FECAC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" y="1956816"/>
            <a:ext cx="3822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encontrar el punto de quiebre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9184" y="2395728"/>
            <a:ext cx="4005072" cy="402336"/>
          </a:xfrm>
          <a:prstGeom prst="rect">
            <a:avLst/>
          </a:prstGeom>
          <a:solidFill>
            <a:srgbClr val="FFF5F5"/>
          </a:solidFill>
          <a:ln w="7620">
            <a:solidFill>
              <a:srgbClr val="FECA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0624" y="2432304"/>
            <a:ext cx="3822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Pregunta: ¿cómo falla el sistema? ¿elegantemente?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9184" y="2871216"/>
            <a:ext cx="4005072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FECAC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0624" y="2907792"/>
            <a:ext cx="3822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Carga: 150%, 200%, 300% de la carga normal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9184" y="3346704"/>
            <a:ext cx="4005072" cy="402336"/>
          </a:xfrm>
          <a:prstGeom prst="rect">
            <a:avLst/>
          </a:prstGeom>
          <a:solidFill>
            <a:srgbClr val="FFF5F5"/>
          </a:solidFill>
          <a:ln w="7620">
            <a:solidFill>
              <a:srgbClr val="FECAC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0624" y="3383280"/>
            <a:ext cx="3822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esperado: identificar el breaking point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9184" y="3822192"/>
            <a:ext cx="4005072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FECAC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0624" y="3858768"/>
            <a:ext cx="3822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 clave: tasa de error al sobrepasar límite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09160" y="960120"/>
            <a:ext cx="4206240" cy="3931920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09160" y="960120"/>
            <a:ext cx="420624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9744" y="1005840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Spike Testing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809744" y="1444752"/>
            <a:ext cx="4005072" cy="402336"/>
          </a:xfrm>
          <a:prstGeom prst="rect">
            <a:avLst/>
          </a:prstGeom>
          <a:solidFill>
            <a:srgbClr val="FFFBEB"/>
          </a:solidFill>
          <a:ln w="7620">
            <a:solidFill>
              <a:srgbClr val="FDE6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01184" y="1481328"/>
            <a:ext cx="3822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Sube repentinamente de N a 10N usuarios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09744" y="1920240"/>
            <a:ext cx="4005072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FDE6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01184" y="1956816"/>
            <a:ext cx="3822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verificar recuperación rápida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09744" y="2395728"/>
            <a:ext cx="4005072" cy="402336"/>
          </a:xfrm>
          <a:prstGeom prst="rect">
            <a:avLst/>
          </a:prstGeom>
          <a:solidFill>
            <a:srgbClr val="FFFBEB"/>
          </a:solidFill>
          <a:ln w="7620">
            <a:solidFill>
              <a:srgbClr val="FDE6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01184" y="2432304"/>
            <a:ext cx="3822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Pregunta: ¿vuelve a funcionar bien después del pico?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09744" y="2871216"/>
            <a:ext cx="4005072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FDE68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01184" y="2907792"/>
            <a:ext cx="3822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Simula: Black Friday, viral en redes, noticias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809744" y="3346704"/>
            <a:ext cx="4005072" cy="402336"/>
          </a:xfrm>
          <a:prstGeom prst="rect">
            <a:avLst/>
          </a:prstGeom>
          <a:solidFill>
            <a:srgbClr val="FFFBEB"/>
          </a:solidFill>
          <a:ln w="7620">
            <a:solidFill>
              <a:srgbClr val="FDE68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01184" y="3383280"/>
            <a:ext cx="3822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Verifica: auto-scaling, circuit breakers, degradación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809744" y="3822192"/>
            <a:ext cx="4005072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FDE68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01184" y="3858768"/>
            <a:ext cx="3822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 clave: tiempo de recuperación post-pico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Testing  |  Sesión 8  |  Universitaria de Colombia  |  11 / 35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81F2E"/>
          </a:solidFill>
          <a:ln w="12700">
            <a:solidFill>
              <a:srgbClr val="181F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Soak Testing y Scalability Testing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tipos más reveladores — requieren tiempo y recursos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4206240" cy="393192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960120"/>
            <a:ext cx="420624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" y="1005840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🌊 Soak Testing (Endurance)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9184" y="1444752"/>
            <a:ext cx="4005072" cy="402336"/>
          </a:xfrm>
          <a:prstGeom prst="rect">
            <a:avLst/>
          </a:prstGeom>
          <a:solidFill>
            <a:srgbClr val="F0FDFA"/>
          </a:solidFill>
          <a:ln w="7620">
            <a:solidFill>
              <a:srgbClr val="99F6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" y="1481328"/>
            <a:ext cx="3822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Duración: 8 a 24 horas con carga sostenida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9184" y="1920240"/>
            <a:ext cx="4005072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99F6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" y="1956816"/>
            <a:ext cx="3822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memory leaks — uso de RAM crece lentamente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9184" y="2395728"/>
            <a:ext cx="4005072" cy="402336"/>
          </a:xfrm>
          <a:prstGeom prst="rect">
            <a:avLst/>
          </a:prstGeom>
          <a:solidFill>
            <a:srgbClr val="F0FDFA"/>
          </a:solidFill>
          <a:ln w="7620">
            <a:solidFill>
              <a:srgbClr val="99F6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0624" y="2432304"/>
            <a:ext cx="3822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connection pool exhaustion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9184" y="2871216"/>
            <a:ext cx="4005072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99F6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0624" y="2907792"/>
            <a:ext cx="3822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 garbage collection degradado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9184" y="3346704"/>
            <a:ext cx="4005072" cy="402336"/>
          </a:xfrm>
          <a:prstGeom prst="rect">
            <a:avLst/>
          </a:prstGeom>
          <a:solidFill>
            <a:srgbClr val="F0FDFA"/>
          </a:solidFill>
          <a:ln w="7620">
            <a:solidFill>
              <a:srgbClr val="99F6E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0624" y="3383280"/>
            <a:ext cx="3822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Revela problemas de logs que llenan el disco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9184" y="3822192"/>
            <a:ext cx="4005072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99F6E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0624" y="3858768"/>
            <a:ext cx="3822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¡Muchas apps fallan en producción después de días!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09160" y="960120"/>
            <a:ext cx="4206240" cy="393192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09160" y="960120"/>
            <a:ext cx="420624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9744" y="1005840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Scalability Testing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809744" y="1444752"/>
            <a:ext cx="4005072" cy="402336"/>
          </a:xfrm>
          <a:prstGeom prst="rect">
            <a:avLst/>
          </a:prstGeom>
          <a:solidFill>
            <a:srgbClr val="DBEAFE"/>
          </a:solidFill>
          <a:ln w="7620">
            <a:solidFill>
              <a:srgbClr val="BFDBF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01184" y="1481328"/>
            <a:ext cx="3822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 carga: 10→50→100→200 usuarios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09744" y="1920240"/>
            <a:ext cx="4005072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BFDBF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01184" y="1956816"/>
            <a:ext cx="3822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Mide si rendimiento escala linealmente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09744" y="2395728"/>
            <a:ext cx="4005072" cy="402336"/>
          </a:xfrm>
          <a:prstGeom prst="rect">
            <a:avLst/>
          </a:prstGeom>
          <a:solidFill>
            <a:srgbClr val="DBEAFE"/>
          </a:solidFill>
          <a:ln w="7620">
            <a:solidFill>
              <a:srgbClr val="BFDBF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01184" y="2432304"/>
            <a:ext cx="3822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si más instancias = más capacidad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09744" y="2871216"/>
            <a:ext cx="4005072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BFDBF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01184" y="2907792"/>
            <a:ext cx="3822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Evalúa el costo de escalar (horizontal vs vertical)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809744" y="3346704"/>
            <a:ext cx="4005072" cy="402336"/>
          </a:xfrm>
          <a:prstGeom prst="rect">
            <a:avLst/>
          </a:prstGeom>
          <a:solidFill>
            <a:srgbClr val="DBEAFE"/>
          </a:solidFill>
          <a:ln w="7620">
            <a:solidFill>
              <a:srgbClr val="BFDBF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01184" y="3383280"/>
            <a:ext cx="3822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balanceadores de carga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809744" y="3822192"/>
            <a:ext cx="4005072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BFDBF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01184" y="3858768"/>
            <a:ext cx="3822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curva de capacidad del sistema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Testing  |  Sesión 8  |  Universitaria de Colombia  |  12 / 35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5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74520"/>
            <a:ext cx="9144000" cy="1389888"/>
          </a:xfrm>
          <a:prstGeom prst="rect">
            <a:avLst/>
          </a:prstGeom>
          <a:solidFill>
            <a:srgbClr val="181F2E"/>
          </a:solidFill>
          <a:ln w="12700">
            <a:solidFill>
              <a:srgbClr val="181F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874520"/>
            <a:ext cx="73152" cy="138988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34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938528"/>
            <a:ext cx="82296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de Performance Testing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914400" y="33832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k6 · Locust · JMeter · Gatling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81F2E"/>
          </a:solidFill>
          <a:ln w="12700">
            <a:solidFill>
              <a:srgbClr val="181F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Comparativa de Herramientas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Seleccionar la herramienta correcta es crítico</a:t>
            </a:r>
            <a:endParaRPr lang="en-US" sz="11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960120"/>
          <a:ext cx="86868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719072"/>
                <a:gridCol w="1719072"/>
                <a:gridCol w="1828800"/>
                <a:gridCol w="159105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F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58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Locust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Apache JMeter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Gatling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1481328"/>
          <a:ext cx="86868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719072"/>
                <a:gridCol w="1719072"/>
                <a:gridCol w="1828800"/>
                <a:gridCol w="159105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Lenguaje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JavaScript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GUI / XML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Scala / DSL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1956816"/>
          <a:ext cx="86868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719072"/>
                <a:gridCol w="1719072"/>
                <a:gridCol w="1828800"/>
                <a:gridCol w="159105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Curva aprendizaje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Baja 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 ⚠️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7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2432304"/>
          <a:ext cx="86868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719072"/>
                <a:gridCol w="1719072"/>
                <a:gridCol w="1828800"/>
                <a:gridCol w="159105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Protocolos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HTTP, WS, gRPC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HTTP, custom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HTTP, JDBC, FTP, más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HTTP, WebSocket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1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2907792"/>
          <a:ext cx="86868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719072"/>
                <a:gridCol w="1719072"/>
                <a:gridCol w="1828800"/>
                <a:gridCol w="159105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Scripting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Muy limpio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Orientado a objetos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Complejo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Expresivo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5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3383280"/>
          <a:ext cx="86868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719072"/>
                <a:gridCol w="1719072"/>
                <a:gridCol w="1828800"/>
                <a:gridCol w="159105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CI/CD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Nativo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CLI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Headless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Maven/SBT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9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3858768"/>
          <a:ext cx="86868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719072"/>
                <a:gridCol w="1719072"/>
                <a:gridCol w="1828800"/>
                <a:gridCol w="159105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k6 Cloud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Locust Cloud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BlazeMeter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Gatling Cloud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3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4334256"/>
          <a:ext cx="86868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719072"/>
                <a:gridCol w="1719072"/>
                <a:gridCol w="1828800"/>
                <a:gridCol w="159105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Ideal para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Devs modernos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Equipos Python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Proyectos legacy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Equipos Scala/Java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Shape 4"/>
          <p:cNvSpPr/>
          <p:nvPr/>
        </p:nvSpPr>
        <p:spPr>
          <a:xfrm>
            <a:off x="228600" y="4800600"/>
            <a:ext cx="8686800" cy="228600"/>
          </a:xfrm>
          <a:prstGeom prst="rect">
            <a:avLst/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Shape 5"/>
          <p:cNvSpPr/>
          <p:nvPr/>
        </p:nvSpPr>
        <p:spPr>
          <a:xfrm>
            <a:off x="228600" y="4800600"/>
            <a:ext cx="45720" cy="2286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6"/>
          <p:cNvSpPr/>
          <p:nvPr/>
        </p:nvSpPr>
        <p:spPr>
          <a:xfrm>
            <a:off x="365760" y="4892040"/>
            <a:ext cx="8485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Recomendación del curso</a:t>
            </a:r>
            <a:endParaRPr lang="en-US" sz="1200" dirty="0"/>
          </a:p>
        </p:txBody>
      </p:sp>
      <p:sp>
        <p:nvSpPr>
          <p:cNvPr id="17" name="Text 7"/>
          <p:cNvSpPr/>
          <p:nvPr/>
        </p:nvSpPr>
        <p:spPr>
          <a:xfrm>
            <a:off x="365760" y="5221224"/>
            <a:ext cx="8485632" cy="-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Usaremos Locust (Python) — ya conocen el lenguaje, fácil de leer y suficientemente potente.</a:t>
            </a:r>
            <a:endParaRPr lang="en-US" sz="1050" dirty="0"/>
          </a:p>
        </p:txBody>
      </p:sp>
      <p:sp>
        <p:nvSpPr>
          <p:cNvPr id="18" name="Text 8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Testing  |  Sesión 8  |  Universitaria de Colombia  |  14 / 35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81F2E"/>
          </a:solidFill>
          <a:ln w="12700">
            <a:solidFill>
              <a:srgbClr val="181F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Locust — Arquitectura y Conceptos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funciona internamente Locust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5120640" cy="3200400"/>
          </a:xfrm>
          <a:prstGeom prst="rect">
            <a:avLst/>
          </a:prstGeom>
          <a:solidFill>
            <a:srgbClr val="060A12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960120"/>
            <a:ext cx="36576" cy="32004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051560"/>
            <a:ext cx="4983480" cy="3035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Estructura básica de un test Locust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locust import HttpUser, task, between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UsuarioBiblioteca(HttpUser):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Tiempo de espera entre tareas (simula comportamiento humano)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wait_time = between(1, 3)  # 1 a 3 segundos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@task(3)  # peso 3: se ejecuta 3x más que peso 1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ver_catalogo(self):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self.client.get('/api/libros')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@task(1)  # peso 1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buscar_libro(self):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self.client.get('/api/libros?q=python')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@task(2)  # peso 2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hacer_prestamo(self):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self.client.post('/api/prestamos', json={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'libro_id': 1,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'estudiante_id': '2024-001'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577840" y="960120"/>
            <a:ext cx="33375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577840" y="960120"/>
            <a:ext cx="333756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87568" y="105156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Conceptos clave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687568" y="1417320"/>
            <a:ext cx="3063240" cy="438912"/>
          </a:xfrm>
          <a:prstGeom prst="rect">
            <a:avLst/>
          </a:prstGeom>
          <a:solidFill>
            <a:srgbClr val="FFFBE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720" y="144475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HttpUser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858000" y="1444752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 un usuario real con su sesión HTTP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687568" y="1929384"/>
            <a:ext cx="3063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60720" y="195681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858000" y="1956816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Acción que el usuario realiza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687568" y="2441448"/>
            <a:ext cx="3063240" cy="438912"/>
          </a:xfrm>
          <a:prstGeom prst="rect">
            <a:avLst/>
          </a:prstGeom>
          <a:solidFill>
            <a:srgbClr val="FFFBE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60720" y="246888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wait_time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858000" y="2468880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Pausa entre tareas (realismo)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687568" y="2953512"/>
            <a:ext cx="3063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60720" y="2980944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weight (@task)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858000" y="2980944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Probabilidad de cada tarea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687568" y="3465576"/>
            <a:ext cx="3063240" cy="438912"/>
          </a:xfrm>
          <a:prstGeom prst="rect">
            <a:avLst/>
          </a:prstGeom>
          <a:solidFill>
            <a:srgbClr val="FFFBE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60720" y="349300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VUs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858000" y="3493008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Users — usuarios concurrentes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28600" y="4251960"/>
            <a:ext cx="8686800" cy="594360"/>
          </a:xfrm>
          <a:prstGeom prst="rect">
            <a:avLst/>
          </a:prstGeom>
          <a:solidFill>
            <a:srgbClr val="0A0F1A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" y="42976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Ejecutar Locust
</a:t>
            </a:r>
            <a:pPr indent="0" marL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locust -f test_biblioteca.py --host=http://localhost:8000 --headless -u 100 -r 10 --run-time 5m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Testing  |  Sesión 8  |  Universitaria de Colombia  |  15 / 35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81F2E"/>
          </a:solidFill>
          <a:ln w="12700">
            <a:solidFill>
              <a:srgbClr val="181F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k6 — Moderno y CI/CD Friendly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alternativa a JMeter para equipos ágiles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5120640" cy="2926080"/>
          </a:xfrm>
          <a:prstGeom prst="rect">
            <a:avLst/>
          </a:prstGeom>
          <a:solidFill>
            <a:srgbClr val="060A12"/>
          </a:solidFill>
          <a:ln w="12700">
            <a:solidFill>
              <a:srgbClr val="EA580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960120"/>
            <a:ext cx="36576" cy="292608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051560"/>
            <a:ext cx="4983480" cy="276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k6 — JavaScript — test de carga básico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http from 'k6/http';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check, sleep } from 'k6';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Rate } from 'k6/metrics';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const options =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stages: [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duration: '2m', target: 100 }, // ramp-up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duration: '5m', target: 100 }, // steady state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duration: '2m', target: 0 },   // ramp-down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thresholds: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http_req_duration: ['p(95)&lt;500'],  // SLA: p95 &lt; 500ms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http_req_failed: ['rate&lt;0.01'],    // &lt; 1% errores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default function ()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res = http.get('http://localhost:8000/api/libros');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check(res, { 'status 200': (r) =&gt; r.status === 200 });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sleep(1);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394960" y="960120"/>
            <a:ext cx="3520440" cy="1170432"/>
          </a:xfrm>
          <a:prstGeom prst="rect">
            <a:avLst/>
          </a:prstGeom>
          <a:solidFill>
            <a:srgbClr val="FFF7ED"/>
          </a:solidFill>
          <a:ln w="19050">
            <a:solidFill>
              <a:srgbClr val="EA580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394960" y="960120"/>
            <a:ext cx="45720" cy="117043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32120" y="1051560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Thresholds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532120" y="1380744"/>
            <a:ext cx="331927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umbrales de SLA directamente en el script. Si se superan, el test falla automáticamente.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394960" y="2258568"/>
            <a:ext cx="3520440" cy="1170432"/>
          </a:xfrm>
          <a:prstGeom prst="rect">
            <a:avLst/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394960" y="2258568"/>
            <a:ext cx="45720" cy="11704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32120" y="2350008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Stages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532120" y="2679192"/>
            <a:ext cx="331927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fases de ramp-up, steady y ramp-down con una sola opción.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394960" y="3557016"/>
            <a:ext cx="3520440" cy="1170432"/>
          </a:xfrm>
          <a:prstGeom prst="rect">
            <a:avLst/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394960" y="3557016"/>
            <a:ext cx="45720" cy="11704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32120" y="3648456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CI/CD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532120" y="3977640"/>
            <a:ext cx="331927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 de texto plana, código de salida estándar — se integra con cualquier pipeline.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Testing  |  Sesión 8  |  Universitaria de Colombia  |  16 / 35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5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74520"/>
            <a:ext cx="9144000" cy="1389888"/>
          </a:xfrm>
          <a:prstGeom prst="rect">
            <a:avLst/>
          </a:prstGeom>
          <a:solidFill>
            <a:srgbClr val="181F2E"/>
          </a:solidFill>
          <a:ln w="12700">
            <a:solidFill>
              <a:srgbClr val="181F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874520"/>
            <a:ext cx="73152" cy="13898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34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938528"/>
            <a:ext cx="82296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 Reales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914400" y="33832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casos de estudio con análisis de resultados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81F2E"/>
          </a:solidFill>
          <a:ln w="12700">
            <a:solidFill>
              <a:srgbClr val="181F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1 — API de Login Bancario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Test: ¿cumple el SLA de 500ms al p95?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5120640" cy="2926080"/>
          </a:xfrm>
          <a:prstGeom prst="rect">
            <a:avLst/>
          </a:prstGeom>
          <a:solidFill>
            <a:srgbClr val="060A12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960120"/>
            <a:ext cx="36576" cy="2926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051560"/>
            <a:ext cx="4983480" cy="276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test_login_bancario.py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locust import HttpUser, task, between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locust import events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UsuarioBanco(HttpUser):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host = 'https://api.banco.com'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wait_time = between(2, 5)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on_start(self):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Se ejecuta una vez cuando el usuario virtual inicia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self.headers = {'Content-Type': 'application/json'}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@task(5)  # 5x más frecuente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consultar_saldo(self):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with self.client.get('/api/cuenta/saldo',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headers=self.headers,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catch_response=True) as resp: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resp.elapsed.total_seconds() &gt; 0.5: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resp.failure('SLA violado: &gt; 500ms')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@task(2)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realizar_transferencia(self):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self.client.post('/api/transferencia', json={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'origen': '001-123', 'destino': '002-456', 'monto': 50000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}, headers=self.headers)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577840" y="960120"/>
            <a:ext cx="333756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577840" y="960120"/>
            <a:ext cx="333756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87568" y="105156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reales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87568" y="1389888"/>
            <a:ext cx="3063240" cy="329184"/>
          </a:xfrm>
          <a:prstGeom prst="rect">
            <a:avLst/>
          </a:prstGeom>
          <a:solidFill>
            <a:srgbClr val="F0FDFA"/>
          </a:solidFill>
          <a:ln w="6350">
            <a:solidFill>
              <a:srgbClr val="D1FA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720" y="1426464"/>
            <a:ext cx="2898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VUs: 200 concurrentes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87568" y="1773936"/>
            <a:ext cx="30632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60720" y="1810512"/>
            <a:ext cx="2898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RPS: 850 req/s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87568" y="2157984"/>
            <a:ext cx="3063240" cy="329184"/>
          </a:xfrm>
          <a:prstGeom prst="rect">
            <a:avLst/>
          </a:prstGeom>
          <a:solidFill>
            <a:srgbClr val="F0FDFA"/>
          </a:solidFill>
          <a:ln w="6350">
            <a:solidFill>
              <a:srgbClr val="D1FA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60720" y="2194560"/>
            <a:ext cx="2898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p50: 145ms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687568" y="2542032"/>
            <a:ext cx="30632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1FA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60720" y="2578608"/>
            <a:ext cx="2898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p95: 423ms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687568" y="2926080"/>
            <a:ext cx="3063240" cy="329184"/>
          </a:xfrm>
          <a:prstGeom prst="rect">
            <a:avLst/>
          </a:prstGeom>
          <a:solidFill>
            <a:srgbClr val="F0FDFA"/>
          </a:solidFill>
          <a:ln w="635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0720" y="2962656"/>
            <a:ext cx="2898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p99: 891ms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687568" y="3310128"/>
            <a:ext cx="30632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60720" y="3346704"/>
            <a:ext cx="2898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Error rate: 0.3%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28600" y="3977640"/>
            <a:ext cx="8686800" cy="822960"/>
          </a:xfrm>
          <a:prstGeom prst="rect">
            <a:avLst/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28600" y="3977640"/>
            <a:ext cx="45720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069080"/>
            <a:ext cx="8485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del resultado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65760" y="4398264"/>
            <a:ext cx="8485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p95=423ms ✅ cumple el SLA de 500ms. p99=891ms ⚠️ el 1% más lento supera 500ms → investigar.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Testing  |  Sesión 8  |  Universitaria de Colombia  |  18 / 35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81F2E"/>
          </a:solidFill>
          <a:ln w="12700">
            <a:solidFill>
              <a:srgbClr val="181F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2 — E-commerce: Black Friday Simulation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Spike Test: de 100 a 5.000 usuarios en 30 segundos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5120640" cy="2743200"/>
          </a:xfrm>
          <a:prstGeom prst="rect">
            <a:avLst/>
          </a:prstGeom>
          <a:solidFill>
            <a:srgbClr val="060A12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960120"/>
            <a:ext cx="36576" cy="2743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051560"/>
            <a:ext cx="4983480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test_blackfriday_spike.py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locust import HttpUser, task, between, constant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CompradorBlackFriday(HttpUser):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Sin espera — máxima presión sobre el servidor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wait_time = constant(0)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@task(4)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ver_productos_en_oferta(self):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self.client.get('/api/productos?oferta=true')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@task(2)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agregar_al_carrito(self):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self.client.post('/api/carrito/agregar', json={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'producto_id': 'PROD-123', 'cantidad': 1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@task(1)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checkout(self):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self.client.post('/api/checkout', json={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'metodo_pago': 'tarjeta'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Ejecutar: locust -u 5000 -r 500 --run-time 3m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5000 usuarios, 500 nuevos/segundo (spike agresivo)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577840" y="960120"/>
            <a:ext cx="33375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577840" y="960120"/>
            <a:ext cx="3337560" cy="457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87568" y="105156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del Spike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87568" y="1389888"/>
            <a:ext cx="30632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0-30s: Sistema responde OK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30s-90s: p95 sube a 8.000ms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rate: 23%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90s-120s: Auto-scaling activa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nuevas instancias suman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120s+: Sistema se recupera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rate: 0.8%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recuperación: 85s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87568" y="3767328"/>
            <a:ext cx="3063240" cy="713232"/>
          </a:xfrm>
          <a:prstGeom prst="rect">
            <a:avLst/>
          </a:prstGeom>
          <a:solidFill>
            <a:srgbClr val="FEE2E2"/>
          </a:solidFill>
          <a:ln w="1905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687568" y="3767328"/>
            <a:ext cx="45720" cy="7132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24728" y="3858768"/>
            <a:ext cx="2862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824728" y="4187952"/>
            <a:ext cx="28620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spike reveló que el auto-scaling tarda 85s. En Black Friday eso es inaceptable — hay que pre-escalar.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28600" y="3794760"/>
            <a:ext cx="5120640" cy="822960"/>
          </a:xfrm>
          <a:prstGeom prst="rect">
            <a:avLst/>
          </a:prstGeom>
          <a:solidFill>
            <a:srgbClr val="FFF7ED"/>
          </a:solidFill>
          <a:ln w="19050">
            <a:solidFill>
              <a:srgbClr val="EA580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28600" y="3794760"/>
            <a:ext cx="45720" cy="82296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886200"/>
            <a:ext cx="4919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hacer con este resultado?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" y="4215384"/>
            <a:ext cx="4919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Pre-warming: escalar antes del evento. 2) Circuit breakers: rechazar peticiones más rápido. 3) CDN para contenido estático.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Testing  |  Sesión 8  |  Universitaria de Colombia  |  19 / 35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81F2E"/>
          </a:solidFill>
          <a:ln w="12700">
            <a:solidFill>
              <a:srgbClr val="181F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3 — API de Matrícula Universitaria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Soak Test: 8 horas de carga normal, se detecta memory leak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5120640" cy="2560320"/>
          </a:xfrm>
          <a:prstGeom prst="rect">
            <a:avLst/>
          </a:prstGeom>
          <a:solidFill>
            <a:srgbClr val="060A12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960120"/>
            <a:ext cx="36576" cy="2560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051560"/>
            <a:ext cx="4983480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test_matricula_soak.py - 8 horas de duración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locust import HttpUser, task, between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time, psutil  # para monitorear recursos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EstudianteMatricula(HttpUser):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wait_time = between(3, 8)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@task(3)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consultar_materias_disponibles(self):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self.client.get('/api/materias?semestre=2024-2')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@task(2)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ver_horarios(self):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self.client.get('/api/horarios?carrera=software')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@task(1)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matricular_materia(self):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self.client.post('/api/matricula', json={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'materia_codigo': 'INF-701',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'estudiante': '2024-001'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locust --run-time 8h -u 50 -r 5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577840" y="960120"/>
            <a:ext cx="33375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577840" y="960120"/>
            <a:ext cx="3337560" cy="457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87568" y="105156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Leak detectado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87568" y="1389888"/>
            <a:ext cx="30632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 0: RAM = 512MB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 2: RAM = 620MB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 4: RAM = 780MB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 6: RAM = 950MB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 8: RAM = 1.1GB ⚠️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p95 inicial: 180ms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p95 final: 2.400ms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El servidor no liberaba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de sesiones expiradas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28600" y="3639312"/>
            <a:ext cx="8686800" cy="822960"/>
          </a:xfrm>
          <a:prstGeom prst="rect">
            <a:avLst/>
          </a:prstGeom>
          <a:solidFill>
            <a:srgbClr val="FEE2E2"/>
          </a:solidFill>
          <a:ln w="1905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3639312"/>
            <a:ext cx="45720" cy="8229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730752"/>
            <a:ext cx="8485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Lección del soak test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" y="4059936"/>
            <a:ext cx="8485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bug NUNCA se detecta en un load test de 10 minutos. El memory leak tarda horas en acumularse. En producción el servidor se reinicia al día siguiente — y nadie lo sabe.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Testing  |  Sesión 8  |  Universitaria de Colombia  |  20 / 35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81F2E"/>
          </a:solidFill>
          <a:ln w="12700">
            <a:solidFill>
              <a:srgbClr val="181F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4 — Microservicio de Pagos: Encontrar el Cuello de Botella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Test con análisis profundo de causa raíz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28600" y="98755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Escenario: A partir de 250 VUs, el p95 supera 5 segundos. ¿Por qué?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28600" y="1389888"/>
            <a:ext cx="2057400" cy="2560320"/>
          </a:xfrm>
          <a:prstGeom prst="rect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1389888"/>
            <a:ext cx="2057400" cy="457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481328"/>
            <a:ext cx="347472" cy="34747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481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8328" y="1920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Síntoma detectado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8328" y="2286000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p95 = 5.200ms con 250 VUs. Error rate = 8%. CPU al 95%.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441448" y="1389888"/>
            <a:ext cx="2057400" cy="2560320"/>
          </a:xfrm>
          <a:prstGeom prst="rect">
            <a:avLst/>
          </a:prstGeom>
          <a:solidFill>
            <a:srgbClr val="FFFFFF"/>
          </a:solidFill>
          <a:ln w="19050">
            <a:solidFill>
              <a:srgbClr val="EA580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41448" y="1389888"/>
            <a:ext cx="2057400" cy="457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32888" y="1481328"/>
            <a:ext cx="347472" cy="347472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32888" y="1481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551176" y="1920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Primera hipótesis: CPU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551176" y="2286000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APM muestra: CPU al 95% pero la app solo usa 40% del tiempo de CPU disponible. No es la CPU.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54296" y="1389888"/>
            <a:ext cx="2057400" cy="2560320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54296" y="1389888"/>
            <a:ext cx="205740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45736" y="1481328"/>
            <a:ext cx="347472" cy="34747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45736" y="1481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764024" y="1920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connection pool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64024" y="2286000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Logs: 'Connection timeout after 5000ms'. El pool de BD tiene máx 20 conexiones pero el código no las libera correctamente.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867144" y="1389888"/>
            <a:ext cx="2057400" cy="2560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867144" y="1389888"/>
            <a:ext cx="2057400" cy="457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958584" y="1481328"/>
            <a:ext cx="347472" cy="34747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58584" y="1481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976872" y="1920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 raíz confirmada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976872" y="2286000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petición abría una conexión nueva a la BD pero el finally: conn.close() no estaba en todos los paths.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28600" y="4069080"/>
            <a:ext cx="8686800" cy="749808"/>
          </a:xfrm>
          <a:prstGeom prst="rect">
            <a:avLst/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28600" y="4069080"/>
            <a:ext cx="45720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160520"/>
            <a:ext cx="8485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aplicado y resultado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65760" y="4489704"/>
            <a:ext cx="84856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envolvió todo en 'with' (context manager Python). Después del fix: p95 bajó de 5.200ms a 180ms con 500 VUs.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Testing  |  Sesión 8  |  Universitaria de Colombia  |  21 / 35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5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74520"/>
            <a:ext cx="9144000" cy="1389888"/>
          </a:xfrm>
          <a:prstGeom prst="rect">
            <a:avLst/>
          </a:prstGeom>
          <a:solidFill>
            <a:srgbClr val="181F2E"/>
          </a:solidFill>
          <a:ln w="12700">
            <a:solidFill>
              <a:srgbClr val="181F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874520"/>
            <a:ext cx="73152" cy="138988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34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938528"/>
            <a:ext cx="82296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un Plan de Performance Testing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914400" y="33832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 paso a paso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81F2E"/>
          </a:solidFill>
          <a:ln w="12700">
            <a:solidFill>
              <a:srgbClr val="181F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Pasos para Diseñar un Performance Test Plan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 de 6 pasos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4206240" cy="1115568"/>
          </a:xfrm>
          <a:prstGeom prst="rect">
            <a:avLst/>
          </a:prstGeom>
          <a:solidFill>
            <a:srgbClr val="FFFFFF"/>
          </a:solidFill>
          <a:ln w="19050">
            <a:solidFill>
              <a:srgbClr val="EA580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960120"/>
            <a:ext cx="54864" cy="111556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14984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27101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objetivos y SLA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155448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se quiere medir? ¿Cuáles son los umbrales de éxito?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p95 &lt; 500ms, errores &lt; 1%, soporte 1000 VUs.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90872" y="960120"/>
            <a:ext cx="4206240" cy="1115568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90872" y="960120"/>
            <a:ext cx="54864" cy="11155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28032" y="1014984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28032" y="127101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escenarios críticos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28032" y="155448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flujos de usuario son más frecuentes y críticos?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Priorizar: login, compra, búsqueda, pago.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2221992"/>
            <a:ext cx="4206240" cy="1115568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8600" y="2221992"/>
            <a:ext cx="54864" cy="11155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276856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253288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Preparar el entorno de prueba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" y="2816352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de prueba realistas. BD con volumen similar a producción.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 aislado — sin otros procesos compitiendo.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90872" y="2221992"/>
            <a:ext cx="4206240" cy="1115568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90872" y="2221992"/>
            <a:ext cx="54864" cy="11155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28032" y="2276856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28032" y="253288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y ejecutar los tests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28032" y="2816352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Escribir los scripts. Ejecutar smoke test primero.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Escalar gradualmente: 10→50→100→500 usuarios.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28600" y="3483864"/>
            <a:ext cx="4206240" cy="1115568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28600" y="3483864"/>
            <a:ext cx="54864" cy="11155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53872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65760" y="379476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Monitorear y recolectar métricas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65760" y="4078224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CPU, RAM, BD queries, logs de errores.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UsarAPM (Application Performance Monitoring) en paralelo.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90872" y="3483864"/>
            <a:ext cx="4206240" cy="1115568"/>
          </a:xfrm>
          <a:prstGeom prst="rect">
            <a:avLst/>
          </a:prstGeom>
          <a:solidFill>
            <a:srgbClr val="FFFFFF"/>
          </a:solidFill>
          <a:ln w="1905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90872" y="3483864"/>
            <a:ext cx="54864" cy="11155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28032" y="353872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28032" y="379476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Analizar, reportar y remediar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828032" y="4078224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cuellos de botella. Proponer fixes.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Re-ejecutar para validar la mejora (baseline comparison).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Testing  |  Sesión 8  |  Universitaria de Colombia  |  23 / 35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81F2E"/>
          </a:solidFill>
          <a:ln w="12700">
            <a:solidFill>
              <a:srgbClr val="181F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 y Datos de Prueba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resultado no sirve si el entorno no es representativo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4206240" cy="3657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0584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Anti-patrones de entorno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28600" y="1417320"/>
            <a:ext cx="420624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45389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Probar en un laptop con 8GB RAM para un servidor de 32GB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" y="2093976"/>
            <a:ext cx="4206240" cy="566928"/>
          </a:xfrm>
          <a:prstGeom prst="rect">
            <a:avLst/>
          </a:prstGeom>
          <a:solidFill>
            <a:srgbClr val="FEE2E2"/>
          </a:solidFill>
          <a:ln w="762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13055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 vacía o con solo 10 registros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28600" y="2770632"/>
            <a:ext cx="420624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80720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Compartir el entorno de prueba con otros equipos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28600" y="3447288"/>
            <a:ext cx="4206240" cy="566928"/>
          </a:xfrm>
          <a:prstGeom prst="rect">
            <a:avLst/>
          </a:prstGeom>
          <a:solidFill>
            <a:srgbClr val="FEE2E2"/>
          </a:solidFill>
          <a:ln w="762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483864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Probar contra localhost en vez del servidor real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8600" y="4123944"/>
            <a:ext cx="420624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41605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limpiar datos entre ejecuciones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90872" y="960120"/>
            <a:ext cx="4206240" cy="3657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82312" y="100584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Mejores prácticas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90872" y="1417320"/>
            <a:ext cx="420624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28032" y="145389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 de staging con specs similares a producción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90872" y="2093976"/>
            <a:ext cx="4206240" cy="566928"/>
          </a:xfrm>
          <a:prstGeom prst="rect">
            <a:avLst/>
          </a:prstGeom>
          <a:solidFill>
            <a:srgbClr val="DCFCE7"/>
          </a:solidFill>
          <a:ln w="7620">
            <a:solidFill>
              <a:srgbClr val="16A3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28032" y="213055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 con volumen real: misma cantidad de registros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90872" y="2770632"/>
            <a:ext cx="420624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28032" y="280720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 dedicado y aislado para performance tests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90872" y="3447288"/>
            <a:ext cx="4206240" cy="566928"/>
          </a:xfrm>
          <a:prstGeom prst="rect">
            <a:avLst/>
          </a:prstGeom>
          <a:solidFill>
            <a:srgbClr val="DCFCE7"/>
          </a:solidFill>
          <a:ln w="7620">
            <a:solidFill>
              <a:srgbClr val="16A3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28032" y="3483864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de prueba variados: usuarios, productos, historiales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690872" y="4123944"/>
            <a:ext cx="4206240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28032" y="41605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de reset de datos antes de cada ejecución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Testing  |  Sesión 8  |  Universitaria de Colombia  |  24 / 35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81F2E"/>
          </a:solidFill>
          <a:ln w="12700">
            <a:solidFill>
              <a:srgbClr val="181F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Resultados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leer los reportes y tomar decisiones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5120640" cy="2103120"/>
          </a:xfrm>
          <a:prstGeom prst="rect">
            <a:avLst/>
          </a:prstGeom>
          <a:solidFill>
            <a:srgbClr val="060A12"/>
          </a:solidFill>
          <a:ln w="12700">
            <a:solidFill>
              <a:srgbClr val="EA580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960120"/>
            <a:ext cx="36576" cy="21031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051560"/>
            <a:ext cx="4983480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Reporte típico de Locust (texto plano)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  Name                # reqs  # fails  Avg  Min  Max  Median  p90  p95  p99  RPS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 /api/libros         48520    245      142   12  8540    95   320  489  2100  162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 /api/prestamos      12150    48       380   25  9200   220   850 1250  4800   40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 /api/auth/login     4850     2         85    8  1240    70   180  240   890   16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═══   Aggregated          65520   295       198   8   9200   110   420  650  2800  218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28600" y="318211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interpretar el reporte: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28600" y="3547872"/>
            <a:ext cx="86868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3575304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fails: 295 de 65520 = 0.45%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0" y="3575304"/>
            <a:ext cx="4251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&lt; 1% → Error rate aceptable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28600" y="3895344"/>
            <a:ext cx="8686800" cy="292608"/>
          </a:xfrm>
          <a:prstGeom prst="rect">
            <a:avLst/>
          </a:prstGeom>
          <a:solidFill>
            <a:srgbClr val="FFF7ED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392277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p95 en /api/libros: 489ms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0" y="3922776"/>
            <a:ext cx="4251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Cumple SLA de 500ms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8600" y="4242816"/>
            <a:ext cx="86868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427024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p95 en /api/prestamos: 1250ms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4270248"/>
            <a:ext cx="4251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Supera SLA → Investigar BD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28600" y="4590288"/>
            <a:ext cx="8686800" cy="292608"/>
          </a:xfrm>
          <a:prstGeom prst="rect">
            <a:avLst/>
          </a:prstGeom>
          <a:solidFill>
            <a:srgbClr val="FFF7ED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" y="461772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 en prestamos: 9200ms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0" y="4617720"/>
            <a:ext cx="4251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Outliers muy altos → Connection pool?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Testing  |  Sesión 8  |  Universitaria de Colombia  |  25 / 35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15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74520"/>
            <a:ext cx="9144000" cy="1389888"/>
          </a:xfrm>
          <a:prstGeom prst="rect">
            <a:avLst/>
          </a:prstGeom>
          <a:solidFill>
            <a:srgbClr val="181F2E"/>
          </a:solidFill>
          <a:ln w="12700">
            <a:solidFill>
              <a:srgbClr val="181F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874520"/>
            <a:ext cx="73152" cy="138988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34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938528"/>
            <a:ext cx="82296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Buenas Prácticas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914400" y="33832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hacer para resultados confiables y útiles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81F2E"/>
          </a:solidFill>
          <a:ln w="12700">
            <a:solidFill>
              <a:srgbClr val="181F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Buenas Prácticas — Performance Testing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reglas que los expertos siguen siempre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2743200" cy="1755648"/>
          </a:xfrm>
          <a:prstGeom prst="rect">
            <a:avLst/>
          </a:prstGeom>
          <a:solidFill>
            <a:srgbClr val="FFFFFF"/>
          </a:solidFill>
          <a:ln w="1905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960120"/>
            <a:ext cx="2743200" cy="457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051560"/>
            <a:ext cx="329184" cy="32918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0515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1069848"/>
            <a:ext cx="2139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Establece baselines antes de cambiar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38328" y="1490472"/>
            <a:ext cx="252374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 los tests ANTES de optimizar para tener punto de referencia. Sin baseline no puedes medir la mejora.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136392" y="960120"/>
            <a:ext cx="2743200" cy="1755648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36392" y="960120"/>
            <a:ext cx="27432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27832" y="1051560"/>
            <a:ext cx="329184" cy="3291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27832" y="10515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39312" y="1069848"/>
            <a:ext cx="2139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 patrones de uso real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246120" y="1490472"/>
            <a:ext cx="252374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70% de usuarios consulta, 20% navega, 10% compra. Los pesos de tareas deben reflejar la realidad.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044184" y="960120"/>
            <a:ext cx="2743200" cy="1755648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44184" y="960120"/>
            <a:ext cx="27432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35624" y="1051560"/>
            <a:ext cx="329184" cy="3291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35624" y="10515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547104" y="1069848"/>
            <a:ext cx="2139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Monitorea el sistema completo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153912" y="1490472"/>
            <a:ext cx="252374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solo la app. Monitorea: CPU, RAM, BD (queries lentas), red, disco, logs. El cuello puede estar en cualquier capa.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28600" y="2898648"/>
            <a:ext cx="2743200" cy="1755648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28600" y="2898648"/>
            <a:ext cx="274320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" y="2990088"/>
            <a:ext cx="329184" cy="32918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29900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31520" y="3008376"/>
            <a:ext cx="2139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Incluye think time realista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38328" y="3429000"/>
            <a:ext cx="252374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usuarios humanos no hacen peticiones cada milisegundo. Agrega wait_time = between(2,5) para simular correctamente.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136392" y="2898648"/>
            <a:ext cx="2743200" cy="1755648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136392" y="2898648"/>
            <a:ext cx="274320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27832" y="2990088"/>
            <a:ext cx="329184" cy="32918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27832" y="29900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639312" y="3008376"/>
            <a:ext cx="2139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 múltiples veces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3246120" y="3429000"/>
            <a:ext cx="252374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resultado puede ser atípico. Ejecuta al menos 3 veces y usa el promedio o el peor caso.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044184" y="2898648"/>
            <a:ext cx="2743200" cy="1755648"/>
          </a:xfrm>
          <a:prstGeom prst="rect">
            <a:avLst/>
          </a:prstGeom>
          <a:solidFill>
            <a:srgbClr val="FFFFFF"/>
          </a:solidFill>
          <a:ln w="19050">
            <a:solidFill>
              <a:srgbClr val="EA580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044184" y="2898648"/>
            <a:ext cx="2743200" cy="457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135624" y="2990088"/>
            <a:ext cx="329184" cy="329184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35624" y="29900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547104" y="3008376"/>
            <a:ext cx="2139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 en CI/CD con umbrales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6153912" y="3429000"/>
            <a:ext cx="252374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performance tests deben fallar el pipeline si superan los SLA. Sin esto son decorativos.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Testing  |  Sesión 8  |  Universitaria de Colombia  |  27 / 35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81F2E"/>
          </a:solidFill>
          <a:ln w="12700">
            <a:solidFill>
              <a:srgbClr val="181F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7 Errores Más Comunes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que cometen los equipos que hacen performance testing por primera vez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4206240" cy="80467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960120"/>
            <a:ext cx="45720" cy="8046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14984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21615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Probar en el entorno equivocado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145389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en laptop ≠ producción. El entorno de prueba debe ser representativo.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28600" y="1892808"/>
            <a:ext cx="4206240" cy="80467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28600" y="1892808"/>
            <a:ext cx="45720" cy="80467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947672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214884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probar el caso feliz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38658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probar el flujo normal ignora login fallido, 404s, errores de pago — que también consumen recursos.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2825496"/>
            <a:ext cx="4206240" cy="80467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8600" y="2825496"/>
            <a:ext cx="45720" cy="8046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880360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65760" y="308152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calentar el sistema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331927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primeros segundos el JIT, caches y pools no están listos. El warm-up period debe excluirse del análisis.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8600" y="3758184"/>
            <a:ext cx="4206240" cy="80467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28600" y="3758184"/>
            <a:ext cx="45720" cy="8046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813048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65760" y="401421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Ignorar los percentiles altos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65760" y="425196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"El promedio está bien." El p99 puede ser catastrófico. El 1% de usuarios con mala experiencia = miles de personas.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90872" y="960120"/>
            <a:ext cx="4206240" cy="80467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90872" y="960120"/>
            <a:ext cx="45720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28032" y="1014984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28032" y="121615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monitorear la BD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28032" y="145389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60% de los cuellos de botella están en la base de datos. Sin monitorear queries, no encuentras el problema real.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90872" y="1892808"/>
            <a:ext cx="4206240" cy="80467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90872" y="1892808"/>
            <a:ext cx="45720" cy="8046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28032" y="1947672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28032" y="214884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Ejecutar solo una vez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828032" y="238658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resultados varían. Un solo run puede ser atípico por GC, caches frías, etc. Ejecuta al menos 3 veces.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690872" y="2825496"/>
            <a:ext cx="4206240" cy="80467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690872" y="2825496"/>
            <a:ext cx="45720" cy="8046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28032" y="2880360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828032" y="308152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thresholds → test vacío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828032" y="331927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test siempre pasa sin importar los resultados, no agrega valor. Define thresholds de SLA obligatorios.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Testing  |  Sesión 8  |  Universitaria de Colombia  |  28 / 35</a:t>
            </a:r>
            <a:endParaRPr lang="en-US" sz="8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81F2E"/>
          </a:solidFill>
          <a:ln w="12700">
            <a:solidFill>
              <a:srgbClr val="181F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 y APM — La Otra Mitad del Performance Testing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monitoreo no puedes diagnosticar el problema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868680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960120"/>
            <a:ext cx="45720" cy="6583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014984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tests de rendimiento te dicen QUÉ está lento. El APM (Application Performance Monitoring) te dice POR QUÉ. Siempre ejecuta ambos en paralelo durante un performance test.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28600" y="1737360"/>
            <a:ext cx="2057400" cy="3017520"/>
          </a:xfrm>
          <a:prstGeom prst="rect">
            <a:avLst/>
          </a:prstGeom>
          <a:solidFill>
            <a:srgbClr val="FFFFFF"/>
          </a:solidFill>
          <a:ln w="19050">
            <a:solidFill>
              <a:srgbClr val="EA580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8600" y="1737360"/>
            <a:ext cx="2057400" cy="38404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78308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Métricas del sistema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0040" y="2212848"/>
            <a:ext cx="18745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3192" y="2249424"/>
            <a:ext cx="1709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CPU por proceso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2761488"/>
            <a:ext cx="1874520" cy="457200"/>
          </a:xfrm>
          <a:prstGeom prst="rect">
            <a:avLst/>
          </a:prstGeom>
          <a:solidFill>
            <a:srgbClr val="F9FA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3192" y="2798064"/>
            <a:ext cx="1709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RAM y swap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3310128"/>
            <a:ext cx="18745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3192" y="3346704"/>
            <a:ext cx="1709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Disk I/O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0040" y="3858768"/>
            <a:ext cx="1874520" cy="457200"/>
          </a:xfrm>
          <a:prstGeom prst="rect">
            <a:avLst/>
          </a:prstGeom>
          <a:solidFill>
            <a:srgbClr val="F9FA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3192" y="3895344"/>
            <a:ext cx="1709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Network I/O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441448" y="1737360"/>
            <a:ext cx="2057400" cy="3017520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441448" y="1737360"/>
            <a:ext cx="205740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32888" y="178308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Métricas de BD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2532888" y="2212848"/>
            <a:ext cx="18745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06040" y="2249424"/>
            <a:ext cx="1709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Queries lentas (slow query log)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532888" y="2761488"/>
            <a:ext cx="1874520" cy="457200"/>
          </a:xfrm>
          <a:prstGeom prst="rect">
            <a:avLst/>
          </a:prstGeom>
          <a:solidFill>
            <a:srgbClr val="F9FA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06040" y="2798064"/>
            <a:ext cx="1709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Connection pool usage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532888" y="3310128"/>
            <a:ext cx="18745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606040" y="3346704"/>
            <a:ext cx="1709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Lock contention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532888" y="3858768"/>
            <a:ext cx="1874520" cy="457200"/>
          </a:xfrm>
          <a:prstGeom prst="rect">
            <a:avLst/>
          </a:prstGeom>
          <a:solidFill>
            <a:srgbClr val="F9FA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06040" y="3895344"/>
            <a:ext cx="1709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Cache hit ratio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654296" y="1737360"/>
            <a:ext cx="2057400" cy="301752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54296" y="1737360"/>
            <a:ext cx="205740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45736" y="178308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Métricas de app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745736" y="2212848"/>
            <a:ext cx="18745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18888" y="2249424"/>
            <a:ext cx="1709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Thread pool utilization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745736" y="2761488"/>
            <a:ext cx="1874520" cy="457200"/>
          </a:xfrm>
          <a:prstGeom prst="rect">
            <a:avLst/>
          </a:prstGeom>
          <a:solidFill>
            <a:srgbClr val="F9FA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18888" y="2798064"/>
            <a:ext cx="1709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JVM Heap (Java/Kotlin)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745736" y="3310128"/>
            <a:ext cx="18745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18888" y="3346704"/>
            <a:ext cx="1709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GC frequency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745736" y="3858768"/>
            <a:ext cx="1874520" cy="457200"/>
          </a:xfrm>
          <a:prstGeom prst="rect">
            <a:avLst/>
          </a:prstGeom>
          <a:solidFill>
            <a:srgbClr val="F9FA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18888" y="3895344"/>
            <a:ext cx="1709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Exception rates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867144" y="1737360"/>
            <a:ext cx="2057400" cy="301752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867144" y="1737360"/>
            <a:ext cx="205740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958584" y="178308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Métricas de red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6958584" y="2212848"/>
            <a:ext cx="18745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031736" y="2249424"/>
            <a:ext cx="1709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Latencia entre servicios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6958584" y="2761488"/>
            <a:ext cx="1874520" cy="457200"/>
          </a:xfrm>
          <a:prstGeom prst="rect">
            <a:avLst/>
          </a:prstGeom>
          <a:solidFill>
            <a:srgbClr val="F9FA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031736" y="2798064"/>
            <a:ext cx="1709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DNS resolution time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6958584" y="3310128"/>
            <a:ext cx="18745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031736" y="3346704"/>
            <a:ext cx="1709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TLS handshake time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6958584" y="3858768"/>
            <a:ext cx="1874520" cy="457200"/>
          </a:xfrm>
          <a:prstGeom prst="rect">
            <a:avLst/>
          </a:prstGeom>
          <a:solidFill>
            <a:srgbClr val="F9FA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031736" y="3895344"/>
            <a:ext cx="1709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Bandwidth usage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228600" y="4846320"/>
            <a:ext cx="8686800" cy="228600"/>
          </a:xfrm>
          <a:prstGeom prst="rect">
            <a:avLst/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228600" y="4846320"/>
            <a:ext cx="45720" cy="2286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65760" y="4937760"/>
            <a:ext cx="8485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APM populares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365760" y="5266944"/>
            <a:ext cx="8485632" cy="-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+ Prometheus | Datadog | New Relic | AWS CloudWatch | Elastic APM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Testing  |  Sesión 8  |  Universitaria de Colombia  |  29 / 35</a:t>
            </a:r>
            <a:endParaRPr lang="en-US" sz="8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81F2E"/>
          </a:solidFill>
          <a:ln w="12700">
            <a:solidFill>
              <a:srgbClr val="181F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Testing en CI/CD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Automatizar para que el rendimiento nunca regrese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5120640" cy="2926080"/>
          </a:xfrm>
          <a:prstGeom prst="rect">
            <a:avLst/>
          </a:prstGeom>
          <a:solidFill>
            <a:srgbClr val="060A12"/>
          </a:solidFill>
          <a:ln w="12700">
            <a:solidFill>
              <a:srgbClr val="EA580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960120"/>
            <a:ext cx="36576" cy="292608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051560"/>
            <a:ext cx="4983480" cy="276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.github/workflows/performance.yml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Performance Tests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on: [push, pull_request]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performance: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runs-on: ubuntu-latest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steps: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uses: actions/checkout@v4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name: Instalar Locust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run: pip install locust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name: Iniciar app en background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run: python app.py &amp;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name: Ejecutar performance tests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run: |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locust -f tests/performance/test_api.py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--headless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--host=http://localhost:8000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-u 100 -r 10 --run-time 2m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--csv=results/perf_results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--exit-code-on-error 1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name: Verificar SLA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run: python scripts/check_sla.py results/perf_results_stats.csv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577840" y="960120"/>
            <a:ext cx="3337560" cy="1828800"/>
          </a:xfrm>
          <a:prstGeom prst="rect">
            <a:avLst/>
          </a:prstGeom>
          <a:solidFill>
            <a:srgbClr val="060A12"/>
          </a:solidFill>
          <a:ln w="12700">
            <a:solidFill>
              <a:srgbClr val="EA580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577840" y="960120"/>
            <a:ext cx="36576" cy="18288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0" y="1051560"/>
            <a:ext cx="320040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scripts/check_sla.py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csv, sys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SLA =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'p95': 500,   # ms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'err_rate': 1.0,  # %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open(sys.argv[1]) as f: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reader = csv.DictReader(f)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row in reader: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p95 = float(row['95%'])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err = float(row['Failure Count'])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total = float(row['Request Count'])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err_rate = (err/total)*100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p95 &gt; SLA['p95']: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print(f'SLA VIOLADO: p95={p95}ms')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sys.exit(1)  # Falla el pipeline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577840" y="2907792"/>
            <a:ext cx="3337560" cy="1325880"/>
          </a:xfrm>
          <a:prstGeom prst="rect">
            <a:avLst/>
          </a:prstGeom>
          <a:solidFill>
            <a:srgbClr val="FFF7ED"/>
          </a:solidFill>
          <a:ln w="19050">
            <a:solidFill>
              <a:srgbClr val="EA580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577840" y="2907792"/>
            <a:ext cx="45720" cy="132588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15000" y="2999232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Beneficios de CI/CD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715000" y="3328416"/>
            <a:ext cx="3136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Detecta regresiones de rendimiento automáticamente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Bloquea merges que degradan el sistema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Histórico de rendimiento a lo largo del tiempo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Testing  |  Sesión 8  |  Universitaria de Colombia  |  30 / 35</a:t>
            </a:r>
            <a:endParaRPr lang="en-US" sz="8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81F2E"/>
          </a:solidFill>
          <a:ln w="12700">
            <a:solidFill>
              <a:srgbClr val="181F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Reportar los Resultados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buen reporte lleva a una decisión, no a una pregunta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2743200" cy="3913632"/>
          </a:xfrm>
          <a:prstGeom prst="rect">
            <a:avLst/>
          </a:prstGeom>
          <a:solidFill>
            <a:srgbClr val="FFFFFF"/>
          </a:solidFill>
          <a:ln w="19050">
            <a:solidFill>
              <a:srgbClr val="EA580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960120"/>
            <a:ext cx="2743200" cy="38404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0058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ejecutivo (1 página)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20040" y="1463040"/>
            <a:ext cx="25603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3192" y="1508760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¿Pasó o falló el SLA?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2057400"/>
            <a:ext cx="2560320" cy="502920"/>
          </a:xfrm>
          <a:prstGeom prst="rect">
            <a:avLst/>
          </a:prstGeom>
          <a:solidFill>
            <a:srgbClr val="F9FA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3192" y="2103120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Número de VUs probados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651760"/>
            <a:ext cx="25603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3192" y="2697480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Tiempo total de ejecución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3246120"/>
            <a:ext cx="2560320" cy="502920"/>
          </a:xfrm>
          <a:prstGeom prst="rect">
            <a:avLst/>
          </a:prstGeom>
          <a:solidFill>
            <a:srgbClr val="F9FA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3192" y="3291840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Error rate global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3840480"/>
            <a:ext cx="25603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3192" y="3886200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Recomendación: ¿listo para producción?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136392" y="960120"/>
            <a:ext cx="2743200" cy="3913632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136392" y="960120"/>
            <a:ext cx="274320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27832" y="10058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detalladas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227832" y="1463040"/>
            <a:ext cx="25603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00984" y="1508760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Tabla de percentiles por endpoint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27832" y="2057400"/>
            <a:ext cx="2560320" cy="502920"/>
          </a:xfrm>
          <a:prstGeom prst="rect">
            <a:avLst/>
          </a:prstGeom>
          <a:solidFill>
            <a:srgbClr val="F9FA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00984" y="2103120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Gráfica de response time vs tiempo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27832" y="2651760"/>
            <a:ext cx="25603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00984" y="2697480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Gráfica de VUs vs TPS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27832" y="3246120"/>
            <a:ext cx="2560320" cy="502920"/>
          </a:xfrm>
          <a:prstGeom prst="rect">
            <a:avLst/>
          </a:prstGeom>
          <a:solidFill>
            <a:srgbClr val="F9FA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00984" y="3291840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Distribución de errores por tipo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227832" y="3840480"/>
            <a:ext cx="25603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00984" y="3886200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Top 5 endpoints más lentos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044184" y="960120"/>
            <a:ext cx="2743200" cy="3913632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044184" y="960120"/>
            <a:ext cx="274320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35624" y="10058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cuellos de botella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6135624" y="1463040"/>
            <a:ext cx="25603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08776" y="1508760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CPU/RAM durante el test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135624" y="2057400"/>
            <a:ext cx="2560320" cy="502920"/>
          </a:xfrm>
          <a:prstGeom prst="rect">
            <a:avLst/>
          </a:prstGeom>
          <a:solidFill>
            <a:srgbClr val="F9FA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08776" y="2103120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Queries lentas detectadas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135624" y="2651760"/>
            <a:ext cx="25603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08776" y="2697480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Errores y su frecuencia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135624" y="3246120"/>
            <a:ext cx="2560320" cy="502920"/>
          </a:xfrm>
          <a:prstGeom prst="rect">
            <a:avLst/>
          </a:prstGeom>
          <a:solidFill>
            <a:srgbClr val="F9FA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08776" y="3291840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Comparación con baseline anterior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135624" y="3840480"/>
            <a:ext cx="25603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08776" y="3886200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Root cause de cada fallo de SLA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Testing  |  Sesión 8  |  Universitaria de Colombia  |  31 / 35</a:t>
            </a:r>
            <a:endParaRPr lang="en-US" sz="8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81F2E"/>
          </a:solidFill>
          <a:ln w="12700">
            <a:solidFill>
              <a:srgbClr val="181F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01168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Taller de Clase — Sesión 8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8686800" cy="566928"/>
          </a:xfrm>
          <a:prstGeom prst="rect">
            <a:avLst/>
          </a:prstGeom>
          <a:solidFill>
            <a:srgbClr val="181F2E"/>
          </a:solidFill>
          <a:ln w="15240">
            <a:solidFill>
              <a:srgbClr val="EA580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960120"/>
            <a:ext cx="45720" cy="56692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14984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Contexto: API del Sistema de Notas de la Universitaria de Colombia. Acaban de optimizar el módulo de búsqueda. Tu tarea: diseñar y ejecutar una suite completa de performance testing.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28600" y="1645920"/>
            <a:ext cx="2743200" cy="3200400"/>
          </a:xfrm>
          <a:prstGeom prst="rect">
            <a:avLst/>
          </a:prstGeom>
          <a:solidFill>
            <a:srgbClr val="181F2E"/>
          </a:solidFill>
          <a:ln w="12700">
            <a:solidFill>
              <a:srgbClr val="EA580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1645920"/>
            <a:ext cx="2743200" cy="457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" y="1737360"/>
            <a:ext cx="2523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8328" y="1956816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Testing (25 min)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8328" y="2359152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Escribe un test Locust para la API de notas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38328" y="2926080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Simula 100 usuarios concurrentes por 3 minutos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38328" y="3493008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Verifica SLA: p95 &lt; 500ms, errores &lt; 1%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38328" y="4059936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Genera el reporte CSV y analízalo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136392" y="1645920"/>
            <a:ext cx="2743200" cy="3200400"/>
          </a:xfrm>
          <a:prstGeom prst="rect">
            <a:avLst/>
          </a:prstGeom>
          <a:solidFill>
            <a:srgbClr val="181F2E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136392" y="1645920"/>
            <a:ext cx="2743200" cy="457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46120" y="1737360"/>
            <a:ext cx="2523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46120" y="1956816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Testing (20 min)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246120" y="2359152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Aumenta progresivamente: 100→200→300→400 VUs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246120" y="2926080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Identifica en qué punto el sistema falla el SLA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246120" y="3493008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Documenta el breaking point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246120" y="4059936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Propón una solución al cuello de botella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044184" y="1645920"/>
            <a:ext cx="2743200" cy="3200400"/>
          </a:xfrm>
          <a:prstGeom prst="rect">
            <a:avLst/>
          </a:prstGeom>
          <a:solidFill>
            <a:srgbClr val="181F2E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44184" y="1645920"/>
            <a:ext cx="27432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53912" y="1737360"/>
            <a:ext cx="2523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153912" y="1956816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y Reporte (15 min)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153912" y="2359152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Compara resultados de Load vs Stress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153912" y="2926080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Identifica el endpoint más lento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153912" y="3493008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Escribe el resumen ejecutivo del test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153912" y="4059936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¿Está listo para producción?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Entrega: Notebook .ipynb con código, resultados y análisis  |  60 minutos totales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Testing  |  Sesión 8  |  Universitaria de Colombia  |  32 / 35</a:t>
            </a:r>
            <a:endParaRPr lang="en-US" sz="8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81F2E"/>
          </a:solidFill>
          <a:ln w="12700">
            <a:solidFill>
              <a:srgbClr val="181F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Testing en el Ecosistema de Pruebas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encaja con Unit, Integration, E2E y Acceptance?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3547872"/>
            <a:ext cx="7680960" cy="5669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621024"/>
            <a:ext cx="749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600200" y="2834640"/>
            <a:ext cx="5943600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91640" y="2907792"/>
            <a:ext cx="5760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377440" y="2121408"/>
            <a:ext cx="4389120" cy="56692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68880" y="2194560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 Tests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108960" y="1353312"/>
            <a:ext cx="2926080" cy="5669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1426464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Tests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749040" y="685800"/>
            <a:ext cx="1645920" cy="5669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0" y="758952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Tests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549640" y="3657600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Microbenchmarks de funciones críticas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680960" y="294436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DB queries, API contracts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903720" y="2231136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¿El sistema arranca con carga mínima?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172200" y="14630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Load, Stress, Spike, Soak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532120" y="79552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¿Cumple SLAs del contrato?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28600" y="4206240"/>
            <a:ext cx="8686800" cy="658368"/>
          </a:xfrm>
          <a:prstGeom prst="rect">
            <a:avLst/>
          </a:prstGeom>
          <a:solidFill>
            <a:srgbClr val="FFF7ED"/>
          </a:solidFill>
          <a:ln w="19050">
            <a:solidFill>
              <a:srgbClr val="EA580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28600" y="4206240"/>
            <a:ext cx="45720" cy="65836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297680"/>
            <a:ext cx="8485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Relación especial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5760" y="4626864"/>
            <a:ext cx="84856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Performance Tests NO reemplazan Unit/Integration tests. Un sistema con excelente rendimiento pero con bugs funcionales falla igual. La pirámide completa es necesaria.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Testing  |  Sesión 8  |  Universitaria de Colombia  |  33 / 35</a:t>
            </a:r>
            <a:endParaRPr lang="en-US" sz="8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" y="0"/>
            <a:ext cx="9089136" cy="868680"/>
          </a:xfrm>
          <a:prstGeom prst="rect">
            <a:avLst/>
          </a:prstGeom>
          <a:solidFill>
            <a:srgbClr val="181F2E"/>
          </a:solidFill>
          <a:ln w="12700">
            <a:solidFill>
              <a:srgbClr val="181F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Síntesis — Performance Testing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lo que aprendiste en esta sesión en una sola vista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2743200" cy="1755648"/>
          </a:xfrm>
          <a:prstGeom prst="rect">
            <a:avLst/>
          </a:prstGeom>
          <a:solidFill>
            <a:srgbClr val="FFFFFF"/>
          </a:solidFill>
          <a:ln w="19050">
            <a:solidFill>
              <a:srgbClr val="EA580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960120"/>
            <a:ext cx="2743200" cy="457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1051560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38328" y="1463040"/>
            <a:ext cx="2523744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que el sistema se comporta bien bajo carga real. No busca bugs funcionales — busca cuellos de botella.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54680" y="960120"/>
            <a:ext cx="2743200" cy="1755648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54680" y="960120"/>
            <a:ext cx="274320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64408" y="1051560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tipos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64408" y="1463040"/>
            <a:ext cx="2523744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Load, Stress, Spike, Soak, Scalability, Volume. Cada uno responde una pregunta diferente.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80760" y="960120"/>
            <a:ext cx="2743200" cy="1755648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80760" y="960120"/>
            <a:ext cx="27432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90488" y="1051560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190488" y="1463040"/>
            <a:ext cx="2523744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p50, p95, p99, throughput, TPS, error rate. NUNCA uses solo el promedio.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8600" y="2898648"/>
            <a:ext cx="2743200" cy="1755648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28600" y="2898648"/>
            <a:ext cx="27432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" y="2990088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38328" y="3401568"/>
            <a:ext cx="2523744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Locust (Python) para el curso. k6 y JMeter para proyectos reales según el contexto.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154680" y="2898648"/>
            <a:ext cx="2743200" cy="1755648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154680" y="2898648"/>
            <a:ext cx="274320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64408" y="2990088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en 6 pasos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264408" y="3401568"/>
            <a:ext cx="2523744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→ Escenarios → Entorno → Implementar → Monitorear → Analizar y remediar.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080760" y="2898648"/>
            <a:ext cx="2743200" cy="1755648"/>
          </a:xfrm>
          <a:prstGeom prst="rect">
            <a:avLst/>
          </a:prstGeom>
          <a:solidFill>
            <a:srgbClr val="FFFFFF"/>
          </a:solidFill>
          <a:ln w="1905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80760" y="2898648"/>
            <a:ext cx="2743200" cy="457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90488" y="2990088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190488" y="3401568"/>
            <a:ext cx="2523744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tests deben estar en el pipeline y fallar si los SLA se superan. Sin esto son decorativos.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Testing  |  Sesión 8  |  Universitaria de Colombia  |  34 / 35</a:t>
            </a:r>
            <a:endParaRPr lang="en-US" sz="8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81F2E"/>
          </a:solidFill>
          <a:ln w="12700">
            <a:solidFill>
              <a:srgbClr val="181F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0116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y Próxima Sesión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987552"/>
            <a:ext cx="4206240" cy="1261872"/>
          </a:xfrm>
          <a:prstGeom prst="rect">
            <a:avLst/>
          </a:prstGeom>
          <a:solidFill>
            <a:srgbClr val="181F2E"/>
          </a:solidFill>
          <a:ln w="12700">
            <a:solidFill>
              <a:srgbClr val="EA580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87552"/>
            <a:ext cx="4206240" cy="457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07899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96112" y="109728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Art of Application Performance Testing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84048" y="1581912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2a edición. Ian Molyneaux. O'Reilly. La referencia definitiva.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54880" y="987552"/>
            <a:ext cx="4206240" cy="1261872"/>
          </a:xfrm>
          <a:prstGeom prst="rect">
            <a:avLst/>
          </a:prstGeom>
          <a:solidFill>
            <a:srgbClr val="181F2E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987552"/>
            <a:ext cx="420624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64608" y="107899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376672" y="109728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k6.io/docs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64608" y="1581912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oficial de k6. Ejemplos, mejores prácticas, integración con CI.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2432304"/>
            <a:ext cx="4206240" cy="1261872"/>
          </a:xfrm>
          <a:prstGeom prst="rect">
            <a:avLst/>
          </a:prstGeom>
          <a:solidFill>
            <a:srgbClr val="181F2E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432304"/>
            <a:ext cx="420624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2523744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🦗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96112" y="254203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docs.locust.io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84048" y="3026664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completa de Locust. API reference, ejemplos avanzados, distributed testing.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54880" y="2432304"/>
            <a:ext cx="4206240" cy="1261872"/>
          </a:xfrm>
          <a:prstGeom prst="rect">
            <a:avLst/>
          </a:prstGeom>
          <a:solidFill>
            <a:srgbClr val="181F2E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2432304"/>
            <a:ext cx="420624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64608" y="2523744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376672" y="254203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SRE Book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64608" y="3026664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sre.google/sre-book. Capítulos sobre SLOs, SLAs y gestión de rendimiento en producción.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74320" y="422452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sesión: Security Testing — OWASP, penetration testing y pruebas de vulnerabilidades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74320" y="4562856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Mg. Sergio Alejandro Burbano Mena  |  Universitaria de Colombia  |  Pruebas de Software 7mo Semestre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Testing  |  Sesión 8  |  Universitaria de Colombia  |  35 / 35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Sesión 8: Performance Testing</dc:title>
  <dc:subject>PptxGenJS Presentation</dc:subject>
  <dc:creator>Mg. Sergio Alejandro Burbano Mena</dc:creator>
  <cp:lastModifiedBy>Mg. Sergio Alejandro Burbano Mena</cp:lastModifiedBy>
  <cp:revision>1</cp:revision>
  <dcterms:created xsi:type="dcterms:W3CDTF">2026-04-15T19:13:20Z</dcterms:created>
  <dcterms:modified xsi:type="dcterms:W3CDTF">2026-04-15T19:13:20Z</dcterms:modified>
</cp:coreProperties>
</file>