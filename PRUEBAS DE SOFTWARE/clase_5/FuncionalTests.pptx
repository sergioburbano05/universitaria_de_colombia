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89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Punta a Punta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E2E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697480"/>
            <a:ext cx="2011680" cy="3840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4320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Playwright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697480"/>
            <a:ext cx="20116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Flujos reales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4714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de Software  |  7mo Semestre  |  Pruebas de Software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 del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cubrir en 3 horas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Functional Tests?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propósito y diferencias clave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51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 Pruebas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62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E2E y por qué son la capa superior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57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130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E2E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239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Cypress, Selenium — comparativa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en acción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Page Object Model y demo en vivo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21992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21992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51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 y errores comunes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62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y qué evitar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83864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83864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57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8130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239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un flujo real de 40 minutos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Functional Tests?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80160"/>
          </a:xfrm>
          <a:prstGeom prst="rect">
            <a:avLst/>
          </a:prstGeom>
          <a:solidFill>
            <a:srgbClr val="13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24128"/>
            <a:ext cx="8092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funcionales verifican que el sistema completo </a:t>
            </a: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comporta como el usuario lo esperaría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ejecutando flujos reales de principio a fin, pasando por todas las capas de la aplicación.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103120"/>
          </a:xfrm>
          <a:prstGeom prst="rect">
            <a:avLst/>
          </a:prstGeom>
          <a:solidFill>
            <a:srgbClr val="132540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Sistema completo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API → Base de datos.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capas involucradas.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651760" cy="2103120"/>
          </a:xfrm>
          <a:prstGeom prst="rect">
            <a:avLst/>
          </a:prstGeom>
          <a:solidFill>
            <a:srgbClr val="0F1030"/>
          </a:solidFill>
          <a:ln w="1524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0" y="2423160"/>
            <a:ext cx="265176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1012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Perspectiva del usuario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 acciones reales: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clic, llenar formularios.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2651760" cy="2103120"/>
          </a:xfrm>
          <a:prstGeom prst="rect">
            <a:avLst/>
          </a:prstGeom>
          <a:solidFill>
            <a:srgbClr val="0A1F15"/>
          </a:solidFill>
          <a:ln w="1524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35040" y="242316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4476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 esperado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resultados visibles: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mensajes, redirecciones, estado.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Unit vs Integration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capas y sus diferencias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889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" y="1481328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93192" y="150876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una función/método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" y="2093976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3192" y="2121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externas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" y="2706624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93192" y="273405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rápido (milisegundos)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3319272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93192" y="33467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Aislado y determinista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" y="3931920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93192" y="3959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JUnit, Jest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72968" y="96012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72968" y="960120"/>
            <a:ext cx="27889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64408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1481328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337560" y="150876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módulos juntos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093976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337560" y="2121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real o mock de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706624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37560" y="273405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por test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319272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337560" y="33467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contratos entre capas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931920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337560" y="3959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fixtures, Supertest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17336" y="960120"/>
            <a:ext cx="2788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117336" y="960120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208776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/ E2E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0488" y="1481328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281928" y="150876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el sistema completo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90488" y="2093976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281928" y="2121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+ backend + BD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0488" y="2706624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81928" y="2734056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por suite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0488" y="3319272"/>
            <a:ext cx="26334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281928" y="3346704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al usuario real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0488" y="3931920"/>
            <a:ext cx="263347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281928" y="3959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Cypress, Selenium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 Pruebas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Functional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2880360"/>
            <a:ext cx="658368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80160" y="2880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(muchos — rápidos — baratos)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965960"/>
            <a:ext cx="475488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(medianos — moderados)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Functional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(pocos — lentos — costosos)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Más rápidos, más baratos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Más lentos, más costosos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950208"/>
            <a:ext cx="8686800" cy="77724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3950208"/>
            <a:ext cx="45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11480" y="4005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E2E no reemplazan los Unit Tests — los complementan. La pirámide indica la PROPORCIÓN recomendada: muchos unit, pocos E2E.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Functional Tests?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para decidir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USAR E2E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35608"/>
            <a:ext cx="420624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 de negocio (login, checkout, pago)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12264"/>
            <a:ext cx="420624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entre múltiples servicios o sistemas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420624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todo el stack funciona junto en CI/CD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465576"/>
            <a:ext cx="420624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511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con muchos pasos que son difíciles de integrar manualmente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142232"/>
            <a:ext cx="4206240" cy="56692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Regresiones frecuentes en flujos de usuario visibles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EVITAR E2E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435608"/>
            <a:ext cx="420624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interna de una función — usa unit test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112264"/>
            <a:ext cx="420624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00600" y="21579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integración de dos módulos específicos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420624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0060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ya están cubiertos por unit o integration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465576"/>
            <a:ext cx="420624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00600" y="3511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que cambian muy frecuentemente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142232"/>
            <a:ext cx="420624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0060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tiempo de CI ya es crítico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E2E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Cypress · Selenium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y selección para proyectos reales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Herramientas E2E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 Cypress vs Selenium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274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JS/TS, Python, Java, C#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JS/TS únicamente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principales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0512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Chromium, Firefox, WebKit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Chrome, Edge, Firefox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(via WebDriver)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22576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rápido (paralelo)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34640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moderna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(async/await)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 (chainable)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Verboso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346704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Auto-wait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858768"/>
          <a:ext cx="8686800" cy="259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Recomendado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nuevos, multi-browser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JS/React/Vue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legacy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en Acción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Paso a Paso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Login → Dashboard → Crear recurso → Verificar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  |  pytest-playwright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Instalación y Configuración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en 3 comandos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192024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Instalar Playwright con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playwright pytest-playwright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Descargar navegadores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Estructura del proyecto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pages/          # Page Object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tests/          # archivos test_*.py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conftest.py     # fixtures de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playwright.config.py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017520"/>
            <a:ext cx="5120640" cy="173736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3017520"/>
            <a:ext cx="36576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3108960"/>
            <a:ext cx="4983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conftest.py — fixture de página 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@pytest.fixture(scope='session')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base_url():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'http://localhost:3000'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960120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687568" y="1051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87568" y="1417320"/>
            <a:ext cx="3063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779008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44475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una pestaña del navegador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87568" y="2011680"/>
            <a:ext cx="3063240" cy="50292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79008" y="2039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0391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del navegador (Chromium, etc.)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87568" y="2606040"/>
            <a:ext cx="3063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779008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633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CSS/XPath/texto para elementos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87568" y="3200400"/>
            <a:ext cx="3063240" cy="50292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779008" y="32278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22783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compartida entre 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87568" y="3794760"/>
            <a:ext cx="3063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779008" y="38221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scope='session'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82219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se crea una sola vez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diseño estándar para E2E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encapsula los selectores y acciones de cada página en una clase reutilizable. Los tests solo llaman métodos de alto nivel, sin conocer los selectores internos.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4297680" cy="306324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828800"/>
            <a:ext cx="36576" cy="3063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4215384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pages/login_page.py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LoginPage: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page: Page):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self.page = page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Locators — centralizados aqui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self.email_input    = page.locator('#email')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self.password_input = page.locator('#password')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self.submit_btn     = page.locator('button[type=submit]')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self.error_msg      = page.locator('.error-message')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navigate(self, url: str):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self.page.goto(url)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login(self, email: str, password: str):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self.email_input.fill(email)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self.password_input.fill(password)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self.submit_btn.click()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get_error(self) -&gt; str: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self.error_msg.inner_text()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160520" cy="306324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6576" cy="3063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40233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tests/test_login.py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pages.login_page import LoginPage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'http://localhost:3000'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test_login_exitoso(page: Page):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 = LoginPage(page)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login.navigate(f'{BASE}/login')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login.login('ana@correo.com', 'Pass#123')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Verificar redireccion al dashboard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page.wait_for_url('**/dashboard')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'/dashboard' in page.url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test_login_credenciales_invalidas(page: Page):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 = LoginPage(page)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login.navigate(f'{BASE}/login')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login.login('mal@mail.com', 'wrong')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= login.get_error()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'Credenciales incorrectas' in error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Flujo Completo E2E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Crear Tarea → Verificar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tests/test_flujo_completo.py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pages.login_page    import LoginPage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pages.dashboard_page import DashboardPage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pages.task_page      import TaskPage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'http://localhost:3000'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test_crear_tarea_despues_de_login(page: 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PASO 1: Login ──────────────────────────────────────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 = LoginPage(page)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login.navigate(f'{BASE}/login')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login.login('ana@correo.com', 'Pass#123')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page.wait_for_url('**/dashboard')           # espera redireccion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PASO 2: Ir a la sección de tareas 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 = DashboardPage(page)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dashboard.ir_a_tareas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20116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28600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12848" y="44165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04872" y="4297680"/>
            <a:ext cx="2011680" cy="5669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404872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44165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81144" y="4297680"/>
            <a:ext cx="20116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81144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Crear tarea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44165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57416" y="4297680"/>
            <a:ext cx="201168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757416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12 / 24</a:t>
            </a:r>
            <a:endParaRPr lang="en-US" sz="9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34DA90C-85A1-3E5B-E10A-C7899319445C}"/>
              </a:ext>
            </a:extLst>
          </p:cNvPr>
          <p:cNvSpPr/>
          <p:nvPr/>
        </p:nvSpPr>
        <p:spPr>
          <a:xfrm>
            <a:off x="4389120" y="1042416"/>
            <a:ext cx="5141683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PASO 3: Crear una tarea nueva 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TaskPage(page)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tasks.crear_tarea('Implementar TDD', 'Alta')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PASO 4: Verificar que aparece en la lista 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tasks.tarea_existe('Implementar TDD')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tasks.get_prioridad('Implementar TDD') == 'Alta'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Locators: Cómo Encontrar Elementos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recomienda selectores resistentes al cambio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384048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40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1605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RECOMENDADOS (robustos)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role — más semántico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page.get_by_role('button', name='Guardar')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texto visible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page.get_by_text('Iniciar sesión')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label de formulario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page.get_by_label('Correo electrónico')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placeholder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page.get_by_placeholder('Tu contraseña')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test-id (atributo data-testid)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page.get_by_test_id('submit-btn')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EVITAR (frágiles)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page.locator('.btn.btn-primary.active')  # CSS específico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page.locator('/html/body/div[2]/form')   # XPath absoluto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preferencia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417320"/>
            <a:ext cx="3886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956048" y="146304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56048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85232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get_by_role()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93408" y="14630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Accesible, semántico, estable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1938528"/>
            <a:ext cx="3886200" cy="4572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956048" y="1984248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956048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5232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get_by_label()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93408" y="19842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resistente a cambios CSS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459736"/>
            <a:ext cx="3886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956048" y="2505456"/>
            <a:ext cx="256032" cy="25603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956048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85232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get_by_text()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25054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visible al usuario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980944"/>
            <a:ext cx="3886200" cy="4572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4956048" y="3026664"/>
            <a:ext cx="256032" cy="25603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56048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85232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get_by_test_id()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93408" y="30266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— agrega data-testid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3502152"/>
            <a:ext cx="3886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956048" y="3547872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95604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85232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locator('#id')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93408" y="3547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no hay alternativa mejor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4023360"/>
            <a:ext cx="3886200" cy="4572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956048" y="406908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956048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85232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locator('.clase')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93408" y="4069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 — evitar si es posible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Aserciones: Verificar el Comportamiento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 — aserciones con auto-retry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47472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474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expect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Verificar contenido de texto 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expect(page.locator('h1')).to_have_text('Bienvenida, Ana')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expect(page.locator('.mensaje')).to_contain_text('exitoso')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Verificar visibilidad 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expect(page.get_by_role('button', name='Guardar')).to_be_visible()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expect(page.locator('.spinner')).to_be_hidden()  # carga terminada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Verificar estado de formularios 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expect(page.get_by_label('Email')).to_be_enabled()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expect(page.get_by_label('Email')).to_have_value('ana@correo.com')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Verificar URL y título 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expect(page).to_have_url('http://localhost:3000/dashboard')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expect(page).to_have_url(re.compile(r'/dashboard$'))  # regex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expect(page).to_have_title('Mi App — Dashboard')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Verificar conteo ──────────────────────────────────────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expect(page.locator('.task-item')).to_have_count(3)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4544568"/>
            <a:ext cx="868680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expect() tiene auto-retry: espera hasta 5 segundos por defecto antes de fallar. No necesitas sleeps ni waits manuales.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y Manejo del Estado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y limpiar el entorno de prueba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conftest.py — fixtures reutilizables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pages.login_page import LoginPage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'http://localhost:3000'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Fixture: sesión ya iniciada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logged_in_page(page: Page):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 = LoginPage(page)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login.navigate(f'{BASE}/login')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login.login('ana@correo.com', 'Pass#123')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page.wait_for_url('**/dashboard')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page  # entrega la página al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teardown: limpiar si es necesario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page.evaluate('localStorage.clear()')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Fixture: datos de prueba via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tarea_existente(request):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Crear tarea via API (rápido)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tarea = api_crear_tarea('Tarea de prueba')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tarea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Teardown: eliminar la tarea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api_eliminar_tarea(tarea['id'])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6576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669280" y="1051560"/>
            <a:ext cx="32004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Usando el fixture en un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test_editar_tarea(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logged_in_page: Page,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tarea_existente: dict,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TaskPage(logged_in_page)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tasks.editar(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tarea_existente['id'],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nuevo_titulo='Editada'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tasks.tarea_existe('Editada')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944368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577840" y="2944368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687568" y="3035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 fixtures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3364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 —  Por defecto — 1 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87568" y="37124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—  Por clase de tests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87568" y="40599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—  Por archivo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87568" y="4407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—  Toda la suite (1 browser)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 en E2E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tests que duren y sean confiables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independientes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debe poder correr solo, sin depender del orden ni del estado de otro test.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690872" y="960120"/>
            <a:ext cx="457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28032" y="1014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estado vía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datos de prueba llamando a la API directamente, no navegando por la UI. Es 10x más rápido.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45720" cy="11704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3408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por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combines 5 validaciones en un test. Un test = un escenario de usuario concreto.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28600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2286000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23408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descriptivos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907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test_usuario_puede_crear_tarea_con_prioridad_alta es mejor que test_crear().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61188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28600" y="3611880"/>
            <a:ext cx="45720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65760" y="36667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data-testid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atributos data-testid en el frontend para selectores estables, independientes del CSS.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61188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611880"/>
            <a:ext cx="45720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6667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time.sleep()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expect(...).to_be_visible() con timeout. Los waits explícitos hacen suites lentas e inestables.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Errores Más Comunes en E2E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Aprenderlos antes de cometerlos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dependen entre sí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test_B falla porque test_A creó datos que test_B necesita. Si test_A falla, test_B también. Nunca.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5856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58568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78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time.sleep() en vez de waits inteligentes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sleep(3) hace la suite lenta e inestable. Usa expect().to_be_visible() con timeout.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557016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557016"/>
            <a:ext cx="45720" cy="11704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frágiles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locator(".btn-submit-v2") se rompe con cualquier refactor de CSS. Usa roles, labels o data-testid.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Demasiados E2E para todo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tienes 500 tests E2E y 0 unit tests, estás invirtiendo la pirámide. Los E2E son para flujos críticos.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5856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58568"/>
            <a:ext cx="45720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3134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2578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limpiar el estado entre tests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que crea un usuario falla la segunda vez porque el usuario ya existe. Usa teardown o DB limpia.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en CI/CD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83464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6576" cy="2834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753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.github/workflows/e2e.yml — GitHub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E2E 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python-version: '3.12'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playwright pytest-playwright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playwright install --with-deps chromium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tests/e2e/ --headed=false --screenshot=only-on-failure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BASE_URL: http://localhost:3000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TEST_USER_EMAIL: test@app.com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TEST_USER_PASSWORD: ${{ secrets.TEST_PASSWORD }}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904488"/>
            <a:ext cx="2743200" cy="914400"/>
          </a:xfrm>
          <a:prstGeom prst="rect">
            <a:avLst/>
          </a:prstGeom>
          <a:solidFill>
            <a:srgbClr val="13254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390448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Credenciales en Secrets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passwords en el código. Usa variables de entorno de CI.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3904488"/>
            <a:ext cx="2743200" cy="914400"/>
          </a:xfrm>
          <a:prstGeom prst="rect">
            <a:avLst/>
          </a:prstGeom>
          <a:solidFill>
            <a:srgbClr val="13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46120" y="390448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83280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Screenshots al fallar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4297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--screenshot=only-on-failure guarda imagen al fallar. Invaluable para depurar.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904488"/>
            <a:ext cx="2743200" cy="914400"/>
          </a:xfrm>
          <a:prstGeom prst="rect">
            <a:avLst/>
          </a:prstGeom>
          <a:solidFill>
            <a:srgbClr val="13254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126480" y="3904488"/>
            <a:ext cx="274320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63640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Correr en paralelo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4297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pytest-xdist permite correr múltiples tests en paralelo: pytest -n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Resto del Curso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encaja E2E con lo que ya conocen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274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prueba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con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63040"/>
          <a:ext cx="8686800" cy="426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una función aislada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E2E no reemplazan los unit tests. Cubren capas diferentes.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JUnit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121408"/>
          <a:ext cx="8686800" cy="426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módulos integrados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E2E confirman que la integración es correcta desde la perspectiva del usuario.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Pytest+fixtures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79776"/>
          <a:ext cx="8686800" cy="426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primero, código después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Puedes escribir E2E primero (ATDD) para definir qué debe hacer el sistema.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Playwright+pytest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438144"/>
          <a:ext cx="8686800" cy="426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/ E2E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al usuario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capa que estamos aprendiendo hoy. Valida el comportamiento observable.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ATDD y BDD — TDD aplicado al nivel E2E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713232"/>
          </a:xfrm>
          <a:prstGeom prst="rect">
            <a:avLst/>
          </a:prstGeom>
          <a:solidFill>
            <a:srgbClr val="132540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950976"/>
            <a:ext cx="8092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ATDD (Acceptance TDD): escribir el test E2E ANTES de desarrollar la funcionalidad. El test define qué debe hacer el sistema desde la perspectiva del usuario.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251960" cy="274320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36576" cy="2743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BDD con pytest-bdd — Gherkin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features/login.feature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Autenticacion de usuario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Login exitoso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el usuario esta en /login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ingresa 'ana@correo.com' y 'Pass#123'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hace clic en 'Iniciar sesión'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es redirigido al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ve el mensaje 'Bienvenida, Ana'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Login con credenciales invalidas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el usuario esta en /login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ingresa 'mal@mail.com' y 'wrong'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ve el mensaje 'Credenciales incorrectas'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755648"/>
            <a:ext cx="4297680" cy="274320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846320" y="1755648"/>
            <a:ext cx="36576" cy="2743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937760" y="1847088"/>
            <a:ext cx="41605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tests/test_login_bdd.py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pytest_bdd import scenario, given, when, then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pages.login_page import LoginPage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@scenario('../features/login.feature',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'Login exitoso')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test_login_exitoso(): pass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@given('el usuario esta en /login')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ir_a_login(page):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page.goto('http://localhost:3000/login')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@when("ingresa '{email}' y '{pwd}'")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ingresar_credenciales(page, email, pwd):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LoginPage(page).login(email, pwd)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@then('es redirigido al dashboard')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verificar_dashboard(page):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expect(page).to_have_url(re.compile('/dashboard'))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un Flujo E2E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Tareas  |  40 minutos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Actividad Práctica — 40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3931920"/>
          </a:xfrm>
          <a:prstGeom prst="rect">
            <a:avLst/>
          </a:prstGeom>
          <a:solidFill>
            <a:srgbClr val="13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 automatizar: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4096512" cy="420624"/>
          </a:xfrm>
          <a:prstGeom prst="rect">
            <a:avLst/>
          </a:prstGeom>
          <a:solidFill>
            <a:srgbClr val="162537"/>
          </a:solidFill>
          <a:ln w="1016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con credenciales válidas → verificar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947672"/>
            <a:ext cx="4096512" cy="420624"/>
          </a:xfrm>
          <a:prstGeom prst="rect">
            <a:avLst/>
          </a:prstGeom>
          <a:solidFill>
            <a:srgbClr val="162537"/>
          </a:solidFill>
          <a:ln w="1016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5488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 con credenciales inválidas → verificar mensaje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432304"/>
            <a:ext cx="4096512" cy="420624"/>
          </a:xfrm>
          <a:prstGeom prst="rect">
            <a:avLst/>
          </a:prstGeom>
          <a:solidFill>
            <a:srgbClr val="162537"/>
          </a:solidFill>
          <a:ln w="1016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5488" y="2459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Crear tarea desde el dashboard → verificar en lista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916936"/>
            <a:ext cx="4096512" cy="420624"/>
          </a:xfrm>
          <a:prstGeom prst="rect">
            <a:avLst/>
          </a:prstGeom>
          <a:solidFill>
            <a:srgbClr val="162537"/>
          </a:solidFill>
          <a:ln w="1016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Filtrar tareas por prioridad → solo aparecen las correctas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401568"/>
            <a:ext cx="4096512" cy="420624"/>
          </a:xfrm>
          <a:prstGeom prst="rect">
            <a:avLst/>
          </a:prstGeom>
          <a:solidFill>
            <a:srgbClr val="162537"/>
          </a:solidFill>
          <a:ln w="1016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5488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Cerrar sesión → redirige a /login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60520" cy="3931920"/>
          </a:xfrm>
          <a:prstGeom prst="rect">
            <a:avLst/>
          </a:prstGeom>
          <a:solidFill>
            <a:srgbClr val="13254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89204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19472" y="1481328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919472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149047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estructura pages/ + tests/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9472" y="1920240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19472" y="1920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19293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LoginPage con POM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9472" y="2359152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1947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236829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test_login_exitoso() primero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9472" y="2798064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19472" y="2798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28072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Ejecutar: pytest tests/ -v --headed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19472" y="3236976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919472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32461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los demás flujos uno a uno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675888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919472" y="3675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0368" y="36850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configurar screenshot al fallar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19472" y="4114800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919472" y="4114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41239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final con todos los tests verdes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de Solución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para la actividad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384048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40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1605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pages/login_page.py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LoginPage: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= '/login'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page: 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self.page =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   = page.get_by_label('Correo')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self.password = page.get_by_label('Contraseña')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self.btn      = page.get_by_role('button',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name='Iniciar sesión')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self.error    = page.get_by_test_id('error-msg')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navigate(self):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self.page.goto(f'http://localhost:3000{self.URL}')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login(self, email: str, pwd: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self.email.fill(email)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self.password.fill(pwd)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self.btn.click()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get_error(self)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self.error.inner_text()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384048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6576" cy="3840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402336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tests/test_autenticacion.py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Page, expect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pages.login_page import LoginPage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TestLogin: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test_login_exitoso(self, page: 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 = LoginPage(page)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lp.navigate()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lp.login('ana@correo.com', 'Pass#123')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expect(page).to_have_url(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re.compile(r'/dashboard$'))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test_login_invalido(self, page: Page):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 = LoginPage(page)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lp.navigate()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lp.login('mal@mail.com', 'wrong')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expect(lp.error).to_contain_text(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'Credenciales incorrectas')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TODO: completar con los demás flujos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Próximos Pasos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280160"/>
          </a:xfrm>
          <a:prstGeom prst="rect">
            <a:avLst/>
          </a:prstGeom>
          <a:solidFill>
            <a:srgbClr val="1325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51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0698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Playwright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playwright.dev — Completa, con ejemplos para Python, JS y Java.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280160"/>
          </a:xfrm>
          <a:prstGeom prst="rect">
            <a:avLst/>
          </a:prstGeom>
          <a:solidFill>
            <a:srgbClr val="13254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64608" y="1051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0698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Generator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codegen &lt;url&gt; — Graba tus acciones y genera el código automáticamente.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206240" cy="1280160"/>
          </a:xfrm>
          <a:prstGeom prst="rect">
            <a:avLst/>
          </a:prstGeom>
          <a:solidFill>
            <a:srgbClr val="132540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2514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532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Trophy (Kent C. Dodds)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044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moderna de la pirámide. Énfasis en integration tests sobre unit y E2E.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206240" cy="1280160"/>
          </a:xfrm>
          <a:prstGeom prst="rect">
            <a:avLst/>
          </a:prstGeom>
          <a:solidFill>
            <a:srgbClr val="13254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64608" y="2514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532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TodoMVC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44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los flujos de https://todomvc.com — App pública ideal para practicar E2E.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480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E2E son la última línea de defensa. No los uses para todo — úsalos bien.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/ E2E  |  Valle del Software  |  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3893</Words>
  <Application>Microsoft Office PowerPoint</Application>
  <PresentationFormat>Presentación en pantalla (16:9)</PresentationFormat>
  <Paragraphs>601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Tests / End-to-End Testing</dc:title>
  <dc:subject>PptxGenJS Presentation</dc:subject>
  <dc:creator>Valle del Software</dc:creator>
  <cp:lastModifiedBy>Sergio A Burbano M</cp:lastModifiedBy>
  <cp:revision>2</cp:revision>
  <dcterms:created xsi:type="dcterms:W3CDTF">2026-04-10T19:19:53Z</dcterms:created>
  <dcterms:modified xsi:type="dcterms:W3CDTF">2026-04-10T19:48:24Z</dcterms:modified>
</cp:coreProperties>
</file>