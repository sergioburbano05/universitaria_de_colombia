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6423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1E1A40"/>
          </a:solidFill>
          <a:ln w="12700">
            <a:solidFill>
              <a:srgbClr val="1E1A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6 — 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Testing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Testing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Testing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57200" y="2907792"/>
            <a:ext cx="173736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57200" y="29077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Regresión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31720" y="2907792"/>
            <a:ext cx="1737360" cy="38404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331720" y="29077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Humo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06240" y="2907792"/>
            <a:ext cx="17373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206240" y="29077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Aceptación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44622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474573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 |  7mo Semestre  |  Ing. Software  |  Universitaria de Colombia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E1A40"/>
          </a:solidFill>
          <a:ln w="12700">
            <a:solidFill>
              <a:srgbClr val="1E1A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las Sesiones 6 y 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sesiones de 90 minutos cada una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33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893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6002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Concepto, tipos y cuándo aplicarlo — Sesión 6</a:t>
            </a:r>
            <a:endParaRPr lang="en-US" sz="1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28600" y="2212848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228600" y="2212848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65760" y="22860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542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2852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humo: rápidas y decisivas — Sesión 6</a:t>
            </a:r>
            <a:endParaRPr lang="en-US" sz="1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28600" y="3465576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28600" y="3465576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65760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794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1056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UAT, BDD, criterios de aceptación — Sesión 7</a:t>
            </a:r>
            <a:endParaRPr lang="en-US" sz="1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09160" y="960120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709160" y="960120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846320" y="1033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12893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prácticos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16002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ejemplos detallados con código Python/Gherkin</a:t>
            </a:r>
            <a:endParaRPr lang="en-US" sz="1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709160" y="2212848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709160" y="2212848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846320" y="22860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2542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2852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hacer (y qué evitar) en cada tipo</a:t>
            </a:r>
            <a:endParaRPr lang="en-US" sz="1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709160" y="3465576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4709160" y="3465576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846320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3794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en clase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41056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integrador con los 3 tipos — Sesión 7</a:t>
            </a:r>
            <a:endParaRPr lang="en-US" sz="1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 |  Sesiones 6-7  |  Universitaria de Colombia  |  2 / 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0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E1A40"/>
          </a:solidFill>
          <a:ln w="12700">
            <a:solidFill>
              <a:srgbClr val="1E1A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— Bloque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de regresión: protegiendo lo que ya funciona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Regression Testing?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170432"/>
          </a:xfrm>
          <a:prstGeom prst="rect">
            <a:avLst/>
          </a:prstGeom>
          <a:solidFill>
            <a:srgbClr val="1E1A40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4864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94360" y="987552"/>
            <a:ext cx="8092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de regresión </a:t>
            </a:r>
            <a:r>
              <a:rPr lang="en-US" sz="14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verifican que los cambios recientes en el código </a:t>
            </a: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han roto funcionalidades que ya funcionaban correctamente.</a:t>
            </a: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 la red de seguridad del desarrollo iterativo.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65760" y="2267712"/>
            <a:ext cx="2697480" cy="2331720"/>
          </a:xfrm>
          <a:prstGeom prst="rect">
            <a:avLst/>
          </a:prstGeom>
          <a:solidFill>
            <a:srgbClr val="131030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65760" y="2267712"/>
            <a:ext cx="26974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75488" y="23591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Cuándo se ejecutan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5488" y="28346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cada cambio: nuevo feature, bugfix, refactoring o actualización de dependencias.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8688" y="2267712"/>
            <a:ext cx="2697480" cy="2331720"/>
          </a:xfrm>
          <a:prstGeom prst="rect">
            <a:avLst/>
          </a:prstGeom>
          <a:solidFill>
            <a:srgbClr val="1E0A14"/>
          </a:solidFill>
          <a:ln w="15240">
            <a:solidFill>
              <a:srgbClr val="DB277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218688" y="2267712"/>
            <a:ext cx="2697480" cy="4572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328416" y="23591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Qué protegen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28416" y="28346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comportamiento ya validado del sistema. Garantizan que lo viejo sigue funcionando.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71616" y="2267712"/>
            <a:ext cx="2697480" cy="2331720"/>
          </a:xfrm>
          <a:prstGeom prst="rect">
            <a:avLst/>
          </a:prstGeom>
          <a:solidFill>
            <a:srgbClr val="031514"/>
          </a:solidFill>
          <a:ln w="1524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6071616" y="2267712"/>
            <a:ext cx="2697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181344" y="23591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Cómo se automatizan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81344" y="28346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de tests que corre en CI/CD con cada merge o commit al repositorio.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 |  Sesiones 6-7  |  Universitaria de Colombia  |  4 / 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E1A40"/>
          </a:solidFill>
          <a:ln w="12700">
            <a:solidFill>
              <a:srgbClr val="1E1A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Ocurren las Regresiones?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 más comunes de regresiones en proyectos reales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DDD6F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320040" y="1014984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149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024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feature modifica código compartido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1316736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módulo de pago reescribe la clase Order y rompe el carrito de compras.</a:t>
            </a:r>
            <a:endParaRPr lang="en-US" sz="105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28600" y="1746504"/>
            <a:ext cx="8686800" cy="676656"/>
          </a:xfrm>
          <a:prstGeom prst="rect">
            <a:avLst/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20040" y="1801368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20040" y="1801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" y="1810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Bugfix introduce un nuevo bug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2103120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Arreglar el cálculo de IVA cambia la lógica de descuentos.</a:t>
            </a:r>
            <a:endParaRPr lang="en-US" sz="105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28600" y="2532888"/>
            <a:ext cx="868680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DDD6F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320040" y="2587752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20040" y="2587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" y="25968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sin cobertura de tests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" y="2889504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Renombrar métodos rompe silenciosamente otras partes del sistema.</a:t>
            </a:r>
            <a:endParaRPr lang="en-US" sz="105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28600" y="3319272"/>
            <a:ext cx="8686800" cy="676656"/>
          </a:xfrm>
          <a:prstGeom prst="rect">
            <a:avLst/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320040" y="3374136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20040" y="33741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9808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de dependencias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9808" y="367588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una librería cambia comportamiento de APIs usadas internamente.</a:t>
            </a:r>
            <a:endParaRPr lang="en-US" sz="105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28600" y="4105656"/>
            <a:ext cx="868680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DDD6F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320040" y="4160520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320040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9808" y="41696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ramas (merge conflicts)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9808" y="4462272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conflictos manualmente puede omitir lógica de una rama.</a:t>
            </a:r>
            <a:endParaRPr lang="en-US" sz="105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 |  Sesiones 6-7  |  Universitaria de Colombia  |  5 / 26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E1A40"/>
          </a:solidFill>
          <a:ln w="12700">
            <a:solidFill>
              <a:srgbClr val="1E1A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Regression Testing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según el alcance y el riesgo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1719072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2062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56616" y="106984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completa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(Full Regression)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" y="1636776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TODOS los tests de la suite. Se usa antes de grandes releases. Puede tomar horas.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90872" y="960120"/>
            <a:ext cx="4206240" cy="1719072"/>
          </a:xfrm>
          <a:prstGeom prst="rect">
            <a:avLst/>
          </a:prstGeom>
          <a:solidFill>
            <a:srgbClr val="FDF2F8"/>
          </a:solidFill>
          <a:ln w="19050">
            <a:solidFill>
              <a:srgbClr val="DB277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690872" y="960120"/>
            <a:ext cx="4206240" cy="4572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818888" y="106984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parcial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(Partial Regression)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636776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los tests del área afectada por el cambio. Más rápida y adecuada para cambios pequeños.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862072"/>
            <a:ext cx="4206240" cy="1719072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28600" y="2862072"/>
            <a:ext cx="42062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56616" y="29718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selectiva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(Selective Regression)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" y="353872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seleccionados por análisis de impacto. Requiere mapear qué código afecta a qué tests.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90872" y="2862072"/>
            <a:ext cx="4206240" cy="1719072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690872" y="2862072"/>
            <a:ext cx="420624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818888" y="29718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progresiva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(Progressive Regression)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18888" y="353872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nuevos tests a cada ciclo. La suite crece continuamente capturando nuevos casos.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 |  Sesiones 6-7  |  Universitaria de Colombia  |  6 / 26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E1A40"/>
          </a:solidFill>
          <a:ln w="12700">
            <a:solidFill>
              <a:srgbClr val="1E1A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Ejecutar Regression Tests?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flujo de CI/CD moderno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8046720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40080" y="2121408"/>
            <a:ext cx="502920" cy="50292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7432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tests</a:t>
            </a:r>
            <a:endParaRPr lang="en-US" sz="100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(2-5 min)</a:t>
            </a:r>
            <a:endParaRPr lang="en-US" sz="1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188720" y="22128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0" y="2121408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468880" y="1417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/ Merge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27432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parcial</a:t>
            </a:r>
            <a:endParaRPr lang="en-US" sz="100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módulo afectado</a:t>
            </a:r>
            <a:endParaRPr lang="en-US" sz="1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91840" y="22128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46320" y="2121408"/>
            <a:ext cx="502920" cy="50292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27432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regression</a:t>
            </a:r>
            <a:endParaRPr lang="en-US" sz="100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(suite completa)</a:t>
            </a:r>
            <a:endParaRPr lang="en-US" sz="1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394960" y="22128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949440" y="212140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6675120" y="1417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Post-Deploy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27432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en producción</a:t>
            </a:r>
            <a:endParaRPr lang="en-US" sz="100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(sanity check)</a:t>
            </a:r>
            <a:endParaRPr lang="en-US" sz="1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28600" y="3657600"/>
            <a:ext cx="8686800" cy="804672"/>
          </a:xfrm>
          <a:prstGeom prst="rect">
            <a:avLst/>
          </a:prstGeom>
          <a:solidFill>
            <a:srgbClr val="F5F3FF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228600" y="3657600"/>
            <a:ext cx="4572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411480" y="3712464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Regla práctica: el 80% de las regresiones se introduce en el 20% del código más modificado. Enfoca los tests selectivos ahí.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 |  Sesiones 6-7  |  Universitaria de Colombia  |  7 / 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E1A40"/>
          </a:solidFill>
          <a:ln w="12700">
            <a:solidFill>
              <a:srgbClr val="1E1A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 — Regression Test en Python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que protege el módulo de facturación tras un cambio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120640" cy="3794760"/>
          </a:xfrm>
          <a:prstGeom prst="rect">
            <a:avLst/>
          </a:prstGeom>
          <a:solidFill>
            <a:srgbClr val="080614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794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83480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tests/test_facturacion_regression.py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Suite de regresión para el módulo de facturación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pytest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facturacion import calcular_total, aplicar_descuento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facturacion import generar_factura, validar_ruc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TestFacturacionRegression: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Estos tests existían antes del cambio.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 alguno falla después del merge, hay una REGRESIÓN.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test_calculo_total_con_iva(self):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Comportamiento que debe preservarse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assert calcular_total(100, iva=0.19) == 119.0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test_descuento_no_afecta_iva(self):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Bug histórico: el descuento se aplicaba sobre el IVA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precio_con_descuento = aplicar_descuento(100, 10)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total = calcular_total(precio_con_descuento, iva=0.19)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assert total == 107.1  # 90 * 1.19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test_factura_incluye_todos_los_campos(self):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factura = generar_factura(cliente='Ana', monto=100)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assert 'numero' in factura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assert 'fecha'  in factura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assert 'total'  in factura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test_ruc_invalido_lanza_error(self):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 pytest.raises(ValueError):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validar_ruc('123')  # RUC demasiado corto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577840" y="960120"/>
            <a:ext cx="33375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577840" y="960120"/>
            <a:ext cx="33375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687568" y="1051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observar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87568" y="1389888"/>
            <a:ext cx="3063240" cy="43891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779008" y="14173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de test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0" y="141732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todos los tests de regresión del módulo juntos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87568" y="1892808"/>
            <a:ext cx="3063240" cy="438912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779008" y="19202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 claro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0" y="192024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QUÉ protegen y POR QUÉ existen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87568" y="2395728"/>
            <a:ext cx="3063240" cy="43891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779008" y="24231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bug histórico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0" y="242316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test_descuento_no_afecta_iva previene que vuelva un bug ya resuelto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87568" y="2898648"/>
            <a:ext cx="3063240" cy="438912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779008" y="29260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estado compartido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58000" y="292608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test es independiente y puede correr solo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87568" y="3401568"/>
            <a:ext cx="3063240" cy="43891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779008" y="34290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Cubren contrato público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58000" y="342900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prueban la interfaz externa, no internals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 |  Sesiones 6-7  |  Universitaria de Colombia  |  8 / 26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0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E1A40"/>
          </a:solidFill>
          <a:ln w="12700">
            <a:solidFill>
              <a:srgbClr val="1E1A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— Bloque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humo: ¿el sistema enciende?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Smoke Testing?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solidFill>
            <a:srgbClr val="1E1A40"/>
          </a:solidFill>
          <a:ln w="19050">
            <a:solidFill>
              <a:srgbClr val="DB277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54864" cy="86868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66928" y="960120"/>
            <a:ext cx="8092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del nombre: en electrónica, se conectaba un circuito y si salía humo, había fallado. En software, ejecutamos un conjunto mínimo de tests críticos: si falla alguno, el build se descarta sin más pruebas.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938528"/>
            <a:ext cx="2697480" cy="2651760"/>
          </a:xfrm>
          <a:prstGeom prst="rect">
            <a:avLst/>
          </a:prstGeom>
          <a:solidFill>
            <a:srgbClr val="1E0A14"/>
          </a:solidFill>
          <a:ln w="15240">
            <a:solidFill>
              <a:srgbClr val="DB277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65760" y="1938528"/>
            <a:ext cx="2697480" cy="4572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75488" y="20299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Qué son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251460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PEQUEÑO (5-15%) de los tests más críticos. Validan que las funciones principales del sistema están operativas.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8688" y="1938528"/>
            <a:ext cx="2697480" cy="2651760"/>
          </a:xfrm>
          <a:prstGeom prst="rect">
            <a:avLst/>
          </a:prstGeom>
          <a:solidFill>
            <a:srgbClr val="1A1000"/>
          </a:solidFill>
          <a:ln w="1524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218688" y="1938528"/>
            <a:ext cx="269748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328416" y="20299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Velocidad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28416" y="251460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Deben completarse en 5-15 minutos. Su valor es la VELOCIDAD de feedback. Si tarda 1 hora, no es Smoke.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71616" y="1938528"/>
            <a:ext cx="2697480" cy="2651760"/>
          </a:xfrm>
          <a:prstGeom prst="rect">
            <a:avLst/>
          </a:prstGeom>
          <a:solidFill>
            <a:srgbClr val="0F0830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6071616" y="1938528"/>
            <a:ext cx="26974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181344" y="20299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Decisión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81344" y="251460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pasa → continuar con tests más profundos. Si falla → devolver el build al equipo de desarrollo. Sin excepciones.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 |  Sesiones 6-7  |  Universitaria de Colombia  |  10 / 26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E1A40"/>
          </a:solidFill>
          <a:ln w="12700">
            <a:solidFill>
              <a:srgbClr val="1E1A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vs Sanity Testing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conceptos que se confunden frecuentemente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36576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1426464"/>
            <a:ext cx="4206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FBCF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20040" y="145389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45920" y="145389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nuevo llega para pruebas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2002536"/>
            <a:ext cx="4206240" cy="502920"/>
          </a:xfrm>
          <a:prstGeom prst="rect">
            <a:avLst/>
          </a:prstGeom>
          <a:solidFill>
            <a:srgbClr val="FDF2F8"/>
          </a:solidFill>
          <a:ln w="7620">
            <a:solidFill>
              <a:srgbClr val="FBCF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0040" y="202996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que responde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45920" y="20299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¿Funciona lo más básico del sistema?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578608"/>
            <a:ext cx="4206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FBCF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20040" y="2606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45920" y="2606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Amplio — cubre todo el sistema superficialmente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3154680"/>
            <a:ext cx="4206240" cy="502920"/>
          </a:xfrm>
          <a:prstGeom prst="rect">
            <a:avLst/>
          </a:prstGeom>
          <a:solidFill>
            <a:srgbClr val="FDF2F8"/>
          </a:solidFill>
          <a:ln w="7620">
            <a:solidFill>
              <a:srgbClr val="FBCF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20040" y="318211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45920" y="31821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 15 minutos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730752"/>
            <a:ext cx="4206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FBCF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20040" y="3758184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45920" y="375818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Automático, en CI/CD al recibir el build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4306824"/>
            <a:ext cx="4206240" cy="502920"/>
          </a:xfrm>
          <a:prstGeom prst="rect">
            <a:avLst/>
          </a:prstGeom>
          <a:solidFill>
            <a:srgbClr val="FDF2F8"/>
          </a:solidFill>
          <a:ln w="7620">
            <a:solidFill>
              <a:srgbClr val="FBCF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20040" y="433425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45920" y="433425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¿Arranca? ¿Loguea? ¿Conecta BD?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960120"/>
            <a:ext cx="420624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754880" y="10058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Testing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63440" y="1426464"/>
            <a:ext cx="4206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4800600" y="145389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Bugfix específico o cambio puntual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002536"/>
            <a:ext cx="4206240" cy="502920"/>
          </a:xfrm>
          <a:prstGeom prst="rect">
            <a:avLst/>
          </a:prstGeom>
          <a:solidFill>
            <a:srgbClr val="F5F3FF"/>
          </a:solidFill>
          <a:ln w="762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800600" y="20299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fix funciona y no rompió lo cercano?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2578608"/>
            <a:ext cx="4206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800600" y="26060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Estrecho — enfocado en el área del cambio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154680"/>
            <a:ext cx="4206240" cy="502920"/>
          </a:xfrm>
          <a:prstGeom prst="rect">
            <a:avLst/>
          </a:prstGeom>
          <a:solidFill>
            <a:srgbClr val="F5F3FF"/>
          </a:solidFill>
          <a:ln w="762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4800600" y="31821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 45 minutos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3730752"/>
            <a:ext cx="4206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4800600" y="375818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 semi-automático, muy específico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4306824"/>
            <a:ext cx="4206240" cy="502920"/>
          </a:xfrm>
          <a:prstGeom prst="rect">
            <a:avLst/>
          </a:prstGeom>
          <a:solidFill>
            <a:srgbClr val="F5F3FF"/>
          </a:solidFill>
          <a:ln w="762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4800600" y="43342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cálculo de IVA corregido es correcto?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 |  Sesiones 6-7  |  Universitaria de Colombia  |  11 / 26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E1A40"/>
          </a:solidFill>
          <a:ln w="12700">
            <a:solidFill>
              <a:srgbClr val="1E1A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 — Smoke Test Suite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mínima para un sistema de gestión académica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120640" cy="3794760"/>
          </a:xfrm>
          <a:prstGeom prst="rect">
            <a:avLst/>
          </a:prstGeom>
          <a:solidFill>
            <a:srgbClr val="080614"/>
          </a:solidFill>
          <a:ln w="12700">
            <a:solidFill>
              <a:srgbClr val="DB277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79476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83480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tests/smoke/test_smoke_suite.py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Marca: @pytest.mark.smoke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Ejecutar: pytest -m smoke --timeout=300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pytest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= 'http://localhost:8000/api'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@pytest.mark.smoke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TestSmokeSistemaAcademico: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test_api_esta_disponible(self):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 = requests.get(f'{BASE}/health')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assert r.status_code == 200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test_login_funciona(self):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 = requests.post(f'{BASE}/auth/login',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json={'email':'test@uni.edu','password':'Test123!'})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assert r.status_code == 200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assert 'access_token' in r.json()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test_listar_cursos_responde(self):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 = requests.get(f'{BASE}/cursos')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assert r.status_code in [200, 401]  # Auth o OK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test_base_de_datos_conectada(self):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 = requests.get(f'{BASE}/health/db')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assert r.json()['db_status'] == 'connected'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test_pagina_principal_carga(self):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 = requests.get('http://localhost:3000')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assert r.status_code == 200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assert 'Universidad' in r.text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577840" y="960120"/>
            <a:ext cx="33375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577840" y="960120"/>
            <a:ext cx="3337560" cy="4572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687568" y="1051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del Smoke Test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87568" y="1389888"/>
            <a:ext cx="3063240" cy="402336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779008" y="142646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¿La app arranca?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87568" y="1865376"/>
            <a:ext cx="3063240" cy="402336"/>
          </a:xfrm>
          <a:prstGeom prst="rect">
            <a:avLst/>
          </a:prstGeom>
          <a:solidFill>
            <a:srgbClr val="FDF2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779008" y="190195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¿La BD está conectada?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87568" y="2340864"/>
            <a:ext cx="3063240" cy="402336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779008" y="237744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¿El login funciona?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87568" y="2816352"/>
            <a:ext cx="3063240" cy="402336"/>
          </a:xfrm>
          <a:prstGeom prst="rect">
            <a:avLst/>
          </a:prstGeom>
          <a:solidFill>
            <a:srgbClr val="FDF2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779008" y="285292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¿Las rutas críticas responden?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87568" y="3291840"/>
            <a:ext cx="3063240" cy="402336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5779008" y="332841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¿Los servicios externos son accesibles?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87568" y="3767328"/>
            <a:ext cx="3063240" cy="402336"/>
          </a:xfrm>
          <a:prstGeom prst="rect">
            <a:avLst/>
          </a:prstGeom>
          <a:solidFill>
            <a:srgbClr val="FDF2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779008" y="380390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Tiempo total &lt; 10 minutos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87568" y="4242816"/>
            <a:ext cx="3063240" cy="402336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779008" y="427939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 Si falla → rechazar el build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 |  Sesiones 6-7  |  Universitaria de Colombia  |  12 / 26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0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E1A40"/>
          </a:solidFill>
          <a:ln w="12700">
            <a:solidFill>
              <a:srgbClr val="1E1A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— Bloque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aceptación: ¿cumple con lo que el cliente necesita?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Acceptance Testing?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987552"/>
          </a:xfrm>
          <a:prstGeom prst="rect">
            <a:avLst/>
          </a:prstGeom>
          <a:solidFill>
            <a:srgbClr val="1E1A40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54864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66928" y="969264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de aceptación verifican que el sistema cumple los 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243584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aceptación definidos por el cliente o usuario final.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517904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la última barrera antes de entregar el software.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2057400" cy="2560320"/>
          </a:xfrm>
          <a:prstGeom prst="rect">
            <a:avLst/>
          </a:prstGeom>
          <a:solidFill>
            <a:srgbClr val="031514"/>
          </a:solidFill>
          <a:ln w="1524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20574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57200" y="21488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 Acceptance Testing)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1874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o cliente valida directamente que el sistema hace lo que necesita en escenarios reales.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0" y="2057400"/>
            <a:ext cx="2057400" cy="2560320"/>
          </a:xfrm>
          <a:prstGeom prst="rect">
            <a:avLst/>
          </a:prstGeom>
          <a:solidFill>
            <a:srgbClr val="0F0830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560320" y="2057400"/>
            <a:ext cx="20574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2651760" y="21488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(Business Acceptance Testing)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2834640"/>
            <a:ext cx="1874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de negocio valida que los flujos de trabajo empresarial son correctos y completos.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057400"/>
            <a:ext cx="2057400" cy="2560320"/>
          </a:xfrm>
          <a:prstGeom prst="rect">
            <a:avLst/>
          </a:prstGeom>
          <a:solidFill>
            <a:srgbClr val="1A1000"/>
          </a:solidFill>
          <a:ln w="1524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754880" y="2057400"/>
            <a:ext cx="20574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846320" y="21488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Testing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834640"/>
            <a:ext cx="1874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internas antes de salir al mercado. El equipo de QA y stakeholders internos validan el producto.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49440" y="2057400"/>
            <a:ext cx="2057400" cy="2560320"/>
          </a:xfrm>
          <a:prstGeom prst="rect">
            <a:avLst/>
          </a:prstGeom>
          <a:solidFill>
            <a:srgbClr val="1E0A14"/>
          </a:solidFill>
          <a:ln w="15240">
            <a:solidFill>
              <a:srgbClr val="DB277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6949440" y="2057400"/>
            <a:ext cx="2057400" cy="4572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7040880" y="21488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Testing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40880" y="2834640"/>
            <a:ext cx="1874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limitada al público real. Retroalimentación de usuarios reales en entornos de producción.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 |  Sesiones 6-7  |  Universitaria de Colombia  |  14 / 26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E1A40"/>
          </a:solidFill>
          <a:ln w="12700">
            <a:solidFill>
              <a:srgbClr val="1E1A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Aceptación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de toda prueba de aceptación — deben ser testables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713232"/>
          </a:xfrm>
          <a:prstGeom prst="rect">
            <a:avLst/>
          </a:prstGeom>
          <a:solidFill>
            <a:srgbClr val="CCFBF1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11480" y="1014984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criterio de aceptación define el COMPORTAMIENTO ESPERADO del sistema desde la perspectiva del usuario. Sin criterios claros, no hay forma de saber si el software está terminado.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783080"/>
            <a:ext cx="411480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20040" y="181965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Malo — vago y no testeable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783080"/>
            <a:ext cx="411480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663440" y="181965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Bueno — específico y testeable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2377440"/>
            <a:ext cx="41148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20040" y="241401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debe ser rápido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2377440"/>
            <a:ext cx="41148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663440" y="241401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página de inicio debe cargar en menos de 2 segundos en 4G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971800"/>
            <a:ext cx="4114800" cy="530352"/>
          </a:xfrm>
          <a:prstGeom prst="rect">
            <a:avLst/>
          </a:prstGeom>
          <a:solidFill>
            <a:srgbClr val="FFF1F2"/>
          </a:solidFill>
          <a:ln w="889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20040" y="300837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puede crear cuentas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2971800"/>
            <a:ext cx="4114800" cy="530352"/>
          </a:xfrm>
          <a:prstGeom prst="rect">
            <a:avLst/>
          </a:prstGeom>
          <a:solidFill>
            <a:srgbClr val="F0FDF4"/>
          </a:solidFill>
          <a:ln w="889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663440" y="300837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registrar un usuario con email y contraseña válidos, el sistema redirige al dashboard en &lt; 3 segundos y envía un email de confirmación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3566160"/>
            <a:ext cx="41148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320040" y="360273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carrito de compras funciona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0" y="3566160"/>
            <a:ext cx="41148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4663440" y="360273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agregar 3 productos y proceder al pago, el total debe incluir IVA del 19% y el descuento del cupón activo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8600" y="4160520"/>
            <a:ext cx="4114800" cy="530352"/>
          </a:xfrm>
          <a:prstGeom prst="rect">
            <a:avLst/>
          </a:prstGeom>
          <a:solidFill>
            <a:srgbClr val="FFF1F2"/>
          </a:solidFill>
          <a:ln w="889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320040" y="419709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es segura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0" y="4160520"/>
            <a:ext cx="4114800" cy="530352"/>
          </a:xfrm>
          <a:prstGeom prst="rect">
            <a:avLst/>
          </a:prstGeom>
          <a:solidFill>
            <a:srgbClr val="F0FDF4"/>
          </a:solidFill>
          <a:ln w="889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663440" y="419709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contraseñas se almacenan con bcrypt (mínimo factor 12). Los intentos fallidos bloquean la cuenta tras 5 intentos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 |  Sesiones 6-7  |  Universitaria de Colombia  |  15 / 26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E1A40"/>
          </a:solidFill>
          <a:ln w="12700">
            <a:solidFill>
              <a:srgbClr val="1E1A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y Gherkin — Acceptance Tests en Lenguaje Natural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Driven Development como puente entre negocio y técnica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84048" y="100584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 es el lenguaje de BDD: las historias de usuario se escriben en formato DADO/CUANDO/ENTONCES y sirven directamente como tests ejecutables con Behave (Python) o Cucumber (Java/JS).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8600" y="1627632"/>
            <a:ext cx="4297680" cy="3246120"/>
          </a:xfrm>
          <a:prstGeom prst="rect">
            <a:avLst/>
          </a:prstGeom>
          <a:solidFill>
            <a:srgbClr val="080614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28600" y="1627632"/>
            <a:ext cx="36576" cy="3246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20040" y="1719072"/>
            <a:ext cx="416052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features/matricula.feature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Feature: Matrícula de estudiantes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Como estudiante registrado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Quiero matricularme en materias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Para avanzar en mi plan de estudios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Scenario: Matrícula exitosa en materia disponible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Given el estudiante 'Juan' está autenticado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la materia 'Pruebas de Software' tiene cupo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Juan selecciona la materia y confirma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Then su matrícula queda registrada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recibe confirmación por correo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el cupo disponible disminuye en 1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Scenario: No puede matricularse sin cupo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Given la materia 'Bases de Datos' está llena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Juan intenta matricularse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Then ve el mensaje 'Sin cupo disponible'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queda en lista de espera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627632"/>
            <a:ext cx="4160520" cy="3246120"/>
          </a:xfrm>
          <a:prstGeom prst="rect">
            <a:avLst/>
          </a:prstGeom>
          <a:solidFill>
            <a:srgbClr val="080614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4754880" y="1627632"/>
            <a:ext cx="36576" cy="3246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846320" y="1719072"/>
            <a:ext cx="402336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features/steps/matricula_steps.py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behave import given, when, then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app.models import Estudiante, Materia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@given("el estudiante '{nombre}' está autenticado")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step_auth(context, nombre):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context.estudiante = Estudiante.login(nombre)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@given("la materia '{nombre}' tiene cupo")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step_cupo(context, nombre):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context.materia = Materia.get(nombre)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context.materia.cupo &gt; 0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@when('Juan selecciona la materia y confirma')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step_matricular(context):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context.resultado = context.estudiante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.matricular(context.materia)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@then('su matrícula queda registrada')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step_verificar(context):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context.resultado.exitosa == True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@then('recibe confirmación por correo')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step_correo(context):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context.estudiante.tiene_correo_de(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'matricula_confirmada')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 |  Sesiones 6-7  |  Universitaria de Colombia  |  16 / 26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E1A40"/>
          </a:solidFill>
          <a:ln w="12700">
            <a:solidFill>
              <a:srgbClr val="1E1A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3 — UAT en la Práctica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de aceptación para sistema de notas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320040" y="1033272"/>
            <a:ext cx="594360" cy="5943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332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0332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UAT-001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289304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nota final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156362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Pasos: 1. Docente inicia sesión  2. Selecciona materia y grupo  3. Ingresa nota 4.5 para estudiante  4. Guarda cambios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577840" y="15636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Esperado: La nota queda registrada y el estudiante puede consultarla en el portal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2194560"/>
            <a:ext cx="8686800" cy="1115568"/>
          </a:xfrm>
          <a:prstGeom prst="rect">
            <a:avLst/>
          </a:prstGeom>
          <a:solidFill>
            <a:srgbClr val="F0FDFA"/>
          </a:solidFill>
          <a:ln w="1016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320040" y="2267712"/>
            <a:ext cx="594360" cy="5943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20040" y="22677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22677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UAT-002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2523744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fuera de rango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279806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Pasos: 1. Docente intenta ingresar nota 5.5 (fuera del rango 0-5)  2. Sistema valida al perder el foco del campo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577840" y="279806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Esperado: El sistema muestra error 'La nota debe estar entre 0.0 y 5.0' sin guardar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3429000"/>
            <a:ext cx="868680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320040" y="3502152"/>
            <a:ext cx="594360" cy="59436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320040" y="35021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35021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UAT-003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3758184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historial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403250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Pasos: 1. Estudiante inicia sesión  2. Navega a 'Historial académico'  3. Selecciona semestre 2024-1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577840" y="403250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Esperado: Se muestran todas las materias del semestre con notas y créditos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365760" y="46908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UAT-003 FALLÓ — Bug: el endpoint /historial filtra por año pero no por semestre. Pendiente de fix antes del release.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 |  Sesiones 6-7  |  Universitaria de Colombia  |  17 / 26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E1A40"/>
          </a:solidFill>
          <a:ln w="12700">
            <a:solidFill>
              <a:srgbClr val="1E1A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4 — Caso Integrado: Los 3 Tipos en Un Proyecto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pagos en línea — ciclo de despliegue completo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3822192"/>
          </a:xfrm>
          <a:prstGeom prst="rect">
            <a:avLst/>
          </a:prstGeom>
          <a:solidFill>
            <a:srgbClr val="FFFFFF"/>
          </a:solidFill>
          <a:ln w="19050">
            <a:solidFill>
              <a:srgbClr val="DB277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743200" cy="47548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05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Smoke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(2-5 min)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536192"/>
            <a:ext cx="2560320" cy="502920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11480" y="157276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¿La app arranca?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130552"/>
            <a:ext cx="2560320" cy="50292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11480" y="216712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¿Pasarela de pago conectada?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724912"/>
            <a:ext cx="2560320" cy="502920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11480" y="276148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¿API acepta requests?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319272"/>
            <a:ext cx="2560320" cy="50292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11480" y="335584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¿BD respondiendo?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90088" y="2377440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136392" y="960120"/>
            <a:ext cx="2743200" cy="3822192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3136392" y="960120"/>
            <a:ext cx="274320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227832" y="1005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Regression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(30-60 min)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27832" y="1536192"/>
            <a:ext cx="2560320" cy="502920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3319272" y="157276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Test de pago normal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27832" y="2130552"/>
            <a:ext cx="2560320" cy="50292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319272" y="216712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Test con cupón de descuento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27832" y="2724912"/>
            <a:ext cx="2560320" cy="502920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3319272" y="276148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Test de reembolso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27832" y="3319272"/>
            <a:ext cx="2560320" cy="50292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3319272" y="335584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Test de transacción fallida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27832" y="3913632"/>
            <a:ext cx="2560320" cy="502920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3319272" y="395020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Flujo de historial de pagos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97880" y="2377440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044184" y="960120"/>
            <a:ext cx="2743200" cy="3822192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6044184" y="960120"/>
            <a:ext cx="27432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6135624" y="1005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Acceptance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 equipo)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135624" y="1536192"/>
            <a:ext cx="2560320" cy="502920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227064" y="157276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UAT: Pago desde móvil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35624" y="2130552"/>
            <a:ext cx="2560320" cy="50292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6227064" y="216712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UAT: Factura generada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35624" y="2724912"/>
            <a:ext cx="2560320" cy="502920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6227064" y="276148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UAT: Email de confirmación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35624" y="3319272"/>
            <a:ext cx="2560320" cy="50292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6227064" y="335584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Criterio: pago &lt; 3 segundos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35624" y="3913632"/>
            <a:ext cx="2560320" cy="502920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6227064" y="395020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Aprobación del Product Owner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28600" y="4846320"/>
            <a:ext cx="8686800" cy="201168"/>
          </a:xfrm>
          <a:prstGeom prst="rect">
            <a:avLst/>
          </a:prstGeom>
          <a:solidFill>
            <a:srgbClr val="F5F3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365760" y="4864608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Flujo: Smoke → (si PASS) Regression → (si PASS) Acceptance → Release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 |  Sesiones 6-7  |  Universitaria de Colombia  |  18 / 26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E1A40"/>
          </a:solidFill>
          <a:ln w="12700">
            <a:solidFill>
              <a:srgbClr val="1E1A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Comparativa: Regression vs Smoke vs Acceptance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Cuándo, quién y qué prueban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60120"/>
          <a:ext cx="8686800" cy="2743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 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Smoke 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27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Acceptance 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417320"/>
          <a:ext cx="8686800" cy="2514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¿Quién lo hace?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Automation / Dev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Automation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Cliente, PO, QA Manual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874520"/>
          <a:ext cx="8686800" cy="2514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¿Cuándo?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 cada cambio de código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recibir un nuevo build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de entregar a producción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331720"/>
          <a:ext cx="8686800" cy="2514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verifica?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lo viejo siga funcionando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lo básico esté operativo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cumpla requisitos del cliente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788920"/>
          <a:ext cx="8686800" cy="2514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(amplia o selectiva)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baja (5-15% críticos)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(flujos de usuario)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246120"/>
          <a:ext cx="8686800" cy="2514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a lenta (30 min - horas)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rápida (5-15 min)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Lenta (horas a días)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4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703320"/>
          <a:ext cx="8686800" cy="2514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Automatizable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Casi siempre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Siempre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Parcialmente (BDD)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3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4160520"/>
          <a:ext cx="8686800" cy="2514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pytest, JUnit, Jest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pytest, Postman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Behave, Cucumber, Selenium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2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4617720"/>
          <a:ext cx="8686800" cy="2514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falla...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Bloquear el merge/PR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Rechazar el build completo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hay release. Fix primero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 |  Sesiones 6-7  |  Universitaria de Colombia  |  19 / 26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E1A40"/>
          </a:solidFill>
          <a:ln w="12700">
            <a:solidFill>
              <a:srgbClr val="1E1A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Pirámide de Pruebas Extendida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de los tres tipos en la pirámide completa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3493008"/>
            <a:ext cx="7680960" cy="6035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 —  Muchos • Rápidos • Baratos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00200" y="2743200"/>
            <a:ext cx="5943600" cy="60350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691640" y="281635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  —  Medianos • Módulos integrados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77440" y="2029968"/>
            <a:ext cx="4389120" cy="6035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46888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Tests  —  Automáticos • Protegen lo existente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0" y="1325880"/>
            <a:ext cx="2926080" cy="603504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200400" y="13990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Tests  —  Mínimos • Gate del build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749040" y="658368"/>
            <a:ext cx="1645920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840480" y="731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Tests  —  Pocos • Perspectiva del usuario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0" y="329184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Más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0" y="77724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Más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4206240"/>
            <a:ext cx="8686800" cy="658368"/>
          </a:xfrm>
          <a:prstGeom prst="rect">
            <a:avLst/>
          </a:prstGeom>
          <a:solidFill>
            <a:srgbClr val="F5F3FF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28600" y="4206240"/>
            <a:ext cx="4572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11480" y="426110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Los Regression Tests son la capa más gruesa después de Integration: son la red de seguridad más grande. Los Smoke Tests son el filtro más delgado y veloz en la cima del proceso.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 |  Sesiones 6-7  |  Universitaria de Colombia  |  20 / 26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E1A40"/>
          </a:solidFill>
          <a:ln w="12700">
            <a:solidFill>
              <a:srgbClr val="1E1A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tipo de prueba — qué hacer en cada caso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3931920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74320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058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Regression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481328"/>
            <a:ext cx="2560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93192" y="1517904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Automatiza desde el primer bug reportado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139696"/>
            <a:ext cx="2560320" cy="566928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93192" y="217627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Etiqueta los tests con @regression para ejecutarlos selectivamente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798064"/>
            <a:ext cx="2560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93192" y="283464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Mantén la suite actualizada — elimina tests obsoletos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456432"/>
            <a:ext cx="2560320" cy="566928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93192" y="349300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Analiza el impacto del cambio para elegir regresión parcial o completa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36392" y="960120"/>
            <a:ext cx="2743200" cy="3931920"/>
          </a:xfrm>
          <a:prstGeom prst="rect">
            <a:avLst/>
          </a:prstGeom>
          <a:solidFill>
            <a:srgbClr val="FDF2F8"/>
          </a:solidFill>
          <a:ln w="19050">
            <a:solidFill>
              <a:srgbClr val="DB277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136392" y="960120"/>
            <a:ext cx="2743200" cy="43891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227832" y="10058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Smoke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27832" y="1481328"/>
            <a:ext cx="2560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300984" y="1517904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Selecciona máximo 15 casos — solo los más críticos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27832" y="2139696"/>
            <a:ext cx="2560320" cy="566928"/>
          </a:xfrm>
          <a:prstGeom prst="rect">
            <a:avLst/>
          </a:prstGeom>
          <a:solidFill>
            <a:srgbClr val="FDF2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300984" y="217627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Falla rápido: si un smoke test falla, NO ejecutes el resto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27832" y="2798064"/>
            <a:ext cx="2560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3300984" y="283464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Automatiza completamente — no debe requerir intervención humana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27832" y="3456432"/>
            <a:ext cx="2560320" cy="566928"/>
          </a:xfrm>
          <a:prstGeom prst="rect">
            <a:avLst/>
          </a:prstGeom>
          <a:solidFill>
            <a:srgbClr val="FDF2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3300984" y="349300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Crea un perfil de CI/CD dedicado para smoke: pytest -m smoke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44184" y="960120"/>
            <a:ext cx="2743200" cy="3931920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6044184" y="960120"/>
            <a:ext cx="27432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6135624" y="10058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Acceptance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35624" y="1481328"/>
            <a:ext cx="2560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6208776" y="1517904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Escribe criterios de aceptación ANTES de desarrollar (ATDD)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35624" y="2139696"/>
            <a:ext cx="2560320" cy="566928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6208776" y="217627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Involucra al cliente en la revisión de los casos Gherkin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35624" y="2798064"/>
            <a:ext cx="2560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208776" y="283464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Documenta los resultados UAT con evidencia (capturas, firmas)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35624" y="3456432"/>
            <a:ext cx="2560320" cy="566928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6208776" y="349300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 criterio = un test. No mezcles múltiples validaciones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 |  Sesiones 6-7  |  Universitaria de Colombia  |  21 / 26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E1A40"/>
          </a:solidFill>
          <a:ln w="12700">
            <a:solidFill>
              <a:srgbClr val="1E1A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Comunes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más frecuentes — y cómo evitarlos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111556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149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710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tests demasiado grandes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5544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 100 "smoke tests" que tardan 1 hora. Eso no es smoke, es regression. Smoke = rápido y crítico.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90872" y="960120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4690872" y="960120"/>
            <a:ext cx="45720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828032" y="10149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28032" y="12710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actualizar los regression tests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15544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cambia, los tests no. Los tests obsoletos fallan por razones equivocadas o pasan sin proteger nada.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2221992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28600" y="2221992"/>
            <a:ext cx="45720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65760" y="227685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532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 sin criterios escritos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281635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«informal»: el cliente prueba manualmente sin criterios definidos. El resultado es subjetivo y no reproducible.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90872" y="2221992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690872" y="2221992"/>
            <a:ext cx="45720" cy="111556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828032" y="227685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28032" y="2532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completa en cada commit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28032" y="281635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regression en cada pequeño cambio paraliza el CI/CD. Usa regresión parcial o selectiva para cambios pequeños.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28600" y="3483864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228600" y="3483864"/>
            <a:ext cx="45720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365760" y="353872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37947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priorizar los smoke tests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407822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hay presión de tiempo, se saltean los smoke tests. "Solo es un hotfix." Ese hotfix rompe el login de todos.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90872" y="3483864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4690872" y="3483864"/>
            <a:ext cx="45720" cy="11155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828032" y="353872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28032" y="37947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aceptación con QA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28032" y="407822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de aceptación las valida el CLIENTE o PO, no QA. QA ayuda, pero la firma es del negocio.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 |  Sesiones 6-7  |  Universitaria de Colombia  |  22 / 26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E1A40"/>
          </a:solidFill>
          <a:ln w="12700">
            <a:solidFill>
              <a:srgbClr val="1E1A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Recomendadas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tipo de prueba y ecosistema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3913632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7432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Regression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426464"/>
            <a:ext cx="2560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11480" y="14538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6916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el estándar. Fixtures, markers y plugins.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084832"/>
            <a:ext cx="2560320" cy="566928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11480" y="21122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350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— integración con Spring Test y Maven.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743200"/>
            <a:ext cx="2560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11480" y="27706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300837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JavaScript/Node — coverage nativo, mocks incluidos.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401568"/>
            <a:ext cx="2560320" cy="566928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11480" y="3429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6667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visuales para cualquier framework.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36392" y="960120"/>
            <a:ext cx="2743200" cy="3913632"/>
          </a:xfrm>
          <a:prstGeom prst="rect">
            <a:avLst/>
          </a:prstGeom>
          <a:solidFill>
            <a:srgbClr val="FDF2F8"/>
          </a:solidFill>
          <a:ln w="19050">
            <a:solidFill>
              <a:srgbClr val="DB277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3136392" y="960120"/>
            <a:ext cx="2743200" cy="38404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227832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Smoke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27832" y="1426464"/>
            <a:ext cx="2560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3319272" y="14538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-m smoke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19272" y="16916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solo los tests marcados como smoke.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27832" y="2084832"/>
            <a:ext cx="2560320" cy="566928"/>
          </a:xfrm>
          <a:prstGeom prst="rect">
            <a:avLst/>
          </a:prstGeom>
          <a:solidFill>
            <a:srgbClr val="FDF2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3319272" y="21122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Newman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19272" y="2350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de APIs REST con colecciones exportables.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27832" y="2743200"/>
            <a:ext cx="2560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3319272" y="27706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19272" y="300837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de carga: ¿responde bajo X usuarios?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27832" y="3401568"/>
            <a:ext cx="2560320" cy="566928"/>
          </a:xfrm>
          <a:prstGeom prst="rect">
            <a:avLst/>
          </a:prstGeom>
          <a:solidFill>
            <a:srgbClr val="FDF2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3319272" y="3429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19272" y="36667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Disparar smoke automáticamente en cada PR.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44184" y="960120"/>
            <a:ext cx="2743200" cy="3913632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6044184" y="960120"/>
            <a:ext cx="2743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6135624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Acceptance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135624" y="1426464"/>
            <a:ext cx="2560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6227064" y="14538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27064" y="16916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para Python — corre features Gherkin.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35624" y="2084832"/>
            <a:ext cx="2560320" cy="566928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6227064" y="21122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27064" y="2350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para Java y JS — el más popular.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35624" y="2743200"/>
            <a:ext cx="2560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6227064" y="27706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Framework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227064" y="300837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Keyword-driven, ideal para UAT con no técnicos.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35624" y="3401568"/>
            <a:ext cx="2560320" cy="566928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6227064" y="3429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227064" y="36667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para validar flujos UI en acceptance tests.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 |  Sesiones 6-7  |  Universitaria de Colombia  |  23 / 26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1E1A40"/>
          </a:solidFill>
          <a:ln w="12700">
            <a:solidFill>
              <a:srgbClr val="1E1A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2286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Ejercicio Propuesto — Taller de Clase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8686800" cy="566928"/>
          </a:xfrm>
          <a:prstGeom prst="rect">
            <a:avLst/>
          </a:prstGeom>
          <a:solidFill>
            <a:srgbClr val="1E1A40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28600" y="987552"/>
            <a:ext cx="4572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 Sistema de préstamo de libros de la biblioteca universitaria. Acaban de agregar el módulo de multas automáticas. Tu tarea: diseñar e implementar los tres tipos de prueba.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664208"/>
            <a:ext cx="2743200" cy="3090672"/>
          </a:xfrm>
          <a:prstGeom prst="rect">
            <a:avLst/>
          </a:prstGeom>
          <a:solidFill>
            <a:srgbClr val="1E1A40"/>
          </a:solidFill>
          <a:ln w="12700">
            <a:solidFill>
              <a:srgbClr val="DB277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28600" y="1664208"/>
            <a:ext cx="2743200" cy="4572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38328" y="175564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97510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Testing (20 min)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8328" y="235915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Escribe 5 smoke tests para la API del sistema de préstamos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8328" y="290779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Verifica: inicio, login, consultar libro, reservar, devolver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8328" y="345643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Usa pytest con marker @pytest.mark.smoke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36392" y="1664208"/>
            <a:ext cx="2743200" cy="3090672"/>
          </a:xfrm>
          <a:prstGeom prst="rect">
            <a:avLst/>
          </a:prstGeom>
          <a:solidFill>
            <a:srgbClr val="1E1A40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3136392" y="1664208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246120" y="175564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46120" y="197510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Testing (25 min)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246120" y="235915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El nuevo módulo de multas modificó calcular_disponibilidad()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46120" y="290779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Escribe tests de regresión para las funciones afectadas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46120" y="345643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Incluye al menos un test que cubra un 'bug histórico' documentado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44184" y="1664208"/>
            <a:ext cx="2743200" cy="3090672"/>
          </a:xfrm>
          <a:prstGeom prst="rect">
            <a:avLst/>
          </a:prstGeom>
          <a:solidFill>
            <a:srgbClr val="1E1A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6044184" y="1664208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6153912" y="175564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53912" y="197510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Testing (20 min)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153912" y="235915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Escribe 2 escenarios Gherkin para el flujo de multas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53912" y="290779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Criterio 1: multa correcta por 3 días de retraso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53912" y="345643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Criterio 2: estudiante con multa no puede reservar nuevos libros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archivo Python con los tests + archivo .feature Gherkin  |  Tiempo total: 65 minutos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 |  Sesiones 6-7  |  Universitaria de Colombia  |  24 / 26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E1A40"/>
          </a:solidFill>
          <a:ln w="12700">
            <a:solidFill>
              <a:srgbClr val="1E1A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— Tres Tipos, Una Estrategia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Recuerda siempre la secuencia y el propósito de cada uno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87552"/>
            <a:ext cx="8686800" cy="1115568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87552"/>
            <a:ext cx="54864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84048" y="10607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Regression Testing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3898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seguridad del código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1097280"/>
            <a:ext cx="1828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017520" y="1124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Cuándo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0" y="13716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cada cambio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92040" y="1097280"/>
            <a:ext cx="1828800" cy="82296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983480" y="1124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Quién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13716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Automatizado / QA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1097280"/>
            <a:ext cx="1828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949440" y="1124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Pregunta clave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49440" y="13716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que nada se rompe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249424"/>
            <a:ext cx="8686800" cy="1115568"/>
          </a:xfrm>
          <a:prstGeom prst="rect">
            <a:avLst/>
          </a:prstGeom>
          <a:solidFill>
            <a:srgbClr val="FDF2F8"/>
          </a:solidFill>
          <a:ln w="19050">
            <a:solidFill>
              <a:srgbClr val="DB277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228600" y="2249424"/>
            <a:ext cx="54864" cy="111556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84048" y="23225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Smoke Testing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" y="26517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del build — rápido y decisivo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926080" y="2359152"/>
            <a:ext cx="1828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017520" y="23865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Cuándo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17520" y="263347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recibir el build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2359152"/>
            <a:ext cx="1828800" cy="822960"/>
          </a:xfrm>
          <a:prstGeom prst="rect">
            <a:avLst/>
          </a:prstGeom>
          <a:solidFill>
            <a:srgbClr val="FDF2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983480" y="23865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Quién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263347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automático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58000" y="2359152"/>
            <a:ext cx="1828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6949440" y="23865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Pregunta clave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49440" y="263347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¿Vale la pena seguir probando?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8600" y="3511296"/>
            <a:ext cx="8686800" cy="1115568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228600" y="3511296"/>
            <a:ext cx="54864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384048" y="35844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Acceptance Testing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84048" y="391363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con el cliente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926080" y="3621024"/>
            <a:ext cx="1828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3017520" y="364845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Cuándo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017520" y="389534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release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92040" y="3621024"/>
            <a:ext cx="1828800" cy="822960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4983480" y="364845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Quién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83480" y="389534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/ PO / QA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858000" y="3621024"/>
            <a:ext cx="1828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6949440" y="364845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Pregunta clave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49440" y="389534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¿Cumple lo que se necesita?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 |  Sesiones 6-7  |  Universitaria de Colombia  |  25 / 26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1A40"/>
          </a:solidFill>
          <a:ln w="12700">
            <a:solidFill>
              <a:srgbClr val="1E1A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y Próxima Sesión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206240" cy="1261872"/>
          </a:xfrm>
          <a:prstGeom prst="rect">
            <a:avLst/>
          </a:prstGeom>
          <a:solidFill>
            <a:srgbClr val="1E1A40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2062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84048" y="10789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96112" y="10972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ISTQB Foundation Level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58191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internacional de certificación en pruebas. Capítulos 2 y 3 cubren estos tipos.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987552"/>
            <a:ext cx="4206240" cy="1261872"/>
          </a:xfrm>
          <a:prstGeom prst="rect">
            <a:avLst/>
          </a:prstGeom>
          <a:solidFill>
            <a:srgbClr val="1E1A40"/>
          </a:solidFill>
          <a:ln w="12700">
            <a:solidFill>
              <a:srgbClr val="DB277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754880" y="987552"/>
            <a:ext cx="4206240" cy="4572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864608" y="10789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76672" y="10972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Fowler — Test Pyramid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64608" y="158191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martinfowler.com/bliki/TestPyramid.html — Artículo original sobre la pirámide.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432304"/>
            <a:ext cx="4206240" cy="1261872"/>
          </a:xfrm>
          <a:prstGeom prst="rect">
            <a:avLst/>
          </a:prstGeom>
          <a:solidFill>
            <a:srgbClr val="1E1A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274320" y="2432304"/>
            <a:ext cx="42062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84048" y="252374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96112" y="25420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Behave (BDD Python)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" y="302666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behave.readthedocs.io — Documentación oficial para implementar Gherkin en Python.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432304"/>
            <a:ext cx="4206240" cy="1261872"/>
          </a:xfrm>
          <a:prstGeom prst="rect">
            <a:avLst/>
          </a:prstGeom>
          <a:solidFill>
            <a:srgbClr val="1E1A40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4754880" y="2432304"/>
            <a:ext cx="420624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864608" y="252374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76672" y="25420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pytest-regression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64608" y="302666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 de pytest para tests de regresión de archivos y resultados complejos.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" y="42245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sesión: Performance Testing &amp; Herramientas de Carga (JMeter, k6)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" y="456285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  |  Universitaria de Colombia  |  Pruebas de Software 7mo Semestre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 |  Sesiones 6-7  |  Universitaria de Colombia  |  26 / 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1323</TotalTime>
  <Words>3854</Words>
  <Application>Microsoft Office PowerPoint</Application>
  <PresentationFormat>Presentación en pantalla (16:9)</PresentationFormat>
  <Paragraphs>557</Paragraphs>
  <Slides>26</Slides>
  <Notes>26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0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Sesiones 6-7: Regression, Smoke &amp; Acceptance Testing</dc:title>
  <dc:subject>PptxGenJS Presentation</dc:subject>
  <dc:creator>Mg. Sergio Alejandro Burbano Mena</dc:creator>
  <cp:lastModifiedBy>Sergio A Burbano M</cp:lastModifiedBy>
  <cp:revision>2</cp:revision>
  <dcterms:created xsi:type="dcterms:W3CDTF">2026-04-12T20:30:40Z</dcterms:created>
  <dcterms:modified xsi:type="dcterms:W3CDTF">2026-04-13T18:41:34Z</dcterms:modified>
</cp:coreProperties>
</file>