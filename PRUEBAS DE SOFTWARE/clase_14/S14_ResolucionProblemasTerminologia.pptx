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0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+ Terminología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DP · 3 Problemas completos · Glosario S11-S14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901952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1901952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60604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190195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2651760"/>
            <a:ext cx="19019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903720" y="2651760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Final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 DP + Terminología Consolidada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5 pasos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sistemático para atacar cualquier problema DP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1: Ruta en Grilla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Caminos mínimos en matrices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2: Subset Sum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y selección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3: Rod Cutting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Maximización de valor al cortar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S11-S14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completo del curso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final + Ejercicio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las 4 sesiones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 / 32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Resolución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estructurado para atacar problemas de DP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Pasos para Resolver Cualquier Problema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sistemático que funciona para el 90% de los casos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162763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01752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3 veces. Identifica qué se optimiza, restricciones. Escribe 2-3 ejemplos a mano.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02536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002536" y="960120"/>
            <a:ext cx="162763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139696" y="105156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139696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75688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75688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DP? ¿Hay subestructura óptima y subproblemas solapados?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48456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76472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776472" y="960120"/>
            <a:ext cx="162763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913632" y="1051560"/>
            <a:ext cx="411480" cy="4114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913632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49624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849624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dp[i] (o dp[i][j]) con palabras. Escribe la fórmula que lo relaciona con subproblemas.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22392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0408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550408" y="960120"/>
            <a:ext cx="162763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5687568" y="10515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687568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23560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con memoización (más fácil). Verifica casos base. Traza a mano.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96328" y="25146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324344" y="960120"/>
            <a:ext cx="1627632" cy="3520440"/>
          </a:xfrm>
          <a:prstGeom prst="rect">
            <a:avLst/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7324344" y="960120"/>
            <a:ext cx="162763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7461504" y="105156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461504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97496" y="155448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397496" y="2057400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necesario: tabulación para evitar stack overflow, reducir espacio a O(1).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4617720"/>
            <a:ext cx="8686800" cy="41148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457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365760" y="47091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5038344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paso 2 o 3 fallan, DP no es la técnica adecuada. Considera backtracking o greedy.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4 / 32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Comunes en Problemas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patrón = la mitad del problema resuelto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Fibonacci-like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= f(dp[i-1], dp[i-2], ...) — dependencia lineal simple. Ej: subir escaleras, sucesiones.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 Choice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 depende de 'incluir o no' el elemento i. Ej: Knapsack, Subset Sum, House Robber.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basado en dp[i-1][j], dp[i][j-1]. Ej: rutas en matriz, LCS, Edit Distance.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dp[i][j] = solución para subarray [i..j]. Ej: Matrix Chain, Palindrome Partitioning.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+ Decisión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+ acción → nuevo estado. Ej: Stock trading, juegos por turnos.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Dígito/Bits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sobre dígitos o máscaras de bits. Ej: Digit DP, TSP con bitmask.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5 / 32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Ruta en Grilla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el camino de costo mínimo en una matriz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Ruta de Costo Mínimo en Grilla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patrón '2D Grid'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DBEAFE"/>
          </a:solidFill>
          <a:ln w="1651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" y="1303020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matriz m×n con costos positivos, encuentra el camino de (0,0) a (m-1,n-1) con costo mínimo. Solo puedes moverte DERECHA o ABAJO. Retorna el costo total.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43891"/>
            <a:ext cx="8686800" cy="1993392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19933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 de matriz de entrada: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grid = [[1, 3, 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[1, 5, 1],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[4, 2, 1]]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Caminos posibles de (0,0) → (2,2):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1: 1→3→1→1→1 =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2: 1→1→5→1→1 = 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3: 1→1→4→2→1 = 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4: 1→3→1→2→1 = 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Ruta 5: 1→1→5→2→1 = 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óptima: 1→3→1→1→1 = 7 (Ruta 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3858768"/>
            <a:ext cx="8686800" cy="111556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28600" y="3858768"/>
            <a:ext cx="45720" cy="11155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39502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los 5 pasos de la metodología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Entender: minimizar costo | 2) DP: sí hay subestructura | 3) Recurrencia: dp[i][j]=grid[i][j]+min(dp[i-1][j],dp[i][j-1]) | 4) Casos base: primera fila y columna acumulan | 5) Optimizable a O(n) espacio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7 / 32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Solución Completa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paso a paso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ruta_minima_grilla.py — Min Path Sum en grilla m×n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min_path_sum(grid: list) -&gt; 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dp[i][j] = costo mínimo para llegar a (i,j) desde (0,0).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dp[i][j] = grid[i][j] + min(dp[i-1][j], dp[i][j-1])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len(grid), len(grid[0])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[[0]*n for _ in range(m)]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esquina (0,0)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dp[0][0] = grid[0][0]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fila: solo se puede venir por la izquierda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dp[0][j] = dp[0][j-1] + grid[0][j]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Primera columna: solo se puede venir por arriba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dp[i-1][0] + grid[i][0]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Rellenar el resto de la tabla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dp[i][j] = grid[i][j] + min(dp[i-1][j],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dp[m-1][n-1]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[[1,3,1],[1,5,1],[4,2,1]]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print(min_path_sum(grid))  # 7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Complejidad: O(m×n) tiempo, O(m×n) espacio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Optimización: O(n) espacio reutilizando una sola fila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8 / 32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1 — Traza Visual de la Tabla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llena dp[][] paso a paso para grid=[[1,3,1],[1,5,1],[4,2,1]]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502920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inicial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63178"/>
            <a:ext cx="848563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entrada con los costos por celda — el costo se acumula al pasar por cada celda.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 entrada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430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828800" y="192024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8288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1430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828800" y="251460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8288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1430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1430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828800" y="3108960"/>
            <a:ext cx="6400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8288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148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dp[][] llenada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1148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006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006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0" y="192024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48640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1148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1148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8006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48006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0" y="251460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5486400" y="25146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14800" y="310896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1148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800600" y="3108960"/>
            <a:ext cx="640080" cy="54864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8006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486400" y="3108960"/>
            <a:ext cx="640080" cy="548640"/>
          </a:xfrm>
          <a:prstGeom prst="rect">
            <a:avLst/>
          </a:prstGeom>
          <a:solidFill>
            <a:srgbClr val="1D4ED8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548640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28600" y="3931920"/>
            <a:ext cx="8686800" cy="1051560"/>
          </a:xfrm>
          <a:prstGeom prst="rect">
            <a:avLst/>
          </a:prstGeom>
          <a:solidFill>
            <a:srgbClr val="040810"/>
          </a:solidFill>
          <a:ln w="1270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228600" y="3931920"/>
            <a:ext cx="36576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320040" y="4023360"/>
            <a:ext cx="8549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Camino óptimo: (0,0)→(0,1)→(0,2)→(1,2)→(2,2)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Valores: 1 + 3 + 1 + 1 + 1 = 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dp[2][2] = 7 ← respuesta en la celda resaltada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9 / 32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Subset Sum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subconjunto con suma exacta?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Subset Sum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del patrón '0/1 Choice'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CFFAFE"/>
          </a:solidFill>
          <a:ln w="1651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un conjunto de enteros positivos y una suma objetivo, determina si existe un subconjunto cuya suma sea exactamente el objetivo. Retorna True/False.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297180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2971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nums = [3, 34, 4, 12, 5, 2]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target = 9  →  ¿Existe subconjunto con suma 9?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Sí: {4, 5} o {3, 4, 2} o {2, 3, 4}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Retorna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target = 30 →  ¿Existe subconjunto con suma 30?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No, la suma máxima es 3+34+4+12+5+2 = 60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pero no hay combinación que dé exactamente 30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     Retorna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APLICACIÓN EN TESTING: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Dividir 50 tests en 2 suites con tiempo similar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Determinar si un conjunto de requisitos cumple un presupuesto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Optimización de carga en servidores de testing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11 / 32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2 — Solución con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booleana dp[i][s]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subset_sum.py — O(n × target) tiempo y espacio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subset_sum(nums: list, target: int) -&gt; bool: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dp[i][s] = True si existe subconjunto de nums[0..i-1]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con suma exactamente s.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Decisión para cada elemento: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NO incluirlo: dp[i][s] = dp[i-1][s]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SÍ incluirlo: dp[i][s] = dp[i-1][s - nums[i-1]]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len(nums)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[[False] * (target + 1) for _ in range(n + 1)]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Caso base: suma 0 siempre es alcanzable (conjunto vacío)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dp[i][0] = True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s in range(1, target + 1):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1: no incluir nums[i-1]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dp[i][s] = dp[i-1][s]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Opción 2: incluir nums[i-1] si cabe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nums[i-1] &lt;= 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dp[i][s] = dp[i][s] or dp[i-1][s - nums[i-1]]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dp[n][target]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print(subset_sum([3,34,4,12,5,2], 9))    # True (ej: 4+5)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print(subset_sum([3,34,4,12,5,2], 30))   # False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print(subset_sum([1,2,3,4,5], 7))        # True (ej: 3+4 o 2+5)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12 / 32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Rod Cutting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valor al cortar una vara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Rod Cutting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clásico del libro CLRS de algoritmos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38074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 una vara de longitud n y una tabla de precios por longitud, encuentra la forma de cortarla que maximiza el ingreso total. Los cortes son gratis.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297180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1737360"/>
            <a:ext cx="36576" cy="2971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0040" y="1828800"/>
            <a:ext cx="854964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Tabla de precios típica: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longitud:  1   2   3   4   5   6   7   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precio:    1   5   8   9  10  17  17  20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 una vara de longitud 8: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A: sin cortar         → precio = 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B: 1 + 7              → 1 + 17 = 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C: 2 + 6              → 5 + 17 = 22  ← MEJOR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D: 3 + 5              → 8 + 10 = 18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E: 2 + 2 + 2 + 2      → 5+5+5+5 = 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Opción F: 2 + 3 + 3          → 5 + 8 + 8 = 21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óptima para n=8:  22 (cortando en 2 + 6)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Respuesta para n=4:          10 (cortando en 2 + 2)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14 / 32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3 — Solución Recursiva +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naive vs memoización vs tabulación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rod_cutting.py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1: Recursivo naive — O(2^n)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rod_cut_naive(precios,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return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max_val = max(max_val, precios[i-1] + rod_cut_naive(precios, n-i))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max_val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Enfoque 2: Tabulación — O(n²)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rod_cut_dp(precios, n):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dp[i] = máximo valor para vara de longitud i.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Recurrencia: dp[i] = max(precios[j] + dp[i-j-1]) para j=0..i-1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[0] * (n + 1)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longitud in range(1, n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max_val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corte in range(1, longitud + 1):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corte &lt;= len(precios):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max_val = max(max_val, precios[corte-1] + dp[longitud - corte])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dp[longitud] = max_val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precios = [1, 5, 8, 9, 10, 17, 17, 20]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print(rod_cut_dp(precios, 8))  # 22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print(rod_cut_dp(precios, 4))  # 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15 / 32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del Curso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consolidado de las Sesiones 11-14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Exploratory Testing (Sesión 11)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clave del testing exploratorio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Testing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pruebas donde el tester diseña, ejecuta y aprende simultáneamente.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Charter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corto de una misión de exploración: Explorar + Con + Para descubrir.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SBTM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Test Management. Framework para gestionar sesiones exploratorias.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HICCUPPS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Oráculo heurístico: History, Image, Comparable, Claims, User, Product, Purpose, Statutes.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corta (15 min) al final de una sesión para compartir hallazgos.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Bash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grupal donde el equipo completo explora simultáneamente antes de un release.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Testing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testers: Driver (ejecuta) + Navigator (observa, sugiere, documenta).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Bug:Sesión Ratio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bugs encontrados / número de sesiones. &gt; 3 indica área problemática.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17 / 32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Testing Dinámico (Sesión 12)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 la programación de pruebas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ejecutando el software, vs estático (sin ejecutar).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ramas if/else ejecutadas durante las pruebas.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MC/DC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Condition/Decision Coverage. Estándar en aviación.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mutantes del código para evaluar calidad de los tests.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Score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Mutantes matados / total mutantes. Meta &gt; 80%.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propiedades, no ejemplos. Hypothesis genera casos automáticamente.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inputs aleatorios/semi-aleatorios para provocar crashes.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reduce contraejemplos al caso mínimo reproducible.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18 / 32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Terminología — Programación Dinámica (Sesión 13-14)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del diseño de algoritmos DP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Subestructura óptima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óptima se construye de subsoluciones óptimas.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5720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28032" y="10149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Subproblemas solapados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28032" y="128016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subproblemas aparecen varias veces en la recursión.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457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recursión con caché. @lru_cache en Python.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192024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1920240"/>
            <a:ext cx="45720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Tabulación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2402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llenar una tabla iterativamente desde los casos base.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28600" y="2880360"/>
            <a:ext cx="45720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matemática que relaciona dp[i] con dp[i-1], dp[i-2], etc.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88036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880360"/>
            <a:ext cx="45720" cy="8412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base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320040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iniciales de la tabla DP (dp[0], dp[1]).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228600" y="3840480"/>
            <a:ext cx="45720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5760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Subsequence. Base del diff de Git.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90872" y="3840480"/>
            <a:ext cx="420624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4690872" y="3840480"/>
            <a:ext cx="4572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828032" y="38953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0/1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41605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la mochila: incluir o no incluir cada ítem.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19 / 32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Integradores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que conectan ET, Testing Dinámico y DP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1 — Selección de Tests con DP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Knapsack con métricas de Mutation Testing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Pipeline CI con 15 min de presupuesto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Cada test tiene una métrica de VALOR: cobertura × mutation_score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(nombre, tiempo_min, cobertura, mutation_score, valor)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('test_auth',      2, 0.95, 0.88, 83.6),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('test_pagos',     5, 0.90, 0.92, 82.8),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('test_reportes',  4, 0.80, 0.75, 60.0),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('test_api',       3, 0.85, 0.80, 68.0),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('test_ui_e2e',    7, 0.70, 0.65, 45.5),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('test_carga',     6, 0.60, 0.55, 33.0),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Aplicar 0/1 Knapsack para maximizar VALOR con presupuesto=15 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seleccionar_optimo(tests, presupuesto):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len(tests)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[[0]*(presupuesto+1) for _ in range(n+1)]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_, tiempo, _, _, valor = tests[i-1]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 in range(presupuesto+1):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dp[i][t] = dp[i-1][t]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tiempo &lt;= 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dp[i][t] = max(dp[i][t], dp[i-1][t-tiempo] + valor)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dp[n][presupuesto]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print(seleccionar_optimo(tests, 15))  # 294.4 (auth+pagos+api+reportes: 14min)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DBEAFE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S11-S12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de cobertura vienen de pytest-cov (S12). El mutation_score viene de mutmut (S12). La métrica combinada se optimiza con DP (S13).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21 / 32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2 — Detección de Regresiones con LCS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secuencias de logs entre versiones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detectar si un error NUEVO aparece entre versiones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detectar_regresion(logs_v1: list, logs_v2: list) -&gt; dict: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 LCS para identificar errores NUEVOS en v2 que no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existían en v1 (son potenciales regresiones).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n = len(logs_v1), len(logs_v2)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LCS tabla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dp = [[0]*(n+1) for _ in range(m+1)]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logs_v1[i-1] == logs_v2[j-1]: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dp[i-1][j-1] + 1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dp[i][j] = max(dp[i-1][j], dp[i][j-1])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Logs comunes = LCS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comunes = dp[m][n]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errores_nuevos = [l for l in logs_v2 if l not in logs_v1 and 'ERROR' in l]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'similitud': comunes / max(m, n),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'errores_nuevos': errores_nuevos,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'es_regresion': len(errores_nuevos) &gt;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CFFAFE"/>
          </a:solidFill>
          <a:ln w="1651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en producción genera logs. Al desplegar v2, aplicamos LCS contra v1: si hay errores NUEVOS, alerta automática a DevOps.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22 / 32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3 — Edit Distance para Fuzzy Matching de Bugs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reportes de bugs duplicados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 numCol="2"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identificar bugs duplicados en Jira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son_bugs_similares(titulo1: str, titulo2: str, umbral: float = 0.7) -&gt; bool: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 Edit Distance (Levenshtein) para detectar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reportes de bugs potencialmente duplicados.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edit_dist(s1, s2):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m, n = len(s1), len(s2)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dp = [[0]*(n+1) for _ in range(m+1)]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range(m+1): dp[i][0] = 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j in range(n+1): dp[0][j] = j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range(1, m+1):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range(1, n+1):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s1[i-1] == s2[j-1]: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dp[i][j] = dp[i-1][j-1]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dp[i][j] = 1 + min(dp[i-1][j], dp[i][j-1], dp[i-1][j-1])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dp[m][n]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t1, t2 = titulo1.lower(), titulo2.lower()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distancia = edit_dist(t1, t2)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similitud = 1 - distancia / max(len(t1), len(t2))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similitud &gt;= umbral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son_bugs_similares('Error al iniciar sesión', 'Error en login')  # similitud ~0.5 → 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son_bugs_similares('Error 500 en /api/users', 'Error 500 en /api/user')  # ~0.96 → True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EDE9FE"/>
          </a:solidFill>
          <a:ln w="1651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en el proceso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Ahorra horas de revisión manual en bug bashes (S11). Agrupa reportes similares automáticamente antes de que lleguen a desarrollo.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23 / 32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4 — Memoización en Tests Costosos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recomputar fixtures caros en pytest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200400"/>
          </a:xfrm>
          <a:prstGeom prst="rect">
            <a:avLst/>
          </a:prstGeom>
          <a:solidFill>
            <a:srgbClr val="040810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 numCol="2"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035808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Caso real: fixture que consulta la BD toma 2 seg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SIN memoización: cada test ejecuta la query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datos_estudiantes():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db.query('SELECT * FROM estudiantes')   # 2 seg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CON memoización: solo 1 query para todos los 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@lru_cache(maxsize=None)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_cache_estudiantes():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db.query('SELECT * FROM estudiantes')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@pytest.fixture(scope='session')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datos_estudiantes_cached():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_cache_estudiantes()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100 tests: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cache: 100 × 2s = 200 segundos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 cache: 1 × 2s  = 2 segundos (100× más rápido)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Property-based testing + memoización: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hypothesis import given, strategies as st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@given(st.integers(min_value=0, max_value=len(_cache_estudiantes())-1))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test_propiedad_estudiantes_validos(idx):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"""PROPIEDAD: todo estudiante en BD tiene email válido"""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est = _cache_estudiantes()[idx]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'@' in est['email']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4297680"/>
            <a:ext cx="8686800" cy="658368"/>
          </a:xfrm>
          <a:prstGeom prst="rect">
            <a:avLst/>
          </a:prstGeom>
          <a:solidFill>
            <a:srgbClr val="DCFCE7"/>
          </a:solidFill>
          <a:ln w="1651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4297680"/>
            <a:ext cx="45720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curso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71830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ejemplo combina: fixtures de pytest (S12), PBT con Hypothesis (S12) y memoización DP (S13-S14). La integración real de las técnicas.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24 / 32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Errores Comunes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del curso completo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Integración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aplicar en proyectos reales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+ Automación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complementa los tests automatizados, no los reemplaza. 80% automatizado + 20% exploratorio.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&gt; 80%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mínima en módulos de lógica de negocio. Usar pytest-cov con --cov-branch.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en CI nocturno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 cada commit (es lento), sino en pipelines nocturnos. Alertar si score &lt; 80%.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PBT para invariantes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Hypothesis para propiedades estables del dominio (ordenación, reversibilidad).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en selección de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Knapsack para elegir los mejores tests dado un presupuesto limitado de tiempo.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Memoización de fixtures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recomputar fixtures costosos con @lru_cache o scope='session'.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26 / 32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— Integración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errores más costosos en proyectos reales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5720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ET sin scripted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automatización, la regresión se vuelve impagable con cada nuevo feature.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28600" y="2221992"/>
            <a:ext cx="45720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como único KPI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coverage con assert True no vale nada. Usar mutation score como complemento.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483864"/>
            <a:ext cx="45720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sin dominio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strategies genéricas para datos específicos reduce efectividad del PBT.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90872" y="960120"/>
            <a:ext cx="45720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donde no corresponde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1490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problema de optimización es DP. Verificar subestructura y solapamiento primero.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690872" y="2221992"/>
            <a:ext cx="45720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27685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2496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integrar técnicas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7523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Usarlas en silos desperdicia su valor. El verdadero poder está en la combinación.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690872" y="3483864"/>
            <a:ext cx="45720" cy="11155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28032" y="35387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3758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el factor humano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142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estas técnicas asisten al tester, no lo reemplazan. El criterio humano es irreemplazable.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27 / 32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Ejercicio Integrador — Sesión 14  |  90 minutos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52035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380744"/>
            <a:ext cx="8485632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las 4 sesiones: ET + Testing Dinámico + DP aplicado a la gestión de tests del sistema de notas.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28600" y="166420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8328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+ Métricas (30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Diseña 3 charters para módulo nuevo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1 charter SBTM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Documenta 2 bugs encontrados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8328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Calcula bug:sesión ratio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36392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136392" y="1664208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246120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Dinámico (30 min)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tests pytest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Alcanza 100% branch coverage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Ejecuta mutmut y alcanza &gt; 80%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Escribe 1 propiedad Hypothesis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1664208"/>
            <a:ext cx="2743200" cy="3154680"/>
          </a:xfrm>
          <a:prstGeom prst="rect">
            <a:avLst/>
          </a:prstGeom>
          <a:solidFill>
            <a:srgbClr val="152035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044184" y="16642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53912" y="1755648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53912" y="197510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Aplicado (30 min)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237744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Implementa seleccion_tests() con Knapsack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29443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Calcula métrica cobertura×mutation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351129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Selecciona tests para 20 min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53912" y="4078224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Compara DP vs greedy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Informe técnico + código Python + reporte SBTM + tabla de selección óptima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28 / 32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Mental del Curso S11-S14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 las 4 sesiones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78308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S11: Exploratory Testing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cognitivas: charters, SBTM, HICCUPPS, pair testing.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encontrar bugs inesperados y aprender el sistema.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783080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0060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S12: Testing Dinámico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automatizables: branch coverage, mutation, PBT, fuzzing.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detectar regresiones y medir calidad de tests.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880360"/>
            <a:ext cx="4206240" cy="1783080"/>
          </a:xfrm>
          <a:prstGeom prst="rect">
            <a:avLst/>
          </a:prstGeom>
          <a:solidFill>
            <a:srgbClr val="CFFAFE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28600" y="2880360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38328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S13: Programación Dinámica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330098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Paradigma: subestructura + memoización + tabulación.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para: optimización de tests, análisis de datos de pruebas.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880360"/>
            <a:ext cx="4206240" cy="178308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90872" y="288036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0060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S14: Integración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00984"/>
            <a:ext cx="402336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técnicas NO son alternativas — son capas complementarias.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Juntas: sistema robusto y sostenible.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29 / 32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 del Curso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debes llevarte de estas 4 sesiones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38328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Diversificar técnicas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bala de plata. El mejor QA combina ET + tests automatizados + análisis de datos.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Medir sin obsesionarse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mutation score, charters son métricas. No son el objetivo — son indicadores de progreso.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44184" y="96012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53912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Automatizar todo lo repetitivo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074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para lo creativo, scripts para lo repetitivo. La automatización libera tiempo para pensar.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38328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Código es dato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tests, logs y reportes son datos. Aplica DP y algoritmos para optimizarlos.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36392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136392" y="2880360"/>
            <a:ext cx="27432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4612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Mentalidad de crecimiento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testing es un campo en evolución constante. Mantente aprendiendo técnicas nuevas.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44184" y="2880360"/>
            <a:ext cx="274320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5803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044184" y="2880360"/>
            <a:ext cx="2743200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153912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El usuario primero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300984"/>
            <a:ext cx="2560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técnicas están al servicio del usuario final. Sin él, ninguna técnica tiene sentido.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30 / 32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Las 4 Sesiones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completo del testing moderno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3794760"/>
          </a:xfrm>
          <a:prstGeom prst="rect">
            <a:avLst/>
          </a:prstGeom>
          <a:solidFill>
            <a:srgbClr val="040810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36576" cy="3794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49640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╔═══════════════════════════════════════════════════════════╗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EL CICLO DEL TESTING MODERNO (S11-S14)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╠═══════════════════════════════════════════════════════════╣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1. EXPLORAR (S11 - ET)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Charters, SBTM, HICCUPPS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Descubrir comportamientos inesperados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2. VERIFICAR (S12 - Testing Dinámico)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Branch coverage con pytest-cov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Mutation score con mutmut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Property-based con Hypothesis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Fuzzing con Atheris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3. OPTIMIZAR (S13-S14 - Programación Dinámica)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Memoización de fixtures costosos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Knapsack para selección de tests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LCS para diff de logs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Edit Distance para detección de duplicados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4. INTEGRAR (S14 - Aplicación)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CI/CD con las 3 técnicas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Dashboards de calidad integrados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└─ Decisiones basadas en datos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║                                                             ║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╚═══════════════════════════════════════════════════════════╝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31 / 32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Gracias por el curso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804672"/>
          </a:xfrm>
          <a:prstGeom prst="rect">
            <a:avLst/>
          </a:prstGeom>
          <a:solidFill>
            <a:srgbClr val="152035"/>
          </a:solidFill>
          <a:ln w="1651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para continuar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26464"/>
            <a:ext cx="8485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Libros: 'The Art of Software Testing' (Myers), 'Introduction to Algorithms' (CLRS), 'Agile Testing' (Crispin &amp; Gregory). Comunidades: Ministry of Testing, AB Testing Podcast, LeetCode DP track. Herramientas: pytest, mutmut, hypothesis, atheris.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2563EB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029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burbano.sergio@universitaria.edu.co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preguntas y consultas después del curso.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920240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0891B2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42062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64608" y="202996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github.com/universitaria-ingSW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todos los notebooks y códigos vistos.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7C3AED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274320" y="3218688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84048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Lecturas complementarias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adicional en la plataforma Moodle del curso.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18688"/>
            <a:ext cx="4206240" cy="1133856"/>
          </a:xfrm>
          <a:prstGeom prst="rect">
            <a:avLst/>
          </a:prstGeom>
          <a:solidFill>
            <a:srgbClr val="152035"/>
          </a:solidFill>
          <a:ln w="12700">
            <a:solidFill>
              <a:srgbClr val="05966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3218688"/>
            <a:ext cx="42062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64608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Examen Final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675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integradora de las 4 sesiones — fecha por anunciar.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55371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 — 7mo Semestre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y Terminología | Sesión 14 | Universitaria de Colombia | 32 / 32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5264</Words>
  <Application>Microsoft Office PowerPoint</Application>
  <PresentationFormat>Presentación en pantalla (16:9)</PresentationFormat>
  <Paragraphs>636</Paragraphs>
  <Slides>32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SALA SOFTWARE LIC7</cp:lastModifiedBy>
  <cp:revision>4</cp:revision>
  <dcterms:created xsi:type="dcterms:W3CDTF">2026-04-20T00:22:23Z</dcterms:created>
  <dcterms:modified xsi:type="dcterms:W3CDTF">2026-04-24T02:00:00Z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2026-04-22T13:44:43Z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622a3cd9-b557-498a-acdf-7145596e9cb4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