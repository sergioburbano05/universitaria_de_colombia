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0"/>
            <a:ext cx="1188720" cy="5143500"/>
          </a:xfrm>
          <a:prstGeom prst="rect">
            <a:avLst/>
          </a:prstGeom>
          <a:solidFill>
            <a:srgbClr val="152035"/>
          </a:solidFill>
          <a:ln w="12700">
            <a:solidFill>
              <a:srgbClr val="1520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407408"/>
            <a:ext cx="9144000" cy="7360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74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7315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de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Problemas + Terminología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 DP · 3 Problemas completos · Glosario S11-S14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651760"/>
            <a:ext cx="1901952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" y="2651760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606040" y="2651760"/>
            <a:ext cx="1901952" cy="38404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606040" y="2651760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2651760"/>
            <a:ext cx="1901952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0" y="2651760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Terminología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903720" y="2651760"/>
            <a:ext cx="1901952" cy="3840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903720" y="2651760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 Final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4320" y="4462272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Mg. Sergio Alejandro Burbano Mena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74320" y="4745736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Software  |  7mo Semestre  |  Ing. Software  |  Universitaria de Colombia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2035"/>
          </a:solidFill>
          <a:ln w="12700">
            <a:solidFill>
              <a:srgbClr val="15203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— Sesión 14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de Problemas DP + Terminología Consolidada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4297680" cy="1097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54864" cy="10972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3327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28930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 5 pasos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1600200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sistemático para atacar cualquier problema DP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28600" y="2212848"/>
            <a:ext cx="4297680" cy="1097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28600" y="2212848"/>
            <a:ext cx="54864" cy="10972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2860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" y="254203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1: Ruta en Grilla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" y="285292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Caminos mínimos en matrices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28600" y="3465576"/>
            <a:ext cx="4297680" cy="1097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28600" y="3465576"/>
            <a:ext cx="54864" cy="10972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5387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5760" y="379476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2: Subset Sum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65760" y="4105656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Particionamiento y selección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09160" y="960120"/>
            <a:ext cx="4297680" cy="1097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09160" y="960120"/>
            <a:ext cx="54864" cy="10972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0" y="103327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46320" y="128930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3: Rod Cutting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46320" y="1600200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Maximización de valor al cortar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09160" y="2212848"/>
            <a:ext cx="4297680" cy="1097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09160" y="2212848"/>
            <a:ext cx="54864" cy="10972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46320" y="22860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46320" y="254203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Terminología S11-S14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846320" y="285292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 completo del curso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09160" y="3465576"/>
            <a:ext cx="4297680" cy="1097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709160" y="3465576"/>
            <a:ext cx="54864" cy="10972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46320" y="35387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46320" y="379476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 final + Ejercicio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846320" y="4105656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de las 4 sesiones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y Terminología | Sesión 14 | Universitaria de Colombia | 2 / 32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8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74520"/>
            <a:ext cx="9144000" cy="1389888"/>
          </a:xfrm>
          <a:prstGeom prst="rect">
            <a:avLst/>
          </a:prstGeom>
          <a:solidFill>
            <a:srgbClr val="152035"/>
          </a:solidFill>
          <a:ln w="12700">
            <a:solidFill>
              <a:srgbClr val="1520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874520"/>
            <a:ext cx="73152" cy="138988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938528"/>
            <a:ext cx="8229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 de Resolución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estructurado para atacar problemas de DP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2035"/>
          </a:solidFill>
          <a:ln w="12700">
            <a:solidFill>
              <a:srgbClr val="15203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5 Pasos para Resolver Cualquier Problema DP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proceso sistemático que funciona para el 90% de los casos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1627632" cy="3520440"/>
          </a:xfrm>
          <a:prstGeom prst="rect">
            <a:avLst/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1627632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051560"/>
            <a:ext cx="411480" cy="4114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051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01752" y="155448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01752" y="2057400"/>
            <a:ext cx="1481328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 3 veces. Identifica qué se optimiza, restricciones. Escribe 2-3 ejemplos a mano.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874520" y="251460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002536" y="960120"/>
            <a:ext cx="1627632" cy="3520440"/>
          </a:xfrm>
          <a:prstGeom prst="rect">
            <a:avLst/>
          </a:prstGeom>
          <a:solidFill>
            <a:srgbClr val="FFFFFF"/>
          </a:solidFill>
          <a:ln w="17780">
            <a:solidFill>
              <a:srgbClr val="1D4ED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02536" y="960120"/>
            <a:ext cx="1627632" cy="457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39696" y="1051560"/>
            <a:ext cx="411480" cy="41148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39696" y="1051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075688" y="155448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Subestructura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075688" y="2057400"/>
            <a:ext cx="1481328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¿Aplica DP? ¿Hay subestructura óptima y subproblemas solapados?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48456" y="251460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3776472" y="960120"/>
            <a:ext cx="1627632" cy="3520440"/>
          </a:xfrm>
          <a:prstGeom prst="rect">
            <a:avLst/>
          </a:prstGeom>
          <a:solidFill>
            <a:srgbClr val="FFFFFF"/>
          </a:solidFill>
          <a:ln w="17780">
            <a:solidFill>
              <a:srgbClr val="0891B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76472" y="960120"/>
            <a:ext cx="1627632" cy="457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13632" y="1051560"/>
            <a:ext cx="411480" cy="41148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13632" y="1051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849624" y="155448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Recurrencia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849624" y="2057400"/>
            <a:ext cx="1481328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dp[i] (o dp[i][j]) con palabras. Escribe la fórmula que lo relaciona con subproblemas.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22392" y="251460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550408" y="960120"/>
            <a:ext cx="1627632" cy="3520440"/>
          </a:xfrm>
          <a:prstGeom prst="rect">
            <a:avLst/>
          </a:prstGeom>
          <a:solidFill>
            <a:srgbClr val="FFFFFF"/>
          </a:solidFill>
          <a:ln w="17780">
            <a:solidFill>
              <a:srgbClr val="7C3AE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550408" y="960120"/>
            <a:ext cx="1627632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87568" y="1051560"/>
            <a:ext cx="411480" cy="4114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87568" y="1051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623560" y="155448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5623560" y="2057400"/>
            <a:ext cx="1481328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Empieza con memoización (más fácil). Verifica casos base. Traza a mano.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196328" y="251460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7324344" y="960120"/>
            <a:ext cx="1627632" cy="3520440"/>
          </a:xfrm>
          <a:prstGeom prst="rect">
            <a:avLst/>
          </a:prstGeom>
          <a:solidFill>
            <a:srgbClr val="FFFFFF"/>
          </a:solidFill>
          <a:ln w="17780">
            <a:solidFill>
              <a:srgbClr val="059669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324344" y="960120"/>
            <a:ext cx="1627632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461504" y="1051560"/>
            <a:ext cx="411480" cy="41148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61504" y="1051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7397496" y="155448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Optimizar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7397496" y="2057400"/>
            <a:ext cx="1481328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es necesario: tabulación para evitar stack overflow, reducir espacio a O(1).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28600" y="4617720"/>
            <a:ext cx="8686800" cy="411480"/>
          </a:xfrm>
          <a:prstGeom prst="rect">
            <a:avLst/>
          </a:prstGeom>
          <a:solidFill>
            <a:srgbClr val="DBEAFE"/>
          </a:solidFill>
          <a:ln w="16510">
            <a:solidFill>
              <a:srgbClr val="2563EB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228600" y="4617720"/>
            <a:ext cx="45720" cy="4114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4709160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de oro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65760" y="5038344"/>
            <a:ext cx="8485632" cy="-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paso 2 o 3 fallan, DP no es la técnica adecuada. Considera backtracking o greedy.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y Terminología | Sesión 14 | Universitaria de Colombia | 4 / 32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2035"/>
          </a:solidFill>
          <a:ln w="12700">
            <a:solidFill>
              <a:srgbClr val="15203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Patrones Comunes en Problemas DP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el patrón = la mitad del problema resuelto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2743200" cy="173736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274320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8328" y="1051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Fibonacci-like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328" y="1380744"/>
            <a:ext cx="2560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dp[i] = f(dp[i-1], dp[i-2], ...) — dependencia lineal simple. Ej: subir escaleras, sucesiones.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136392" y="960120"/>
            <a:ext cx="2743200" cy="1737360"/>
          </a:xfrm>
          <a:prstGeom prst="rect">
            <a:avLst/>
          </a:prstGeom>
          <a:solidFill>
            <a:srgbClr val="FFFFFF"/>
          </a:solidFill>
          <a:ln w="15240">
            <a:solidFill>
              <a:srgbClr val="1D4ED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36392" y="960120"/>
            <a:ext cx="2743200" cy="457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6120" y="1051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0/1 Choice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46120" y="1380744"/>
            <a:ext cx="2560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dp[i] depende de 'incluir o no' el elemento i. Ej: Knapsack, Subset Sum, House Robber.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44184" y="960120"/>
            <a:ext cx="2743200" cy="1737360"/>
          </a:xfrm>
          <a:prstGeom prst="rect">
            <a:avLst/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44184" y="960120"/>
            <a:ext cx="2743200" cy="457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53912" y="1051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Grid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53912" y="1380744"/>
            <a:ext cx="2560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dp[i][j] basado en dp[i-1][j], dp[i][j-1]. Ej: rutas en matriz, LCS, Edit Distance.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28600" y="2880360"/>
            <a:ext cx="2743200" cy="17373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28600" y="2880360"/>
            <a:ext cx="274320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8328" y="2971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Intervalo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38328" y="3300984"/>
            <a:ext cx="2560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dp[i][j] = solución para subarray [i..j]. Ej: Matrix Chain, Palindrome Partitioning.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136392" y="2880360"/>
            <a:ext cx="2743200" cy="1737360"/>
          </a:xfrm>
          <a:prstGeom prst="rect">
            <a:avLst/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136392" y="2880360"/>
            <a:ext cx="2743200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46120" y="2971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+ Decisión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246120" y="3300984"/>
            <a:ext cx="2560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actual + acción → nuevo estado. Ej: Stock trading, juegos por turnos.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044184" y="2880360"/>
            <a:ext cx="2743200" cy="1737360"/>
          </a:xfrm>
          <a:prstGeom prst="rect">
            <a:avLst/>
          </a:prstGeom>
          <a:solidFill>
            <a:srgbClr val="FFFFFF"/>
          </a:solidFill>
          <a:ln w="15240">
            <a:solidFill>
              <a:srgbClr val="15803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044184" y="2880360"/>
            <a:ext cx="2743200" cy="4572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53912" y="2971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Dígito/Bits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153912" y="3300984"/>
            <a:ext cx="2560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 sobre dígitos o máscaras de bits. Ej: Digit DP, TSP con bitmask.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y Terminología | Sesión 14 | Universitaria de Colombia | 5 / 32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8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74520"/>
            <a:ext cx="9144000" cy="1389888"/>
          </a:xfrm>
          <a:prstGeom prst="rect">
            <a:avLst/>
          </a:prstGeom>
          <a:solidFill>
            <a:srgbClr val="152035"/>
          </a:solidFill>
          <a:ln w="12700">
            <a:solidFill>
              <a:srgbClr val="1520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874520"/>
            <a:ext cx="73152" cy="138988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938528"/>
            <a:ext cx="8229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1 — Ruta en Grilla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Encontrar el camino de costo mínimo en una matriz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2035"/>
          </a:solidFill>
          <a:ln w="12700">
            <a:solidFill>
              <a:srgbClr val="15203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1 — Ruta de Costo Mínimo en Grilla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del patrón '2D Grid'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8686800" cy="658368"/>
          </a:xfrm>
          <a:prstGeom prst="rect">
            <a:avLst/>
          </a:prstGeom>
          <a:solidFill>
            <a:srgbClr val="DBEAFE"/>
          </a:solidFill>
          <a:ln w="16510">
            <a:solidFill>
              <a:srgbClr val="1D4ED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45720" cy="6583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51560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Enunciado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380744"/>
            <a:ext cx="84856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Dada una matriz m×n con costos positivos, encuentra el camino de (0,0) a (m-1,n-1) con costo mínimo. Solo puedes moverte DERECHA o ABAJO. Retorna el costo total.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28600" y="1737360"/>
            <a:ext cx="8686800" cy="1993392"/>
          </a:xfrm>
          <a:prstGeom prst="rect">
            <a:avLst/>
          </a:prstGeom>
          <a:solidFill>
            <a:srgbClr val="040810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28600" y="1737360"/>
            <a:ext cx="36576" cy="199339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1828800"/>
            <a:ext cx="8549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Ejemplo de matriz de entrada: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grid = [[1, 3, 1],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      [1, 5, 1],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      [4, 2, 1]]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Caminos posibles de (0,0) → (2,2):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Ruta 1: 1→3→1→1→1 = 7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Ruta 2: 1→1→5→1→1 = 9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Ruta 3: 1→1→4→2→1 = 9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Ruta 4: 1→3→1→2→1 = 8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Ruta 5: 1→1→5→2→1 = 10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Respuesta óptima: 1→3→1→1→1 = 7 (Ruta 1)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28600" y="3858768"/>
            <a:ext cx="8686800" cy="1115568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8600" y="3858768"/>
            <a:ext cx="45720" cy="11155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950208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los 5 pasos de la metodología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" y="397764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Entender: minimizar costo | 2) DP: sí hay subestructura | 3) Recurrencia: dp[i][j]=grid[i][j]+min(dp[i-1][j],dp[i][j-1]) | 4) Casos base: primera fila y columna acumulan | 5) Optimizable a O(n) espacio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y Terminología | Sesión 14 | Universitaria de Colombia | 7 / 32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2035"/>
          </a:solidFill>
          <a:ln w="12700">
            <a:solidFill>
              <a:srgbClr val="15203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1 — Solución Completa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paso a paso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8686800" cy="3794760"/>
          </a:xfrm>
          <a:prstGeom prst="rect">
            <a:avLst/>
          </a:prstGeom>
          <a:solidFill>
            <a:srgbClr val="040810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36576" cy="379476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051560"/>
            <a:ext cx="854964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ruta_minima_grilla.py — Min Path Sum en grilla m×n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min_path_sum(grid: list) -&gt; int: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dp[i][j] = costo mínimo para llegar a (i,j) desde (0,0).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Recurrencia: dp[i][j] = grid[i][j] + min(dp[i-1][j], dp[i][j-1])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m, n = len(grid), len(grid[0])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 = [[0]*n for _ in range(m)]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Caso base: esquina (0,0)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dp[0][0] = grid[0][0]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Primera fila: solo se puede venir por la izquierda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range(1, n):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dp[0][j] = dp[0][j-1] + grid[0][j]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Primera columna: solo se puede venir por arriba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range(1, m):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dp[i][0] = dp[i-1][0] + grid[i][0]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Rellenar el resto de la tabla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range(1, m):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 in range(1, n):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dp[i][j] = grid[i][j] + min(dp[i-1][j], dp[i][j-1])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dp[m-1][n-1]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Uso: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grid = [[1,3,1],[1,5,1],[4,2,1]]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print(min_path_sum(grid))  # 7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Complejidad: O(m×n) tiempo, O(m×n) espacio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Optimización: O(n) espacio reutilizando una sola fila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y Terminología | Sesión 14 | Universitaria de Colombia | 8 / 32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2035"/>
          </a:solidFill>
          <a:ln w="12700">
            <a:solidFill>
              <a:srgbClr val="15203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1 — Traza Visual de la Tabla DP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llena dp[][] paso a paso para grid=[[1,3,1],[1,5,1],[4,2,1]]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8686800" cy="502920"/>
          </a:xfrm>
          <a:prstGeom prst="rect">
            <a:avLst/>
          </a:prstGeom>
          <a:solidFill>
            <a:srgbClr val="DBEAFE"/>
          </a:solidFill>
          <a:ln w="16510">
            <a:solidFill>
              <a:srgbClr val="2563EB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45720" cy="5029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51560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inicial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380744"/>
            <a:ext cx="8485632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entrada con los costos por celda — el costo se acumula al pasar por cada celda.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de entrada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64008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9202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143000" y="1920240"/>
            <a:ext cx="64008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43000" y="19202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1828800" y="1920240"/>
            <a:ext cx="64008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28800" y="19202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2514600"/>
            <a:ext cx="64008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51460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1143000" y="2514600"/>
            <a:ext cx="64008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43000" y="251460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1828800" y="2514600"/>
            <a:ext cx="64008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28800" y="251460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57200" y="3108960"/>
            <a:ext cx="64008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31089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1143000" y="3108960"/>
            <a:ext cx="64008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43000" y="31089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1828800" y="3108960"/>
            <a:ext cx="64008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28800" y="31089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114800" y="1600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dp[][] llenada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114800" y="1920240"/>
            <a:ext cx="640080" cy="548640"/>
          </a:xfrm>
          <a:prstGeom prst="rect">
            <a:avLst/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14800" y="19202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800600" y="1920240"/>
            <a:ext cx="640080" cy="548640"/>
          </a:xfrm>
          <a:prstGeom prst="rect">
            <a:avLst/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00600" y="19202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5486400" y="1920240"/>
            <a:ext cx="640080" cy="548640"/>
          </a:xfrm>
          <a:prstGeom prst="rect">
            <a:avLst/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0" y="19202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4114800" y="2514600"/>
            <a:ext cx="640080" cy="548640"/>
          </a:xfrm>
          <a:prstGeom prst="rect">
            <a:avLst/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14800" y="251460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4800600" y="2514600"/>
            <a:ext cx="640080" cy="548640"/>
          </a:xfrm>
          <a:prstGeom prst="rect">
            <a:avLst/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00600" y="251460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5486400" y="2514600"/>
            <a:ext cx="640080" cy="548640"/>
          </a:xfrm>
          <a:prstGeom prst="rect">
            <a:avLst/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86400" y="251460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4114800" y="3108960"/>
            <a:ext cx="640080" cy="548640"/>
          </a:xfrm>
          <a:prstGeom prst="rect">
            <a:avLst/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14800" y="31089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4800600" y="3108960"/>
            <a:ext cx="640080" cy="548640"/>
          </a:xfrm>
          <a:prstGeom prst="rect">
            <a:avLst/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00600" y="31089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5486400" y="3108960"/>
            <a:ext cx="640080" cy="548640"/>
          </a:xfrm>
          <a:prstGeom prst="rect">
            <a:avLst/>
          </a:prstGeom>
          <a:solidFill>
            <a:srgbClr val="1D4ED8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486400" y="31089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228600" y="3931920"/>
            <a:ext cx="8686800" cy="1051560"/>
          </a:xfrm>
          <a:prstGeom prst="rect">
            <a:avLst/>
          </a:prstGeom>
          <a:solidFill>
            <a:srgbClr val="040810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228600" y="3931920"/>
            <a:ext cx="36576" cy="105156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0040" y="4023360"/>
            <a:ext cx="854964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Camino óptimo: (0,0)→(0,1)→(0,2)→(1,2)→(2,2)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Valores: 1 + 3 + 1 + 1 + 1 = 7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dp[2][2] = 7 ← respuesta en la celda resaltada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y Terminología | Sesión 14 | Universitaria de Colombia | 9 / 32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8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74520"/>
            <a:ext cx="9144000" cy="1389888"/>
          </a:xfrm>
          <a:prstGeom prst="rect">
            <a:avLst/>
          </a:prstGeom>
          <a:solidFill>
            <a:srgbClr val="152035"/>
          </a:solidFill>
          <a:ln w="12700">
            <a:solidFill>
              <a:srgbClr val="1520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874520"/>
            <a:ext cx="73152" cy="13898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938528"/>
            <a:ext cx="8229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2 — Subset Sum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¿Existe un subconjunto con suma exacta?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2035"/>
          </a:solidFill>
          <a:ln w="12700">
            <a:solidFill>
              <a:srgbClr val="15203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2 — Subset Sum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del patrón '0/1 Choice'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8686800" cy="658368"/>
          </a:xfrm>
          <a:prstGeom prst="rect">
            <a:avLst/>
          </a:prstGeom>
          <a:solidFill>
            <a:srgbClr val="CFFAFE"/>
          </a:solidFill>
          <a:ln w="16510">
            <a:solidFill>
              <a:srgbClr val="0891B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45720" cy="65836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51560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Enunciado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380744"/>
            <a:ext cx="84856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un conjunto de enteros positivos y una suma objetivo, determina si existe un subconjunto cuya suma sea exactamente el objetivo. Retorna True/False.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28600" y="1737360"/>
            <a:ext cx="8686800" cy="2971800"/>
          </a:xfrm>
          <a:prstGeom prst="rect">
            <a:avLst/>
          </a:prstGeom>
          <a:solidFill>
            <a:srgbClr val="040810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28600" y="1737360"/>
            <a:ext cx="36576" cy="29718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1828800"/>
            <a:ext cx="8549640" cy="2807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Ejemplo: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nums = [3, 34, 4, 12, 5, 2]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target = 9  →  ¿Existe subconjunto con suma 9?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             Sí: {4, 5} o {3, 4, 2} o {2, 3, 4}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             Retorna True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target = 30 →  ¿Existe subconjunto con suma 30?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             No, la suma máxima es 3+34+4+12+5+2 = 60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             pero no hay combinación que dé exactamente 30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             Retorna False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APLICACIÓN EN TESTING: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- Dividir 50 tests en 2 suites con tiempo similar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- Determinar si un conjunto de requisitos cumple un presupuesto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- Optimización de carga en servidores de testing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y Terminología | Sesión 14 | Universitaria de Colombia | 11 / 32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2035"/>
          </a:solidFill>
          <a:ln w="12700">
            <a:solidFill>
              <a:srgbClr val="15203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2 — Solución con DP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booleana dp[i][s]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8686800" cy="3794760"/>
          </a:xfrm>
          <a:prstGeom prst="rect">
            <a:avLst/>
          </a:prstGeom>
          <a:solidFill>
            <a:srgbClr val="040810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36576" cy="379476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051560"/>
            <a:ext cx="854964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subset_sum.py — O(n × target) tiempo y espacio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subset_sum(nums: list, target: int) -&gt; bool: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dp[i][s] = True si existe subconjunto de nums[0..i-1]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con suma exactamente 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Decisión para cada elemento: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NO incluirlo: dp[i][s] = dp[i-1][s]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SÍ incluirlo: dp[i][s] = dp[i-1][s - nums[i-1]]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 = len(nums)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 = [[False] * (target + 1) for _ in range(n + 1)]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Caso base: suma 0 siempre es alcanzable (conjunto vacío)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range(n + 1):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dp[i][0] = True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range(1, n + 1):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s in range(1, target + 1):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# Opción 1: no incluir nums[i-1]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dp[i][s] = dp[i-1][s]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# Opción 2: incluir nums[i-1] si cabe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nums[i-1] &lt;= 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dp[i][s] = dp[i][s] or dp[i-1][s - nums[i-1]]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dp[n][target]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Ejemplos: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print(subset_sum([3,34,4,12,5,2], 9))    # True (ej: 4+5)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print(subset_sum([3,34,4,12,5,2], 30))   # False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print(subset_sum([1,2,3,4,5], 7))        # True (ej: 3+4 o 2+5)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y Terminología | Sesión 14 | Universitaria de Colombia | 12 / 32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8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74520"/>
            <a:ext cx="9144000" cy="1389888"/>
          </a:xfrm>
          <a:prstGeom prst="rect">
            <a:avLst/>
          </a:prstGeom>
          <a:solidFill>
            <a:srgbClr val="152035"/>
          </a:solidFill>
          <a:ln w="12700">
            <a:solidFill>
              <a:srgbClr val="1520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874520"/>
            <a:ext cx="73152" cy="138988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938528"/>
            <a:ext cx="8229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3 — Rod Cutting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Maximizar valor al cortar una vara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2035"/>
          </a:solidFill>
          <a:ln w="12700">
            <a:solidFill>
              <a:srgbClr val="15203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3 — Rod Cutting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clásico del libro CLRS de algoritmos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8686800" cy="658368"/>
          </a:xfrm>
          <a:prstGeom prst="rect">
            <a:avLst/>
          </a:prstGeom>
          <a:solidFill>
            <a:srgbClr val="EDE9FE"/>
          </a:solidFill>
          <a:ln w="16510">
            <a:solidFill>
              <a:srgbClr val="7C3AE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45720" cy="6583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51560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Enunciado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380744"/>
            <a:ext cx="84856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Dada una vara de longitud n y una tabla de precios por longitud, encuentra la forma de cortarla que maximiza el ingreso total. Los cortes son gratis.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28600" y="1737360"/>
            <a:ext cx="8686800" cy="2971800"/>
          </a:xfrm>
          <a:prstGeom prst="rect">
            <a:avLst/>
          </a:prstGeom>
          <a:solidFill>
            <a:srgbClr val="040810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28600" y="1737360"/>
            <a:ext cx="36576" cy="2971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1828800"/>
            <a:ext cx="8549640" cy="2807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Tabla de precios típica: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longitud:  1   2   3   4   5   6   7   8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precio:    1   5   8   9  10  17  17  20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Para una vara de longitud 8: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Opción A: sin cortar         → precio = 20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Opción B: 1 + 7              → 1 + 17 = 18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Opción C: 2 + 6              → 5 + 17 = 22  ← MEJOR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Opción D: 3 + 5              → 8 + 10 = 18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Opción E: 2 + 2 + 2 + 2      → 5+5+5+5 = 20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Opción F: 2 + 3 + 3          → 5 + 8 + 8 = 21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Respuesta óptima para n=8:  22 (cortando en 2 + 6)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Respuesta para n=4:          10 (cortando en 2 + 2)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y Terminología | Sesión 14 | Universitaria de Colombia | 14 / 32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2035"/>
          </a:solidFill>
          <a:ln w="12700">
            <a:solidFill>
              <a:srgbClr val="15203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3 — Solución Recursiva + DP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Comparando naive vs memoización vs tabulación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8686800" cy="3794760"/>
          </a:xfrm>
          <a:prstGeom prst="rect">
            <a:avLst/>
          </a:prstGeom>
          <a:solidFill>
            <a:srgbClr val="040810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36576" cy="37947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051560"/>
            <a:ext cx="854964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rod_cutting.py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Enfoque 1: Recursivo naive — O(2^n)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rod_cut_naive(precios, n):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 == 0: return 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max_val = 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range(1, n+1):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max_val = max(max_val, precios[i-1] + rod_cut_naive(precios, n-i))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max_val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Enfoque 2: Tabulación — O(n²)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rod_cut_dp(precios, n):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dp[i] = máximo valor para vara de longitud i.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Recurrencia: dp[i] = max(precios[j] + dp[i-j-1]) para j=0..i-1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 = [0] * (n + 1)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longitud in range(1, n + 1):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max_val = 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corte in range(1, longitud + 1):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corte &lt;= len(precios):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max_val = max(max_val, precios[corte-1] + dp[longitud - corte])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dp[longitud] = max_val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dp[n]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Ejemplo: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precios = [1, 5, 8, 9, 10, 17, 17, 20]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print(rod_cut_dp(precios, 8))  # 22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print(rod_cut_dp(precios, 4))  # 10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y Terminología | Sesión 14 | Universitaria de Colombia | 15 / 32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18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74520"/>
            <a:ext cx="9144000" cy="1389888"/>
          </a:xfrm>
          <a:prstGeom prst="rect">
            <a:avLst/>
          </a:prstGeom>
          <a:solidFill>
            <a:srgbClr val="152035"/>
          </a:solidFill>
          <a:ln w="12700">
            <a:solidFill>
              <a:srgbClr val="1520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874520"/>
            <a:ext cx="73152" cy="13898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938528"/>
            <a:ext cx="8229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Terminología del Curso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 consolidado de las Sesiones 11-14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2035"/>
          </a:solidFill>
          <a:ln w="12700">
            <a:solidFill>
              <a:srgbClr val="15203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Terminología — Exploratory Testing (Sesión 11)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conceptos clave del testing exploratorio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4206240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45720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14984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Testing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65760" y="1280160"/>
            <a:ext cx="3977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Enfoque de pruebas donde el tester diseña, ejecuta y aprende simultáneamente.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90872" y="960120"/>
            <a:ext cx="4206240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90872" y="960120"/>
            <a:ext cx="45720" cy="84124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28032" y="1014984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Charter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828032" y="1280160"/>
            <a:ext cx="3977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Enunciado corto de una misión de exploración: Explorar + Con + Para descubrir.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28600" y="1920240"/>
            <a:ext cx="4206240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28600" y="1920240"/>
            <a:ext cx="45720" cy="84124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975104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SBTM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65760" y="2240280"/>
            <a:ext cx="3977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Session-Based Test Management. Framework para gestionar sesiones exploratorias.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690872" y="1920240"/>
            <a:ext cx="4206240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90872" y="1920240"/>
            <a:ext cx="45720" cy="8412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28032" y="1975104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HICCUPPS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828032" y="2240280"/>
            <a:ext cx="3977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Oráculo heurístico: History, Image, Comparable, Claims, User, Product, Purpose, Statutes.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28600" y="2880360"/>
            <a:ext cx="4206240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28600" y="2880360"/>
            <a:ext cx="45720" cy="8412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2935224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Debriefing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65760" y="3200400"/>
            <a:ext cx="3977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Reunión corta (15 min) al final de una sesión para compartir hallazgos.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690872" y="2880360"/>
            <a:ext cx="4206240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90872" y="2880360"/>
            <a:ext cx="45720" cy="84124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28032" y="2935224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Bash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828032" y="3200400"/>
            <a:ext cx="3977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 grupal donde el equipo completo explora simultáneamente antes de un release.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228600" y="3840480"/>
            <a:ext cx="4206240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28600" y="3840480"/>
            <a:ext cx="45720" cy="84124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3895344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Testing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365760" y="4160520"/>
            <a:ext cx="3977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testers: Driver (ejecuta) + Navigator (observa, sugiere, documenta).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690872" y="3840480"/>
            <a:ext cx="4206240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690872" y="3840480"/>
            <a:ext cx="45720" cy="8412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28032" y="3895344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Bug:Sesión Ratio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4828032" y="4160520"/>
            <a:ext cx="3977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 de bugs encontrados / número de sesiones. &gt; 3 indica área problemática.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y Terminología | Sesión 14 | Universitaria de Colombia | 17 / 32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2035"/>
          </a:solidFill>
          <a:ln w="12700">
            <a:solidFill>
              <a:srgbClr val="15203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Terminología — Testing Dinámico (Sesión 12)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conceptos de la programación de pruebas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4206240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45720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14984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Dinámico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65760" y="1280160"/>
            <a:ext cx="3977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ejecutando el software, vs estático (sin ejecutar).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90872" y="960120"/>
            <a:ext cx="4206240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90872" y="960120"/>
            <a:ext cx="45720" cy="84124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28032" y="1014984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Coverage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828032" y="1280160"/>
            <a:ext cx="3977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 ramas if/else ejecutadas durante las pruebas.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28600" y="1920240"/>
            <a:ext cx="4206240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28600" y="1920240"/>
            <a:ext cx="45720" cy="84124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975104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MC/DC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65760" y="2240280"/>
            <a:ext cx="3977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Condition/Decision Coverage. Estándar en aviación.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690872" y="1920240"/>
            <a:ext cx="4206240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90872" y="1920240"/>
            <a:ext cx="45720" cy="8412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28032" y="1975104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 Testing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828032" y="2240280"/>
            <a:ext cx="3977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Generar mutantes del código para evaluar calidad de los tests.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28600" y="2880360"/>
            <a:ext cx="4206240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28600" y="2880360"/>
            <a:ext cx="45720" cy="8412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2935224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 Score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65760" y="3200400"/>
            <a:ext cx="3977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Mutantes matados / total mutantes. Meta &gt; 80%.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690872" y="2880360"/>
            <a:ext cx="4206240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90872" y="2880360"/>
            <a:ext cx="45720" cy="84124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28032" y="2935224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Property-Based Testing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828032" y="3200400"/>
            <a:ext cx="3977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propiedades, no ejemplos. Hypothesis genera casos automáticamente.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228600" y="3840480"/>
            <a:ext cx="4206240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28600" y="3840480"/>
            <a:ext cx="45720" cy="84124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3895344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Fuzzing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365760" y="4160520"/>
            <a:ext cx="3977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Enviar inputs aleatorios/semi-aleatorios para provocar crashes.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690872" y="3840480"/>
            <a:ext cx="4206240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690872" y="3840480"/>
            <a:ext cx="45720" cy="8412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28032" y="3895344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Shrinking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4828032" y="4160520"/>
            <a:ext cx="3977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reduce contraejemplos al caso mínimo reproducible.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y Terminología | Sesión 14 | Universitaria de Colombia | 18 / 32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2035"/>
          </a:solidFill>
          <a:ln w="12700">
            <a:solidFill>
              <a:srgbClr val="15203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Terminología — Programación Dinámica (Sesión 13-14)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conceptos del diseño de algoritmos DP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4206240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45720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14984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Subestructura óptima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65760" y="1280160"/>
            <a:ext cx="3977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óptima se construye de subsoluciones óptimas.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90872" y="960120"/>
            <a:ext cx="4206240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90872" y="960120"/>
            <a:ext cx="45720" cy="84124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28032" y="1014984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Subproblemas solapados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828032" y="1280160"/>
            <a:ext cx="3977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mismos subproblemas aparecen varias veces en la recursión.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28600" y="1920240"/>
            <a:ext cx="4206240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28600" y="1920240"/>
            <a:ext cx="45720" cy="84124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975104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Memoización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65760" y="2240280"/>
            <a:ext cx="3977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Top-down: recursión con caché. @lru_cache en Python.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690872" y="1920240"/>
            <a:ext cx="4206240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90872" y="1920240"/>
            <a:ext cx="45720" cy="8412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28032" y="1975104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Tabulación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828032" y="2240280"/>
            <a:ext cx="3977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Bottom-up: llenar una tabla iterativamente desde los casos base.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28600" y="2880360"/>
            <a:ext cx="4206240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28600" y="2880360"/>
            <a:ext cx="45720" cy="8412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2935224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Recurrencia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65760" y="3200400"/>
            <a:ext cx="3977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matemática que relaciona dp[i] con dp[i-1], dp[i-2], etc.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690872" y="2880360"/>
            <a:ext cx="4206240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90872" y="2880360"/>
            <a:ext cx="45720" cy="84124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28032" y="2935224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base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828032" y="3200400"/>
            <a:ext cx="3977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iniciales de la tabla DP (dp[0], dp[1]).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228600" y="3840480"/>
            <a:ext cx="4206240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28600" y="3840480"/>
            <a:ext cx="45720" cy="84124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3895344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LCS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365760" y="4160520"/>
            <a:ext cx="3977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Longest Common Subsequence. Base del diff de Git.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690872" y="3840480"/>
            <a:ext cx="4206240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690872" y="3840480"/>
            <a:ext cx="45720" cy="8412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28032" y="3895344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Knapsack 0/1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4828032" y="4160520"/>
            <a:ext cx="3977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de la mochila: incluir o no incluir cada ítem.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y Terminología | Sesión 14 | Universitaria de Colombia | 19 / 32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18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74520"/>
            <a:ext cx="9144000" cy="1389888"/>
          </a:xfrm>
          <a:prstGeom prst="rect">
            <a:avLst/>
          </a:prstGeom>
          <a:solidFill>
            <a:srgbClr val="152035"/>
          </a:solidFill>
          <a:ln w="12700">
            <a:solidFill>
              <a:srgbClr val="1520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874520"/>
            <a:ext cx="73152" cy="138988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938528"/>
            <a:ext cx="8229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 Reales Integradores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casos que conectan ET, Testing Dinámico y DP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2035"/>
          </a:solidFill>
          <a:ln w="12700">
            <a:solidFill>
              <a:srgbClr val="15203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Real 1 — Selección de Tests con DP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Combinando Knapsack con métricas de Mutation Testing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8686800" cy="3200400"/>
          </a:xfrm>
          <a:prstGeom prst="rect">
            <a:avLst/>
          </a:prstGeom>
          <a:solidFill>
            <a:srgbClr val="040810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36576" cy="32004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051560"/>
            <a:ext cx="8549640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Caso real: Pipeline CI con 15 min de presupuesto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Cada test tiene una métrica de VALOR: cobertura × mutation_score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tests = [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(nombre, tiempo_min, cobertura, mutation_score, valor)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('test_auth',      2, 0.95, 0.88, 83.6),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('test_pagos',     5, 0.90, 0.92, 82.8),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('test_reportes',  4, 0.80, 0.75, 60.0),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('test_api',       3, 0.85, 0.80, 68.0),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('test_ui_e2e',    7, 0.70, 0.65, 45.5),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('test_carga',     6, 0.60, 0.55, 33.0),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Aplicar 0/1 Knapsack para maximizar VALOR con presupuesto=15 min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seleccionar_optimo(tests, presupuesto):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 = len(tests)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 = [[0]*(presupuesto+1) for _ in range(n+1)]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range(1, n+1):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_, tiempo, _, _, valor = tests[i-1]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t in range(presupuesto+1):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dp[i][t] = dp[i-1][t]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tiempo &lt;= t: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dp[i][t] = max(dp[i][t], dp[i-1][t-tiempo] + valor)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dp[n][presupuesto]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print(seleccionar_optimo(tests, 15))  # 294.4 (auth+pagos+api+reportes: 14min)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28600" y="4297680"/>
            <a:ext cx="8686800" cy="658368"/>
          </a:xfrm>
          <a:prstGeom prst="rect">
            <a:avLst/>
          </a:prstGeom>
          <a:solidFill>
            <a:srgbClr val="DBEAFE"/>
          </a:solidFill>
          <a:ln w="16510">
            <a:solidFill>
              <a:srgbClr val="2563EB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" y="4297680"/>
            <a:ext cx="45720" cy="6583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4389120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Conexión con S11-S12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4718304"/>
            <a:ext cx="84856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valores de cobertura vienen de pytest-cov (S12). El mutation_score viene de mutmut (S12). La métrica combinada se optimiza con DP (S13).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y Terminología | Sesión 14 | Universitaria de Colombia | 21 / 32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2035"/>
          </a:solidFill>
          <a:ln w="12700">
            <a:solidFill>
              <a:srgbClr val="15203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Real 2 — Detección de Regresiones con LCS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secuencias de logs entre versiones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8686800" cy="3200400"/>
          </a:xfrm>
          <a:prstGeom prst="rect">
            <a:avLst/>
          </a:prstGeom>
          <a:solidFill>
            <a:srgbClr val="040810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36576" cy="32004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051560"/>
            <a:ext cx="8549640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Caso real: detectar si un error NUEVO aparece entre versiones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detectar_regresion(logs_v1: list, logs_v2: list) -&gt; dict: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Usa LCS para identificar errores NUEVOS en v2 que no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existían en v1 (son potenciales regresiones).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m, n = len(logs_v1), len(logs_v2)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LCS tabla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 = [[0]*(n+1) for _ in range(m+1)]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range(1, m+1):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 in range(1, n+1):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logs_v1[i-1] == logs_v2[j-1]: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dp[i][j] = dp[i-1][j-1] + 1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else: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dp[i][j] = max(dp[i-1][j], dp[i][j-1])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Logs comunes = LCS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comunes = dp[m][n]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errores_nuevos = [l for l in logs_v2 if l not in logs_v1 and 'ERROR' in l]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'similitud': comunes / max(m, n),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'errores_nuevos': errores_nuevos,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'es_regresion': len(errores_nuevos) &gt; 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28600" y="4297680"/>
            <a:ext cx="8686800" cy="658368"/>
          </a:xfrm>
          <a:prstGeom prst="rect">
            <a:avLst/>
          </a:prstGeom>
          <a:solidFill>
            <a:srgbClr val="CFFAFE"/>
          </a:solidFill>
          <a:ln w="16510">
            <a:solidFill>
              <a:srgbClr val="0891B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" y="4297680"/>
            <a:ext cx="45720" cy="65836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4389120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práctica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4718304"/>
            <a:ext cx="84856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sistema en producción genera logs. Al desplegar v2, aplicamos LCS contra v1: si hay errores NUEVOS, alerta automática a DevOps.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y Terminología | Sesión 14 | Universitaria de Colombia | 22 / 32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2035"/>
          </a:solidFill>
          <a:ln w="12700">
            <a:solidFill>
              <a:srgbClr val="15203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Real 3 — Edit Distance para Fuzzy Matching de Bugs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Detectar reportes de bugs duplicados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8686800" cy="3200400"/>
          </a:xfrm>
          <a:prstGeom prst="rect">
            <a:avLst/>
          </a:prstGeom>
          <a:solidFill>
            <a:srgbClr val="040810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36576" cy="32004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051560"/>
            <a:ext cx="8549640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Caso real: identificar bugs duplicados en Jira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son_bugs_similares(titulo1: str, titulo2: str, umbral: float = 0.7) -&gt; bool: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Usa Edit Distance (Levenshtein) para detectar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reportes de bugs potencialmente duplicados.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edit_dist(s1, s2):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m, n = len(s1), len(s2)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dp = [[0]*(n+1) for _ in range(m+1)]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i in range(m+1): dp[i][0] = i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 in range(n+1): dp[0][j] = j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i in range(1, m+1):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for j in range(1, n+1):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if s1[i-1] == s2[j-1]: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dp[i][j] = dp[i-1][j-1]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else: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dp[i][j] = 1 + min(dp[i-1][j], dp[i][j-1], dp[i-1][j-1])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dp[m][n]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t1, t2 = titulo1.lower(), titulo2.lower()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distancia = edit_dist(t1, t2)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similitud = 1 - distancia / max(len(t1), len(t2))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similitud &gt;= umbral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Casos: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son_bugs_similares('Error al iniciar sesión', 'Error en login')  # similitud ~0.5 → False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son_bugs_similares('Error 500 en /api/users', 'Error 500 en /api/user')  # ~0.96 → True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28600" y="4297680"/>
            <a:ext cx="8686800" cy="658368"/>
          </a:xfrm>
          <a:prstGeom prst="rect">
            <a:avLst/>
          </a:prstGeom>
          <a:solidFill>
            <a:srgbClr val="EDE9FE"/>
          </a:solidFill>
          <a:ln w="16510">
            <a:solidFill>
              <a:srgbClr val="7C3AE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" y="4297680"/>
            <a:ext cx="45720" cy="6583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4389120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en el proceso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4718304"/>
            <a:ext cx="84856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Ahorra horas de revisión manual en bug bashes (S11). Agrupa reportes similares automáticamente antes de que lleguen a desarrollo.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y Terminología | Sesión 14 | Universitaria de Colombia | 23 / 32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2035"/>
          </a:solidFill>
          <a:ln w="12700">
            <a:solidFill>
              <a:srgbClr val="15203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Real 4 — Memoización en Tests Costosos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recomputar fixtures caros en pytest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8686800" cy="3200400"/>
          </a:xfrm>
          <a:prstGeom prst="rect">
            <a:avLst/>
          </a:prstGeom>
          <a:solidFill>
            <a:srgbClr val="040810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36576" cy="32004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051560"/>
            <a:ext cx="8549640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Caso real: fixture que consulta la BD toma 2 seg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pytest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functools import lru_cache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❌ SIN memoización: cada test ejecuta la query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@pytest.fixture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datos_estudiantes():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db.query('SELECT * FROM estudiantes')   # 2 seg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✅ CON memoización: solo 1 query para todos los tests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@lru_cache(maxsize=None)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_cache_estudiantes():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db.query('SELECT * FROM estudiantes')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@pytest.fixture(scope='session')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datos_estudiantes_cached():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_cache_estudiantes()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Con 100 tests: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Sin cache: 100 × 2s = 200 segundos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Con cache: 1 × 2s  = 2 segundos (100× más rápido)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Property-based testing + memoización: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hypothesis import given, strategies as st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@given(st.integers(min_value=0, max_value=len(_cache_estudiantes())-1))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test_propiedad_estudiantes_validos(idx):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"""PROPIEDAD: todo estudiante en BD tiene email válido"""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est = _cache_estudiantes()[idx]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'@' in est['email']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28600" y="4297680"/>
            <a:ext cx="8686800" cy="658368"/>
          </a:xfrm>
          <a:prstGeom prst="rect">
            <a:avLst/>
          </a:prstGeom>
          <a:solidFill>
            <a:srgbClr val="DCFCE7"/>
          </a:solidFill>
          <a:ln w="16510">
            <a:solidFill>
              <a:srgbClr val="15803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" y="4297680"/>
            <a:ext cx="45720" cy="65836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4389120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 del curso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4718304"/>
            <a:ext cx="84856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ejemplo combina: fixtures de pytest (S12), PBT con Hypothesis (S12) y memoización DP (S13-S14). La integración real de las técnicas.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y Terminología | Sesión 14 | Universitaria de Colombia | 24 / 32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E18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74520"/>
            <a:ext cx="9144000" cy="1389888"/>
          </a:xfrm>
          <a:prstGeom prst="rect">
            <a:avLst/>
          </a:prstGeom>
          <a:solidFill>
            <a:srgbClr val="152035"/>
          </a:solidFill>
          <a:ln w="12700">
            <a:solidFill>
              <a:srgbClr val="1520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874520"/>
            <a:ext cx="73152" cy="138988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938528"/>
            <a:ext cx="8229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Prácticas y Errores Comunes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Consolidación del curso completo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2035"/>
          </a:solidFill>
          <a:ln w="12700">
            <a:solidFill>
              <a:srgbClr val="15203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Prácticas — Integración S11-S14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para aplicar en proyectos reales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2743200" cy="173736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274320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8328" y="1051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+ Automación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328" y="1380744"/>
            <a:ext cx="2560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complementa los tests automatizados, no los reemplaza. 80% automatizado + 20% exploratorio.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136392" y="960120"/>
            <a:ext cx="2743200" cy="1737360"/>
          </a:xfrm>
          <a:prstGeom prst="rect">
            <a:avLst/>
          </a:prstGeom>
          <a:solidFill>
            <a:srgbClr val="FFFFFF"/>
          </a:solidFill>
          <a:ln w="15240">
            <a:solidFill>
              <a:srgbClr val="1D4ED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36392" y="960120"/>
            <a:ext cx="2743200" cy="457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6120" y="1051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coverage &gt; 80%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46120" y="1380744"/>
            <a:ext cx="2560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mínima en módulos de lógica de negocio. Usar pytest-cov con --cov-branch.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44184" y="960120"/>
            <a:ext cx="2743200" cy="1737360"/>
          </a:xfrm>
          <a:prstGeom prst="rect">
            <a:avLst/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44184" y="960120"/>
            <a:ext cx="2743200" cy="457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53912" y="1051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 en CI nocturno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53912" y="1380744"/>
            <a:ext cx="2560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en cada commit (es lento), sino en pipelines nocturnos. Alertar si score &lt; 80%.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28600" y="2880360"/>
            <a:ext cx="2743200" cy="17373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28600" y="2880360"/>
            <a:ext cx="274320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8328" y="2971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PBT para invariantes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38328" y="3300984"/>
            <a:ext cx="2560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Hypothesis para propiedades estables del dominio (ordenación, reversibilidad).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136392" y="2880360"/>
            <a:ext cx="2743200" cy="1737360"/>
          </a:xfrm>
          <a:prstGeom prst="rect">
            <a:avLst/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136392" y="2880360"/>
            <a:ext cx="2743200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46120" y="2971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 en selección de tests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246120" y="3300984"/>
            <a:ext cx="2560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Knapsack para elegir los mejores tests dado un presupuesto limitado de tiempo.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044184" y="2880360"/>
            <a:ext cx="2743200" cy="1737360"/>
          </a:xfrm>
          <a:prstGeom prst="rect">
            <a:avLst/>
          </a:prstGeom>
          <a:solidFill>
            <a:srgbClr val="FFFFFF"/>
          </a:solidFill>
          <a:ln w="15240">
            <a:solidFill>
              <a:srgbClr val="15803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044184" y="2880360"/>
            <a:ext cx="2743200" cy="4572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53912" y="2971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Memoización de fixtures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153912" y="3300984"/>
            <a:ext cx="2560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recomputar fixtures costosos con @lru_cache o scope='session'.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y Terminología | Sesión 14 | Universitaria de Colombia | 26 / 32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2035"/>
          </a:solidFill>
          <a:ln w="12700">
            <a:solidFill>
              <a:srgbClr val="15203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Comunes — Integración S11-S14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errores más costosos en proyectos reales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4206240" cy="1115568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45720" cy="11155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14984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123444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ET sin scripted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149047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automatización, la regresión se vuelve impagable con cada nuevo feature.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2221992"/>
            <a:ext cx="4206240" cy="1115568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28600" y="2221992"/>
            <a:ext cx="45720" cy="11155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276856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" y="249631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como único KPI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2752344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coverage con assert True no vale nada. Usar mutation score como complemento.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28600" y="3483864"/>
            <a:ext cx="4206240" cy="1115568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28600" y="3483864"/>
            <a:ext cx="45720" cy="11155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538728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5760" y="3758184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sin dominio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65760" y="4014216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strategies genéricas para datos específicos reduce efectividad del PBT.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90872" y="960120"/>
            <a:ext cx="4206240" cy="1115568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90872" y="960120"/>
            <a:ext cx="45720" cy="11155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28032" y="1014984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28032" y="123444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 donde no corresponde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828032" y="149047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todo problema de optimización es DP. Verificar subestructura y solapamiento primero.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690872" y="2221992"/>
            <a:ext cx="4206240" cy="1115568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90872" y="2221992"/>
            <a:ext cx="45720" cy="111556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28032" y="2276856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28032" y="249631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integrar técnicas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828032" y="2752344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Usarlas en silos desperdicia su valor. El verdadero poder está en la combinación.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690872" y="3483864"/>
            <a:ext cx="4206240" cy="1115568"/>
          </a:xfrm>
          <a:prstGeom prst="rect">
            <a:avLst/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690872" y="3483864"/>
            <a:ext cx="45720" cy="111556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28032" y="3538728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28032" y="3758184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Olvidar el factor humano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828032" y="4014216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estas técnicas asisten al tester, no lo reemplazan. El criterio humano es irreemplazable.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y Terminología | Sesión 14 | Universitaria de Colombia | 27 / 32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8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52035"/>
          </a:solidFill>
          <a:ln w="12700">
            <a:solidFill>
              <a:srgbClr val="15203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20116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Ejercicio Integrador — Sesión 14  |  90 minutos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28600" y="960120"/>
            <a:ext cx="8686800" cy="566928"/>
          </a:xfrm>
          <a:prstGeom prst="rect">
            <a:avLst/>
          </a:prstGeom>
          <a:solidFill>
            <a:srgbClr val="152035"/>
          </a:solidFill>
          <a:ln w="16510">
            <a:solidFill>
              <a:srgbClr val="2563EB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960120"/>
            <a:ext cx="4572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051560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380744"/>
            <a:ext cx="8485632" cy="64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las 4 sesiones: ET + Testing Dinámico + DP aplicado a la gestión de tests del sistema de notas.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1664208"/>
            <a:ext cx="2743200" cy="3154680"/>
          </a:xfrm>
          <a:prstGeom prst="rect">
            <a:avLst/>
          </a:prstGeom>
          <a:solidFill>
            <a:srgbClr val="152035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" y="1664208"/>
            <a:ext cx="274320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" y="1755648"/>
            <a:ext cx="2523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8328" y="1975104"/>
            <a:ext cx="2523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+ Métricas (30 min)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8328" y="2377440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Diseña 3 charters para módulo nuevo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38328" y="2944368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Ejecuta 1 charter SBTM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38328" y="3511296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Documenta 2 bugs encontrados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38328" y="4078224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Calcula bug:sesión ratio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36392" y="1664208"/>
            <a:ext cx="2743200" cy="3154680"/>
          </a:xfrm>
          <a:prstGeom prst="rect">
            <a:avLst/>
          </a:prstGeom>
          <a:solidFill>
            <a:srgbClr val="152035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136392" y="1664208"/>
            <a:ext cx="2743200" cy="457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46120" y="1755648"/>
            <a:ext cx="2523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46120" y="1975104"/>
            <a:ext cx="2523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Dinámico (30 min)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246120" y="2377440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Implementa tests pytest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246120" y="2944368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Alcanza 100% branch coverage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246120" y="3511296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Ejecuta mutmut y alcanza &gt; 80%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246120" y="4078224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Escribe 1 propiedad Hypothesis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044184" y="1664208"/>
            <a:ext cx="2743200" cy="3154680"/>
          </a:xfrm>
          <a:prstGeom prst="rect">
            <a:avLst/>
          </a:prstGeom>
          <a:solidFill>
            <a:srgbClr val="152035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044184" y="1664208"/>
            <a:ext cx="274320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53912" y="1755648"/>
            <a:ext cx="2523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153912" y="1975104"/>
            <a:ext cx="2523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 Aplicado (30 min)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153912" y="2377440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Implementa seleccion_tests() con Knapsack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153912" y="2944368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Calcula métrica cobertura×mutation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153912" y="3511296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Selecciona tests para 20 min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153912" y="4078224"/>
            <a:ext cx="2523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Compara DP vs greedy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74320" y="4892040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Entregable: Informe técnico + código Python + reporte SBTM + tabla de selección óptima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y Terminología | Sesión 14 | Universitaria de Colombia | 28 / 32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2035"/>
          </a:solidFill>
          <a:ln w="12700">
            <a:solidFill>
              <a:srgbClr val="15203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Mental del Curso S11-S14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conectan las 4 sesiones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4206240" cy="1783080"/>
          </a:xfrm>
          <a:prstGeom prst="rect">
            <a:avLst/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420624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8328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S11: Exploratory Testing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328" y="1380744"/>
            <a:ext cx="402336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Técnicas cognitivas: charters, SBTM, HICCUPPS, pair testing.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usa para: encontrar bugs inesperados y aprender el sistema.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90872" y="960120"/>
            <a:ext cx="4206240" cy="1783080"/>
          </a:xfrm>
          <a:prstGeom prst="rect">
            <a:avLst/>
          </a:prstGeom>
          <a:solidFill>
            <a:srgbClr val="DBEAFE"/>
          </a:solidFill>
          <a:ln w="15240">
            <a:solidFill>
              <a:srgbClr val="1D4ED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90872" y="960120"/>
            <a:ext cx="4206240" cy="457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S12: Testing Dinámico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380744"/>
            <a:ext cx="402336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Técnicas automatizables: branch coverage, mutation, PBT, fuzzing.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usa para: detectar regresiones y medir calidad de tests.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28600" y="2880360"/>
            <a:ext cx="4206240" cy="1783080"/>
          </a:xfrm>
          <a:prstGeom prst="rect">
            <a:avLst/>
          </a:prstGeom>
          <a:solidFill>
            <a:srgbClr val="CFFAFE"/>
          </a:solidFill>
          <a:ln w="15240">
            <a:solidFill>
              <a:srgbClr val="0891B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28600" y="2880360"/>
            <a:ext cx="4206240" cy="457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8328" y="29718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S13: Programación Dinámica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8328" y="3300984"/>
            <a:ext cx="402336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Paradigma: subestructura + memoización + tabulación.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usa para: optimización de tests, análisis de datos de pruebas.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690872" y="2880360"/>
            <a:ext cx="4206240" cy="1783080"/>
          </a:xfrm>
          <a:prstGeom prst="rect">
            <a:avLst/>
          </a:prstGeom>
          <a:solidFill>
            <a:srgbClr val="EDE9FE"/>
          </a:solidFill>
          <a:ln w="15240">
            <a:solidFill>
              <a:srgbClr val="7C3AE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90872" y="2880360"/>
            <a:ext cx="420624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29718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S14: Integración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00984"/>
            <a:ext cx="402336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3 técnicas NO son alternativas — son capas complementarias.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Juntas: sistema robusto y sostenible.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y Terminología | Sesión 14 | Universitaria de Colombia | 29 / 32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2035"/>
          </a:solidFill>
          <a:ln w="12700">
            <a:solidFill>
              <a:srgbClr val="15203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Mensajes Clave del Curso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debes llevarte de estas 4 sesiones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2743200" cy="173736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274320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8328" y="1051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Diversificar técnicas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328" y="1380744"/>
            <a:ext cx="2560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bala de plata. El mejor QA combina ET + tests automatizados + análisis de datos.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136392" y="960120"/>
            <a:ext cx="2743200" cy="1737360"/>
          </a:xfrm>
          <a:prstGeom prst="rect">
            <a:avLst/>
          </a:prstGeom>
          <a:solidFill>
            <a:srgbClr val="FFFFFF"/>
          </a:solidFill>
          <a:ln w="15240">
            <a:solidFill>
              <a:srgbClr val="1D4ED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36392" y="960120"/>
            <a:ext cx="2743200" cy="457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6120" y="1051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Medir sin obsesionarse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46120" y="1380744"/>
            <a:ext cx="2560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Coverage, mutation score, charters son métricas. No son el objetivo — son indicadores de progreso.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44184" y="960120"/>
            <a:ext cx="2743200" cy="1737360"/>
          </a:xfrm>
          <a:prstGeom prst="rect">
            <a:avLst/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44184" y="960120"/>
            <a:ext cx="2743200" cy="457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53912" y="1051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Automatizar todo lo repetitivo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53912" y="1380744"/>
            <a:ext cx="2560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para lo creativo, scripts para lo repetitivo. La automatización libera tiempo para pensar.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28600" y="2880360"/>
            <a:ext cx="2743200" cy="17373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28600" y="2880360"/>
            <a:ext cx="274320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8328" y="2971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Código es dato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38328" y="3300984"/>
            <a:ext cx="2560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tests, logs y reportes son datos. Aplica DP y algoritmos para optimizarlos.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136392" y="2880360"/>
            <a:ext cx="2743200" cy="1737360"/>
          </a:xfrm>
          <a:prstGeom prst="rect">
            <a:avLst/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136392" y="2880360"/>
            <a:ext cx="2743200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46120" y="2971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Mentalidad de crecimiento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246120" y="3300984"/>
            <a:ext cx="2560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testing es un campo en evolución constante. Mantente aprendiendo técnicas nuevas.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044184" y="2880360"/>
            <a:ext cx="2743200" cy="1737360"/>
          </a:xfrm>
          <a:prstGeom prst="rect">
            <a:avLst/>
          </a:prstGeom>
          <a:solidFill>
            <a:srgbClr val="FFFFFF"/>
          </a:solidFill>
          <a:ln w="15240">
            <a:solidFill>
              <a:srgbClr val="15803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044184" y="2880360"/>
            <a:ext cx="2743200" cy="4572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53912" y="2971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El usuario primero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153912" y="3300984"/>
            <a:ext cx="25603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técnicas están al servicio del usuario final. Sin él, ninguna técnica tiene sentido.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y Terminología | Sesión 14 | Universitaria de Colombia | 30 / 32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868680"/>
          </a:xfrm>
          <a:prstGeom prst="rect">
            <a:avLst/>
          </a:prstGeom>
          <a:solidFill>
            <a:srgbClr val="152035"/>
          </a:solidFill>
          <a:ln w="12700">
            <a:solidFill>
              <a:srgbClr val="15203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 — Las 4 Sesiones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ciclo completo del testing moderno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8686800" cy="3794760"/>
          </a:xfrm>
          <a:prstGeom prst="rect">
            <a:avLst/>
          </a:prstGeom>
          <a:solidFill>
            <a:srgbClr val="040810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60120"/>
            <a:ext cx="36576" cy="37947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051560"/>
            <a:ext cx="854964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╔═══════════════════════════════════════════════════════════╗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║        EL CICLO DEL TESTING MODERNO (S11-S14)              ║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╠═══════════════════════════════════════════════════════════╣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║                                                             ║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║  1. EXPLORAR (S11 - ET)                                    ║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║     └─ Charters, SBTM, HICCUPPS                             ║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║     └─ Descubrir comportamientos inesperados                ║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║                                                             ║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║  2. VERIFICAR (S12 - Testing Dinámico)                     ║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║     └─ Branch coverage con pytest-cov                       ║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║     └─ Mutation score con mutmut                            ║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║     └─ Property-based con Hypothesis                        ║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║     └─ Fuzzing con Atheris                                  ║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║                                                             ║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║  3. OPTIMIZAR (S13-S14 - Programación Dinámica)            ║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║     └─ Memoización de fixtures costosos                     ║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║     └─ Knapsack para selección de tests                     ║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║     └─ LCS para diff de logs                                ║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║     └─ Edit Distance para detección de duplicados           ║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║                                                             ║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║  4. INTEGRAR (S14 - Aplicación)                            ║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║     └─ CI/CD con las 3 técnicas                             ║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║     └─ Dashboards de calidad integrados                     ║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║     └─ Decisiones basadas en datos                          ║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║                                                             ║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╚═══════════════════════════════════════════════════════════╝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y Terminología | Sesión 14 | Universitaria de Colombia | 31 / 32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81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52035"/>
          </a:solidFill>
          <a:ln w="12700">
            <a:solidFill>
              <a:srgbClr val="15203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201168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 Gracias por el curso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28600" y="1005840"/>
            <a:ext cx="8686800" cy="804672"/>
          </a:xfrm>
          <a:prstGeom prst="rect">
            <a:avLst/>
          </a:prstGeom>
          <a:solidFill>
            <a:srgbClr val="152035"/>
          </a:solidFill>
          <a:ln w="16510">
            <a:solidFill>
              <a:srgbClr val="2563EB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1005840"/>
            <a:ext cx="45720" cy="8046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097280"/>
            <a:ext cx="8485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para continuar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426464"/>
            <a:ext cx="84856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Libros: 'The Art of Software Testing' (Myers), 'Introduction to Algorithms' (CLRS), 'Agile Testing' (Crispin &amp; Gregory). Comunidades: Ministry of Testing, AB Testing Podcast, LeetCode DP track. Herramientas: pytest, mutmut, hypothesis, atheris.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4320" y="1920240"/>
            <a:ext cx="4206240" cy="1133856"/>
          </a:xfrm>
          <a:prstGeom prst="rect">
            <a:avLst/>
          </a:prstGeom>
          <a:solidFill>
            <a:srgbClr val="152035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1920240"/>
            <a:ext cx="420624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2029968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📧 burbano.sergio@universitaria.edu.co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84048" y="23774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preguntas y consultas después del curso.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54880" y="1920240"/>
            <a:ext cx="4206240" cy="1133856"/>
          </a:xfrm>
          <a:prstGeom prst="rect">
            <a:avLst/>
          </a:prstGeom>
          <a:solidFill>
            <a:srgbClr val="152035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1920240"/>
            <a:ext cx="4206240" cy="457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64608" y="2029968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github.com/universitaria-ingSW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64608" y="23774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con todos los notebooks y códigos vistos.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" y="3218688"/>
            <a:ext cx="4206240" cy="1133856"/>
          </a:xfrm>
          <a:prstGeom prst="rect">
            <a:avLst/>
          </a:prstGeom>
          <a:solidFill>
            <a:srgbClr val="152035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3218688"/>
            <a:ext cx="420624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" y="3328416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Lecturas complementarias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84048" y="367588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adicional en la plataforma Moodle del curso.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3218688"/>
            <a:ext cx="4206240" cy="1133856"/>
          </a:xfrm>
          <a:prstGeom prst="rect">
            <a:avLst/>
          </a:prstGeom>
          <a:solidFill>
            <a:srgbClr val="152035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54880" y="3218688"/>
            <a:ext cx="4206240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64608" y="3328416"/>
            <a:ext cx="3986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Examen Final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64608" y="367588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integradora de las 4 sesiones — fecha por anunciar.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74320" y="4553712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Mg. Sergio Alejandro Burbano Mena  |  Universitaria de Colombia  |  Pruebas de Software — 7mo Semestre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y Terminología | Sesión 14 | Universitaria de Colombia | 32 / 32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2026-04-20T00:22:23Z</dcterms:created>
  <dcterms:modified xsi:type="dcterms:W3CDTF">2026-04-20T00:22:23Z</dcterms:modified>
</cp:coreProperties>
</file>