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0"/>
            <a:ext cx="1188720" cy="514350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407408"/>
            <a:ext cx="9144000" cy="73609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de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13898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y Dinámica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dinámico · Mutation · Property-Based Testing · Fuzzing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697480"/>
            <a:ext cx="1901952" cy="38404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269748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Dinámico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606040" y="2697480"/>
            <a:ext cx="1901952" cy="3840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06040" y="269748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54880" y="2697480"/>
            <a:ext cx="1901952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269748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PBT Hypothesis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903720" y="2697480"/>
            <a:ext cx="1901952" cy="38404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03720" y="269748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74320" y="446227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Mg. Sergio Alejandro Burbano Mena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4320" y="4745736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Software  |  7mo Semestre  |  Ing. Software  |  Universitaria de Colombia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Sesión 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testing dinámico a generación algorítmica de pruebas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54864" cy="10972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332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28930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Dinámico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60020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y 6 criterios de cobertura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" y="2212848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8600" y="2212848"/>
            <a:ext cx="54864" cy="10972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54203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Algorítmica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2852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 de equivalencia y valores límite con código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8600" y="3465576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8600" y="3465576"/>
            <a:ext cx="54864" cy="10972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5387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37947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Testing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65760" y="410565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Operadores, score y mutmut en Python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09160" y="960120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960120"/>
            <a:ext cx="54864" cy="10972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10332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128930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Property-Based Testing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46320" y="160020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de ejemplos a propiedades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2212848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2212848"/>
            <a:ext cx="54864" cy="10972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0" y="254203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46320" y="2852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Atheris y fuzzing coverage-guided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09160" y="3465576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09160" y="3465576"/>
            <a:ext cx="54864" cy="10972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35387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37947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 reales + Ejercicio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46320" y="410565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casos + taller práctico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2 / 32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0F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Dinámico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software para verificar su comportamiento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Testing Dinámico?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96112"/>
            <a:ext cx="8412480" cy="914400"/>
          </a:xfrm>
          <a:prstGeom prst="rect">
            <a:avLst/>
          </a:prstGeom>
          <a:solidFill>
            <a:srgbClr val="26140E"/>
          </a:solidFill>
          <a:ln w="1905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96112"/>
            <a:ext cx="54864" cy="9144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69264"/>
            <a:ext cx="8092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dinámico es la técnica de verificar el software </a:t>
            </a:r>
            <a:pPr indent="0" marL="0">
              <a:buNone/>
            </a:pPr>
            <a:r>
              <a:rPr lang="en-US" sz="1400" b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ejecutándolo con entradas específicas</a:t>
            </a:r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comparando las salidas reales con las esperadas. Contrasta con el </a:t>
            </a:r>
            <a:pPr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estático</a:t>
            </a:r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(revisión de código sin ejecutar).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993392"/>
            <a:ext cx="2697480" cy="2697480"/>
          </a:xfrm>
          <a:prstGeom prst="rect">
            <a:avLst/>
          </a:prstGeom>
          <a:solidFill>
            <a:srgbClr val="001726"/>
          </a:solidFill>
          <a:ln w="15240">
            <a:solidFill>
              <a:srgbClr val="0284C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993392"/>
            <a:ext cx="269748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208483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Estático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5488" y="2468880"/>
            <a:ext cx="2468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ejecutar el código.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código, linting, SonarQube, análisis estático.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bugs de sintaxis y estilo.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18688" y="1993392"/>
            <a:ext cx="2697480" cy="2697480"/>
          </a:xfrm>
          <a:prstGeom prst="rect">
            <a:avLst/>
          </a:prstGeom>
          <a:solidFill>
            <a:srgbClr val="1A0800"/>
          </a:solidFill>
          <a:ln w="1524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18688" y="1993392"/>
            <a:ext cx="2697480" cy="457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28416" y="208483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Dinámico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28416" y="2468880"/>
            <a:ext cx="2468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ejecución del software.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Unit, integración, E2E, ET, performance.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el comportamiento real.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71616" y="1993392"/>
            <a:ext cx="2697480" cy="2697480"/>
          </a:xfrm>
          <a:prstGeom prst="rect">
            <a:avLst/>
          </a:prstGeom>
          <a:solidFill>
            <a:srgbClr val="001A0A"/>
          </a:solidFill>
          <a:ln w="15240">
            <a:solidFill>
              <a:srgbClr val="059669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71616" y="1993392"/>
            <a:ext cx="269748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81344" y="208483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Negra / Blanca / Gris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81344" y="2468880"/>
            <a:ext cx="2468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negra: sin ver el código.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blanca: con acceso al código.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gris: combinación — la más común.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4 / 32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Cobertura Avanzados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del simple 'líneas cubiertas'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06240" cy="1115568"/>
          </a:xfrm>
          <a:prstGeom prst="rect">
            <a:avLst/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4206240" cy="457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Coverage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380744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líneas ejecutadas. El más básico. 100% NO garantiza ausencia de bugs.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90872" y="960120"/>
            <a:ext cx="4206240" cy="1115568"/>
          </a:xfrm>
          <a:prstGeom prst="rect">
            <a:avLst/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90872" y="960120"/>
            <a:ext cx="420624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Coverage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380744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ramas if/else ejecutadas. Más fuerte: detecta condiciones no probadas.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28600" y="2221992"/>
            <a:ext cx="4206240" cy="1115568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28600" y="2221992"/>
            <a:ext cx="420624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" y="2313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Coverage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8328" y="2642616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parte de condición compuesta evaluada True y False independientemente.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90872" y="2221992"/>
            <a:ext cx="4206240" cy="1115568"/>
          </a:xfrm>
          <a:prstGeom prst="rect">
            <a:avLst/>
          </a:prstGeom>
          <a:solidFill>
            <a:srgbClr val="FFFFFF"/>
          </a:solidFill>
          <a:ln w="15240">
            <a:solidFill>
              <a:srgbClr val="0284C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90872" y="2221992"/>
            <a:ext cx="420624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2313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Coverage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2642616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rutas posibles. Exponencialmente costoso. Imposible en 100%.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8600" y="3483864"/>
            <a:ext cx="4206240" cy="1115568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28600" y="3483864"/>
            <a:ext cx="420624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8328" y="35753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MC/DC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38328" y="390448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Condition/Decision Coverage. Estándar en aviación (DO-178C, FAA).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90872" y="3483864"/>
            <a:ext cx="4206240" cy="1115568"/>
          </a:xfrm>
          <a:prstGeom prst="rect">
            <a:avLst/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90872" y="3483864"/>
            <a:ext cx="420624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35753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Score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00600" y="390448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mutantes del código que los tests matan. La más fuerte de todas.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5 / 32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0F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Algorítmica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Equivalencia y valores límite con código Python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 de Equivalencia — Implementación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casos de prueba de forma sistemática y automática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074920" cy="3794760"/>
          </a:xfrm>
          <a:prstGeom prst="rect">
            <a:avLst/>
          </a:prstGeom>
          <a:solidFill>
            <a:srgbClr val="0A0604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379476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49377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generador_equivalencia.py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typing import Tuple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ClaseEquivalencia: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nombre: str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rango: Tuple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valida: bool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clasificar_nota(nota) -&gt; str: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"""Clasifica una nota del 0.0 al 5.0"""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isinstance(nota, (int, float)):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'TIPO_INVALIDO'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nota &lt; 0: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'NEGATIVO'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nota &gt; 5: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'FUERA_RANGO'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nota &gt;= 3.0: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'APROBADO'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'REPROBADO'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Clases de equivalencia identificadas: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clases = [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ClaseEquivalencia('Tipo inválido', None, False),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ClaseEquivalencia('Negativo',  (-999,-0.01), False),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ClaseEquivalencia('Reprobado', (0.0, 2.99), True),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ClaseEquivalencia('Aprobado',  (3.0, 5.0),  True),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ClaseEquivalencia('Mayor a 5', (5.01, 999), False),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 test por clase → cobertura máxima con mínimos casos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c in clases: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representante = c.rango[0] if c.rango else 'abc'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print(f'{c.nombre}: {clasificar_nota(representante)}')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394960" y="960120"/>
            <a:ext cx="3520440" cy="1234440"/>
          </a:xfrm>
          <a:prstGeom prst="rect">
            <a:avLst/>
          </a:prstGeom>
          <a:solidFill>
            <a:srgbClr val="FFF7ED"/>
          </a:solidFill>
          <a:ln w="1651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394960" y="960120"/>
            <a:ext cx="45720" cy="123444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32120" y="105156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532120" y="1380744"/>
            <a:ext cx="3319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representante por clase equivalente reduce tests de cientos a pocos, manteniendo la cobertura lógica.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94960" y="2286000"/>
            <a:ext cx="3520440" cy="1234440"/>
          </a:xfrm>
          <a:prstGeom prst="rect">
            <a:avLst/>
          </a:prstGeom>
          <a:solidFill>
            <a:srgbClr val="FEF3C7"/>
          </a:solidFill>
          <a:ln w="16510">
            <a:solidFill>
              <a:srgbClr val="D9770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394960" y="2286000"/>
            <a:ext cx="45720" cy="1234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32120" y="23774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clave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32120" y="2706624"/>
            <a:ext cx="3319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valor falla, todos en esa clase fallarían. Si pasa, todos pasarían. Base matemática de BVA.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94960" y="3611880"/>
            <a:ext cx="3520440" cy="1143000"/>
          </a:xfrm>
          <a:prstGeom prst="rect">
            <a:avLst/>
          </a:prstGeom>
          <a:solidFill>
            <a:srgbClr val="FEE2E2"/>
          </a:solidFill>
          <a:ln w="16510">
            <a:solidFill>
              <a:srgbClr val="DC262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94960" y="3611880"/>
            <a:ext cx="45720" cy="11430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370332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532120" y="4032504"/>
            <a:ext cx="3319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con pytest.mark.parametrize para ejecutar automáticamente los representantes de cada clase.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7 / 32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Valores Límite — Algoritmo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los 7 valores críticos para cada rango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074920" cy="3657600"/>
          </a:xfrm>
          <a:prstGeom prst="rect">
            <a:avLst/>
          </a:prstGeom>
          <a:solidFill>
            <a:srgbClr val="0A0604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36576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493776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boundary_analyzer.py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valores_limite(min_val, max_val, paso=1):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BVA fuerte: min-1, min, min+1, medio, max-1, max, max+1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'min_menos_1': min_val - paso,  # ← INVÁLIDO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'min':         min_val,          # límite inferior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'min_mas_1':   min_val + paso,   # justo dentro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'medio':       (min_val + max_val) / 2,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'max_menos_1': max_val - paso,   # justo dentro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'max':         max_val,          # límite superior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'max_mas_1':   max_val + paso,   # ← INVÁLIDO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Para rango de notas [0.0, 5.0] con paso 0.1: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limites = valores_limite(0.0, 5.0, 0.1)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nombre, valor in limites.items():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print(f'{nombre:15}: {valor:.1f}')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Output: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min_menos_1    : -0.1  ← INVÁLIDO esperado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min            :  0.0  ← VÁLIDO exacto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min_mas_1      :  0.1  ← VÁLIDO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medio          :  2.5  ← VÁLIDO típico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max_menos_1    :  4.9  ← VÁLIDO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max            :  5.0  ← VÁLIDO exacto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max_mas_1      :  5.1  ← INVÁLIDO esperado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394960" y="960120"/>
            <a:ext cx="3520440" cy="1143000"/>
          </a:xfrm>
          <a:prstGeom prst="rect">
            <a:avLst/>
          </a:prstGeom>
          <a:solidFill>
            <a:srgbClr val="FEF3C7"/>
          </a:solidFill>
          <a:ln w="16510">
            <a:solidFill>
              <a:srgbClr val="D9770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394960" y="960120"/>
            <a:ext cx="45720" cy="1143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32120" y="105156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importa?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532120" y="1380744"/>
            <a:ext cx="3319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80% de los bugs de validación se encuentran en los valores exactos de los límites, no en el centro del rango.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94960" y="2194560"/>
            <a:ext cx="3520440" cy="1143000"/>
          </a:xfrm>
          <a:prstGeom prst="rect">
            <a:avLst/>
          </a:prstGeom>
          <a:solidFill>
            <a:srgbClr val="FFF7ED"/>
          </a:solidFill>
          <a:ln w="1651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394960" y="2194560"/>
            <a:ext cx="45720" cy="11430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32120" y="228600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BVA vs BVA Fuerte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32120" y="2615184"/>
            <a:ext cx="3319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Débil: solo min, max, medio.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Fuerte: +- 1 de cada borde. El estándar profesional es BVA fuerte.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94960" y="3429000"/>
            <a:ext cx="3520440" cy="1188720"/>
          </a:xfrm>
          <a:prstGeom prst="rect">
            <a:avLst/>
          </a:prstGeom>
          <a:solidFill>
            <a:srgbClr val="FEE2E2"/>
          </a:solidFill>
          <a:ln w="16510">
            <a:solidFill>
              <a:srgbClr val="DC262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94960" y="3429000"/>
            <a:ext cx="45720" cy="1188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35204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532120" y="3849624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línea genera 7 valores. Con pytest.parametrize se prueban automáticamente — 7 tests por un ciclo for.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8 / 32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0F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Testing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tan buenas son realmente tus pruebas?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Testing — Concepto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Introducir bugs artificiales para evaluar la calidad de los tests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658368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960120"/>
            <a:ext cx="45720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005840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MUTANTE es una versión modificada del código con un pequeño cambio (operador de mutación). Si los tests detectan el cambio y fallan → el mutante fue MATADO. Si los tests siguen pasando → el mutante SOBREVIVIÓ, indicando tests débiles.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" y="1737360"/>
            <a:ext cx="4206240" cy="1444752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1737360"/>
            <a:ext cx="420624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" y="18288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AOR — Aritmético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8328" y="2157984"/>
            <a:ext cx="40233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→ - → * → 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Original: return a + b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Mutante:  return a - b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90872" y="1737360"/>
            <a:ext cx="4206240" cy="1444752"/>
          </a:xfrm>
          <a:prstGeom prst="rect">
            <a:avLst/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90872" y="1737360"/>
            <a:ext cx="4206240" cy="457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18288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ROR — Relacional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2157984"/>
            <a:ext cx="40233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→ &lt;= → &gt; → &gt;= → ==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Original: if x &gt; 0: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Mutante:  if x &gt;= 0: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3310128"/>
            <a:ext cx="4206240" cy="1444752"/>
          </a:xfrm>
          <a:prstGeom prst="rect">
            <a:avLst/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28600" y="3310128"/>
            <a:ext cx="420624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" y="34015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 — Lógico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38328" y="3730752"/>
            <a:ext cx="40233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→ or / not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Original: if a and b: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Mutante:  if a or b: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90872" y="3310128"/>
            <a:ext cx="4206240" cy="1444752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90872" y="3310128"/>
            <a:ext cx="420624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34015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 — Condición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00600" y="3730752"/>
            <a:ext cx="40233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Negación de condición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Original: if cond: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Mutante:  if not cond: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28600" y="4818888"/>
            <a:ext cx="8686800" cy="201168"/>
          </a:xfrm>
          <a:prstGeom prst="rect">
            <a:avLst/>
          </a:prstGeom>
          <a:solidFill>
            <a:srgbClr val="FEF3C7"/>
          </a:solidFill>
          <a:ln w="16510">
            <a:solidFill>
              <a:srgbClr val="D9770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28600" y="4818888"/>
            <a:ext cx="45720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910328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Score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5760" y="5239512"/>
            <a:ext cx="8485632" cy="-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Mutantes Matados / Total Mutantes. Meta: &gt; 80%. Herramienta Python: mutmut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10 / 32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0F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Property-Based Testing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propiedades, no ejemplos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Property-Based Testing con Hypothesis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cientos de casos automáticamente a partir de propiedades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074920" cy="3822192"/>
          </a:xfrm>
          <a:prstGeom prst="rect">
            <a:avLst/>
          </a:prstGeom>
          <a:solidFill>
            <a:srgbClr val="0A0604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38221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pbt_notas.py — Property-Based Testing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hypothesis import given, strategies as st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@given(st.floats(min_value=0.0, max_value=5.0,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allow_nan=False))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test_aprobado_siempre_entre_3_y_5(nota):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PROPIEDAD: Si nota &gt;= 3.0 → siempre APROBADO.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Hypothesis genera ~100 valores flotantes en [0,5].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resultado = clasificar_nota(nota)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nota &gt;= 3.0: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assert resultado == 'APROBADO'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assert resultado == 'REPROBADO'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@given(st.lists(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st.floats(min_value=0.0, max_value=5.0),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min_size=1, max_size=20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test_promedio_siempre_en_rango(notas):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PROPIEDAD: promedio de notas válidas ∈ [0.0, 5.0].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promedio = calcular_promedio(notas)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0.0 &lt;= promedio &lt;= 5.0, 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f'Promedio {promedio} fuera de rango, notas={notas}'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Hypothesis encontró bug real: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Falsifying: notas=[0.0, -0.0]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El cálculo con -0.0 rompe la comparación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394960" y="960120"/>
            <a:ext cx="3520440" cy="1234440"/>
          </a:xfrm>
          <a:prstGeom prst="rect">
            <a:avLst/>
          </a:prstGeom>
          <a:solidFill>
            <a:srgbClr val="EDE9FE"/>
          </a:solidFill>
          <a:ln w="1651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394960" y="960120"/>
            <a:ext cx="45720" cy="1234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32120" y="105156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es poderoso?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532120" y="1380744"/>
            <a:ext cx="3319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genera hasta 100 ejemplos por test automáticamente. Descubre casos borde que ningún humano imaginaría.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94960" y="2286000"/>
            <a:ext cx="3520440" cy="1234440"/>
          </a:xfrm>
          <a:prstGeom prst="rect">
            <a:avLst/>
          </a:prstGeom>
          <a:solidFill>
            <a:srgbClr val="DCFCE7"/>
          </a:solidFill>
          <a:ln w="16510">
            <a:solidFill>
              <a:srgbClr val="059669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394960" y="2286000"/>
            <a:ext cx="45720" cy="1234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32120" y="23774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32120" y="2706624"/>
            <a:ext cx="3319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falla, Hypothesis reduce el ejemplo al caso mínimo que reproduce el bug — facilita debugging.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94960" y="3611880"/>
            <a:ext cx="3520440" cy="1143000"/>
          </a:xfrm>
          <a:prstGeom prst="rect">
            <a:avLst/>
          </a:prstGeom>
          <a:solidFill>
            <a:srgbClr val="DBEAFE"/>
          </a:solidFill>
          <a:ln w="16510">
            <a:solidFill>
              <a:srgbClr val="0284C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94960" y="3611880"/>
            <a:ext cx="45720" cy="11430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370332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532120" y="4032504"/>
            <a:ext cx="3319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hypothesis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integra nativamente con pytest y unittest.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12 / 32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— Generación de Inputs Aleatorios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Encontrar crashes y excepciones con inputs inesperados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06240" cy="1572768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420624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fuzzing?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380744"/>
            <a:ext cx="4023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inputs aleatorios a un programa para provocar crashes, excepciones o comportamientos inesperados.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90872" y="960120"/>
            <a:ext cx="4206240" cy="1572768"/>
          </a:xfrm>
          <a:prstGeom prst="rect">
            <a:avLst/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90872" y="960120"/>
            <a:ext cx="4206240" cy="457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aleatorio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380744"/>
            <a:ext cx="4023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completamente aleatorios. Simple pero poco eficiente. Útil para formatos binarios.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28600" y="2651760"/>
            <a:ext cx="4206240" cy="1572768"/>
          </a:xfrm>
          <a:prstGeom prst="rect">
            <a:avLst/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28600" y="2651760"/>
            <a:ext cx="420624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" y="27432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guiado por cobertura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8328" y="3072384"/>
            <a:ext cx="4023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Coverage-guided: el fuzzer prioriza inputs que aumentan la cobertura. AFL, libFuzzer, Atheris.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90872" y="2651760"/>
            <a:ext cx="4206240" cy="1572768"/>
          </a:xfrm>
          <a:prstGeom prst="rect">
            <a:avLst/>
          </a:prstGeom>
          <a:solidFill>
            <a:srgbClr val="FFFFFF"/>
          </a:solidFill>
          <a:ln w="15240">
            <a:solidFill>
              <a:srgbClr val="0284C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90872" y="2651760"/>
            <a:ext cx="420624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27432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inteligente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072384"/>
            <a:ext cx="4023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Conoce el formato del input (JSON, XML). Genera valores semánticamente válidos con extremos.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8600" y="4498848"/>
            <a:ext cx="8686800" cy="594360"/>
          </a:xfrm>
          <a:prstGeom prst="rect">
            <a:avLst/>
          </a:prstGeom>
          <a:solidFill>
            <a:srgbClr val="0A0604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28600" y="4498848"/>
            <a:ext cx="36576" cy="594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4590288"/>
            <a:ext cx="8549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atheris_fuzzer.py — Fuzzing básico en Python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atheris, sys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TestOneInput(data):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fdp = atheris.FuzzedDataProvider(data)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nota = fdp.ConsumeFloat()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clasificar_nota(nota)   # crash si lanza excepción no manejada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atheris.Setup(sys.argv, TestOneInput); atheris.Fuzz()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13 / 32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0F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 Reales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casos de estudio con código comentado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1 — Branch Coverage con pytest-cov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ramas no ejecutadas en el sistema de notas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074920" cy="3611880"/>
          </a:xfrm>
          <a:prstGeom prst="rect">
            <a:avLst/>
          </a:prstGeom>
          <a:solidFill>
            <a:srgbClr val="0A0604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36118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4937760" cy="3447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calcular_estado_academico.py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calcular_estado(promedio, creditos, sanciones):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promedio &lt; 0 or promedio &gt; 5: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'NOTA_INVALIDA'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creditos &lt; 0: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'CREDITOS_INVALIDOS'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sanciones: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'SANCIONADO'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promedio &gt;= 4.5 and creditos &gt;= 60: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'EXCELENCIA'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promedio &gt;= 3.0: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'APROBADO'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'REPROBADO'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Ejecutar: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pytest tests/ --cov=. --cov-branch --cov-report=html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 solo test_aprobado y test_reprobado: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Branch coverage: 42%  ← ¡Muchas ramas faltantes!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Ramas no cubiertas: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línea 2: promedio &lt; 0 (NOTA_INVALIDA)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línea 4: creditos &lt; 0 (CREDITOS_INVALIDOS)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línea 6: sanciones (SANCIONADO)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línea 8: promedio &gt;= 4.5 AND creditos &gt;= 60 (EXCELENCIA)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394960" y="960120"/>
            <a:ext cx="3520440" cy="1783080"/>
          </a:xfrm>
          <a:prstGeom prst="rect">
            <a:avLst/>
          </a:prstGeom>
          <a:solidFill>
            <a:srgbClr val="FFF7ED"/>
          </a:solidFill>
          <a:ln w="1651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394960" y="960120"/>
            <a:ext cx="45720" cy="17830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32120" y="105156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para 100% Branch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532120" y="1380744"/>
            <a:ext cx="3319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test_nota_invalida (p=-1)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test_creditos_invalidos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test_sancionado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test_excelencia (4.5, 60 cred)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test_aprobado (3.5)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test_reprobado (2.5)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94960" y="2880360"/>
            <a:ext cx="3520440" cy="1691640"/>
          </a:xfrm>
          <a:prstGeom prst="rect">
            <a:avLst/>
          </a:prstGeom>
          <a:solidFill>
            <a:srgbClr val="FEF3C7"/>
          </a:solidFill>
          <a:ln w="16510">
            <a:solidFill>
              <a:srgbClr val="D9770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394960" y="2880360"/>
            <a:ext cx="45720" cy="1691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32120" y="297180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vs Statement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32120" y="3300984"/>
            <a:ext cx="3319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coverage 100% con solo 3 tests.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coverage requiere 6 tests (el doble).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es un mejor indicador de calidad real.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15 / 32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2 — Mutation Testing con mutmut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la calidad de la suite de tests con mutantes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2286000"/>
          </a:xfrm>
          <a:prstGeom prst="rect">
            <a:avLst/>
          </a:prstGeom>
          <a:solidFill>
            <a:srgbClr val="0A0604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22860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854964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Instalar: pip install mutmut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Ejecutar: mutmut run --paths-to-mutate=src/calculo_multa.py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CÓDIGO ORIGINAL: calculo_multa.py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calcular_multa(dias_retraso: int) -&gt; float: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dias_retraso &lt;= 0:         # ← ROR mutante: &lt; en vez de &lt;=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0.0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dias_retraso * 500.0   # ← AOR mutante: / en vez de *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TESTS DÉBILES existentes: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test_sin_retraso():  assert calcular_multa(0) == 0.0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test_con_retraso():  assert calcular_multa(3) == 1500.0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Resultado: 6 mutantes generados, 2 matados, 4 SOBREVIVIERON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Mutation score: 33% ← MUY BAJO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Sobrevivió: 'dias_retraso &lt; 0' (en vez de &lt;= 0)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Falta test: calcular_multa(-1) == 0.0 → mata ROR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28600" y="3383280"/>
            <a:ext cx="4206240" cy="1572768"/>
          </a:xfrm>
          <a:prstGeom prst="rect">
            <a:avLst/>
          </a:prstGeom>
          <a:solidFill>
            <a:srgbClr val="FEE2E2"/>
          </a:solidFill>
          <a:ln w="16510">
            <a:solidFill>
              <a:srgbClr val="DC262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3383280"/>
            <a:ext cx="45720" cy="15727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47472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necesarios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3803904"/>
            <a:ext cx="400507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test_dias_negativos: calcular_multa(-1) == 0.0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test_un_dia: calcular_multa(1) == 500.0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test_tarifa_correcta: 500.0 exacto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Score sube de 33% a 83%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3383280"/>
            <a:ext cx="4206240" cy="1572768"/>
          </a:xfrm>
          <a:prstGeom prst="rect">
            <a:avLst/>
          </a:prstGeom>
          <a:solidFill>
            <a:srgbClr val="FFF7ED"/>
          </a:solidFill>
          <a:ln w="1651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3383280"/>
            <a:ext cx="45720" cy="157276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347472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Score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3803904"/>
            <a:ext cx="400507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Matados / Total mutantes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Meta: &gt; 80% código general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Crítico: &gt; 90%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Alternativa: pytest-mutagen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16 / 32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3 — Hypothesis Descubre un Bug Real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Encontrando bugs con propiedades automáticas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2331720"/>
          </a:xfrm>
          <a:prstGeom prst="rect">
            <a:avLst/>
          </a:prstGeom>
          <a:solidFill>
            <a:srgbClr val="0A0604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2331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854964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BUG descubierto por Hypothesis en ordenar_estudiantes()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hypothesis import given, strategies as st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@given(st.lists(st.floats(allow_nan=False), min_size=2))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test_propiedad_sort_idempotente(lista):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"""Ordenar dos veces = ordenar una vez"""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ordenar_estudiantes(ordenar_estudiantes(lista)) == ordenar_estudiantes(lista)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Hypothesis encuentra contraejemplo después de 47 intentos: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Falsifying example: lista = [0.0, -0.0]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ordenar([0.0, -0.0]) → [0.0, -0.0]  (primer orden)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ordenar([-0.0, 0.0]) → [-0.0, 0.0]  (segundo orden)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¡Las listas NO son iguales en comparación estricta!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FIX aplicado (compara por valor e identidad):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ordenar_estudiantes(lista):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sorted(lista, key=lambda x: (x, id(x)))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28600" y="3429000"/>
            <a:ext cx="8686800" cy="1572768"/>
          </a:xfrm>
          <a:prstGeom prst="rect">
            <a:avLst/>
          </a:prstGeom>
          <a:solidFill>
            <a:srgbClr val="EDE9FE"/>
          </a:solidFill>
          <a:ln w="1651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3429000"/>
            <a:ext cx="45720" cy="15727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52044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Lección del ejemplo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3849624"/>
            <a:ext cx="848563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bug con -0.0 vs 0.0 NUNCA habría sido encontrado por pruebas unitarias normales — ningún humano piensa en ese caso. Hypothesis generó el contraejemplo automáticamente después de 47 intentos. El shrinking lo redujo al caso mínimo reproducible.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17 / 32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4 — Coverage-Guided Fuzzing con Atheris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desarrolló Atheris para fuzzing de funciones Python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5074920" cy="3200400"/>
          </a:xfrm>
          <a:prstGeom prst="rect">
            <a:avLst/>
          </a:prstGeom>
          <a:solidFill>
            <a:srgbClr val="0A0604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32004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4937760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fuzzer_parser.py — Fuzzing de un parser JSON académico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atheris, sys, json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parser_datos_academicos(data: bytes) -&gt; dict: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"""Parser que convierte JSON a datos de estudiante"""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texto = data.decode('utf-8', errors='replace')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datos = json.loads(texto)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'nombre': str(datos.get('nombre', '')),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'nota':   float(datos.get('nota', 0)),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'activo': bool(datos.get('activo', False))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(json.JSONDecodeError, ValueError):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{}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@atheris.instrument_func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TestOneInput(data: bytes):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parser_datos_academicos(data)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Invariante: nota válida siempre en [0, 5]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result.get('nota'):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assert 0.0 &lt;= result['nota'] &lt;= 5.0 or True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atheris.Setup(sys.argv, TestOneInput)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atheris.Fuzz()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394960" y="960120"/>
            <a:ext cx="3520440" cy="1143000"/>
          </a:xfrm>
          <a:prstGeom prst="rect">
            <a:avLst/>
          </a:prstGeom>
          <a:solidFill>
            <a:srgbClr val="FEE2E2"/>
          </a:solidFill>
          <a:ln w="16510">
            <a:solidFill>
              <a:srgbClr val="DC262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394960" y="960120"/>
            <a:ext cx="45720" cy="11430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32120" y="105156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descubrió?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532120" y="1380744"/>
            <a:ext cx="3319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float('inf') en JSON, la función no lanzaba error pero tampoco validaba rango. Bug real en &lt; 5 min.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94960" y="2194560"/>
            <a:ext cx="3520440" cy="1143000"/>
          </a:xfrm>
          <a:prstGeom prst="rect">
            <a:avLst/>
          </a:prstGeom>
          <a:solidFill>
            <a:srgbClr val="FEF3C7"/>
          </a:solidFill>
          <a:ln w="16510">
            <a:solidFill>
              <a:srgbClr val="D9770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394960" y="2194560"/>
            <a:ext cx="45720" cy="1143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32120" y="228600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Coverage-guided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32120" y="2615184"/>
            <a:ext cx="3319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Atheris prioriza inputs que aumentan la cobertura. Descubre ramas difíciles más rápido que aleatorio puro.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94960" y="3429000"/>
            <a:ext cx="3520440" cy="1143000"/>
          </a:xfrm>
          <a:prstGeom prst="rect">
            <a:avLst/>
          </a:prstGeom>
          <a:solidFill>
            <a:srgbClr val="FFF7ED"/>
          </a:solidFill>
          <a:ln w="1651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94960" y="3429000"/>
            <a:ext cx="45720" cy="11430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35204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 real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532120" y="3849624"/>
            <a:ext cx="3319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usa fuzzing continuamente en Chrome y Android. Ha encontrado miles de bugs de seguridad en años.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18 / 32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C0F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Errores Comunes en Testing Dinámico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— Testing Dinámico y Generativo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que hacen efectivas estas técnicas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2743200" cy="457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el nivel correcto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38074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para lógica. MC/DC para código crítico de seguridad. Mutation para lógica compleja.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36392" y="96012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36392" y="960120"/>
            <a:ext cx="27432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Automatizar la generación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46120" y="138074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pytest.parametrize + hypothesis + mutmut en CI/CD. Sin automatización, no escalan.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44184" y="96012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44184" y="960120"/>
            <a:ext cx="274320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53912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score &gt; 80%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53912" y="138074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no siempre alcanzable (mutantes equivalentes). 80-90% es excelente.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28600" y="288036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28600" y="2880360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8328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PBT para invariantes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8328" y="330098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para propiedades estables: ordenación, idempotencia, reversibilidad.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136392" y="288036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0284C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36392" y="2880360"/>
            <a:ext cx="274320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46120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periódico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46120" y="330098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 cada commit, sino en pipelines nocturnos. Runs largos encuentran más bugs.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044184" y="288036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44184" y="2880360"/>
            <a:ext cx="274320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53912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 cobertura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53912" y="330098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80% en pipeline. Bloquear merges que reducen la cobertura existente.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20 / 32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 en Testing Dinámico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6 que reducen la efectividad de estas técnicas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0624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45720" cy="11155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1498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23444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Confundir coverage con calidad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14904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coverage no = ausencia de bugs. Mide qué se ejecutó, no qué se verificó.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221992"/>
            <a:ext cx="420624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8600" y="2221992"/>
            <a:ext cx="45720" cy="111556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276856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249631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sin priorizar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275234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Correr mutmut en TODO es lento. Priorizar módulos de lógica crítica.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28600" y="3483864"/>
            <a:ext cx="420624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8600" y="3483864"/>
            <a:ext cx="45720" cy="11155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538728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375818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PBT sin shrinking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401421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Hypothesis no reduce el ejemplo, el bug es difícil de interpretar.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90872" y="960120"/>
            <a:ext cx="420624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90872" y="960120"/>
            <a:ext cx="45720" cy="11155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28032" y="101498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28032" y="123444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Mutantes equivalentes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28032" y="14904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Algunos mutantes nunca mueren (equivalentes al original). No cuentan al score.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90872" y="2221992"/>
            <a:ext cx="420624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90872" y="2221992"/>
            <a:ext cx="45720" cy="111556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28032" y="2276856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28032" y="249631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sin timeout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28032" y="275234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fuzzer sin límite puede correr días sin hallazgos. Configurar max_time.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690872" y="3483864"/>
            <a:ext cx="420624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90872" y="3483864"/>
            <a:ext cx="45720" cy="11155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28032" y="3538728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28032" y="375818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triviales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28032" y="401421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que siempre pasan (assert True) sin verificar nada. Mutation los expone.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21 / 32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de Herramientas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Seleccionar según la técnica y el lenguaje</a:t>
            </a:r>
            <a:endParaRPr lang="en-US" sz="11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960120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097280"/>
                <a:gridCol w="27432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Herramienta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140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140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Lenguaje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140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Fortaleza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140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140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463040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097280"/>
                <a:gridCol w="27432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pytest-cov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Statement/Branch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Integrado pytest, reportes HTML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 install pytest-cov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965960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097280"/>
                <a:gridCol w="27432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mutmut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testing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rápido, bien integrado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 install mutmut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468880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097280"/>
                <a:gridCol w="27432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Property-based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Shrinking automático, veloz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 install hypothesis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971800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097280"/>
                <a:gridCol w="27432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atheris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Fuzzing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Google-backed, coverage-guided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 install atheris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3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474720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097280"/>
                <a:gridCol w="27432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Estándar de facto en Python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 install coverage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5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977640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097280"/>
                <a:gridCol w="27432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pitest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más usado en Java/Spring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Maven plugin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22 / 32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20116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Ejercicio — Sesión 12  |  60 minutos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960120"/>
            <a:ext cx="8686800" cy="566928"/>
          </a:xfrm>
          <a:prstGeom prst="rect">
            <a:avLst/>
          </a:prstGeom>
          <a:solidFill>
            <a:srgbClr val="26140E"/>
          </a:solidFill>
          <a:ln w="1651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960120"/>
            <a:ext cx="45720" cy="56692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5156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380744"/>
            <a:ext cx="8485632" cy="64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de notas tiene un módulo crítico: calcular_estado_academico(). Tu tarea: aplicar las 3 técnicas vistas hoy.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664208"/>
            <a:ext cx="2743200" cy="3154680"/>
          </a:xfrm>
          <a:prstGeom prst="rect">
            <a:avLst/>
          </a:prstGeom>
          <a:solidFill>
            <a:srgbClr val="26140E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1664208"/>
            <a:ext cx="2743200" cy="457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" y="1755648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" y="1975104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Coverage (20 min)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8328" y="237744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Analiza calcular_estado_academico()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38328" y="294436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Identifica todas las ramas del código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8328" y="3511296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Escribe tests para 100% branch coverage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38328" y="4078224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Verifica con pytest --cov-branch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36392" y="1664208"/>
            <a:ext cx="2743200" cy="3154680"/>
          </a:xfrm>
          <a:prstGeom prst="rect">
            <a:avLst/>
          </a:prstGeom>
          <a:solidFill>
            <a:srgbClr val="26140E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136392" y="1664208"/>
            <a:ext cx="274320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46120" y="1755648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46120" y="1975104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Score (20 min)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46120" y="237744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Ejecuta mutmut sobre el módulo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246120" y="294436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Identifica los mutantes que sobrevivieron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246120" y="3511296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Escribe tests que los maten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246120" y="4078224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Alcanza mutation score &gt; 80%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044184" y="1664208"/>
            <a:ext cx="2743200" cy="3154680"/>
          </a:xfrm>
          <a:prstGeom prst="rect">
            <a:avLst/>
          </a:prstGeom>
          <a:solidFill>
            <a:srgbClr val="26140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44184" y="1664208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53912" y="1755648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53912" y="1975104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PBT con Hypothesis (20 min)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53912" y="237744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Identifica 2 propiedades del sistema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53912" y="294436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Implementa pruebas con @given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153912" y="3511296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Ejecuta y analiza los contraejemplos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53912" y="4078224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Corrige el código si Hypothesis encuentra bugs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Entregable: código Python + pytest con 100% branch + mutmut score &gt; 80% + 2 propiedades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23 / 32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Flujo de Datos (DFA)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basado en definición y uso de variables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2743200" cy="457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(def)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38074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donde una variable es asignada: x = 5, x = input(), x +=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36392" y="96012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36392" y="960120"/>
            <a:ext cx="27432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(c-use)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46120" y="138074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de la variable en cómputo: y = x + 1, print(x), return x * 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44184" y="96012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44184" y="960120"/>
            <a:ext cx="274320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53912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(p-use)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53912" y="138074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en predicado: if x &gt; 0:, while x &lt; n:, return x == y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28600" y="288036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0284C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28600" y="2880360"/>
            <a:ext cx="274320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8328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DU-Path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8328" y="330098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Camino desde una definición hasta un uso — sin redefinición en medio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136392" y="288036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36392" y="2880360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46120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All-Defs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46120" y="330098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definición alcanza al menos un uso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044184" y="288036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44184" y="2880360"/>
            <a:ext cx="274320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53912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All-Uses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53912" y="330098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 (definición, uso) es ejercitado al menos una vez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24 / 32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Combinatorial Testing — Pairwise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Máxima cobertura con mínimos tests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658368"/>
          </a:xfrm>
          <a:prstGeom prst="rect">
            <a:avLst/>
          </a:prstGeom>
          <a:solidFill>
            <a:srgbClr val="FEF3C7"/>
          </a:solidFill>
          <a:ln w="16510">
            <a:solidFill>
              <a:srgbClr val="D9770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45720" cy="6583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 de t-wise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380744"/>
            <a:ext cx="84856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Estudios NIST: el 70% de los bugs se activan por la interacción de 1 sola variable. El 90% por 2 variables. Cobertura pairwise = 2-way = cubre el 90% con pocos casos.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8600" y="1737360"/>
            <a:ext cx="8686800" cy="2926080"/>
          </a:xfrm>
          <a:prstGeom prst="rect">
            <a:avLst/>
          </a:prstGeom>
          <a:solidFill>
            <a:srgbClr val="0A0604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8600" y="1737360"/>
            <a:ext cx="36576" cy="29260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828800"/>
            <a:ext cx="8549640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pairwise_example.py — usando allpairspy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allpairspy import AllPairs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Variables a combinar: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parametros = [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['Chrome', 'Firefox', 'Edge'],             # Navegador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['Windows', 'MacOS', 'Linux'],             # SO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['ES', 'EN', 'PT'],                         # Idioma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['Mobile', 'Tablet', 'Desktop'],           # Dispositivo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Combinación exhaustiva: 3 × 3 × 3 × 3 = 81 casos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Combinación pairwise:  ~10 casos (90% cobertura)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i, combo in enumerate(AllPairs(parametros)):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print(f'Test {i+1}: {combo}')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Output (9 casos que cubren todos los pares):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 1: ['Chrome', 'Windows', 'ES', 'Mobile']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 2: ['Firefox', 'MacOS', 'EN', 'Tablet']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 (reduce 81 casos a 9 sin perder cobertura de pares)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25 / 32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Model-Based Testing (MBT)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tests desde modelos formales del sistema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06240" cy="1691640"/>
          </a:xfrm>
          <a:prstGeom prst="rect">
            <a:avLst/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4206240" cy="457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 State Machine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380744"/>
            <a:ext cx="40233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 el sistema como estados y transiciones. Tests = rutas válidas e inválidas.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90872" y="960120"/>
            <a:ext cx="4206240" cy="1691640"/>
          </a:xfrm>
          <a:prstGeom prst="rect">
            <a:avLst/>
          </a:prstGeom>
          <a:solidFill>
            <a:srgbClr val="FFFFFF"/>
          </a:solidFill>
          <a:ln w="15240">
            <a:solidFill>
              <a:srgbClr val="0284C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90872" y="960120"/>
            <a:ext cx="420624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State Diagram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380744"/>
            <a:ext cx="40233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UML convertibles a tests automáticamente con herramientas como Graphwalker.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28600" y="2788920"/>
            <a:ext cx="4206240" cy="16916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28600" y="2788920"/>
            <a:ext cx="420624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" y="2880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Tables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8328" y="3209544"/>
            <a:ext cx="40233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 negocio → tabla → tests. Útil para seguros, bancos, aerolíneas.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90872" y="2788920"/>
            <a:ext cx="4206240" cy="1691640"/>
          </a:xfrm>
          <a:prstGeom prst="rect">
            <a:avLst/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90872" y="2788920"/>
            <a:ext cx="420624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2880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209544"/>
            <a:ext cx="40233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Graphwalker, EvoSuite, ModelJUnit, ParTeG — generan tests del modelo.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8600" y="4709160"/>
            <a:ext cx="8686800" cy="274320"/>
          </a:xfrm>
          <a:prstGeom prst="rect">
            <a:avLst/>
          </a:prstGeom>
          <a:solidFill>
            <a:srgbClr val="FFF7ED"/>
          </a:solidFill>
          <a:ln w="1651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28600" y="4709160"/>
            <a:ext cx="45720" cy="2743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80060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 clave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5129784"/>
            <a:ext cx="8485632" cy="-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el modelo cambia, los tests se regeneran automáticamente. Ahorra mantenimiento.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26 / 32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de APIs — Contract Testing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Pact: verificar contratos entre servicios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2743200"/>
          </a:xfrm>
          <a:prstGeom prst="rect">
            <a:avLst/>
          </a:prstGeom>
          <a:solidFill>
            <a:srgbClr val="0A0604"/>
          </a:solidFill>
          <a:ln w="12700">
            <a:solidFill>
              <a:srgbClr val="0284C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27432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85496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Consumer-Driven Contract Testing con Pact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El CONSUMIDOR define qué espera recibir del PROVEEDOR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consumer_test.py (app móvil)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pact import Consumer, Provider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pact = Consumer('AppMovil').has_pact_with(Provider('ServicioNotas'))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test_consumer_expects_notas():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expected = {'estudiante_id': 123, 'notas': [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{'materia': 'Pruebas', 'valor': 4.5}]}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(pact.given('El estudiante 123 existe')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.upon_receiving('una petición GET /estudiantes/123/notas')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.with_request('GET', '/estudiantes/123/notas')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.will_respond_with(200, body=expected))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pact: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respuesta = requests.get('http://localhost:1234/estudiantes/123/notas')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assert respuesta.json() == expected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28600" y="3840480"/>
            <a:ext cx="8686800" cy="1051560"/>
          </a:xfrm>
          <a:prstGeom prst="rect">
            <a:avLst/>
          </a:prstGeom>
          <a:solidFill>
            <a:srgbClr val="DBEAFE"/>
          </a:solidFill>
          <a:ln w="16510">
            <a:solidFill>
              <a:srgbClr val="0284C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3840480"/>
            <a:ext cx="45720" cy="10515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93192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del contract testing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4261104"/>
            <a:ext cx="8485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cuando el proveedor cambia el contrato y rompe al consumidor ANTES de deployar. Netflix, Amazon y Spotify usan esto entre microservicios.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27 / 32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Datos de Prueba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datos realistas para tests dinámicos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06240" cy="1691640"/>
          </a:xfrm>
          <a:prstGeom prst="rect">
            <a:avLst/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4206240" cy="457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380744"/>
            <a:ext cx="40233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datos sintéticos realistas: nombres, emails, direcciones, fechas, cuentas bancarias.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90872" y="960120"/>
            <a:ext cx="4206240" cy="1691640"/>
          </a:xfrm>
          <a:prstGeom prst="rect">
            <a:avLst/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90872" y="960120"/>
            <a:ext cx="420624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Boy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380744"/>
            <a:ext cx="40233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Factorías para crear objetos de prueba con datos variables pero consistentes.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28600" y="2788920"/>
            <a:ext cx="4206240" cy="169164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28600" y="2788920"/>
            <a:ext cx="420624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" y="2880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Masking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8328" y="3209544"/>
            <a:ext cx="40233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Enmascarar datos reales para pruebas: preserva el formato pero anonimiza contenido sensible.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90872" y="2788920"/>
            <a:ext cx="4206240" cy="16916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90872" y="2788920"/>
            <a:ext cx="420624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2880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Data Bots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209544"/>
            <a:ext cx="40233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que generan datos por API: Mockaroo, GenerateData.com — datasets completos al instante.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8600" y="4709160"/>
            <a:ext cx="8686800" cy="274320"/>
          </a:xfrm>
          <a:prstGeom prst="rect">
            <a:avLst/>
          </a:prstGeom>
          <a:solidFill>
            <a:srgbClr val="FEE2E2"/>
          </a:solidFill>
          <a:ln w="16510">
            <a:solidFill>
              <a:srgbClr val="DC262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28600" y="4709160"/>
            <a:ext cx="45720" cy="2743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80060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5129784"/>
            <a:ext cx="8485632" cy="-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usar datos reales de producción en testing. Siempre sintéticos o enmascarados.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28 / 32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CI/CD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técnicas dinámicas en el pipeline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3520440"/>
          </a:xfrm>
          <a:prstGeom prst="rect">
            <a:avLst/>
          </a:prstGeom>
          <a:solidFill>
            <a:srgbClr val="0A0604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3520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8549640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.github/workflows/dynamic_testing.yml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Dynamic Testing Full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[push, pull_request]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branch-coverage: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pip install pytest pytest-cov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pytest --cov --cov-branch --cov-fail-under=80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hypothesis: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pip install hypothesis pytest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pytest tests/properties/ --hypothesis-show-statistics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mutation-testing: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if: github.event_name == 'schedule'  # solo nocturno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pip install mutmut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mutmut run &amp;&amp; mutmut results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29 / 32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— Programación de Testing Dinámica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aprendido en Sesión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2743200" cy="1737360"/>
          </a:xfrm>
          <a:prstGeom prst="rect">
            <a:avLst/>
          </a:prstGeom>
          <a:solidFill>
            <a:srgbClr val="FFFFFF"/>
          </a:solidFill>
          <a:ln w="1778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2743200" cy="457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" y="105156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Dinámico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8328" y="1463040"/>
            <a:ext cx="25237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ejecución vs estático. Caja negra, blanca, gris.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36392" y="960120"/>
            <a:ext cx="2743200" cy="1737360"/>
          </a:xfrm>
          <a:prstGeom prst="rect">
            <a:avLst/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36392" y="960120"/>
            <a:ext cx="27432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105156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criterios cobertura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46120" y="1463040"/>
            <a:ext cx="25237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Statement, Branch, Condition, Path, MC/DC, Mutation.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44184" y="960120"/>
            <a:ext cx="2743200" cy="1737360"/>
          </a:xfrm>
          <a:prstGeom prst="rect">
            <a:avLst/>
          </a:prstGeom>
          <a:solidFill>
            <a:srgbClr val="FFFFFF"/>
          </a:solidFill>
          <a:ln w="17780">
            <a:solidFill>
              <a:srgbClr val="DC262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44184" y="960120"/>
            <a:ext cx="274320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53912" y="105156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Equivalencia + BVA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53912" y="1463040"/>
            <a:ext cx="25237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representante por clase + los 7 valores de frontera.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28600" y="2880360"/>
            <a:ext cx="2743200" cy="1737360"/>
          </a:xfrm>
          <a:prstGeom prst="rect">
            <a:avLst/>
          </a:prstGeom>
          <a:solidFill>
            <a:srgbClr val="FFFFFF"/>
          </a:solidFill>
          <a:ln w="17780">
            <a:solidFill>
              <a:srgbClr val="0284C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28600" y="2880360"/>
            <a:ext cx="274320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8328" y="297180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Testing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38328" y="3383280"/>
            <a:ext cx="25237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Mutantes + score. Meta &gt; 80%. Herramienta: mutmut.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136392" y="2880360"/>
            <a:ext cx="2743200" cy="1737360"/>
          </a:xfrm>
          <a:prstGeom prst="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36392" y="2880360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46120" y="297180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PBT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46120" y="3383280"/>
            <a:ext cx="25237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Propiedades → cientos de casos automáticos + shrinking.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44184" y="2880360"/>
            <a:ext cx="2743200" cy="1737360"/>
          </a:xfrm>
          <a:prstGeom prst="rect">
            <a:avLst/>
          </a:prstGeom>
          <a:solidFill>
            <a:srgbClr val="FFFFFF"/>
          </a:solidFill>
          <a:ln w="17780">
            <a:solidFill>
              <a:srgbClr val="059669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44184" y="2880360"/>
            <a:ext cx="274320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53912" y="2971800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coverage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153912" y="3383280"/>
            <a:ext cx="25237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Atheris genera inputs que aumentan cobertura de código.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30 / 32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Visuales para el Estudio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gráficos para profundizar en casa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06240" cy="1115568"/>
          </a:xfrm>
          <a:prstGeom prst="rect">
            <a:avLst/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4206240" cy="457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Diagrama CFG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380744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Flow Graph para ver ramas y paths. Herramienta: radon cc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90872" y="960120"/>
            <a:ext cx="4206240" cy="1115568"/>
          </a:xfrm>
          <a:prstGeom prst="rect">
            <a:avLst/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90872" y="960120"/>
            <a:ext cx="420624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Heatmap Cobertura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380744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pytest-cov genera HTML con líneas rojas/verdes por archivo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28600" y="2221992"/>
            <a:ext cx="4206240" cy="1115568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28600" y="2221992"/>
            <a:ext cx="420624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" y="2313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🧬 Árbol de Mutantes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8328" y="2642616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mutmut results muestra mutantes vivos/muertos con diff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90872" y="2221992"/>
            <a:ext cx="4206240" cy="1115568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90872" y="2221992"/>
            <a:ext cx="420624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2313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Hypothesis Stats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2642616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--hypothesis-show-statistics muestra shrinks y seeds usadas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8600" y="3483864"/>
            <a:ext cx="4206240" cy="1115568"/>
          </a:xfrm>
          <a:prstGeom prst="rect">
            <a:avLst/>
          </a:prstGeom>
          <a:solidFill>
            <a:srgbClr val="FFFFFF"/>
          </a:solidFill>
          <a:ln w="15240">
            <a:solidFill>
              <a:srgbClr val="0284C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28600" y="3483864"/>
            <a:ext cx="420624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8328" y="35753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Curva de Cobertura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38328" y="390448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Graficar cobertura vs # de tests para ver el 'diminishing returns'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90872" y="3483864"/>
            <a:ext cx="4206240" cy="1115568"/>
          </a:xfrm>
          <a:prstGeom prst="rect">
            <a:avLst/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90872" y="3483864"/>
            <a:ext cx="420624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35753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Fuzzer Crashes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00600" y="390448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Atheris guarda cada crash como un nuevo caso de prueba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31 / 32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26140E"/>
          </a:solidFill>
          <a:ln w="12700">
            <a:solidFill>
              <a:srgbClr val="26140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20116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y Próxima Sesión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987552"/>
            <a:ext cx="4206240" cy="1261872"/>
          </a:xfrm>
          <a:prstGeom prst="rect">
            <a:avLst/>
          </a:prstGeom>
          <a:solidFill>
            <a:srgbClr val="26140E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987552"/>
            <a:ext cx="4206240" cy="457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097280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The Art of Software Testing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84048" y="149047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Glenford Myers. El clásico. Explica equivalencia y BVA con detalle.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4206240" cy="1261872"/>
          </a:xfrm>
          <a:prstGeom prst="rect">
            <a:avLst/>
          </a:prstGeom>
          <a:solidFill>
            <a:srgbClr val="26140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987552"/>
            <a:ext cx="420624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097280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hypothesis.readthedocs.io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49047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oficial con ejemplos y estrategias avanzadas.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432304"/>
            <a:ext cx="4206240" cy="1261872"/>
          </a:xfrm>
          <a:prstGeom prst="rect">
            <a:avLst/>
          </a:prstGeom>
          <a:solidFill>
            <a:srgbClr val="26140E"/>
          </a:solidFill>
          <a:ln w="12700">
            <a:solidFill>
              <a:srgbClr val="0284C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432304"/>
            <a:ext cx="4206240" cy="45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254203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🎥 PyCon Talks on PBT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84048" y="293522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'Hypothesis David MacIver' en YouTube — talk seminal.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54880" y="2432304"/>
            <a:ext cx="4206240" cy="1261872"/>
          </a:xfrm>
          <a:prstGeom prst="rect">
            <a:avLst/>
          </a:prstGeom>
          <a:solidFill>
            <a:srgbClr val="26140E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432304"/>
            <a:ext cx="420624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254203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mutmut GitHub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64608" y="293522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github.com/boxed/mutmut — docs, ejemplos y issues activos.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74320" y="425196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13: Generalidades de la Programación Dinámica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4562856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Mg. Sergio Alejandro Burbano Mena  |  Universitaria de Colombia  |  Pruebas de Software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Testing y Dinámica | Sesión 12 | Universitaria de Colombia | 32 / 32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2026-04-19T23:50:08Z</dcterms:created>
  <dcterms:modified xsi:type="dcterms:W3CDTF">2026-04-19T23:50:08Z</dcterms:modified>
</cp:coreProperties>
</file>