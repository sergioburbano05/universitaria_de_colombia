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del conjunto de pruebas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F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Unit Tests</c:v>
                  </c:pt>
                  <c:pt idx="1">
                    <c:v>Integration Tests</c:v>
                  </c:pt>
                  <c:pt idx="2">
                    <c:v>E2E Tests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20</c:v>
                </c:pt>
                <c:pt idx="2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Cobertura mínima recomendada (%)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F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A82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Open Source básico</c:v>
                  </c:pt>
                  <c:pt idx="1">
                    <c:v>SaaS / Startups</c:v>
                  </c:pt>
                  <c:pt idx="2">
                    <c:v>Fintech / Banking</c:v>
                  </c:pt>
                  <c:pt idx="3">
                    <c:v>Sistemas críticos</c:v>
                  </c:pt>
                  <c:pt idx="4">
                    <c:v>Industria aeroespacial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75</c:v>
                </c:pt>
                <c:pt idx="2">
                  <c:v>85</c:v>
                </c:pt>
                <c:pt idx="3">
                  <c:v>90</c:v>
                </c:pt>
                <c:pt idx="4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Introducción al Pruebas  de Software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vs Automated Testing — Fundamentos Esenciales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 de Software • 7.º Semestre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Aprendizaje — Sesión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el rol crítico del testing en el ciclo de vida del software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entre pruebas manuales y automatizadas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cuándo aplicar cada tipo de prueba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el impacto económico de los bugs en producción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Contextualizar el testing dentro de metodologías ágiles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el Testing es Crítico?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real de los bugs: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en producción cuesta 100× más que uno detectado en desarrollo (IBM Research)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del cohete Ariane 5 (1996): $370M perdidos por overflow no testeado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de Knight Capital (2012): $440M en 45 min por deploy sin pruebas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testing NO es opcional — es ingeniería: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calidad, confiabilidad y mantenibilidad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el comportamiento esperado del sistema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deuda técnica a largo plazo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0" y="960120"/>
            <a:ext cx="32004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0" y="1051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Dato Clave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0" y="146304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(2002): los bugs cuestan a la economía de EE.UU. $59.5B/año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80% de los costos de software son de mantenimiento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tempranas reducen costos en un 40-80%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Pruebas Manuales vs Automatizadas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🧑‍💻 Manual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Ejecutadas por personas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casos exploratorios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flexibilidad cognitiva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problemas de UX/usabilidad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inversión inicial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repetible de forma exacta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Lenta para regresión masiva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20624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Automatizada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Ejecutadas por scripts/herramientas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casos repetitivos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y precisión constante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feedback en minutos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inversión inicial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 largo plazo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Selenium, JUnit, Cypress, Jest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Pirámide de Testing — El Modelo Estándar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— Unit Tests (Base — 70%):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Rápidos, baratos, aislados. Son la base sólida.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— Integration Tests (Medio — 20%):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Verifican interacción entre módulos/servicios.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 — E2E / UI Tests (Cima — 10%):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Simulan flujos completos del usuario. Lentos y costosos.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Antipatrón: La pirámide invertida (Ice Cream Cone):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E2E, pocos unit tests → frágil, lento y costoso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Distribución Ideal de Pruebas (Pirámide de Testing)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Pruebas Manuales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Verifican que el sistema hace lo que debe hacer según los requisitos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Usabilidad: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Evalúan la experiencia del usuario — dificilmente automatizables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Exploratorias: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tester explora el sistema sin casos de prueba predefinidos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Ad-hoc: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planificación formal — basadas en intuición del tester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Aceptación (UAT):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final valida que el software cumple sus necesidades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Pruebas Automatizadas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— Jest, JUnit, PyTest: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función, un método, una clase — aislados con mocks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 — Postman, TestContainers: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o más componentes interactuando entre sí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— Selenium, Cypress, Playwright: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 desde la UI hasta la base de datos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— JMeter, k6, Gatling: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Carga, estrés y escalabilidad del sistema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 — OWASP ZAP, Burp Suite: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OWASP Top 10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en el Ciclo de Desarrollo Ágil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Testing — Probar antes: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pruebas desde el diseño, no al final del sprint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Done (DoD):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historia de usuario NO está "done" sin pruebas pasando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— Behavior Driven Development: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Gherkin: Given / When / Then — lenguaje compartido equipo/negocio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— Test Driven Development: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→ Green → Refactor (se verá en sesiones 2–5)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Testing en CI/CD: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automáticas en cada pull request y merge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Real: Facebook y el Bug del 'Me gusta'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/ Facebook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— Outage global de 6 horas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en la configuración de red pasó sin pruebas de integración adecuadas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pruebas de regresión completas, el cambio se desplegó a producción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WhatsApp, Instagram y Facebook inaccesibles mundialmente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estimada: $100M en ingresos publicitarios + $6B en valor de mercado (Zuckerberg)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Las pruebas de integración y smoke tests son NO negociables antes de cada deploy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Corrección: Implementaron gates de testing más estrictos en su pipeline CI/CD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Adopción de testing multicapa con automated smoke tests en cada región antes del deploy global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escenarios elegiría pruebas manuales sobre automatizadas y por qué?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56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relación existe entre la calidad del software y el costo de desarrollo?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791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afecta la pirámide de testing a la velocidad de entrega en un equipo ágil?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5021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riesgos implica un equipo que solo usa pruebas manuales en producción?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de la Sesión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testing NO es opcional — impacta directamente el costo y calidad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manuales: exploración, UX, aceptación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automatizadas: regresión, CI/CD, rendimiento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pirámide: 70% unit, 20% integration, 10% E2E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Shift-Left: probar temprano reduce costos hasta 80%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y BDD: paradigmas modernos de calidad continua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Tests — Fundamentos y Práctica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unitarias: la base de la pirámide de testing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 de Software • 7.º Semestre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Aprendizaje — Sesión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qué es una unidad y sus límites en el código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unit tests usando el patrón AAA (Arrange-Act-Assert)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Utilizar mocks, stubs y fakes para aislar dependencias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y mejorar la cobertura de código con herramientas reales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las características de un buen test unitario (FIRST)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una Unidad?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unidad es la pieza más pequeña del código que puede ser probada de forma aislada: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OOP: un método o una clase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funcional: una función pura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microservicios: una función lambda o handler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FIRST para buenos unit tests: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ejecutar miles en segundos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— no depende de DB, red, ni otros tests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— mismo resultado siempre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Self-validating — pasa o falla sin inspección manual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— escrito antes o junto al código de producción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Patrón AAA — Arrange, Act, Assert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Ejemplo en JavaScript con Jest: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ARRANGE: Preparar el estado inicial (datos, mocks)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const usuario = { nombre: 'Ana', edad: 17 };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 Ejecutar la función/método bajo prueba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const resultado = esMayorDeEdad(usuario);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ASSERT: Verificar el resultado esperado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expect(resultado).toBe(false);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UN test, UNA sola razón para fallar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descriptivo: debería_[comportamiento]_cuando_[condición]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Doubles — Mocks, Stubs y Fakes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STUB / FAKE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STUB: Retorna valores predefinidos, no verifica llamadas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cuando necesitamos un resultado fijo de una dependencia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stub de un repositorio que retorna un usuario fijo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FAKE: Implementación real pero simplificada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base de datos en memoria (H2 en Java)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206240" cy="39319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MOCK / SPY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MOCK: Verifica que se llamó con los argumentos correctos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cuando lo importante es la interacción, no el resultado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verificar que se llamó sendEmail()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SPY: Envuelve el objeto real y observa llamadas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verificar sin reemplazar la implementación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Cobertura de Código — Métricas Clave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Coverage: % de líneas ejecutadas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 ≥ 80% es el estándar de la industria (SonarQube)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Coverage: % de ramas (if/else) ejecutadas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riguroso que statement — detecta lógica no testeada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Coverage: % de funciones invocadas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detectar código muerto (dead code)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 (Pitest, Stryker):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 el código de producción y verifica que los tests fallen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100% ≠ tests de calidad — mutation testing lo evidencia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¿Cuánta cobertura es suficiente? (Benchmarks de industria)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de Unit Testing por Lenguaje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/ TypeScript: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(Meta) — más popular, integrado con React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— ultra rápido, compatible con Vite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— flexible, fixtures, parametrize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unittest — librería estándar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Kotlin: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 — el estándar enterprise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Kotest — nativo para Kotlin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/ C#: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+ Moq — recomendado por Microsoft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Real: Google y sus 3 billones de unit tests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testing en la mayor base de código del mundo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ejecuta ~3 mil millones de unit tests por día en su CI/CD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Tienen más de 2,000 millones de líneas de código en un mono-repo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ningún código pasa code review sin tests unitarios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mínima aceptada: 80% en código de producción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'Hermetic Tests': completamente aislados, sin red ni disco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bugs en producción reducidos en un 60% respecto a la era pre-tests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Base de código con alta confianza para cambios: los ingenieros refactorizan sin miedo gracias a la red de seguridad de los tests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el 100% de cobertura de código no garantiza un sistema libre de bugs?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56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usarías un Mock vs un Stub? Da un ejemplo concreto de tu área de aplicación.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791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desafíos enfrentarías al implementar FIRST en un sistema legado sin tests?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5021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balancearías el tiempo de escribir tests vs el tiempo de escribir features?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de la Sesión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= pieza más pequeña probada de forma aislada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AAA: Arrange, Act, Assert — estructura estándar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FIRST: Fast, Isolated, Repeatable, Self-validating, Timely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Mocks verifican interacciones; Stubs retornan datos fijos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 80%+ en producción, mutation testing para calidad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Jest, PyTest, JUnit 5 + Mockito, xUnit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Tests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Probando la interacción entre componentes y servicios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 de Software • 7.º Semestre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Aprendizaje — Sesión 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integration tests de unit tests con criterios claros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pruebas de integración para capas de persistencia y APIs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TestContainers para pruebas de BD reales en Docker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patrones de integración: Big Bang vs Incremental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el trade-off velocidad vs fidelidad en integration tests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son los Integration Tests?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Verifican que dos o más componentes colaboran correctamente: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A + Módulo B → ¿se comunican como se espera?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+ Base de Datos → ¿las queries retornan los datos correctos?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+ Capa de negocio → ¿el contrato HTTP se cumple?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clave con Unit Tests: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prueba UNA cosa en AISLAMIENTO (con mocks)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prueba la COLABORACIÓN (con componentes reales o semi-reales)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clásico: pasar tests unitarios y fallar en integración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funciona solo, pero juntos hay fallos de contrato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Estrategias: Big Bang vs Incremental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💣 Big Bang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todos los módulos de una vez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aislar el origen del fallo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viable en sistemas pequeños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alto: un fallo bloquea todo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Débug complejo: ¿cuál módulo falló?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20624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Incremental (Recomendado)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Top-Down: integrar desde capas superiores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Bottom-Up: desde capas de datos hacia arriba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Sandwich: ambas simultáneamente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aísla fallos con precisión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recomendado en proyectos ágiles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Pruebas de Integración con Bases de Datos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1 — H2 / SQLite en memoria (rápido pero riesgoso):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de dialecto SQL pueden ocultar bugs reales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detecta problemas de índices, transacciones, o tipos específicos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2 — TestContainers (recomendado):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 un contenedor Docker real de PostgreSQL/MySQL para el test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motor que producción → máxima fidelidad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destruye automáticamente al terminar el test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(Java):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@Container static PostgreSQLContainer&lt;?&gt; db = new PostgreSQLContainer&lt;&gt;("postgres:15")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Soporte: Java, Python, Go, .NET, Node.js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 Testing — Probando APIs entre Servicios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Contract Testing?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que el contrato (interfaz) entre consumidor y proveedor se mantiene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Consumer-Driven Contract Testing (PACT):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consumidor define qué espera del proveedor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verifica que cumple esas expectativas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 en microservicios?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A cambia su API → Servicio B se rompe en producción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tests detectan esto ANTES del deploy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 (multi-lenguaje), Spring Cloud Contract (Java), Dredd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de Integration Testing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REST: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RestAssured (Java) — fluent API para probar endpoints HTTP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SuperTest (Node.js) — testing HTTP con Jest/Mocha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+ PyTest (Python) — simple y potente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— contenedores Docker reales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/ Liquibase — migraciones de BD en tests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(Kafka, RabbitMQ):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EmbeddedKafka — broker Kafka in-process para tests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para brokers reales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Real: Netflix y los Integration Tests de Microservicios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Netflix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800+ microservicios — ¿cómo garantizar integración?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tiene más de 800 microservicios en producción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un cambio en el servicio de 'recomendaciones' rompía el servicio de 'streaming'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adoptaron Consumer-Driven Contract Testing con PACT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tiene un 'contrato' que todos los consumidores deben respetar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cualquier deploy, se verifican TODOS los contratos automáticamente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Implementaron 'Chaos Engineering' (Chaos Monkey) como complemento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Reducción del 80% en incidentes de integración entre servicios tras adoptar contract testing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los tests en memoria (H2) pueden dar falsa seguridad al equipo de desarrollo?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56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implementarías integration tests en una arquitectura de microservicios con 10+ servicios?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791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costo de no tener contract tests en un equipo donde 3 equipos consumen la misma API?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5021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balanceas la velocidad de ejecución vs fidelidad en tu estrategia de integration tests?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de la Sesión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tests: verifican colaboración entre componentes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Bang vs Incremental: preferir estrategia incremental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TestContainers: BD real en Docker para máxima fidelidad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Testing (PACT): esencial en arquitecturas de microservicios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APIs: RestAssured, SuperTest, Requests+PyTest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tests unitarios no reemplazan los tests de integración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Driven Development (TDD)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→ Green → Refactor: diseñar a través de los tests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 de Software • 7.º Semestre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Aprendizaje — Sesión 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ciclo Red-Green-Refactor correctamente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cómo TDD mejora el diseño del código (emergent design)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Practicar TDD con kata de código (FizzBuzz, calculadora)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TDD clásico (Chicago) de TDD mock-based (London)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ventajas, limitaciones y mitos del TDD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Ciclo TDD — Red, Green, Refactor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RED — Escribir el test que FALLA: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un test para funcionalidad que AÚN NO EXISTE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 debe fallar por la razón correcta (not implemented)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GREEN — Hacer que el test PASE: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el mínimo código necesario para que el test pase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"Fake it till you make it" — está permitido ser simple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REFACTOR — Limpiar el código: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el diseño sin cambiar el comportamiento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tests son tu red de seguridad durante el refactor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NEVER refactor on red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TDD Clásico (Chicago) vs TDD Mockista (London)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(Inside-Out / Classic TDD):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por el dominio/lógica de negocio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objetos reales tanto como sea posible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mocks se usan solo para dependencias externas (BD, APIs)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para diseño emergente del dominio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(Outside-In / Mockist TDD):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desde los bordes del sistema (controllers, API)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mocks agresivamente para aislar cada colaborador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el diseño desde la perspectiva del consumidor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para arquitecturas de microservicios con muchas dependencias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Kata de TDD — FizzBuzz Paso a Paso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Reglas: 1-100, Fizz si div 3, Buzz si div 5, FizzBuzz si ambos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(Red): expect(fizzbuzz(1)).toBe('1')  → Falla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1 (Green): return String(n)  → Pasa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(Red): expect(fizzbuzz(3)).toBe('Fizz')  → Falla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2 (Green): if(n%3===0) return 'Fizz'  → Pasa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 (Red): expect(fizzbuzz(5)).toBe('Buzz')  → Falla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3 (Green): if(n%5===0) return 'Buzz'  → Pasa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4 (Red): expect(fizzbuzz(15)).toBe('FizzBuzz')  → Falla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4 (Green): if(n%15===0) return 'FizzBuzz'  → Pasa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REFACTOR: reordenar condiciones, extraer funciones → todos los tests pasan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TDD y el Diseño Emergente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fuerza mejor diseño porque: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difícil de testear = código con alto acoplamiento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test es complicado de escribir, el diseño tiene un problema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 diseño que emergen del TDD: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Responsibility: clases pequeñas con una sola razón de cambio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Injection: necesaria para poder mockear dependencias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bien definidas: el test define el 'contrato' de uso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acoplamiento: las dependencias se inyectan, no se crean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principles emergen naturalmente del TDD bien aplicado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Mitos y Realidades del TDD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Mito: 'TDD duplica el tiempo de desarrollo'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Realidad: reduce el tiempo de debugging y mantenimiento en 40-80%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Mito: 'TDD garantiza el 100% de cobertura'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Realidad: garantiza que el código ESCRITO tiene tests, no que es completo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Mito: 'TDD reemplaza todos los demás tipos de prueba'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Realidad: TDD genera unit tests — aún necesitas integration y E2E tests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Realidad: TDD mejora la calidad del diseño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escrito con TDD tiene naturalmente menor acoplamiento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Realidad: TDD es más efectivo con experiencia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una curva de aprendizaje de 2-4 semanas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Real: Microsoft y la Adopción de TDD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Vista — antes de adoptar TDD en equipos clave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de Microsoft Research (2008): equipos que adoptaron TDD vs control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Windows: 60-90% reducción en densidad de bugs vs proyectos anteriores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IBM: 40% menos defectos con TDD a pesar del 15-35% más de tiempo inicial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.NET team: adoptó TDD para Azure DevOps (antes VSTS)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Azure DevOps pasó de liberaciones trimestrales a releases cada 3 semanas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adicional inicial (15-35%) se recupera en el primer sprint de mantenimiento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60-90% reducción de densidad de bugs; entregas más frecuentes con mayor confianza del equipo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tipo de proyectos crees que TDD aporta más valor y en cuáles menos? ¿Por qué?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56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convencerías a un equipo escéptico del TDD de adoptarlo gradualmente?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791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diferencia entre escribir tests después del código vs TDD? ¿Cambia el diseño?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5021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¿Puedes aplicar TDD en un sistema legado sin tests? ¿Qué estrategia usarías?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de la Sesión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TDD: Red→Green→Refactor — test primero, siempre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(inside-out) vs London (outside-in, mockista)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mejora: bajo acoplamiento, SOLID principles emergen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FizzBuzz: la kata clásica para aprender el ciclo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Mitos debunked: TDD no duplica tiempo, mejora calidad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industrial: 40-90% menos bugs en equipos que lo adoptan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Tests — End-to-End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Simulando la experiencia real del usuario de principio a fin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 de Software • 7.º Semestre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Aprendizaje — Sesión 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casos de prueba E2E basados en flujos críticos de negocio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pruebas funcionales con Cypress y Playwright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Page Object Model (POM) para mantenibilidad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datos de prueba y entornos de test de forma efectiva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cuándo E2E tests aportan valor y cuándo son sobre-ingeniería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E2E Tests — La Cima de la Pirámide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prueban los tests E2E?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completos del usuario: login → buscar producto → pagar → confirmación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completo: frontend + backend + BD + servicios externos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integración real de todos los componentes en un entorno real (staging)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son pocos en la pirámide (10%)?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Lentos: pueden tardar minutos por test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Frágiles: un cambio de UI puede romper decenas de tests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Costosos: requieren entornos completos y datos de prueba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cubren que los otros niveles NO pueden?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real del sistema completo — la experiencia del usuario final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Cypress vs Playwright — Comparativa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🌲 Cypress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 por Cypress.io (2017)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dentro del browser (mismo proceso)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DX — debugging visual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JavaScript/TypeScript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apps React/Vue/Angular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grabación en la nube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Limitación: no multi-tab nativo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20624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🎭 Playwright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 por Microsoft (2020)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fuera del browser (más potente)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Multi-browser: Chrome, Firefox, Safari, Edge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JS, TS, Python, Java, C#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Multi-tab, multi-page, mobile emulation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Viewer: debugging avanzado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más baja → más control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Object Model (POM) — Mantenibilidad E2E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sin POM: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Selectores CSS hardcodeados en decenas de tests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en la UI rompe 50 tests a la vez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Page Object Model: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página de la app es una clase con sus selectores y acciones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tests llaman a métodos del POM, no a selectores directamente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POM (ejemplo):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LoginPage { get emailInput() { return cy.get('#email') } }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LoginPage { login(email, pwd) { this.emailInput.type(email)... } }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it('login exitoso', () =&gt; { loginPage.login('ana@..', '1234') })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Beneficio: cambio en UI → actualizar solo la clase POM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 Datos de Prueba en E2E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para manejar datos en E2E tests: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Fixtures / Seed Data: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datos conocidos antes del test, limpiar después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API Setup (prefer over UI setup):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usuarios/órdenes vía API REST, no via UI (más rápido y estable)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Database Seeding: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de migración que cargan estado inicial conocido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 Isolation: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test debe ser independiente y dejar el sistema en estado limpio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beforeEach: setup | afterEach: teardown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Anti-patrón: tests que dependen del orden de ejecución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Identificar los Flujos Críticos a Testear (Happy Path + Edge Cases)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E-commerce: flujos críticos a cubrir con E2E: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Registro de usuario → login → búsqueda → carrito → pago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Recuperación de contraseña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Checkout con dirección de envío fallida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/ Banking: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Login con 2FA → transferencia → confirmación → notificación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Límite de transferencia excedido (edge case)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80/20: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20% de los flujos genera el 80% del valor — testea esos primero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testear cada permutación con E2E — eso es para unit tests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Real: Shopify y su suite E2E con Playwright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Shopify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una suite de 10,000+ E2E tests en CI/CD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tenía 10,000+ tests de Selenium que tardaban 8 horas en CI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Migraron a Playwright con ejecución paralela (sharding)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Redujeron el tiempo de CI de 8 horas a 22 minutos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Implementaron visual regression testing (screenshots como baseline)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Adoptaron POM con TypeScript para todos los flows del checkout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confianza para hacer 40+ deploys diarios a producción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De 8 horas a 22 minutos en CI; 40+ deploys/día con confianza total en los flujos de pago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priorizarías cuáles flujos de usuario cubrir primero con E2E tests en una app nueva?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56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estrategia usarías para evitar que los E2E tests sean el cuello de botella del CI/CD?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791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el Page Object Model es fundamental cuando el equipo de QA es múltiple?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5021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se diferencia un test funcional de un test de aceptación? ¿Son lo mismo?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de la Sesión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tests: la cima de la pirámide — lentos, costosos, valiosos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Cubren flujos reales del usuario de principio a fin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Cypress: excelente DX para SPAs | Playwright: potente y multi-lenguaje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Model: mantenibilidad cuando la UI cambia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prueba: isolation, seeds, setup via API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80/20: testear los flujos que más valor generan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• Pruebas  de Software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Pruebas  de Software — Sesiones 1 a 5</dc:title>
  <dc:subject>PptxGenJS Presentation</dc:subject>
  <dc:creator>PptxGenJS</dc:creator>
  <cp:lastModifiedBy>PptxGenJS</cp:lastModifiedBy>
  <cp:revision>1</cp:revision>
  <dcterms:created xsi:type="dcterms:W3CDTF">2026-04-04T19:06:32Z</dcterms:created>
  <dcterms:modified xsi:type="dcterms:W3CDTF">2026-04-04T19:06:32Z</dcterms:modified>
</cp:coreProperties>
</file>