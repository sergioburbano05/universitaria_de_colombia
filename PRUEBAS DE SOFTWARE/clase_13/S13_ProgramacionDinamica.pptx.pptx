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96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726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Generalidades · Memoización · Tabulación · Problemas Clásicos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9019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2743200"/>
            <a:ext cx="1901952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606040" y="27432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190195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2743200"/>
            <a:ext cx="1901952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903720" y="27432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4622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74573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7mo Semestre  |  Ing. Software  |  Universitaria de Colombia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Sesión 13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Generalidades de la Programación Dinámica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DP?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Concepto, características e historia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28600" y="2212848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propiedad matemática fundamental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3465576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solapados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recursión ingenua es exponencial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4632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vs Tabulación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vs Bottom-up: cuándo usar cada uno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709160" y="2212848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4632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clásicos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Fibonacci, Coin Change, LCS, Knapsack, Edit Distance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709160" y="3465576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4632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 + Ejercicio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paso a paso + aplicación al testing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 / 34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Programación Dinámica?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mediante división y reutilización de subproblemas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Programación Dinámica?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914400"/>
          </a:xfrm>
          <a:prstGeom prst="rect">
            <a:avLst/>
          </a:prstGeom>
          <a:solidFill>
            <a:srgbClr val="1A1530"/>
          </a:solidFill>
          <a:ln w="1905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54864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969264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DP es una técnica de diseño de algoritmos que resuelve problemas complejos </a:t>
            </a: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dividiéndolos en subproblemas más simples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guardando los resultados para </a:t>
            </a:r>
            <a:r>
              <a:rPr lang="en-US" sz="14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recalcularlos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2697480" cy="2697480"/>
          </a:xfrm>
          <a:prstGeom prst="rect">
            <a:avLst/>
          </a:prstGeom>
          <a:solidFill>
            <a:srgbClr val="1A0E00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26974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75488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histórico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46888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Bellman (1950s).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'Dynamic' no describe el concepto — era para impresionar al Secretario de Defensa de EE.UU.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993392"/>
            <a:ext cx="2697480" cy="2697480"/>
          </a:xfrm>
          <a:prstGeom prst="rect">
            <a:avLst/>
          </a:prstGeom>
          <a:solidFill>
            <a:srgbClr val="0A0418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18688" y="1993392"/>
            <a:ext cx="26974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328416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propiedades requeridas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246888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Subestructura Óptima: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solución óptima ← sub-soluciones óptimas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Subproblemas Solapados: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mismos subproblemas aparecen múltiples veces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993392"/>
            <a:ext cx="2697480" cy="2697480"/>
          </a:xfrm>
          <a:prstGeom prst="rect">
            <a:avLst/>
          </a:prstGeom>
          <a:solidFill>
            <a:srgbClr val="001514"/>
          </a:solidFill>
          <a:ln w="1524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071616" y="1993392"/>
            <a:ext cx="2697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181344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vs Divide &amp; Conquer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1344" y="246888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D&amp;C: subproblemas independientes (merge sort).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DP: subproblemas se solapan → se reutilizan.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dividen, solo DP memoriza.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4 / 34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498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Filosofía de la DP — 3 Conceptos Clave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de pensar detrás de los algoritmos DP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738512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738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8412480" cy="211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Recordar en vez de recalcular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322288"/>
            <a:ext cx="8412480" cy="363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resolví un subproblema, guardar la respuesta. La memoria del algoritmo es la clave del rendimiento.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859940"/>
            <a:ext cx="8686800" cy="738512"/>
          </a:xfrm>
          <a:prstGeom prst="rect">
            <a:avLst/>
          </a:prstGeom>
          <a:solidFill>
            <a:srgbClr val="FFFFFF"/>
          </a:solidFill>
          <a:ln w="1651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1859940"/>
            <a:ext cx="45720" cy="73851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65760" y="1997100"/>
            <a:ext cx="8412480" cy="211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Construir desde lo pequeño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" y="2181258"/>
            <a:ext cx="8412480" cy="363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óptimas a problemas pequeños se combinan para formar soluciones óptimas a problemas grandes.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836792"/>
            <a:ext cx="8686800" cy="738512"/>
          </a:xfrm>
          <a:prstGeom prst="rect">
            <a:avLst/>
          </a:prstGeom>
          <a:solidFill>
            <a:srgbClr val="FFFFFF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2836792"/>
            <a:ext cx="45720" cy="738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5760" y="2973952"/>
            <a:ext cx="8412480" cy="211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Buscar la recurrencia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206048"/>
            <a:ext cx="8412480" cy="363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la fórmula matemática que relaciona un problema con sus subproblemas: f(n) = g(f(n-1), f(n-2), ...)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3787172"/>
            <a:ext cx="8686800" cy="715384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33979" y="3793088"/>
            <a:ext cx="45719" cy="70946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65760" y="3783945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mental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4061492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piensas 'ya calculé esto, ¿por qué lo recalculo?' → DP es tu herramienta.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1752" y="490118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5 / 34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propiedad requerida para aplicar DP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óptima del problema grande se construye de subsoluciones óptimas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formal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57300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tiene subestructura óptima si su solución óptima se puede construir combinando soluciones óptimas de sus subproblemas. Si no fuera así, habría una mejor combinación y el problema original no sería óptimo.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8686800" cy="141732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36576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85496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 Camino mínimo de A → D pasando por B y 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Si: costo(A→D)_optimo = costo(A→B) + costo(B→C) + costo(C→D),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entonces: costo(A→C)_optimo también debe ser el mínimo absoluto.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 existiera un camino A→C mejor, podríamos reemplazarlo y mejorar A→D.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¡Contradicción con la suposición de que A→D era óptimo! ∎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3273552"/>
            <a:ext cx="4206240" cy="1627632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28600" y="3273552"/>
            <a:ext cx="45720" cy="16276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65760" y="33649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CON subestructura óptima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694176"/>
            <a:ext cx="40050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mínimo (Dijkstra)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0/1 (Knapsack)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(Longest Common Subsequence)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Distance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Fibonacci, Coin Change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Chain Multiplication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273552"/>
            <a:ext cx="4206240" cy="1627632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663440" y="3273552"/>
            <a:ext cx="45720" cy="16276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00600" y="33649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SIN subestructura óptima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694176"/>
            <a:ext cx="40050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más largo simple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hamiltoniano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clique en grafos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Estos NO pueden resolverse con DP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Requieren backtracking o branch-and-bound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7 / 34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Solapados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recursión ingenua es exponencialmente lenta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Solapados — El Problema de Fibonacci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recursión ingenua recalcula los mismos valores exponencialmente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79476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 DP: Fibonacci recursivo ingenuo — O(2^n)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fib_naive(n: int) -&gt; int: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fib_naive(n-1) + fib_naive(n-2)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fib_naive(6) genera este árbol de llamadas: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fib(6)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/       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fib(5)      fib(4)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/     \     /    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fib(4) fib(3) fib(3) fib(2)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...   ...    ...    ...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fib(3) se calcula 2 veces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fib(2) se calcula 3 veces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fib(1) se calcula 5 veces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 para n=30: ~2.7 millones de llamadas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 para n=50: ~2.5 × 10^10 (horas de CPU)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PROBLEMA: hay solo n subproblemas distintos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(fib(0), fib(1), ..., fib(n-1))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pero se recalculan exponencialmente muchas veces.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SOLUCIÓN: guardar los resultados ya calculados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de exponencial a lineal con cache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41732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desperdicio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fib(35) = 29,860,703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fib(40) = 331,160,281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+5 en n multiplica llamadas por ~11x.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487168"/>
            <a:ext cx="3520440" cy="141732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487168"/>
            <a:ext cx="4572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57860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DP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907792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subproblemas distintos → O(n) tiempo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memoria: cada uno se calcula 1 vez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exponencial a lineal.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4023360"/>
            <a:ext cx="3520440" cy="777240"/>
          </a:xfrm>
          <a:prstGeom prst="rect">
            <a:avLst/>
          </a:prstGeom>
          <a:solidFill>
            <a:srgbClr val="FFF7ED"/>
          </a:solidFill>
          <a:ln w="1651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4023360"/>
            <a:ext cx="4572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41148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04688" y="43205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fib_naive(40) ≈ 2s de CPU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fib_dp(40) ≈ 0.00001s (200,000x)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9 / 34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(Top-Down)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Recursión con caché — de exponencial a lineal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— Top-Down con Caché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de arriba hacia abajo guardando los resultados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822192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822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Fibonacci con memoización — O(n) tiempo y espacio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ENFOQUE 1: Decorador lru_cache (pythónico)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@lru_cache(maxsize=None)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fib_memo(n: int) -&gt; int: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lru_cache guarda resultados automáticamente.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Primera vez fib_memo(10) → calcula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Segunda vez fib_memo(10) → retorna del caché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fib_memo(n-1) + fib_memo(n-2)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ENFOQUE 2: Diccionario manual (más explícito)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fib_manual(n: int, memo: dict = None) -&gt; int: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memo is None: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memo = {}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in memo:          # ← si ya calculamos, retornar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memo[n]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fib_manual(n-1, memo) + fib_manual(n-2, memo)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memo[n] = resultado    # ← guardar antes de retornar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resultado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Verificación: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print(fib_memo(50))   # 12586269025 — instantáneo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print(fib_memo(100))  # 354224848179261915075 — instantáneo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23444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Verifica si n está en el caché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 sí: retorna el valor guardado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 no: calcula, guarda y retorna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286000"/>
            <a:ext cx="3520440" cy="123444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286000"/>
            <a:ext cx="4572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377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70662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O(n) — cada subproblema se calcula 1 vez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Espacio: O(n) — el caché guarda n valores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611880"/>
            <a:ext cx="3520440" cy="114300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3611880"/>
            <a:ext cx="4572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37033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03250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con estructura recursiva natural. Cuando el árbol de recursión tiene muchas ramas repetidas.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11 / 34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 (Bottom-Up)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Llenar la tabla iterativamente — sin recursión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 — Bottom-Up Iterativo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solución desde los casos base hasta la respuesta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822192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822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Fibonacci con tabulación — O(n) tiempo, O(n) → O(1) espacio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fib_tabla(n: int) -&gt; int: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Llenamos la tabla de ABAJO HACIA ARRIBA.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Empezamos con casos base y construimos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hasta llegar a la respuesta.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Tabla DP: dp[i] = i-ésimo número de Fibonacci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(n + 1)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 = 0  # caso base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dp[1] = 1  # caso base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range(2, n + 1):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 = dp[i-1] + dp[i-2]  # recurrencia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OPTIMIZACIÓN DE ESPACIO a O(1):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Solo necesitamos los 2 valores anteriores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fib_optimo(n: int) -&gt; int: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 return 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range(2, n + 1):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   # solo guardamos 2 valores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Traza para n=6: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 = [0, 1, 1, 2, 3, 5, 8]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dp[2]=dp[1]+dp[0]=1, dp[3]=2, dp[4]=3, dp[5]=5, dp[6]=8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23444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vs Bottom-Up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Memo: recursión + caché. Natural de describir.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iterativo + tabla. Más eficiente espacio.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286000"/>
            <a:ext cx="3520440" cy="123444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286000"/>
            <a:ext cx="4572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377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llenado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70662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de subproblemas menores a mayores. La recurrencia determina el orden del for.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611880"/>
            <a:ext cx="3520440" cy="1143000"/>
          </a:xfrm>
          <a:prstGeom prst="rect">
            <a:avLst/>
          </a:prstGeom>
          <a:solidFill>
            <a:srgbClr val="FFF7ED"/>
          </a:solidFill>
          <a:ln w="1651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3611880"/>
            <a:ext cx="45720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37033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clave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03250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puede optimizarse a O(1) espacio si solo necesitas los últimos k valores.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13 / 34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vs Tabulación — Comparativa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cada enfoque?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2167666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(Top-Down)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402336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Más intuitiva de implementar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Solo calcula subproblemas necesarios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Natural para pensar el problema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Overhead de llamadas recursivas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Riesgo de stack overflow con n grande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Mayor uso de memoria del stack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206240" cy="2167666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773168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 (Bottom-Up)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380744"/>
            <a:ext cx="402336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overhead de recursión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riesgo de stack overflow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Puede optimizarse a O(1) espacio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Más difícil de plantear inicialmente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Calcula TODOS los subproblemas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Orden de llenado debe ser correcto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3362572"/>
            <a:ext cx="8686800" cy="820808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14884" y="3362572"/>
            <a:ext cx="45720" cy="820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47472" y="3404796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" y="3695521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con memoización (más fácil). Si hay stack overflow o necesitas máxima eficiencia, optimiza a tabulación.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14 / 34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Clásicos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problemas DP que todo ingeniero debe dominar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 — Fibonacci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'Hello World' de la programación dinámica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8727"/>
            <a:ext cx="8686800" cy="566928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298448"/>
            <a:ext cx="84856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n-ésimo número de Fibonacci: F(0)=0, F(1)=1, F(n)=F(n-1)+F(n-2). Naive: O(2^n). Con DP: O(n).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8686800" cy="259851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1664208"/>
            <a:ext cx="36576" cy="2743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" y="1755648"/>
            <a:ext cx="8549640" cy="2442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Comparativa de las 3 implementaciones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Naive — O(2^n) tiempo, O(n) espacio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fib_naive(n):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if n &lt;= 1 else fib_naive(n-1) + fib_naive(n-2)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Memoización — O(n) tiempo, O(n) espacio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@lru_cache(maxsize=None)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fib_memo(n):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if n &lt;= 1 else fib_memo(n-1) + fib_memo(n-2)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Tabulación optimizada — O(n) tiempo, O(1) espacio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fib_tab(n):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 return 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range(2, n+1):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Benchmark n=40: naive=1.8s, memo=0.0001s, tab=0.0001s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6888" y="4303866"/>
            <a:ext cx="8686800" cy="606462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42316" y="4303865"/>
            <a:ext cx="50292" cy="606457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83464" y="4254111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544568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sucesión de Fibonacci modela crecimiento en la naturaleza: pétalos, espirales, reproducción de conejos.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16 / 34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 — Coin Change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número de monedas para alcanzar una cantidad objetivo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66928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21308"/>
            <a:ext cx="84856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un conjunto de monedas [c1,...,cn] y una cantidad, encuentra el mínimo número de monedas para alcanzarla. Las monedas se pueden reutilizar.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8686800" cy="288036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1664208"/>
            <a:ext cx="36576" cy="2880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" y="1755648"/>
            <a:ext cx="854964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coin_change.py — O(amount × len(coins)) tiempo y espacio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coin_change(monedas: list, objetivo: int) -&gt; int: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 = mínimo número de monedas para formar cantidad i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Recurrencia: dp[i] = min(dp[i - coin] + 1) para cada coin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 = float('inf')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[INF] * (objetivo + 1)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 = 0  # caso base: 0 monedas para cantidad 0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cantidad in range(1, objetivo + 1):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moneda in monedas: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moneda &lt;= cantidad: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dp[cantidad] = min(dp[cantidad],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dp[cantidad - moneda] + 1)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dp[objetivo] if dp[objetivo] != INF else -1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 monedas=[1,5,10,25], objetivo=36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print(coin_change([1,5,10,25], 36))  # 3 (25+10+1)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print(coin_change([2], 3))            # -1 (imposible)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28600" y="4663440"/>
            <a:ext cx="457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52044" y="4686031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DP y no Greedy?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54219" y="4751922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[1,3,4] y objetivo=6: greedy=4+1+1 (3 monedas), DP=3+3 (2 monedas). Greedy falla.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17 / 34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3 — LCS (Longest Common Subsequence)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del algoritmo diff de Git y comparación de ADN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971800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971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lcs.py — O(m × n) tiempo y espacio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lcs(s1: str, s2: str) -&gt; int: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LCS = subsecuencia más larga común a ambas cadenas.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(No necesariamente contigua, pero en orden)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len(s1), len(s2)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dp[i][j] = longitud LCS de s1[:i] y s2[:j]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[[0]*(n+1) for _ in range(m+1)]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m+1):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n+1):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s1[i-1] == s2[j-1]:           # caracteres iguales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dp[i-1][j-1] + 1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                             # tomar el mejor previo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max(dp[i-1][j], dp[i][j-1])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dp[m][n]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 LCS('ABCBDAB', 'BDCABA') = 4 (ej: 'BCBA' o 'BCAB')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print(lcs('ABCBDAB', 'BDCABA'))  # 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4059936"/>
            <a:ext cx="8686800" cy="96012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4059936"/>
            <a:ext cx="457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4151376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real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80560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usa LCS (Myers algorithm) para mostrar qué líneas cambiaron entre versiones.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bioinformática, LCS compara secuencias de ADN/proteínas entre especies.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18 / 34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4 — 0/1 Knapsack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valor sin exceder la capacidad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867912"/>
          </a:xfrm>
          <a:prstGeom prst="rect">
            <a:avLst/>
          </a:prstGeom>
          <a:solidFill>
            <a:srgbClr val="06041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246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knapsack.py — 0/1 Knapsack O(n × W)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knapsack(pesos, valores, capacidad):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 cada ítem: ¿incluir o no incluir?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dp[i][w] = máximo valor con ítems 0..i y capacidad 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len(pesos)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[[0]*(capacidad+1) for _ in range(n+1)]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w in range(capacidad+1):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Opción 1: no incluir ítem 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dp[i][w] = dp[i-1][w]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Opción 2: incluir ítem i (si cabe)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pesos[i-1] &lt;= w: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con_item = dp[i-1][w-pesos[i-1]] + valores[i-1]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dp[i][w] = max(dp[i][w], con_item)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dp[n][capacidad]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pesos   = [2, 3, 4, 5]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 = [3, 4, 5, 6]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print(knapsack(pesos, valores, 5))  # 7 (items 0 y 1)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28016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en Testing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se usa para seleccionar tests dado un presupuesto de tiempo: maximizar cobertura de riesgo respetando el tiempo disponible.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331720"/>
            <a:ext cx="3520440" cy="128016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331720"/>
            <a:ext cx="4572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4231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DP trazada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752344"/>
            <a:ext cx="3319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pesos=[2,3,4,5], caps=5: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dp[4][5] = 7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(items: peso=2,val=3 + peso=3,val=4)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703320"/>
            <a:ext cx="3520440" cy="1115568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3703320"/>
            <a:ext cx="4572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3794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Fraccionaria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123944"/>
            <a:ext cx="33192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fraccionaria (tomar fracciones de ítems) se resuelve con Greedy, NO con DP.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19 / 34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5 — Edit Distance (Levenshtein)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de operaciones para transformar una cadena en otra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867912"/>
          </a:xfrm>
          <a:prstGeom prst="rect">
            <a:avLst/>
          </a:prstGeom>
          <a:solidFill>
            <a:srgbClr val="060410"/>
          </a:solidFill>
          <a:ln w="1270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2461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edit_distance.py — O(m × n)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edit_distance(s1: str, s2: str) -&gt; int: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Operaciones permitidas: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Insertar carácter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Eliminar carácter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Reemplazar carácter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dp[i][j] = mín. ops para transformar s1[:i] en s2[:j]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len(s1), len(s2)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[[0]*(n+1) for _ in range(m+1)]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Casos base: desde/hacia cadena vacía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range(m+1): dp[i][0] = i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range(n+1): dp[0][j] = j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m+1):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n+1):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s1[i-1] == s2[j-1]:  # sin operación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dp[i-1][j-1]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                    # min de 3 ops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1 + min(dp[i-1][j],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dp[i][j-1],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dp[i-1][j-1])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dp[m][n]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print(edit_distance('kitten', 'sitting'))  # 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828800"/>
          </a:xfrm>
          <a:prstGeom prst="rect">
            <a:avLst/>
          </a:prstGeom>
          <a:solidFill>
            <a:srgbClr val="EDE9FE"/>
          </a:solidFill>
          <a:ln w="1651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828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en QA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checkers, autocorrección, comparación de logs de errores, fuzzy matching en datos de prueba para encontrar registros similares.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880360"/>
            <a:ext cx="3520440" cy="1627632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880360"/>
            <a:ext cx="45720" cy="1627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9718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trazada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3300984"/>
            <a:ext cx="33192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''  s  i  t  t  i  n  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''  0  1  2  3  4  5  6  7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   1  1  2  3  4  5  6  7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   2  2  1  2  3  4  5  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   3  3  2  1  2  3  4  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20 / 34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paso a paso con Python y análisis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— Fibonacci: Traza de Memoización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cómo la memoización elimina el recálculo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867912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063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fibonacci_trace.py — Con contador de llamadas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llamadas = {'total': 0, 'cache_hits': 0}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fib_traced(n: int, memo: dict = None) -&gt; int: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memo is None: memo = {}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llamadas['total'] += 1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in memo: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llamadas['cache_hits'] +=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memo[n]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memo[n] = 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fib_traced(n-1, memo) + fib_traced(n-2, memo)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memo[n] = resultado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resultado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Traza para fib(6):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 = {}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fib_traced(6, memo)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print(f'Total llamadas: {llamadas["total"]}')        # 11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print(f'Cache hits:     {llamadas["cache_hits"]}')   # 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print(f'Memo final: {memo}')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{0: 0, 1: 1, 2: 1, 3: 2, 4: 3, 5: 5, 6: 8}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170432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DP (naive)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fib(6) → 25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fib(4) se calcula 3 veces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 se calcula 5 veces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194560"/>
            <a:ext cx="3520440" cy="1170432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194560"/>
            <a:ext cx="4572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2860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DP (memo)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615184"/>
            <a:ext cx="33192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fib(6) → 11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cache hits (ahorros)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subproblema 1 vez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429000"/>
            <a:ext cx="3520440" cy="114300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3429000"/>
            <a:ext cx="4572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n=30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384962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2,692,537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DP: 59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45,636× más rápido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22 / 34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— Coin Change: Tabla DP Paso a Paso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el llenado para objetivo=11, monedas=[1,5,6]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0292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" y="1252997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monedas=[1,5,6], objetivo=11. El greedy falla: 6+5=11 (2 monedas). ¿DP lo confirma?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28600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0976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950976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73352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673352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95728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395728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18104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118104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840480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62856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562856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85232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285232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07608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007608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29984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729984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52360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7452360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74736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8174736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897112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8897112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2075688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228600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50976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950976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673352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1673352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395728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2395728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118104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3118104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840480" y="2075688"/>
            <a:ext cx="685800" cy="420624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3840480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62856" y="2075688"/>
            <a:ext cx="685800" cy="420624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4562856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285232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5285232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007608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6007608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729984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6729984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452360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7452360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174736" y="2075688"/>
            <a:ext cx="685800" cy="420624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8174736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897112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8897112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28600" y="2697480"/>
            <a:ext cx="8686800" cy="219456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3" name="Shape 61"/>
          <p:cNvSpPr/>
          <p:nvPr/>
        </p:nvSpPr>
        <p:spPr>
          <a:xfrm>
            <a:off x="228600" y="2697480"/>
            <a:ext cx="36576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320040" y="2788920"/>
            <a:ext cx="85496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Trazando el llenado: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dp[0]=0 (base)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dp[1]=dp[0]+1=1 | dp[2]=2 | dp[3]=3 | dp[4]=4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dp[5]=min(dp[4]+1, dp[0]+1) = min(5,1) = 1  ← usa moneda 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dp[6]=min(dp[5]+1, dp[1]+1, dp[0]+1) = min(2,2,1) = 1  ← usa moneda 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dp[10]=min(dp[9]+1, dp[5]+1, dp[4]+1) = min(5,2,5) = 2  ← 5+5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dp[11]=min(dp[10]+1, dp[6]+1, dp[5]+1) = min(3,2,2) = 2  ← 5+6 o 6+5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print(coin_change([1,5,6], 11))  # 2 (monedas: 5 y 6)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23 / 34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 — LCS Paso a Paso con Reconstrucción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'ABCBDAB' y 'BDCABA' con trazado completo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7416706" cy="2633472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633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39" y="1051560"/>
            <a:ext cx="7237207" cy="2468880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lcs_con_reconstruccion.py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lcs_con_traza(s1: str, s2: str):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len(s1), len(s2)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[[0]*(n+1) for _ in range(m+1)]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m+1):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n+1):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s1[i-1] == s2[j-1]: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dp[i-1][j-1] + 1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max(dp[i-1][j], dp[i][j-1])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Reconstruir la subsecuencia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lcs_str, i, j = [], m, 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&gt; 0 and j &gt; 0: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s1[i-1] == s2[j-1]: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lcs_str.append(s1[i-1])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-= 1; j -= 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dp[i-1][j] &gt; dp[i][j-1]: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-= 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j -= 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dp[m][n], ''.join(reversed(lcs_str))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longitud, seq = lcs_con_traza('ABCBDAB', 'BDCABA')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print(f'LCS={longitud}, sec={seq}')  # 4, 'BCBA'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703474" y="996696"/>
            <a:ext cx="1382358" cy="2633472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7703474" y="996696"/>
            <a:ext cx="45719" cy="2633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840634" y="1088136"/>
            <a:ext cx="130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40634" y="1417320"/>
            <a:ext cx="130336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''  B  D  C  A  B  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''  0  0  0  0  0  0 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  0  0  0  0  1  1 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   0  1  1  1  1  2  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   0  1  1  2  2  2  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   0  1  1  2  2  3  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   0  1  2  2  2  3  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  0  1  2  2  3  3  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   0  1  2  2  3  4  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3712464"/>
            <a:ext cx="8686800" cy="128016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28600" y="3712464"/>
            <a:ext cx="4572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65760" y="3803904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real en Git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133088"/>
            <a:ext cx="8485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comando `git diff` usa Myers diff algorithm, basado en LCS, para mostrar exactamente qué líneas se agregaron, eliminaron o modificaron entre commits.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24 / 34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4 — Knapsack Aplicado a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tests de máximo impacto dado un presupuesto de tiempo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30352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real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00868"/>
            <a:ext cx="8485632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tests disponibles, 15 min antes del deploy. ¿Cuáles ejecutar para maximizar cobertura de riesgo?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581912"/>
            <a:ext cx="8686800" cy="2103120"/>
          </a:xfrm>
          <a:prstGeom prst="rect">
            <a:avLst/>
          </a:prstGeom>
          <a:solidFill>
            <a:srgbClr val="06041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1581912"/>
            <a:ext cx="36576" cy="2103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" y="1673352"/>
            <a:ext cx="8549640" cy="193852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test_selection_knapsack.py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seleccionar_tests(tests, presupuesto_min):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tests = [(nombre, tiempo_min, riesgo_cubierto), ...]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Maximiza riesgo_cubierto sin superar presupuesto_min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len(tests)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[[0]*(presupuesto_min+1) for _ in range(n+1)]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nombre, tiempo, riesgo = tests[i-1]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 in range(presupuesto_min+1):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dp[i][t] = dp[i-1][t]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tiempo &lt;= 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dp[i][t] = max(dp[i][t], dp[i-1][t-tiempo]+riesgo)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dp[n][presupuesto_min]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3822192"/>
            <a:ext cx="8686800" cy="1005840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28600" y="3822192"/>
            <a:ext cx="36576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0040" y="3913632"/>
            <a:ext cx="8549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= [('test_login', 3, 90), ('test_pago', 5, 95),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('test_reporte', 4, 70), ('test_api', 2, 80)]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print(seleccionar_tests(tests, 10))  # 265 = login+pago+api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4937760"/>
            <a:ext cx="8686800" cy="9144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4937760"/>
            <a:ext cx="4572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502920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5358384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10 min: login(3)+pago(5)+api(2) = 90+95+80 = 265 pts. Greedy hubiera dado 185 pts.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25 / 34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Errores Comunes en DP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— Programación Dinámica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que facilitan el diseño correcto de algoritmos DP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2 ingredientes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codear: ¿hay subestructura óptima? ¿hay subproblemas solapados? Si no ambos, DP no aplica.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dp[i] claramente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con palabras qué representa dp[i] o dp[i][j] antes de la recurrencia. Evita confusiones.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casos 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3912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70% de los bugs en DP están en dp[0] o dp[1]. Trazar manualmente los primeros valores.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38328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Trazar a mano primero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1D: trazar dp[0..5]. Para 2D: tabla 4×4. Antes de correr código.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con memoización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es más fácil. Después optimizar a tabulación si hay stack overflow.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complejidad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= (# subproblemas) × (trabajo por subproblema). Espacio = tamaño de la tabla.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27 / 34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 en Programación Dinámica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bloqueos típicos de los estudiantes principiantes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DP donde no corresponde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subestructura óptima o subproblemas solapados, DP es innecesariamente complejo.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28600" y="2221992"/>
            <a:ext cx="4572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2768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496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incorrecta de dp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dp[i] no está bien definido, la recurrencia no tiene sentido.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3483864"/>
            <a:ext cx="4572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758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base incorrectos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70% de bugs DP: dp[0] o dp[1] mal inicializados. Trazar manualmente.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690872" y="960120"/>
            <a:ext cx="45720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28032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llenado incorrecto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tabulación, si el orden viola dependencias, el resultado es incorrecto.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90872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90872" y="2221992"/>
            <a:ext cx="45720" cy="11155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28032" y="22768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2496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LCS con substring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NO necesita ser contiguo. Longest Common Substring SÍ. Son problemas distintos.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90872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690872" y="3483864"/>
            <a:ext cx="45720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28032" y="35387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3758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probar con casos pequeños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probar con n=0,1,2,3 antes de correr con valores grandes.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28 / 34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Ejercicio — Sesión 13  |  60 minutos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566928"/>
          </a:xfrm>
          <a:prstGeom prst="rect">
            <a:avLst/>
          </a:prstGeom>
          <a:solidFill>
            <a:srgbClr val="1A1530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80744"/>
            <a:ext cx="84856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3 problemas clásicos de DP y aplica uno al contexto de pruebas de software.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2743200" cy="3154680"/>
          </a:xfrm>
          <a:prstGeom prst="rect">
            <a:avLst/>
          </a:prstGeom>
          <a:solidFill>
            <a:srgbClr val="1A153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8328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DP (15 min)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Implementa fib_memo() con @lru_cache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Implementa fib_tabla() con tabulación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Cuenta llamadas vs versión naive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Grafica tiempos para n=1..40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36392" y="1664208"/>
            <a:ext cx="2743200" cy="3154680"/>
          </a:xfrm>
          <a:prstGeom prst="rect">
            <a:avLst/>
          </a:prstGeom>
          <a:solidFill>
            <a:srgbClr val="1A153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136392" y="1664208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246120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Change (25 min)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Implementa coin_change tabulación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Traza la tabla DP para [1,5,10], obj=15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Extiende para reconstruir qué monedas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46120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Verifica 5 casos con pytest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44184" y="1664208"/>
            <a:ext cx="2743200" cy="3154680"/>
          </a:xfrm>
          <a:prstGeom prst="rect">
            <a:avLst/>
          </a:prstGeom>
          <a:solidFill>
            <a:srgbClr val="1A153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044184" y="1664208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153912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53912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Aplicado a Testing (20 min)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Usa Knapsack para seleccionar tests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53912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8 tests con tiempo y riesgo dados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53912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Elige para 20 min de presupuesto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53912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Compara vs selección greedy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Notebook Python con los 3 problemas + análisis de complejidad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29 / 34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Adicional 1 — LIS (Longest Increasing Subsequence)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subsecuencia estrictamente creciente más larga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97180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971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lis.py — Longest Increasing Subsequence — O(n²)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lis(nums: list) -&gt; 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 = longitud de la LIS que termina en índice 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nums: return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len(nums)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[1] * n  # cada elemento es LIS de longitud 1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range(i):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nums[j] &lt; nums[i]: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 = max(dp[i], dp[j] + 1)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max(dp)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print(lis([10, 9, 2, 5, 3, 7, 101, 18]))  # 4 ([2,3,7,101] o [2,5,7,101])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Versión O(n log n) con binary search — más eficiente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 bisect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 lis_optimo(nums):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tails = []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for n in nums: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i = bisect.bisect_left(tails, 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if i == len(tails): tails.append(n)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else: tails[i] = 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return len(tails)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023360"/>
            <a:ext cx="8686800" cy="96012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4023360"/>
            <a:ext cx="4572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43984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bursátil (tendencias alcistas), alineamiento de secuencias biológicas, compresión de datos, y diseño de circuitos digitales.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30 / 34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Adicional 2 — Caminos en Grilla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caminos hay desde (0,0) hasta (m,n)?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971800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971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grid_paths.py — O(m × n)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caminos_grilla(m: int, n: int) -&gt; 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Solo se puede mover ABAJO o DERECHA.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dp[i][j] = número de caminos desde (0,0) hasta (i,j)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Recurrencia: dp[i][j] = dp[i-1][j] + dp[i][j-1]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[[1]*n for _ in range(m)]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Primera fila y primera columna: solo 1 camino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dp[i][j] = dp[i-1][j] + dp[i][j-1]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dp[m-1][n-1]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print(caminos_grilla(3, 3))   # 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print(caminos_grilla(5, 5))   # 70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print(caminos_grilla(10, 10)) # 48620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Relación con combinatoria: C(m+n-2, m-1)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023360"/>
            <a:ext cx="8686800" cy="96012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4023360"/>
            <a:ext cx="457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reales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43984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 en videojuegos, análisis de rutas en mapas, conteo de posibles soluciones en problemas de OR.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31 / 34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Adicional 3 — Subset Sum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un subconjunto con suma objetivo?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971800"/>
          </a:xfrm>
          <a:prstGeom prst="rect">
            <a:avLst/>
          </a:prstGeom>
          <a:solidFill>
            <a:srgbClr val="06041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971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subset_sum.py — O(n × sum)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subset_sum(nums: list, target: int) -&gt; bool: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dp[i][s] = True si existe subconjunto de nums[0..i]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con suma exactamente 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len(nums)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[[False]*(target+1) for _ in range(n+1)]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Caso base: suma 0 siempre es alcanzable (conjunto vacío)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dp[i][0] = True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s in range(1, target+1):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dp[i][s] = dp[i-1][s]  # no incluir nums[i-1]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nums[i-1] &lt;= 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dp[i][s] = dp[i][s] or dp[i-1][s-nums[i-1]]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dp[n][target]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print(subset_sum([3, 34, 4, 12, 5, 2], 9))   # True (4+5 o 3+4+2)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print(subset_sum([3, 34, 4, 12, 5, 2], 30))  # False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023360"/>
            <a:ext cx="8686800" cy="96012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4023360"/>
            <a:ext cx="4572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del Knapsack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43984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Sum es una versión más simple del Knapsack: solo verifica posibilidad (True/False), no maximiza valor. Aplicación: particionamiento de recursos.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32 / 34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— Programación Dinámica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aprendido en Sesión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ingredientes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 + subproblemas solapados.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con @lru_cache o dict manual.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53912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iterativo, optimizable a O(1) espacio.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38328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problemas clásicos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Fibonacci, Coin Change, LCS, Knapsack, Edit Distance.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46120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dp[] → caso base → recurrencia → complejidad.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QA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53912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óptima de tests con Knapsack.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33 / 34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Próxima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206240" cy="1261872"/>
          </a:xfrm>
          <a:prstGeom prst="rect">
            <a:avLst/>
          </a:prstGeom>
          <a:solidFill>
            <a:srgbClr val="1A153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84048" y="10972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Introduction to Algorithms (CLRS)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4904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 et al. El capítulo 15 es la referencia para DP.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87552"/>
            <a:ext cx="4206240" cy="1261872"/>
          </a:xfrm>
          <a:prstGeom prst="rect">
            <a:avLst/>
          </a:prstGeom>
          <a:solidFill>
            <a:srgbClr val="1A153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754880" y="987552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64608" y="10972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leetcode.com/tag/dynamic-programming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4904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problemas DP categorizados por dificultad.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432304"/>
            <a:ext cx="4206240" cy="1261872"/>
          </a:xfrm>
          <a:prstGeom prst="rect">
            <a:avLst/>
          </a:prstGeom>
          <a:solidFill>
            <a:srgbClr val="1A153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74320" y="2432304"/>
            <a:ext cx="42062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84048" y="254203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MIT 6.006 — Dynamic Programming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29352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 Demaine en YouTube — 4 clases magistrales gratis.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32304"/>
            <a:ext cx="4206240" cy="1261872"/>
          </a:xfrm>
          <a:prstGeom prst="rect">
            <a:avLst/>
          </a:prstGeom>
          <a:solidFill>
            <a:srgbClr val="1A1530"/>
          </a:solidFill>
          <a:ln w="1270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754880" y="2432304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64608" y="254203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visualgo.net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29352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 interactivas de DP y otros algoritmos.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251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14: Resolución de Problemas + Terminología consolidada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56285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  |  Universitaria de Colombia  |  Pruebas de Software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34 / 34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6311</Words>
  <Application>Microsoft Office PowerPoint</Application>
  <PresentationFormat>Presentación en pantalla (16:9)</PresentationFormat>
  <Paragraphs>769</Paragraphs>
  <Slides>34</Slides>
  <Notes>34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8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SALA SOFTWARE LIC7</cp:lastModifiedBy>
  <cp:revision>4</cp:revision>
  <dcterms:created xsi:type="dcterms:W3CDTF">2026-04-19T23:59:25Z</dcterms:created>
  <dcterms:modified xsi:type="dcterms:W3CDTF">2026-04-23T01:56:32Z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bdff26-5887-4e5c-8426-6e404c233df0_Enabled">
    <vt:lpwstr>true</vt:lpwstr>
  </property>
  <property fmtid="{D5CDD505-2E9C-101B-9397-08002B2CF9AE}" pid="3" name="MSIP_Label_71bdff26-5887-4e5c-8426-6e404c233df0_SetDate">
    <vt:lpwstr>2026-04-22T14:14:35Z</vt:lpwstr>
  </property>
  <property fmtid="{D5CDD505-2E9C-101B-9397-08002B2CF9AE}" pid="4" name="MSIP_Label_71bdff26-5887-4e5c-8426-6e404c233df0_Method">
    <vt:lpwstr>Standard</vt:lpwstr>
  </property>
  <property fmtid="{D5CDD505-2E9C-101B-9397-08002B2CF9AE}" pid="5" name="MSIP_Label_71bdff26-5887-4e5c-8426-6e404c233df0_Name">
    <vt:lpwstr>71bdff26-5887-4e5c-8426-6e404c233df0</vt:lpwstr>
  </property>
  <property fmtid="{D5CDD505-2E9C-101B-9397-08002B2CF9AE}" pid="6" name="MSIP_Label_71bdff26-5887-4e5c-8426-6e404c233df0_SiteId">
    <vt:lpwstr>b5e244bd-c492-495b-8b10-61bfd453e423</vt:lpwstr>
  </property>
  <property fmtid="{D5CDD505-2E9C-101B-9397-08002B2CF9AE}" pid="7" name="MSIP_Label_71bdff26-5887-4e5c-8426-6e404c233df0_ActionId">
    <vt:lpwstr>91259092-4fae-439f-b112-676ea1c4c564</vt:lpwstr>
  </property>
  <property fmtid="{D5CDD505-2E9C-101B-9397-08002B2CF9AE}" pid="8" name="MSIP_Label_71bdff26-5887-4e5c-8426-6e404c233df0_ContentBits">
    <vt:lpwstr>0</vt:lpwstr>
  </property>
  <property fmtid="{D5CDD505-2E9C-101B-9397-08002B2CF9AE}" pid="9" name="MSIP_Label_71bdff26-5887-4e5c-8426-6e404c233df0_Tag">
    <vt:lpwstr>10, 3, 0, 1</vt:lpwstr>
  </property>
</Properties>
</file>