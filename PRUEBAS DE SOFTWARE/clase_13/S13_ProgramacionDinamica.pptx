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Dinámica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Generalidades · Memoización · Tabulación · Problemas Clásicos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190195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7432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Subestructura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2743200"/>
            <a:ext cx="1901952" cy="3840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27432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743200"/>
            <a:ext cx="1901952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27432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Tabulación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03720" y="2743200"/>
            <a:ext cx="1901952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27432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Optimalidad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44622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474573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 |  7mo Semestre  |  Ing. Software  |  Universitaria de Colombia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Sesión 13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Generalidades de la Programación Dinámica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332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893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DP?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6002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Concepto, características e historia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2212848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2212848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860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5420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Subestructura óptima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2852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propiedad matemática fundamental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465576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465576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794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Subproblemas solapados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1056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 recursión ingenua es exponencial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960120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960120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332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12893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 vs Tabulación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16002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vs Bottom-up: cuándo usar cada uno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212848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212848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2860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25420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clásicos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2852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Fibonacci, Coin Change, LCS, Knapsack, Edit Distance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465576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465576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3794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reales + Ejercicio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0" y="41056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casos paso a paso + aplicación al testing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 / 34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Programación Dinámica?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mediante división y reutilización de subproblemas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Programación Dinámica?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914400"/>
          </a:xfrm>
          <a:prstGeom prst="rect">
            <a:avLst/>
          </a:prstGeom>
          <a:solidFill>
            <a:srgbClr val="1A1530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96112"/>
            <a:ext cx="54864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9264"/>
            <a:ext cx="8092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DP es una técnica de diseño de algoritmos que resuelve problemas complejos </a:t>
            </a:r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dividiéndolos en subproblemas más simples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guardando los resultados para </a:t>
            </a:r>
            <a:pPr indent="0" marL="0">
              <a:buNone/>
            </a:pPr>
            <a:r>
              <a:rPr lang="en-US" sz="14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recalcularlos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93392"/>
            <a:ext cx="2697480" cy="2697480"/>
          </a:xfrm>
          <a:prstGeom prst="rect">
            <a:avLst/>
          </a:prstGeom>
          <a:solidFill>
            <a:srgbClr val="1A0E00"/>
          </a:solidFill>
          <a:ln w="1524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93392"/>
            <a:ext cx="269748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084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histórico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246888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 Bellman (1950s).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'Dynamic' no describe el concepto — era para impresionar al Secretario de Defensa de EE.UU.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8688" y="1993392"/>
            <a:ext cx="2697480" cy="2697480"/>
          </a:xfrm>
          <a:prstGeom prst="rect">
            <a:avLst/>
          </a:prstGeom>
          <a:solidFill>
            <a:srgbClr val="0A0418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1993392"/>
            <a:ext cx="26974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8416" y="2084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propiedades requeridas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28416" y="246888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Subestructura Óptima: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solución óptima ← sub-soluciones óptimas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Subproblemas Solapados: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mismos subproblemas aparecen múltiples veces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71616" y="1993392"/>
            <a:ext cx="2697480" cy="2697480"/>
          </a:xfrm>
          <a:prstGeom prst="rect">
            <a:avLst/>
          </a:prstGeom>
          <a:solidFill>
            <a:srgbClr val="001514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71616" y="1993392"/>
            <a:ext cx="2697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2084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vs Divide &amp; Conquer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81344" y="246888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D&amp;C: subproblemas independientes (merge sort).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DP: subproblemas se solapan → se reutilizan.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dividen, solo DP memoriza.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4 / 34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Filosofía de la DP — 3 Conceptos Clave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 de pensar detrás de los algoritmos DP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1115568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45720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Recordar en vez de recalcular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ya resolví un subproblema, guardar la respuesta. La memoria del algoritmo es la clave del rendimiento.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2221992"/>
            <a:ext cx="8686800" cy="1115568"/>
          </a:xfrm>
          <a:prstGeom prst="rect">
            <a:avLst/>
          </a:prstGeom>
          <a:solidFill>
            <a:srgbClr val="FFFFFF"/>
          </a:solidFill>
          <a:ln w="16510">
            <a:solidFill>
              <a:srgbClr val="6D28D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221992"/>
            <a:ext cx="45720" cy="11155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591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Construir desde lo pequeño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272491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soluciones óptimas a problemas pequeños se combinan para formar soluciones óptimas a problemas grandes.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3483864"/>
            <a:ext cx="8686800" cy="1115568"/>
          </a:xfrm>
          <a:prstGeom prst="rect">
            <a:avLst/>
          </a:prstGeom>
          <a:solidFill>
            <a:srgbClr val="FFFFFF"/>
          </a:solidFill>
          <a:ln w="1651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3483864"/>
            <a:ext cx="45720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62102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Buscar la recurrencia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398678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la fórmula matemática que relaciona un problema con sus subproblemas: f(n) = g(f(n-1), f(n-2), ...)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" y="4773168"/>
            <a:ext cx="8686800" cy="256032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4773168"/>
            <a:ext cx="457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864608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mental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5193792"/>
            <a:ext cx="8485632" cy="-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piensas 'ya calculé esto, ¿por qué lo recalculo?' → DP es tu herramienta.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5 / 34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Subestructura Óptima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primera propiedad requerida para aplicar DP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Subestructura Óptima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óptima del problema grande se construye de subsoluciones óptimas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658368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4572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formal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380744"/>
            <a:ext cx="8485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problema tiene subestructura óptima si su solución óptima se puede construir combinando soluciones óptimas de sus subproblemas. Si no fuera así, habría una mejor combinación y el problema original no sería óptimo.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737360"/>
            <a:ext cx="8686800" cy="1417320"/>
          </a:xfrm>
          <a:prstGeom prst="rect">
            <a:avLst/>
          </a:prstGeom>
          <a:solidFill>
            <a:srgbClr val="06041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737360"/>
            <a:ext cx="36576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828800"/>
            <a:ext cx="854964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EJEMPLO: Camino mínimo de A → D pasando por B y 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Si: costo(A→D)_optimo = costo(A→B) + costo(B→C) + costo(C→D),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entonces: costo(A→C)_optimo también debe ser el mínimo absoluto.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 existiera un camino A→C mejor, podríamos reemplazarlo y mejorar A→D.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¡Contradicción con la suposición de que A→D era óptimo! ∎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3273552"/>
            <a:ext cx="4206240" cy="1627632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273552"/>
            <a:ext cx="45720" cy="16276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6499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CON subestructura óptima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694176"/>
            <a:ext cx="40050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mínimo (Dijkstra)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Mochila 0/1 (Knapsack)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 (Longest Common Subsequence)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Distance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Fibonacci, Coin Change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Chain Multiplication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3273552"/>
            <a:ext cx="4206240" cy="1627632"/>
          </a:xfrm>
          <a:prstGeom prst="rect">
            <a:avLst/>
          </a:prstGeom>
          <a:solidFill>
            <a:srgbClr val="FEE2E2"/>
          </a:solidFill>
          <a:ln w="16510">
            <a:solidFill>
              <a:srgbClr val="DC262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273552"/>
            <a:ext cx="45720" cy="16276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36499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SIN subestructura óptima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694176"/>
            <a:ext cx="40050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más largo simple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hamiltoniano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clique en grafos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Estos NO pueden resolverse con DP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Requieren backtracking o branch-and-bound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7 / 34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Subproblemas Solapados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 recursión ingenua es exponencialmente lenta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Subproblemas Solapados — El Problema de Fibonacci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recursión ingenua recalcula los mismos valores exponencialmente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074920" cy="3794760"/>
          </a:xfrm>
          <a:prstGeom prst="rect">
            <a:avLst/>
          </a:prstGeom>
          <a:solidFill>
            <a:srgbClr val="06041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36576" cy="3794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51560"/>
            <a:ext cx="4937760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 DP: Fibonacci recursivo ingenuo — O(2^n)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fib_naive(n: int) -&gt; int: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fib_naive(n-1) + fib_naive(n-2)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fib_naive(6) genera este árbol de llamadas: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  fib(6)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/       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fib(5)      fib(4)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/     \     /    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fib(4) fib(3) fib(3) fib(2)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...   ...    ...    ...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fib(3) se calcula 2 veces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fib(2) se calcula 3 veces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fib(1) se calcula 5 veces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Total para n=30: ~2.7 millones de llamadas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Total para n=50: ~2.5 × 10^10 (horas de CPU)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PROBLEMA: hay solo n subproblemas distintos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(fib(0), fib(1), ..., fib(n-1))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pero se recalculan exponencialmente muchas veces.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SOLUCIÓN: guardar los resultados ya calculados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de exponencial a lineal con cache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94960" y="960120"/>
            <a:ext cx="3520440" cy="1417320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94960" y="960120"/>
            <a:ext cx="45720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32120" y="10515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desperdicio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380744"/>
            <a:ext cx="3319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fib(35) = 29,860,703 llamadas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fib(40) = 331,160,281 llamadas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+5 en n multiplica llamadas por ~11x.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487168"/>
            <a:ext cx="3520440" cy="1417320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94960" y="2487168"/>
            <a:ext cx="45720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257860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DP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2907792"/>
            <a:ext cx="3319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subproblemas distintos → O(n) tiempo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memoria: cada uno se calcula 1 vez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exponencial a lineal.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94960" y="4023360"/>
            <a:ext cx="3520440" cy="777240"/>
          </a:xfrm>
          <a:prstGeom prst="rect">
            <a:avLst/>
          </a:prstGeom>
          <a:solidFill>
            <a:srgbClr val="FFF7ED"/>
          </a:solidFill>
          <a:ln w="1651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94960" y="4023360"/>
            <a:ext cx="45720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411480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4443984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fib_naive(40) ≈ 2s de CPU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fib_dp(40) ≈ 0.00001s (200,000x)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9 / 34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 (Top-Down)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Recursión con caché — de exponencial a lineal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 — Top-Down con Caché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de arriba hacia abajo guardando los resultados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074920" cy="3822192"/>
          </a:xfrm>
          <a:prstGeom prst="rect">
            <a:avLst/>
          </a:prstGeom>
          <a:solidFill>
            <a:srgbClr val="06041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36576" cy="38221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5156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Fibonacci con memoización — O(n) tiempo y espacio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functools import lru_cache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ENFOQUE 1: Decorador lru_cache (pythónico)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@lru_cache(maxsize=None)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fib_memo(n: int) -&gt; int: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lru_cache guarda resultados automáticamente.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Primera vez fib_memo(10) → calcula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Segunda vez fib_memo(10) → retorna del caché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fib_memo(n-1) + fib_memo(n-2)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ENFOQUE 2: Diccionario manual (más explícito)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fib_manual(n: int, memo: dict = None) -&gt; int: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memo is None: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memo = {}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in memo:          # ← si ya calculamos, retornar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memo[n]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resultado = fib_manual(n-1, memo) + fib_manual(n-2, memo)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memo[n] = resultado    # ← guardar antes de retornar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resultado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Verificación: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print(fib_memo(50))   # 12586269025 — instantáneo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print(fib_memo(100))  # 354224848179261915075 — instantáneo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94960" y="960120"/>
            <a:ext cx="3520440" cy="1234440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94960" y="960120"/>
            <a:ext cx="4572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32120" y="10515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380744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Verifica si n está en el caché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 sí: retorna el valor guardado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Si no: calcula, guarda y retorna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286000"/>
            <a:ext cx="3520440" cy="1234440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94960" y="2286000"/>
            <a:ext cx="45720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2377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2706624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Tiempo: O(n) — cada subproblema se calcula 1 vez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Espacio: O(n) — el caché guarda n valores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94960" y="3611880"/>
            <a:ext cx="3520440" cy="1143000"/>
          </a:xfrm>
          <a:prstGeom prst="rect">
            <a:avLst/>
          </a:prstGeom>
          <a:solidFill>
            <a:srgbClr val="DBEAFE"/>
          </a:solidFill>
          <a:ln w="1651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94960" y="3611880"/>
            <a:ext cx="45720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370332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usar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4032504"/>
            <a:ext cx="3319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con estructura recursiva natural. Cuando el árbol de recursión tiene muchas ramas repetidas.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11 / 34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Tabulación (Bottom-Up)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Llenar la tabla iterativamente — sin recursión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Tabulación — Bottom-Up Iterativo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la solución desde los casos base hasta la respuesta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074920" cy="3822192"/>
          </a:xfrm>
          <a:prstGeom prst="rect">
            <a:avLst/>
          </a:prstGeom>
          <a:solidFill>
            <a:srgbClr val="06041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36576" cy="38221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5156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Fibonacci con tabulación — O(n) tiempo, O(n) → O(1) espacio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fib_tabla(n: int) -&gt; int: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Llenamos la tabla de ABAJO HACIA ARRIBA.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Empezamos con casos base y construimos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hasta llegar a la respuesta.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Tabla DP: dp[i] = i-ésimo número de Fibonacci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[0] * (n + 1)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dp[0] = 0  # caso base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dp[1] = 1  # caso base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range(2, n + 1):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dp[i] = dp[i-1] + dp[i-2]  # recurrencia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dp[n]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OPTIMIZACIÓN DE ESPACIO a O(1):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Solo necesitamos los 2 valores anteriores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fib_optimo(n: int) -&gt; int: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 return 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a, b = 0,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 in range(2, n + 1):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a, b = b, a + b   # solo guardamos 2 valores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Traza para n=6: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 = [0, 1, 1, 2, 3, 5, 8]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dp[2]=dp[1]+dp[0]=1, dp[3]=2, dp[4]=3, dp[5]=5, dp[6]=8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94960" y="960120"/>
            <a:ext cx="3520440" cy="1234440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94960" y="960120"/>
            <a:ext cx="4572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32120" y="10515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vs Bottom-Up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380744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Memo: recursión + caché. Natural de describir.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iterativo + tabla. Más eficiente espacio.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286000"/>
            <a:ext cx="3520440" cy="1234440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94960" y="2286000"/>
            <a:ext cx="45720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2377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llenado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2706624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de subproblemas menores a mayores. La recurrencia determina el orden del for.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94960" y="3611880"/>
            <a:ext cx="3520440" cy="1143000"/>
          </a:xfrm>
          <a:prstGeom prst="rect">
            <a:avLst/>
          </a:prstGeom>
          <a:solidFill>
            <a:srgbClr val="FFF7ED"/>
          </a:solidFill>
          <a:ln w="1651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94960" y="3611880"/>
            <a:ext cx="45720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370332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clave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4032504"/>
            <a:ext cx="3319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puede optimizarse a O(1) espacio si solo necesitas los últimos k valores.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13 / 34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 vs Tabulación — Comparativa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 cada enfoque?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3547872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42062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 (Top-Down)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80744"/>
            <a:ext cx="4023360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Más intuitiva de implementar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Solo calcula subproblemas necesarios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Natural para pensar el problema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Overhead de llamadas recursivas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Riesgo de stack overflow con n grande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Mayor uso de memoria del stack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206240" cy="3547872"/>
          </a:xfrm>
          <a:prstGeom prst="rect">
            <a:avLst/>
          </a:prstGeom>
          <a:solidFill>
            <a:srgbClr val="CCFBF1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60120"/>
            <a:ext cx="42062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Tabulación (Bottom-Up)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1380744"/>
            <a:ext cx="4023360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Sin overhead de recursión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Sin riesgo de stack overflow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Puede optimizarse a O(1) espacio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Más difícil de plantear inicialmente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Calcula TODOS los subproblemas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Orden de llenado debe ser correcto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4645152"/>
            <a:ext cx="8686800" cy="365760"/>
          </a:xfrm>
          <a:prstGeom prst="rect">
            <a:avLst/>
          </a:prstGeom>
          <a:solidFill>
            <a:srgbClr val="DBEAFE"/>
          </a:solidFill>
          <a:ln w="1651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4645152"/>
            <a:ext cx="45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736592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5065776"/>
            <a:ext cx="8485632" cy="-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con memoización (más fácil). Si hay stack overflow o necesitas máxima eficiencia, optimiza a tabulación.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14 / 34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Clásicos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problemas DP que todo ingeniero debe dominar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1 — Fibonacci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'Hello World' de la programación dinámica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566928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4572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380744"/>
            <a:ext cx="848563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el n-ésimo número de Fibonacci: F(0)=0, F(1)=1, F(n)=F(n-1)+F(n-2). Naive: O(2^n). Con DP: O(n).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664208"/>
            <a:ext cx="8686800" cy="2743200"/>
          </a:xfrm>
          <a:prstGeom prst="rect">
            <a:avLst/>
          </a:prstGeom>
          <a:solidFill>
            <a:srgbClr val="06041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664208"/>
            <a:ext cx="36576" cy="2743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755648"/>
            <a:ext cx="854964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Comparativa de las 3 implementaciones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Naive — O(2^n) tiempo, O(n) espacio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fib_naive(n):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if n &lt;= 1 else fib_naive(n-1) + fib_naive(n-2)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Memoización — O(n) tiempo, O(n) espacio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@lru_cache(maxsize=None)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fib_memo(n):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if n &lt;= 1 else fib_memo(n-1) + fib_memo(n-2)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Tabulación optimizada — O(n) tiempo, O(1) espacio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fib_tab(n):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 return 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a, b = 0,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 in range(2, n+1):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a, b = b, a + 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Benchmark n=40: naive=1.8s, memo=0.0001s, tab=0.0001s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4544568"/>
            <a:ext cx="8686800" cy="365760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4544568"/>
            <a:ext cx="4572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636008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965192"/>
            <a:ext cx="8485632" cy="-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sucesión de Fibonacci modela crecimiento en la naturaleza: pétalos, espirales, reproducción de conejos.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16 / 34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2 — Coin Change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número de monedas para alcanzar una cantidad objetivo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566928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4572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380744"/>
            <a:ext cx="848563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un conjunto de monedas [c1,...,cn] y una cantidad, encuentra el mínimo número de monedas para alcanzarla. Las monedas se pueden reutilizar.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664208"/>
            <a:ext cx="8686800" cy="2880360"/>
          </a:xfrm>
          <a:prstGeom prst="rect">
            <a:avLst/>
          </a:prstGeom>
          <a:solidFill>
            <a:srgbClr val="06041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664208"/>
            <a:ext cx="36576" cy="2880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755648"/>
            <a:ext cx="8549640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coin_change.py — O(amount × len(coins)) tiempo y espacio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coin_change(monedas: list, objetivo: int) -&gt; int: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 = mínimo número de monedas para formar cantidad 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Recurrencia: dp[i] = min(dp[i - coin] + 1) para cada coin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INF = float('inf')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[INF] * (objetivo + 1)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dp[0] = 0  # caso base: 0 monedas para cantidad 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cantidad in range(1, objetivo + 1):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moneda in monedas: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moneda &lt;= cantidad: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dp[cantidad] = min(dp[cantidad],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dp[cantidad - moneda] + 1)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dp[objetivo] if dp[objetivo] != INF else -1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Ejemplo: monedas=[1,5,10,25], objetivo=36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print(coin_change([1,5,10,25], 36))  # 3 (25+10+1)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print(coin_change([2], 3))            # -1 (imposible)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solidFill>
            <a:srgbClr val="FEE2E2"/>
          </a:solidFill>
          <a:ln w="16510">
            <a:solidFill>
              <a:srgbClr val="DC262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4663440"/>
            <a:ext cx="457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75488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DP y no Greedy?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5084064"/>
            <a:ext cx="8485632" cy="-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[1,3,4] y objetivo=6: greedy=4+1+1 (3 monedas), DP=3+3 (2 monedas). Greedy falla.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17 / 34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3 — LCS (Longest Common Subsequence)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del algoritmo diff de Git y comparación de ADN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2971800"/>
          </a:xfrm>
          <a:prstGeom prst="rect">
            <a:avLst/>
          </a:prstGeom>
          <a:solidFill>
            <a:srgbClr val="06041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36576" cy="2971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51560"/>
            <a:ext cx="854964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lcs.py — O(m × n) tiempo y espacio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lcs(s1: str, s2: str) -&gt; int: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LCS = subsecuencia más larga común a ambas cadenas.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(No necesariamente contigua, pero en orden)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m, n = len(s1), len(s2)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dp[i][j] = longitud LCS de s1[:i] y s2[:j]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[[0]*(n+1) for _ in range(m+1)]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m+1):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range(1, n+1):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s1[i-1] == s2[j-1]:           # caracteres iguales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dp[i][j] = dp[i-1][j-1] + 1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                             # tomar el mejor previo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dp[i][j] = max(dp[i-1][j], dp[i][j-1])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dp[m][n]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Ejemplo: LCS('ABCBDAB', 'BDCABA') = 4 (ej: 'BCBA' o 'BCAB')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print(lcs('ABCBDAB', 'BDCABA'))  # 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4059936"/>
            <a:ext cx="8686800" cy="960120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4059936"/>
            <a:ext cx="4572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151376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real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480560"/>
            <a:ext cx="8485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diff usa LCS (Myers algorithm) para mostrar qué líneas cambiaron entre versiones.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bioinformática, LCS compara secuencias de ADN/proteínas entre especies.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18 / 34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4 — 0/1 Knapsack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Maximizar valor sin exceder la capacidad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074920" cy="3246120"/>
          </a:xfrm>
          <a:prstGeom prst="rect">
            <a:avLst/>
          </a:prstGeom>
          <a:solidFill>
            <a:srgbClr val="060410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36576" cy="3246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51560"/>
            <a:ext cx="493776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knapsack.py — 0/1 Knapsack O(n × W)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knapsack(pesos, valores, capacidad):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 cada ítem: ¿incluir o no incluir?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dp[i][w] = máximo valor con ítems 0..i y capacidad 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len(pesos)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[[0]*(capacidad+1) for _ in range(n+1)]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n+1):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w in range(capacidad+1):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Opción 1: no incluir ítem 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dp[i][w] = dp[i-1][w]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Opción 2: incluir ítem i (si cabe)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pesos[i-1] &lt;= w: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con_item = dp[i-1][w-pesos[i-1]] + valores[i-1]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dp[i][w] = max(dp[i][w], con_item)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dp[n][capacidad]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pesos   = [2, 3, 4, 5]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valores = [3, 4, 5, 6]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print(knapsack(pesos, valores, 5))  # 7 (items 0 y 1)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94960" y="960120"/>
            <a:ext cx="3520440" cy="1280160"/>
          </a:xfrm>
          <a:prstGeom prst="rect">
            <a:avLst/>
          </a:prstGeom>
          <a:solidFill>
            <a:srgbClr val="DBEAFE"/>
          </a:solidFill>
          <a:ln w="1651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94960" y="960120"/>
            <a:ext cx="45720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32120" y="10515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en Testing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380744"/>
            <a:ext cx="3319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Knapsack se usa para seleccionar tests dado un presupuesto de tiempo: maximizar cobertura de riesgo respetando el tiempo disponible.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331720"/>
            <a:ext cx="3520440" cy="1280160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94960" y="2331720"/>
            <a:ext cx="45720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24231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DP trazada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2752344"/>
            <a:ext cx="3319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pesos=[2,3,4,5], caps=5: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dp[4][5] = 7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(items: peso=2,val=3 + peso=3,val=4)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94960" y="3703320"/>
            <a:ext cx="3520440" cy="1115568"/>
          </a:xfrm>
          <a:prstGeom prst="rect">
            <a:avLst/>
          </a:prstGeom>
          <a:solidFill>
            <a:srgbClr val="FEE2E2"/>
          </a:solidFill>
          <a:ln w="16510">
            <a:solidFill>
              <a:srgbClr val="DC262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94960" y="3703320"/>
            <a:ext cx="45720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37947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Fraccionaria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4123944"/>
            <a:ext cx="33192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versión fraccionaria (tomar fracciones de ítems) se resuelve con Greedy, NO con DP.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19 / 34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5 — Edit Distance (Levenshtein)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de operaciones para transformar una cadena en otra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074920" cy="3246120"/>
          </a:xfrm>
          <a:prstGeom prst="rect">
            <a:avLst/>
          </a:prstGeom>
          <a:solidFill>
            <a:srgbClr val="060410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36576" cy="32461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51560"/>
            <a:ext cx="493776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edit_distance.py — O(m × n)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edit_distance(s1: str, s2: str) -&gt; int: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Operaciones permitidas: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Insertar carácter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Eliminar carácter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Reemplazar carácter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dp[i][j] = mín. ops para transformar s1[:i] en s2[:j]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m, n = len(s1), len(s2)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[[0]*(n+1) for _ in range(m+1)]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Casos base: desde/hacia cadena vacía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range(m+1): dp[i][0] = 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range(n+1): dp[0][j] = j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m+1):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range(1, n+1):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s1[i-1] == s2[j-1]:  # sin operación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dp[i][j] = dp[i-1][j-1]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                    # min de 3 ops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dp[i][j] = 1 + min(dp[i-1][j],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dp[i][j-1],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dp[i-1][j-1])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dp[m][n]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print(edit_distance('kitten', 'sitting'))  # 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94960" y="960120"/>
            <a:ext cx="3520440" cy="1828800"/>
          </a:xfrm>
          <a:prstGeom prst="rect">
            <a:avLst/>
          </a:prstGeom>
          <a:solidFill>
            <a:srgbClr val="EDE9FE"/>
          </a:solidFill>
          <a:ln w="16510">
            <a:solidFill>
              <a:srgbClr val="6D28D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94960" y="960120"/>
            <a:ext cx="45720" cy="18288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32120" y="10515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en QA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380744"/>
            <a:ext cx="33192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 checkers, autocorrección, comparación de logs de errores, fuzzy matching en datos de prueba para encontrar registros similares.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880360"/>
            <a:ext cx="3520440" cy="1627632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94960" y="2880360"/>
            <a:ext cx="45720" cy="16276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297180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trazada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3300984"/>
            <a:ext cx="33192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''  s  i  t  t  i  n  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''  0  1  2  3  4  5  6  7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   1  1  2  3  4  5  6  7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   2  2  1  2  3  4  5  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   3  3  2  1  2  3  4  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20 / 34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Reales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casos paso a paso con Python y análisis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 — Fibonacci: Traza de Memoización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cómo la memoización elimina el recálculo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074920" cy="3063240"/>
          </a:xfrm>
          <a:prstGeom prst="rect">
            <a:avLst/>
          </a:prstGeom>
          <a:solidFill>
            <a:srgbClr val="06041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36576" cy="3063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51560"/>
            <a:ext cx="49377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fibonacci_trace.py — Con contador de llamadas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llamadas = {'total': 0, 'cache_hits': 0}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fib_traced(n: int, memo: dict = None) -&gt; int: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memo is None: memo = {}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llamadas['total'] += 1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in memo: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llamadas['cache_hits'] +=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memo[n]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memo[n] = 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resultado = fib_traced(n-1, memo) + fib_traced(n-2, memo)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memo[n] = resultado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resultado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Traza para fib(6):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 = {}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fib_traced(6, memo)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print(f'Total llamadas: {llamadas["total"]}')        # 11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print(f'Cache hits:     {llamadas["cache_hits"]}')   # 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print(f'Memo final: {memo}')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{0: 0, 1: 1, 2: 1, 3: 2, 4: 3, 5: 5, 6: 8}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94960" y="960120"/>
            <a:ext cx="3520440" cy="1170432"/>
          </a:xfrm>
          <a:prstGeom prst="rect">
            <a:avLst/>
          </a:prstGeom>
          <a:solidFill>
            <a:srgbClr val="FEE2E2"/>
          </a:solidFill>
          <a:ln w="16510">
            <a:solidFill>
              <a:srgbClr val="DC262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94960" y="960120"/>
            <a:ext cx="45720" cy="11704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32120" y="10515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DP (naive)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380744"/>
            <a:ext cx="33192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fib(6) → 25 llamadas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fib(4) se calcula 3 veces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fib(3) se calcula 5 veces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194560"/>
            <a:ext cx="3520440" cy="1170432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94960" y="2194560"/>
            <a:ext cx="4572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228600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DP (memo)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2615184"/>
            <a:ext cx="33192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fib(6) → 11 llamadas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cache hits (ahorros)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subproblema 1 vez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94960" y="3429000"/>
            <a:ext cx="3520440" cy="1143000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94960" y="3429000"/>
            <a:ext cx="4572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3520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n=30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3849624"/>
            <a:ext cx="3319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Naive: 2,692,537 llamadas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DP: 59 llamadas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45,636× más rápido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22 / 34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 — Coin Change: Tabla DP Paso a Paso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el llenado para objetivo=11, monedas=[1,5,6]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502920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457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380744"/>
            <a:ext cx="848563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monedas=[1,5,6], objetivo=11. El greedy falla: 6+5=11 (2 monedas). ¿DP lo confirma?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0976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73352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73352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95728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95728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18104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18104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0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62856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62856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285232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85232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07608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07608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29984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9984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52360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52360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74736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74736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897112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97112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28600" y="2075688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dp[i]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50976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0976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673352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73352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395728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95728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118104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18104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840480" y="2075688"/>
            <a:ext cx="685800" cy="420624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0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562856" y="2075688"/>
            <a:ext cx="685800" cy="420624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62856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285232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85232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007608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07608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729984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29984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452360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452360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174736" y="2075688"/>
            <a:ext cx="685800" cy="420624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174736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8897112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897112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228600" y="2697480"/>
            <a:ext cx="8686800" cy="2194560"/>
          </a:xfrm>
          <a:prstGeom prst="rect">
            <a:avLst/>
          </a:prstGeom>
          <a:solidFill>
            <a:srgbClr val="06041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228600" y="2697480"/>
            <a:ext cx="36576" cy="2194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0040" y="2788920"/>
            <a:ext cx="854964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Trazando el llenado: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dp[0]=0 (base)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dp[1]=dp[0]+1=1 | dp[2]=2 | dp[3]=3 | dp[4]=4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dp[5]=min(dp[4]+1, dp[0]+1) = min(5,1) = 1  ← usa moneda 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dp[6]=min(dp[5]+1, dp[1]+1, dp[0]+1) = min(2,2,1) = 1  ← usa moneda 6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dp[10]=min(dp[9]+1, dp[5]+1, dp[4]+1) = min(5,2,5) = 2  ← 5+5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dp[11]=min(dp[10]+1, dp[6]+1, dp[5]+1) = min(3,2,2) = 2  ← 5+6 o 6+5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print(coin_change([1,5,6], 11))  # 2 (monedas: 5 y 6)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23 / 34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3 — LCS Paso a Paso con Reconstrucción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Comparando 'ABCBDAB' y 'BDCABA' con trazado completo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074920" cy="2633472"/>
          </a:xfrm>
          <a:prstGeom prst="rect">
            <a:avLst/>
          </a:prstGeom>
          <a:solidFill>
            <a:srgbClr val="06041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36576" cy="2633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5156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lcs_con_reconstruccion.py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lcs_con_traza(s1: str, s2: str):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m, n = len(s1), len(s2)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[[0]*(n+1) for _ in range(m+1)]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m+1):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range(1, n+1):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s1[i-1] == s2[j-1]: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dp[i][j] = dp[i-1][j-1] + 1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dp[i][j] = max(dp[i-1][j], dp[i][j-1])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Reconstruir la subsecuencia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lcs_str, i, j = [], m, 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i &gt; 0 and j &gt; 0: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s1[i-1] == s2[j-1]: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lcs_str.append(s1[i-1])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 -= 1; j -=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dp[i-1][j] &gt; dp[i][j-1]: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 -=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j -=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dp[m][n], ''.join(reversed(lcs_str))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longitud, seq = lcs_con_traza('ABCBDAB', 'BDCABA')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print(f'LCS={longitud}, sec={seq}')  # 4, 'BCBA'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94960" y="960120"/>
            <a:ext cx="3520440" cy="2633472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94960" y="960120"/>
            <a:ext cx="45720" cy="2633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32120" y="10515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380744"/>
            <a:ext cx="3319272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''  B  D  C  A  B 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''  0  0  0  0  0  0  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  0  0  0  0  1  1 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   0  1  1  1  1  2  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   0  1  1  2  2  2  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   0  1  1  2  2  3  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   0  1  2  2  2  3  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  0  1  2  2  3  3  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   0  1  2  2  3  4  4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3712464"/>
            <a:ext cx="8686800" cy="1280160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712464"/>
            <a:ext cx="45720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803904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real en Git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133088"/>
            <a:ext cx="8485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comando `git diff` usa Myers diff algorithm, basado en LCS, para mostrar exactamente qué líneas se agregaron, eliminaron o modificaron entre commits.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24 / 34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4 — Knapsack Aplicado a Testing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tests de máximo impacto dado un presupuesto de tiempo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530352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45720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real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380744"/>
            <a:ext cx="8485632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tests disponibles, 15 min antes del deploy. ¿Cuáles ejecutar para maximizar cobertura de riesgo?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581912"/>
            <a:ext cx="8686800" cy="2103120"/>
          </a:xfrm>
          <a:prstGeom prst="rect">
            <a:avLst/>
          </a:prstGeom>
          <a:solidFill>
            <a:srgbClr val="060410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581912"/>
            <a:ext cx="36576" cy="2103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73352"/>
            <a:ext cx="854964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test_selection_knapsack.py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seleccionar_tests(tests, presupuesto_min):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tests = [(nombre, tiempo_min, riesgo_cubierto), ...]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Maximiza riesgo_cubierto sin superar presupuesto_min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len(tests)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[[0]*(presupuesto_min+1) for _ in range(n+1)]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n+1):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nombre, tiempo, riesgo = tests[i-1]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t in range(presupuesto_min+1):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dp[i][t] = dp[i-1][t]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tiempo &lt;= 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dp[i][t] = max(dp[i][t], dp[i-1][t-tiempo]+riesgo)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dp[n][presupuesto_min]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3822192"/>
            <a:ext cx="8686800" cy="1005840"/>
          </a:xfrm>
          <a:prstGeom prst="rect">
            <a:avLst/>
          </a:prstGeom>
          <a:solidFill>
            <a:srgbClr val="06041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822192"/>
            <a:ext cx="36576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913632"/>
            <a:ext cx="8549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 = [('test_login', 3, 90), ('test_pago', 5, 95),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('test_reporte', 4, 70), ('test_api', 2, 80)]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print(seleccionar_tests(tests, 10))  # 265 = login+pago+api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4937760"/>
            <a:ext cx="8686800" cy="91440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4937760"/>
            <a:ext cx="4572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502920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5358384"/>
            <a:ext cx="8485632" cy="-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10 min: login(3)+pago(5)+api(2) = 90+95+80 = 265 pts. Greedy hubiera dado 185 pts.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25 / 34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2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Errores Comunes en DP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— Programación Dinámica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que facilitan el diseño correcto de algoritmos DP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los 2 ingredientes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codear: ¿hay subestructura óptima? ¿hay subproblemas solapados? Si no ambos, DP no aplica.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36392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36392" y="96012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dp[i] claramente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con palabras qué representa dp[i] o dp[i][j] antes de la recurrencia. Evita confusiones.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44184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44184" y="960120"/>
            <a:ext cx="2743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53912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casos base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53912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70% de los bugs en DP están en dp[0] o dp[1]. Trazar manualmente los primeros valores.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6D28D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880360"/>
            <a:ext cx="2743200" cy="457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Trazar a mano primero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1D: trazar dp[0..5]. Para 2D: tabla 4×4. Antes de correr código.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36392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36392" y="2880360"/>
            <a:ext cx="27432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Empezar con memoización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46120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es más fácil. Después optimizar a tabulación si hay stack overflow.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44184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44184" y="2880360"/>
            <a:ext cx="27432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53912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complejidad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53912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= (# subproblemas) × (trabajo por subproblema). Espacio = tamaño de la tabla.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27 / 34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Comunes en Programación Dinámica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6 bloqueos típicos de los estudiantes principiantes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45720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1498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DP donde no corresponde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4904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subestructura óptima o subproblemas solapados, DP es innecesariamente complejo.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221992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2221992"/>
            <a:ext cx="45720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7685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4963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incorrecta de dp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7523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dp[i] no está bien definido, la recurrencia no tiene sentido.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3483864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483864"/>
            <a:ext cx="45720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53872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7581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base incorrectos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01421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70% de bugs DP: dp[0] o dp[1] mal inicializados. Trazar manualmente.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90872" y="960120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90872" y="960120"/>
            <a:ext cx="45720" cy="1115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01498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28032" y="12344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llenado incorrecto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28032" y="14904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tabulación, si el orden viola dependencias, el resultado es incorrecto.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90872" y="2221992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90872" y="2221992"/>
            <a:ext cx="45720" cy="11155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27685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28032" y="24963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LCS con substring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28032" y="27523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 NO necesita ser contiguo. Longest Common Substring SÍ. Son problemas distintos.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90872" y="3483864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90872" y="3483864"/>
            <a:ext cx="45720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353872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28032" y="37581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probar con casos pequeños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28032" y="401421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probar con n=0,1,2,3 antes de correr con valores grandes.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28 / 34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Ejercicio — Sesión 13  |  60 minutos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8686800" cy="566928"/>
          </a:xfrm>
          <a:prstGeom prst="rect">
            <a:avLst/>
          </a:prstGeom>
          <a:solidFill>
            <a:srgbClr val="1A1530"/>
          </a:solidFill>
          <a:ln w="1651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4572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380744"/>
            <a:ext cx="848563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3 problemas clásicos de DP y aplica uno al contexto de pruebas de software.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664208"/>
            <a:ext cx="2743200" cy="3154680"/>
          </a:xfrm>
          <a:prstGeom prst="rect">
            <a:avLst/>
          </a:prstGeom>
          <a:solidFill>
            <a:srgbClr val="1A153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664208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175564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" y="197510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DP (15 min)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" y="23774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Implementa fib_memo() con @lru_cache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8328" y="29443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Implementa fib_tabla() con tabulación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8328" y="351129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Cuenta llamadas vs versión naive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8328" y="4078224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Grafica tiempos para n=1..40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36392" y="1664208"/>
            <a:ext cx="2743200" cy="3154680"/>
          </a:xfrm>
          <a:prstGeom prst="rect">
            <a:avLst/>
          </a:prstGeom>
          <a:solidFill>
            <a:srgbClr val="1A153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36392" y="1664208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175564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46120" y="197510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 Change (25 min)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46120" y="23774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Implementa coin_change tabulación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46120" y="29443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Traza la tabla DP para [1,5,10], obj=15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46120" y="351129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Extiende para reconstruir qué monedas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46120" y="4078224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Verifica 5 casos con pytest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44184" y="1664208"/>
            <a:ext cx="2743200" cy="3154680"/>
          </a:xfrm>
          <a:prstGeom prst="rect">
            <a:avLst/>
          </a:prstGeom>
          <a:solidFill>
            <a:srgbClr val="1A1530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44184" y="1664208"/>
            <a:ext cx="2743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53912" y="175564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53912" y="197510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Aplicado a Testing (20 min)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53912" y="23774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Usa Knapsack para seleccionar tests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53912" y="29443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8 tests con tiempo y riesgo dados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53912" y="351129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Elige para 20 min de presupuesto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53912" y="4078224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Compara vs selección greedy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Notebook Python con los 3 problemas + análisis de complejidad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29 / 34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Adicional 1 — LIS (Longest Increasing Subsequence)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subsecuencia estrictamente creciente más larga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2971800"/>
          </a:xfrm>
          <a:prstGeom prst="rect">
            <a:avLst/>
          </a:prstGeom>
          <a:solidFill>
            <a:srgbClr val="06041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36576" cy="2971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51560"/>
            <a:ext cx="854964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lis.py — Longest Increasing Subsequence — O(n²)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lis(nums: list) -&gt; int: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 = longitud de la LIS que termina en índice 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nums: return 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len(nums)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[1] * n  # cada elemento es LIS de longitud 1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n):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range(i):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nums[j] &lt; nums[i]: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 = max(dp[i], dp[j] + 1)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max(dp)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print(lis([10, 9, 2, 5, 3, 7, 101, 18]))  # 4 ([2,3,7,101] o [2,5,7,101])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Versión O(n log n) con binary search — más eficiente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import bisect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 lis_optimo(nums):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tails = []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for n in nums: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i = bisect.bisect_left(tails, 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if i == len(tails): tails.append(n)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else: tails[i] = 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return len(tails)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4023360"/>
            <a:ext cx="8686800" cy="960120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4023360"/>
            <a:ext cx="4572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11480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443984"/>
            <a:ext cx="8485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bursátil (tendencias alcistas), alineamiento de secuencias biológicas, compresión de datos, y diseño de circuitos digitales.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30 / 34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Adicional 2 — Caminos en Grilla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caminos hay desde (0,0) hasta (m,n)?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2971800"/>
          </a:xfrm>
          <a:prstGeom prst="rect">
            <a:avLst/>
          </a:prstGeom>
          <a:solidFill>
            <a:srgbClr val="06041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36576" cy="2971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51560"/>
            <a:ext cx="854964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grid_paths.py — O(m × n)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caminos_grilla(m: int, n: int) -&gt; int: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Solo se puede mover ABAJO o DERECHA.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dp[i][j] = número de caminos desde (0,0) hasta (i,j)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Recurrencia: dp[i][j] = dp[i-1][j] + dp[i][j-1]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[[1]*n for _ in range(m)]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Primera fila y primera columna: solo 1 camino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m):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range(1, n):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dp[i][j] = dp[i-1][j] + dp[i][j-1]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dp[m-1][n-1]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print(caminos_grilla(3, 3))   # 6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print(caminos_grilla(5, 5))   # 70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print(caminos_grilla(10, 10)) # 48620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Relación con combinatoria: C(m+n-2, m-1)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4023360"/>
            <a:ext cx="8686800" cy="960120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4023360"/>
            <a:ext cx="4572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11480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reales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443984"/>
            <a:ext cx="8485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Pathfinding en videojuegos, análisis de rutas en mapas, conteo de posibles soluciones en problemas de OR.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31 / 34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Adicional 3 — Subset Sum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¿Existe un subconjunto con suma objetivo?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2971800"/>
          </a:xfrm>
          <a:prstGeom prst="rect">
            <a:avLst/>
          </a:prstGeom>
          <a:solidFill>
            <a:srgbClr val="060410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36576" cy="2971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51560"/>
            <a:ext cx="854964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subset_sum.py — O(n × sum)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subset_sum(nums: list, target: int) -&gt; bool: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dp[i][s] = True si existe subconjunto de nums[0..i]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con suma exactamente 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len(nums)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[[False]*(target+1) for _ in range(n+1)]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Caso base: suma 0 siempre es alcanzable (conjunto vacío)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range(n+1):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dp[i][0] = True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n+1):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s in range(1, target+1):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dp[i][s] = dp[i-1][s]  # no incluir nums[i-1]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nums[i-1] &lt;= 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dp[i][s] = dp[i][s] or dp[i-1][s-nums[i-1]]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dp[n][target]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print(subset_sum([3, 34, 4, 12, 5, 2], 9))   # True (4+5 o 3+4+2)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print(subset_sum([3, 34, 4, 12, 5, 2], 30))  # False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4023360"/>
            <a:ext cx="8686800" cy="960120"/>
          </a:xfrm>
          <a:prstGeom prst="rect">
            <a:avLst/>
          </a:prstGeom>
          <a:solidFill>
            <a:srgbClr val="DBEAFE"/>
          </a:solidFill>
          <a:ln w="1651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4023360"/>
            <a:ext cx="45720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11480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del Knapsack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443984"/>
            <a:ext cx="8485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Sum es una versión más simple del Knapsack: solo verifica posibilidad (True/False), no maximiza valor. Aplicación: particionamiento de recursos.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32 / 34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— Programación Dinámica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aprendido en Sesión 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0515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ingredientes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" y="146304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Subestructura óptima + subproblemas solapados.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36392" y="96012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6D28D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36392" y="960120"/>
            <a:ext cx="2743200" cy="457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0515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46120" y="146304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con @lru_cache o dict manual.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44184" y="96012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44184" y="96012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53912" y="10515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Tabulación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53912" y="146304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iterativo, optimizable a O(1) espacio.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288036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880360"/>
            <a:ext cx="2743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297180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problemas clásicos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" y="338328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Fibonacci, Coin Change, LCS, Knapsack, Edit Distance.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36392" y="288036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36392" y="2880360"/>
            <a:ext cx="27432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297180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46120" y="338328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dp[] → caso base → recurrencia → complejidad.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44184" y="288036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05966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44184" y="2880360"/>
            <a:ext cx="27432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53912" y="297180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QA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53912" y="338328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óptima de tests con Knapsack.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33 / 34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C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y Próxima Sesión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206240" cy="1261872"/>
          </a:xfrm>
          <a:prstGeom prst="rect">
            <a:avLst/>
          </a:prstGeom>
          <a:solidFill>
            <a:srgbClr val="1A153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87552"/>
            <a:ext cx="42062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9728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Introduction to Algorithms (CLRS)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49047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Cormen et al. El capítulo 15 es la referencia para DP.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987552"/>
            <a:ext cx="4206240" cy="1261872"/>
          </a:xfrm>
          <a:prstGeom prst="rect">
            <a:avLst/>
          </a:prstGeom>
          <a:solidFill>
            <a:srgbClr val="1A153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87552"/>
            <a:ext cx="42062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09728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leetcode.com/tag/dynamic-programming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64608" y="149047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Cientos de problemas DP categorizados por dificultad.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432304"/>
            <a:ext cx="4206240" cy="1261872"/>
          </a:xfrm>
          <a:prstGeom prst="rect">
            <a:avLst/>
          </a:prstGeom>
          <a:solidFill>
            <a:srgbClr val="1A1530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432304"/>
            <a:ext cx="42062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54203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MIT 6.006 — Dynamic Programming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" y="293522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Erik Demaine en YouTube — 4 clases magistrales gratis.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432304"/>
            <a:ext cx="4206240" cy="1261872"/>
          </a:xfrm>
          <a:prstGeom prst="rect">
            <a:avLst/>
          </a:prstGeom>
          <a:solidFill>
            <a:srgbClr val="1A153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432304"/>
            <a:ext cx="420624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254203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visualgo.net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64608" y="293522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Visualizaciones interactivas de DP y otros algoritmos.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2519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 14: Resolución de Problemas + Terminología consolidada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56285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  |  Universitaria de Colombia  |  Pruebas de Software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34 / 34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2026-04-19T23:59:25Z</dcterms:created>
  <dcterms:modified xsi:type="dcterms:W3CDTF">2026-04-19T23:59:25Z</dcterms:modified>
</cp:coreProperties>
</file>