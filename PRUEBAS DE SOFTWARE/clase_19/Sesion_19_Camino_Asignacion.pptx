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A93B"/>
          </a:solidFill>
          <a:ln w="12700">
            <a:solidFill>
              <a:srgbClr val="F2A93B"/>
            </a:solidFill>
            <a:prstDash val="solid"/>
          </a:ln>
        </p:spPr>
      </p:sp>
      <p:sp>
        <p:nvSpPr>
          <p:cNvPr id="3" name="Text 1"/>
          <p:cNvSpPr/>
          <p:nvPr/>
        </p:nvSpPr>
        <p:spPr>
          <a:xfrm>
            <a:off x="822960" y="1097280"/>
            <a:ext cx="10058400" cy="365760"/>
          </a:xfrm>
          <a:prstGeom prst="rect">
            <a:avLst/>
          </a:prstGeom>
          <a:noFill/>
          <a:ln/>
        </p:spPr>
        <p:txBody>
          <a:bodyPr wrap="square" lIns="0" tIns="0" rIns="0" bIns="0" rtlCol="0" anchor="ctr"/>
          <a:lstStyle/>
          <a:p>
            <a:pPr indent="0" marL="0">
              <a:buNone/>
            </a:pPr>
            <a:r>
              <a:rPr lang="en-US" sz="1400" b="1" spc="600" kern="0" dirty="0">
                <a:solidFill>
                  <a:srgbClr val="F2A93B"/>
                </a:solidFill>
                <a:latin typeface="Calibri" pitchFamily="34" charset="0"/>
                <a:ea typeface="Calibri" pitchFamily="34" charset="-122"/>
                <a:cs typeface="Calibri" pitchFamily="34" charset="-120"/>
              </a:rPr>
              <a:t>SESIÓN 19 · PRUEBAS DE SOFTWARE</a:t>
            </a:r>
            <a:endParaRPr lang="en-US" sz="1400" dirty="0"/>
          </a:p>
        </p:txBody>
      </p:sp>
      <p:sp>
        <p:nvSpPr>
          <p:cNvPr id="4" name="Text 2"/>
          <p:cNvSpPr/>
          <p:nvPr/>
        </p:nvSpPr>
        <p:spPr>
          <a:xfrm>
            <a:off x="822960" y="1554480"/>
            <a:ext cx="10515600" cy="201168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Camino de mínimo costo</a:t>
            </a:r>
            <a:endParaRPr lang="en-US" sz="5400" dirty="0"/>
          </a:p>
          <a:p>
            <a:pPr indent="0" marL="0">
              <a:buNone/>
            </a:pPr>
            <a:r>
              <a:rPr lang="en-US" sz="5400" b="1" dirty="0">
                <a:solidFill>
                  <a:srgbClr val="FFFFFF"/>
                </a:solidFill>
                <a:latin typeface="Georgia" pitchFamily="34" charset="0"/>
                <a:ea typeface="Georgia" pitchFamily="34" charset="-122"/>
                <a:cs typeface="Georgia" pitchFamily="34" charset="-120"/>
              </a:rPr>
              <a:t>y asignación de recursos</a:t>
            </a:r>
            <a:endParaRPr lang="en-US" sz="5400" dirty="0"/>
          </a:p>
        </p:txBody>
      </p:sp>
      <p:sp>
        <p:nvSpPr>
          <p:cNvPr id="5" name="Text 3"/>
          <p:cNvSpPr/>
          <p:nvPr/>
        </p:nvSpPr>
        <p:spPr>
          <a:xfrm>
            <a:off x="822960" y="3657600"/>
            <a:ext cx="10058400" cy="731520"/>
          </a:xfrm>
          <a:prstGeom prst="rect">
            <a:avLst/>
          </a:prstGeom>
          <a:noFill/>
          <a:ln/>
        </p:spPr>
        <p:txBody>
          <a:bodyPr wrap="square" lIns="0" tIns="0" rIns="0" bIns="0" rtlCol="0" anchor="ctr"/>
          <a:lstStyle/>
          <a:p>
            <a:pPr indent="0" marL="0">
              <a:buNone/>
            </a:pPr>
            <a:r>
              <a:rPr lang="en-US" sz="2000" i="1" dirty="0">
                <a:solidFill>
                  <a:srgbClr val="B8C7D6"/>
                </a:solidFill>
                <a:latin typeface="Calibri" pitchFamily="34" charset="0"/>
                <a:ea typeface="Calibri" pitchFamily="34" charset="-122"/>
                <a:cs typeface="Calibri" pitchFamily="34" charset="-120"/>
              </a:rPr>
              <a:t>Cierre del bloque de programación dinámica</a:t>
            </a:r>
            <a:endParaRPr lang="en-US" sz="2000" dirty="0"/>
          </a:p>
        </p:txBody>
      </p:sp>
      <p:sp>
        <p:nvSpPr>
          <p:cNvPr id="6" name="Shape 4"/>
          <p:cNvSpPr/>
          <p:nvPr/>
        </p:nvSpPr>
        <p:spPr>
          <a:xfrm>
            <a:off x="822960" y="4846320"/>
            <a:ext cx="2743200" cy="0"/>
          </a:xfrm>
          <a:prstGeom prst="line">
            <a:avLst/>
          </a:prstGeom>
          <a:noFill/>
          <a:ln w="38100">
            <a:solidFill>
              <a:srgbClr val="F2A93B"/>
            </a:solidFill>
            <a:prstDash val="solid"/>
          </a:ln>
        </p:spPr>
      </p:sp>
      <p:sp>
        <p:nvSpPr>
          <p:cNvPr id="7" name="Text 5"/>
          <p:cNvSpPr/>
          <p:nvPr/>
        </p:nvSpPr>
        <p:spPr>
          <a:xfrm>
            <a:off x="822960" y="5029200"/>
            <a:ext cx="1005840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Mg. Sergio Alejandro Burbano Mena</a:t>
            </a:r>
            <a:endParaRPr lang="en-US" sz="1400" dirty="0"/>
          </a:p>
          <a:p>
            <a:pPr indent="0" marL="0">
              <a:buNone/>
            </a:pPr>
            <a:r>
              <a:rPr lang="en-US" sz="1200" dirty="0">
                <a:solidFill>
                  <a:srgbClr val="B8C7D6"/>
                </a:solidFill>
                <a:latin typeface="Calibri" pitchFamily="34" charset="0"/>
                <a:ea typeface="Calibri" pitchFamily="34" charset="-122"/>
                <a:cs typeface="Calibri" pitchFamily="34" charset="-120"/>
              </a:rPr>
              <a:t>Programa de Ingeniería de Software · VII Semestre</a:t>
            </a:r>
            <a:endParaRPr lang="en-US" sz="1400" dirty="0"/>
          </a:p>
        </p:txBody>
      </p:sp>
      <p:sp>
        <p:nvSpPr>
          <p:cNvPr id="8" name="Text 6"/>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9" name="Text 7"/>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Agenda de la sesión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737360"/>
            <a:ext cx="914400" cy="777240"/>
          </a:xfrm>
          <a:prstGeom prst="rect">
            <a:avLst/>
          </a:prstGeom>
          <a:noFill/>
          <a:ln/>
        </p:spPr>
        <p:txBody>
          <a:bodyPr wrap="square" lIns="0" tIns="0" rIns="0" bIns="0" rtlCol="0" anchor="ctr"/>
          <a:lstStyle/>
          <a:p>
            <a:pPr indent="0" marL="0">
              <a:buNone/>
            </a:pPr>
            <a:r>
              <a:rPr lang="en-US" sz="3800" b="1" dirty="0">
                <a:solidFill>
                  <a:srgbClr val="F2A93B"/>
                </a:solidFill>
                <a:latin typeface="Georgia" pitchFamily="34" charset="0"/>
                <a:ea typeface="Georgia" pitchFamily="34" charset="-122"/>
                <a:cs typeface="Georgia" pitchFamily="34" charset="-120"/>
              </a:rPr>
              <a:t>01</a:t>
            </a:r>
            <a:endParaRPr lang="en-US" sz="3800" dirty="0"/>
          </a:p>
        </p:txBody>
      </p:sp>
      <p:sp>
        <p:nvSpPr>
          <p:cNvPr id="7" name="Text 5"/>
          <p:cNvSpPr/>
          <p:nvPr/>
        </p:nvSpPr>
        <p:spPr>
          <a:xfrm>
            <a:off x="1463040" y="1737360"/>
            <a:ext cx="10058400"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Camino de mínimo costo en grafos</a:t>
            </a:r>
            <a:endParaRPr lang="en-US" sz="1700" dirty="0"/>
          </a:p>
        </p:txBody>
      </p:sp>
      <p:sp>
        <p:nvSpPr>
          <p:cNvPr id="8" name="Text 6"/>
          <p:cNvSpPr/>
          <p:nvPr/>
        </p:nvSpPr>
        <p:spPr>
          <a:xfrm>
            <a:off x="1463040" y="2103120"/>
            <a:ext cx="10058400" cy="4572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DP sobre DAG: el problema clásico de la grilla con costos.</a:t>
            </a:r>
            <a:endParaRPr lang="en-US" sz="1200" dirty="0"/>
          </a:p>
        </p:txBody>
      </p:sp>
      <p:sp>
        <p:nvSpPr>
          <p:cNvPr id="9" name="Text 7"/>
          <p:cNvSpPr/>
          <p:nvPr/>
        </p:nvSpPr>
        <p:spPr>
          <a:xfrm>
            <a:off x="457200" y="2606040"/>
            <a:ext cx="914400" cy="777240"/>
          </a:xfrm>
          <a:prstGeom prst="rect">
            <a:avLst/>
          </a:prstGeom>
          <a:noFill/>
          <a:ln/>
        </p:spPr>
        <p:txBody>
          <a:bodyPr wrap="square" lIns="0" tIns="0" rIns="0" bIns="0" rtlCol="0" anchor="ctr"/>
          <a:lstStyle/>
          <a:p>
            <a:pPr indent="0" marL="0">
              <a:buNone/>
            </a:pPr>
            <a:r>
              <a:rPr lang="en-US" sz="3800" b="1" dirty="0">
                <a:solidFill>
                  <a:srgbClr val="F2A93B"/>
                </a:solidFill>
                <a:latin typeface="Georgia" pitchFamily="34" charset="0"/>
                <a:ea typeface="Georgia" pitchFamily="34" charset="-122"/>
                <a:cs typeface="Georgia" pitchFamily="34" charset="-120"/>
              </a:rPr>
              <a:t>02</a:t>
            </a:r>
            <a:endParaRPr lang="en-US" sz="3800" dirty="0"/>
          </a:p>
        </p:txBody>
      </p:sp>
      <p:sp>
        <p:nvSpPr>
          <p:cNvPr id="10" name="Text 8"/>
          <p:cNvSpPr/>
          <p:nvPr/>
        </p:nvSpPr>
        <p:spPr>
          <a:xfrm>
            <a:off x="1463040" y="2606040"/>
            <a:ext cx="10058400"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Recurrencia y orden topológico</a:t>
            </a:r>
            <a:endParaRPr lang="en-US" sz="1700" dirty="0"/>
          </a:p>
        </p:txBody>
      </p:sp>
      <p:sp>
        <p:nvSpPr>
          <p:cNvPr id="11" name="Text 9"/>
          <p:cNvSpPr/>
          <p:nvPr/>
        </p:nvSpPr>
        <p:spPr>
          <a:xfrm>
            <a:off x="1463040" y="2971800"/>
            <a:ext cx="10058400" cy="4572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Por qué necesitamos resolver los subproblemas en el orden correcto.</a:t>
            </a:r>
            <a:endParaRPr lang="en-US" sz="1200" dirty="0"/>
          </a:p>
        </p:txBody>
      </p:sp>
      <p:sp>
        <p:nvSpPr>
          <p:cNvPr id="12" name="Text 10"/>
          <p:cNvSpPr/>
          <p:nvPr/>
        </p:nvSpPr>
        <p:spPr>
          <a:xfrm>
            <a:off x="457200" y="3474720"/>
            <a:ext cx="914400" cy="777240"/>
          </a:xfrm>
          <a:prstGeom prst="rect">
            <a:avLst/>
          </a:prstGeom>
          <a:noFill/>
          <a:ln/>
        </p:spPr>
        <p:txBody>
          <a:bodyPr wrap="square" lIns="0" tIns="0" rIns="0" bIns="0" rtlCol="0" anchor="ctr"/>
          <a:lstStyle/>
          <a:p>
            <a:pPr indent="0" marL="0">
              <a:buNone/>
            </a:pPr>
            <a:r>
              <a:rPr lang="en-US" sz="3800" b="1" dirty="0">
                <a:solidFill>
                  <a:srgbClr val="F2A93B"/>
                </a:solidFill>
                <a:latin typeface="Georgia" pitchFamily="34" charset="0"/>
                <a:ea typeface="Georgia" pitchFamily="34" charset="-122"/>
                <a:cs typeface="Georgia" pitchFamily="34" charset="-120"/>
              </a:rPr>
              <a:t>03</a:t>
            </a:r>
            <a:endParaRPr lang="en-US" sz="3800" dirty="0"/>
          </a:p>
        </p:txBody>
      </p:sp>
      <p:sp>
        <p:nvSpPr>
          <p:cNvPr id="13" name="Text 11"/>
          <p:cNvSpPr/>
          <p:nvPr/>
        </p:nvSpPr>
        <p:spPr>
          <a:xfrm>
            <a:off x="1463040" y="3474720"/>
            <a:ext cx="10058400"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Reconstrucción del camino óptimo</a:t>
            </a:r>
            <a:endParaRPr lang="en-US" sz="1700" dirty="0"/>
          </a:p>
        </p:txBody>
      </p:sp>
      <p:sp>
        <p:nvSpPr>
          <p:cNvPr id="14" name="Text 12"/>
          <p:cNvSpPr/>
          <p:nvPr/>
        </p:nvSpPr>
        <p:spPr>
          <a:xfrm>
            <a:off x="1463040" y="3840480"/>
            <a:ext cx="10058400" cy="4572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Recuperar la secuencia de decisiones, no solo el costo final.</a:t>
            </a:r>
            <a:endParaRPr lang="en-US" sz="1200" dirty="0"/>
          </a:p>
        </p:txBody>
      </p:sp>
      <p:sp>
        <p:nvSpPr>
          <p:cNvPr id="15" name="Text 13"/>
          <p:cNvSpPr/>
          <p:nvPr/>
        </p:nvSpPr>
        <p:spPr>
          <a:xfrm>
            <a:off x="457200" y="4343400"/>
            <a:ext cx="914400" cy="777240"/>
          </a:xfrm>
          <a:prstGeom prst="rect">
            <a:avLst/>
          </a:prstGeom>
          <a:noFill/>
          <a:ln/>
        </p:spPr>
        <p:txBody>
          <a:bodyPr wrap="square" lIns="0" tIns="0" rIns="0" bIns="0" rtlCol="0" anchor="ctr"/>
          <a:lstStyle/>
          <a:p>
            <a:pPr indent="0" marL="0">
              <a:buNone/>
            </a:pPr>
            <a:r>
              <a:rPr lang="en-US" sz="3800" b="1" dirty="0">
                <a:solidFill>
                  <a:srgbClr val="F2A93B"/>
                </a:solidFill>
                <a:latin typeface="Georgia" pitchFamily="34" charset="0"/>
                <a:ea typeface="Georgia" pitchFamily="34" charset="-122"/>
                <a:cs typeface="Georgia" pitchFamily="34" charset="-120"/>
              </a:rPr>
              <a:t>04</a:t>
            </a:r>
            <a:endParaRPr lang="en-US" sz="3800" dirty="0"/>
          </a:p>
        </p:txBody>
      </p:sp>
      <p:sp>
        <p:nvSpPr>
          <p:cNvPr id="16" name="Text 14"/>
          <p:cNvSpPr/>
          <p:nvPr/>
        </p:nvSpPr>
        <p:spPr>
          <a:xfrm>
            <a:off x="1463040" y="4343400"/>
            <a:ext cx="10058400"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Asignación óptima de recursos</a:t>
            </a:r>
            <a:endParaRPr lang="en-US" sz="1700" dirty="0"/>
          </a:p>
        </p:txBody>
      </p:sp>
      <p:sp>
        <p:nvSpPr>
          <p:cNvPr id="17" name="Text 15"/>
          <p:cNvSpPr/>
          <p:nvPr/>
        </p:nvSpPr>
        <p:spPr>
          <a:xfrm>
            <a:off x="1463040" y="4709160"/>
            <a:ext cx="10058400" cy="4572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Distribuir capital limitado entre proyectos con retornos no lineales.</a:t>
            </a:r>
            <a:endParaRPr lang="en-US" sz="1200" dirty="0"/>
          </a:p>
        </p:txBody>
      </p:sp>
      <p:sp>
        <p:nvSpPr>
          <p:cNvPr id="18" name="Text 16"/>
          <p:cNvSpPr/>
          <p:nvPr/>
        </p:nvSpPr>
        <p:spPr>
          <a:xfrm>
            <a:off x="457200" y="5212080"/>
            <a:ext cx="914400" cy="777240"/>
          </a:xfrm>
          <a:prstGeom prst="rect">
            <a:avLst/>
          </a:prstGeom>
          <a:noFill/>
          <a:ln/>
        </p:spPr>
        <p:txBody>
          <a:bodyPr wrap="square" lIns="0" tIns="0" rIns="0" bIns="0" rtlCol="0" anchor="ctr"/>
          <a:lstStyle/>
          <a:p>
            <a:pPr indent="0" marL="0">
              <a:buNone/>
            </a:pPr>
            <a:r>
              <a:rPr lang="en-US" sz="3800" b="1" dirty="0">
                <a:solidFill>
                  <a:srgbClr val="F2A93B"/>
                </a:solidFill>
                <a:latin typeface="Georgia" pitchFamily="34" charset="0"/>
                <a:ea typeface="Georgia" pitchFamily="34" charset="-122"/>
                <a:cs typeface="Georgia" pitchFamily="34" charset="-120"/>
              </a:rPr>
              <a:t>05</a:t>
            </a:r>
            <a:endParaRPr lang="en-US" sz="3800" dirty="0"/>
          </a:p>
        </p:txBody>
      </p:sp>
      <p:sp>
        <p:nvSpPr>
          <p:cNvPr id="19" name="Text 17"/>
          <p:cNvSpPr/>
          <p:nvPr/>
        </p:nvSpPr>
        <p:spPr>
          <a:xfrm>
            <a:off x="1463040" y="5212080"/>
            <a:ext cx="10058400" cy="365760"/>
          </a:xfrm>
          <a:prstGeom prst="rect">
            <a:avLst/>
          </a:prstGeom>
          <a:noFill/>
          <a:ln/>
        </p:spPr>
        <p:txBody>
          <a:bodyPr wrap="square" lIns="0" tIns="0" rIns="0" bIns="0" rtlCol="0" anchor="ctr"/>
          <a:lstStyle/>
          <a:p>
            <a:pPr indent="0" marL="0">
              <a:buNone/>
            </a:pPr>
            <a:r>
              <a:rPr lang="en-US" sz="1700" b="1" dirty="0">
                <a:solidFill>
                  <a:srgbClr val="21295C"/>
                </a:solidFill>
                <a:latin typeface="Calibri" pitchFamily="34" charset="0"/>
                <a:ea typeface="Calibri" pitchFamily="34" charset="-122"/>
                <a:cs typeface="Calibri" pitchFamily="34" charset="-120"/>
              </a:rPr>
              <a:t>Cierre del bloque de DP</a:t>
            </a:r>
            <a:endParaRPr lang="en-US" sz="1700" dirty="0"/>
          </a:p>
        </p:txBody>
      </p:sp>
      <p:sp>
        <p:nvSpPr>
          <p:cNvPr id="20" name="Text 18"/>
          <p:cNvSpPr/>
          <p:nvPr/>
        </p:nvSpPr>
        <p:spPr>
          <a:xfrm>
            <a:off x="1463040" y="5577840"/>
            <a:ext cx="10058400" cy="4572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Visión integradora de las cuatro sesiones y aplicación a pruebas de software.</a:t>
            </a:r>
            <a:endParaRPr lang="en-US" sz="1200" dirty="0"/>
          </a:p>
        </p:txBody>
      </p:sp>
      <p:sp>
        <p:nvSpPr>
          <p:cNvPr id="21" name="Text 19"/>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2" name="Text 20"/>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Resultados de aprendizaje</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54864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Al finalizar la sesión el estudiante será capaz de:</a:t>
            </a:r>
            <a:endParaRPr lang="en-US" sz="1400" dirty="0"/>
          </a:p>
        </p:txBody>
      </p:sp>
      <p:sp>
        <p:nvSpPr>
          <p:cNvPr id="7" name="Shape 5"/>
          <p:cNvSpPr/>
          <p:nvPr/>
        </p:nvSpPr>
        <p:spPr>
          <a:xfrm>
            <a:off x="457200" y="2377440"/>
            <a:ext cx="502920" cy="502920"/>
          </a:xfrm>
          <a:prstGeom prst="ellipse">
            <a:avLst/>
          </a:prstGeom>
          <a:solidFill>
            <a:srgbClr val="065A82"/>
          </a:solidFill>
          <a:ln w="12700">
            <a:solidFill>
              <a:srgbClr val="065A82"/>
            </a:solidFill>
            <a:prstDash val="solid"/>
          </a:ln>
        </p:spPr>
      </p:sp>
      <p:sp>
        <p:nvSpPr>
          <p:cNvPr id="8" name="Text 6"/>
          <p:cNvSpPr/>
          <p:nvPr/>
        </p:nvSpPr>
        <p:spPr>
          <a:xfrm>
            <a:off x="457200" y="2377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143000" y="233172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Modelar caminos de mínimo costo en una grilla</a:t>
            </a:r>
            <a:endParaRPr lang="en-US" sz="1600" dirty="0"/>
          </a:p>
        </p:txBody>
      </p:sp>
      <p:sp>
        <p:nvSpPr>
          <p:cNvPr id="10" name="Text 8"/>
          <p:cNvSpPr/>
          <p:nvPr/>
        </p:nvSpPr>
        <p:spPr>
          <a:xfrm>
            <a:off x="1143000" y="2697480"/>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Definir estados, transiciones y costos sobre un grafo dirigido acíclico.</a:t>
            </a:r>
            <a:endParaRPr lang="en-US" sz="1200" dirty="0"/>
          </a:p>
        </p:txBody>
      </p:sp>
      <p:sp>
        <p:nvSpPr>
          <p:cNvPr id="11" name="Shape 9"/>
          <p:cNvSpPr/>
          <p:nvPr/>
        </p:nvSpPr>
        <p:spPr>
          <a:xfrm>
            <a:off x="457200" y="3118104"/>
            <a:ext cx="502920" cy="502920"/>
          </a:xfrm>
          <a:prstGeom prst="ellipse">
            <a:avLst/>
          </a:prstGeom>
          <a:solidFill>
            <a:srgbClr val="065A82"/>
          </a:solidFill>
          <a:ln w="12700">
            <a:solidFill>
              <a:srgbClr val="065A82"/>
            </a:solidFill>
            <a:prstDash val="solid"/>
          </a:ln>
        </p:spPr>
      </p:sp>
      <p:sp>
        <p:nvSpPr>
          <p:cNvPr id="12" name="Text 10"/>
          <p:cNvSpPr/>
          <p:nvPr/>
        </p:nvSpPr>
        <p:spPr>
          <a:xfrm>
            <a:off x="457200" y="31181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143000" y="3072384"/>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Implementar la solución bottom-up</a:t>
            </a:r>
            <a:endParaRPr lang="en-US" sz="1600" dirty="0"/>
          </a:p>
        </p:txBody>
      </p:sp>
      <p:sp>
        <p:nvSpPr>
          <p:cNvPr id="14" name="Text 12"/>
          <p:cNvSpPr/>
          <p:nvPr/>
        </p:nvSpPr>
        <p:spPr>
          <a:xfrm>
            <a:off x="1143000" y="3438144"/>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Construir la tabla de costos respetando el orden topológico de dependencias.</a:t>
            </a:r>
            <a:endParaRPr lang="en-US" sz="1200" dirty="0"/>
          </a:p>
        </p:txBody>
      </p:sp>
      <p:sp>
        <p:nvSpPr>
          <p:cNvPr id="15" name="Shape 13"/>
          <p:cNvSpPr/>
          <p:nvPr/>
        </p:nvSpPr>
        <p:spPr>
          <a:xfrm>
            <a:off x="457200" y="3858768"/>
            <a:ext cx="502920" cy="502920"/>
          </a:xfrm>
          <a:prstGeom prst="ellipse">
            <a:avLst/>
          </a:prstGeom>
          <a:solidFill>
            <a:srgbClr val="065A82"/>
          </a:solidFill>
          <a:ln w="12700">
            <a:solidFill>
              <a:srgbClr val="065A82"/>
            </a:solidFill>
            <a:prstDash val="solid"/>
          </a:ln>
        </p:spPr>
      </p:sp>
      <p:sp>
        <p:nvSpPr>
          <p:cNvPr id="16" name="Text 14"/>
          <p:cNvSpPr/>
          <p:nvPr/>
        </p:nvSpPr>
        <p:spPr>
          <a:xfrm>
            <a:off x="457200" y="3858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143000" y="3813048"/>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Reconstruir la decisión óptima</a:t>
            </a:r>
            <a:endParaRPr lang="en-US" sz="1600" dirty="0"/>
          </a:p>
        </p:txBody>
      </p:sp>
      <p:sp>
        <p:nvSpPr>
          <p:cNvPr id="18" name="Text 16"/>
          <p:cNvSpPr/>
          <p:nvPr/>
        </p:nvSpPr>
        <p:spPr>
          <a:xfrm>
            <a:off x="1143000" y="4178808"/>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Mantener punteros al predecesor para recuperar el camino exacto.</a:t>
            </a:r>
            <a:endParaRPr lang="en-US" sz="1200" dirty="0"/>
          </a:p>
        </p:txBody>
      </p:sp>
      <p:sp>
        <p:nvSpPr>
          <p:cNvPr id="19" name="Shape 17"/>
          <p:cNvSpPr/>
          <p:nvPr/>
        </p:nvSpPr>
        <p:spPr>
          <a:xfrm>
            <a:off x="457200" y="4599432"/>
            <a:ext cx="502920" cy="502920"/>
          </a:xfrm>
          <a:prstGeom prst="ellipse">
            <a:avLst/>
          </a:prstGeom>
          <a:solidFill>
            <a:srgbClr val="065A82"/>
          </a:solidFill>
          <a:ln w="12700">
            <a:solidFill>
              <a:srgbClr val="065A82"/>
            </a:solidFill>
            <a:prstDash val="solid"/>
          </a:ln>
        </p:spPr>
      </p:sp>
      <p:sp>
        <p:nvSpPr>
          <p:cNvPr id="20" name="Text 18"/>
          <p:cNvSpPr/>
          <p:nvPr/>
        </p:nvSpPr>
        <p:spPr>
          <a:xfrm>
            <a:off x="457200" y="45994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143000" y="4553712"/>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Resolver asignación de recursos con DP</a:t>
            </a:r>
            <a:endParaRPr lang="en-US" sz="1600" dirty="0"/>
          </a:p>
        </p:txBody>
      </p:sp>
      <p:sp>
        <p:nvSpPr>
          <p:cNvPr id="22" name="Text 20"/>
          <p:cNvSpPr/>
          <p:nvPr/>
        </p:nvSpPr>
        <p:spPr>
          <a:xfrm>
            <a:off x="1143000" y="4919472"/>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Aplicar la técnica para distribuir presupuesto entre N actividades.</a:t>
            </a:r>
            <a:endParaRPr lang="en-US" sz="1200" dirty="0"/>
          </a:p>
        </p:txBody>
      </p:sp>
      <p:sp>
        <p:nvSpPr>
          <p:cNvPr id="23" name="Shape 21"/>
          <p:cNvSpPr/>
          <p:nvPr/>
        </p:nvSpPr>
        <p:spPr>
          <a:xfrm>
            <a:off x="457200" y="5340096"/>
            <a:ext cx="502920" cy="502920"/>
          </a:xfrm>
          <a:prstGeom prst="ellipse">
            <a:avLst/>
          </a:prstGeom>
          <a:solidFill>
            <a:srgbClr val="065A82"/>
          </a:solidFill>
          <a:ln w="12700">
            <a:solidFill>
              <a:srgbClr val="065A82"/>
            </a:solidFill>
            <a:prstDash val="solid"/>
          </a:ln>
        </p:spPr>
      </p:sp>
      <p:sp>
        <p:nvSpPr>
          <p:cNvPr id="24" name="Text 22"/>
          <p:cNvSpPr/>
          <p:nvPr/>
        </p:nvSpPr>
        <p:spPr>
          <a:xfrm>
            <a:off x="457200" y="534009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1143000" y="5294376"/>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Conectar DP con pruebas de software</a:t>
            </a:r>
            <a:endParaRPr lang="en-US" sz="1600" dirty="0"/>
          </a:p>
        </p:txBody>
      </p:sp>
      <p:sp>
        <p:nvSpPr>
          <p:cNvPr id="26" name="Text 24"/>
          <p:cNvSpPr/>
          <p:nvPr/>
        </p:nvSpPr>
        <p:spPr>
          <a:xfrm>
            <a:off x="1143000" y="5660136"/>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Identificar dónde estos algoritmos resuelven problemas reales del área.</a:t>
            </a:r>
            <a:endParaRPr lang="en-US" sz="1200" dirty="0"/>
          </a:p>
        </p:txBody>
      </p:sp>
      <p:sp>
        <p:nvSpPr>
          <p:cNvPr id="27" name="Text 25"/>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8" name="Text 26"/>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914400"/>
            <a:ext cx="4572000" cy="3657600"/>
          </a:xfrm>
          <a:prstGeom prst="rect">
            <a:avLst/>
          </a:prstGeom>
          <a:noFill/>
          <a:ln/>
        </p:spPr>
        <p:txBody>
          <a:bodyPr wrap="square" lIns="0" tIns="0" rIns="0" bIns="0" rtlCol="0" anchor="ctr"/>
          <a:lstStyle/>
          <a:p>
            <a:pPr algn="l" indent="0" marL="0">
              <a:buNone/>
            </a:pPr>
            <a:r>
              <a:rPr lang="en-US" sz="28000" b="1" dirty="0">
                <a:solidFill>
                  <a:srgbClr val="1C7293"/>
                </a:solidFill>
                <a:latin typeface="Georgia" pitchFamily="34" charset="0"/>
                <a:ea typeface="Georgia" pitchFamily="34" charset="-122"/>
                <a:cs typeface="Georgia" pitchFamily="34" charset="-120"/>
              </a:rPr>
              <a:t>01</a:t>
            </a:r>
            <a:endParaRPr lang="en-US" sz="28000" dirty="0"/>
          </a:p>
        </p:txBody>
      </p:sp>
      <p:sp>
        <p:nvSpPr>
          <p:cNvPr id="3" name="Shape 1"/>
          <p:cNvSpPr/>
          <p:nvPr/>
        </p:nvSpPr>
        <p:spPr>
          <a:xfrm>
            <a:off x="5486400" y="2103120"/>
            <a:ext cx="1280160" cy="292608"/>
          </a:xfrm>
          <a:prstGeom prst="rect">
            <a:avLst/>
          </a:prstGeom>
          <a:solidFill>
            <a:srgbClr val="F2A93B"/>
          </a:solidFill>
          <a:ln w="12700">
            <a:solidFill>
              <a:srgbClr val="F2A93B"/>
            </a:solidFill>
            <a:prstDash val="solid"/>
          </a:ln>
        </p:spPr>
      </p:sp>
      <p:sp>
        <p:nvSpPr>
          <p:cNvPr id="4" name="Text 2"/>
          <p:cNvSpPr/>
          <p:nvPr/>
        </p:nvSpPr>
        <p:spPr>
          <a:xfrm>
            <a:off x="5486400" y="2103120"/>
            <a:ext cx="128016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alibri" pitchFamily="34" charset="0"/>
                <a:ea typeface="Calibri" pitchFamily="34" charset="-122"/>
                <a:cs typeface="Calibri" pitchFamily="34" charset="-120"/>
              </a:rPr>
              <a:t>SESIÓN 19</a:t>
            </a:r>
            <a:endParaRPr lang="en-US" sz="1000" dirty="0"/>
          </a:p>
        </p:txBody>
      </p:sp>
      <p:sp>
        <p:nvSpPr>
          <p:cNvPr id="5" name="Text 3"/>
          <p:cNvSpPr/>
          <p:nvPr/>
        </p:nvSpPr>
        <p:spPr>
          <a:xfrm>
            <a:off x="5486400" y="2560320"/>
            <a:ext cx="6217920" cy="14630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Camino de mínimo costo</a:t>
            </a:r>
            <a:endParaRPr lang="en-US" sz="4000" dirty="0"/>
          </a:p>
        </p:txBody>
      </p:sp>
      <p:sp>
        <p:nvSpPr>
          <p:cNvPr id="6" name="Text 4"/>
          <p:cNvSpPr/>
          <p:nvPr/>
        </p:nvSpPr>
        <p:spPr>
          <a:xfrm>
            <a:off x="5486400" y="4114800"/>
            <a:ext cx="6217920" cy="1371600"/>
          </a:xfrm>
          <a:prstGeom prst="rect">
            <a:avLst/>
          </a:prstGeom>
          <a:noFill/>
          <a:ln/>
        </p:spPr>
        <p:txBody>
          <a:bodyPr wrap="square" lIns="0" tIns="0" rIns="0" bIns="0" rtlCol="0" anchor="ctr"/>
          <a:lstStyle/>
          <a:p>
            <a:pPr indent="0" marL="0">
              <a:buNone/>
            </a:pPr>
            <a:r>
              <a:rPr lang="en-US" sz="1600" i="1" dirty="0">
                <a:solidFill>
                  <a:srgbClr val="C8D6E5"/>
                </a:solidFill>
                <a:latin typeface="Calibri" pitchFamily="34" charset="0"/>
                <a:ea typeface="Calibri" pitchFamily="34" charset="-122"/>
                <a:cs typeface="Calibri" pitchFamily="34" charset="-120"/>
              </a:rPr>
              <a:t>Decisiones óptimas en grafos dirigidos acíclicos.</a:t>
            </a:r>
            <a:endParaRPr lang="en-US" sz="1600" dirty="0"/>
          </a:p>
        </p:txBody>
      </p:sp>
      <p:sp>
        <p:nvSpPr>
          <p:cNvPr id="7" name="Text 5"/>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8" name="Text 6"/>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El problema</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6217920" cy="457200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Tenemos una grilla de m × n celdas, cada una con un costo asociado.</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Iniciamos en la celda superior izquierda (0, 0).</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Queremos llegar a la celda inferior derecha (m-1, n-1).</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Solo podemos movernos hacia la derecha o hacia abajo.</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Objetivo: minimizar la suma de costos del camino recorrido.</a:t>
            </a:r>
            <a:endParaRPr lang="en-US" sz="1500" dirty="0"/>
          </a:p>
        </p:txBody>
      </p:sp>
      <p:sp>
        <p:nvSpPr>
          <p:cNvPr id="7" name="Shape 5"/>
          <p:cNvSpPr/>
          <p:nvPr/>
        </p:nvSpPr>
        <p:spPr>
          <a:xfrm>
            <a:off x="6949440" y="1691640"/>
            <a:ext cx="4846320" cy="4572000"/>
          </a:xfrm>
          <a:prstGeom prst="rect">
            <a:avLst/>
          </a:prstGeom>
          <a:solidFill>
            <a:srgbClr val="F4F7FA"/>
          </a:solidFill>
          <a:ln w="12700">
            <a:solidFill>
              <a:srgbClr val="F4F7FA"/>
            </a:solidFill>
            <a:prstDash val="solid"/>
          </a:ln>
        </p:spPr>
      </p:sp>
      <p:sp>
        <p:nvSpPr>
          <p:cNvPr id="8" name="Shape 6"/>
          <p:cNvSpPr/>
          <p:nvPr/>
        </p:nvSpPr>
        <p:spPr>
          <a:xfrm>
            <a:off x="6949440" y="1691640"/>
            <a:ext cx="73152" cy="4572000"/>
          </a:xfrm>
          <a:prstGeom prst="rect">
            <a:avLst/>
          </a:prstGeom>
          <a:solidFill>
            <a:srgbClr val="F2A93B"/>
          </a:solidFill>
          <a:ln w="12700">
            <a:solidFill>
              <a:srgbClr val="F2A93B"/>
            </a:solidFill>
            <a:prstDash val="solid"/>
          </a:ln>
        </p:spPr>
      </p:sp>
      <p:sp>
        <p:nvSpPr>
          <p:cNvPr id="9" name="Text 7"/>
          <p:cNvSpPr/>
          <p:nvPr/>
        </p:nvSpPr>
        <p:spPr>
          <a:xfrm>
            <a:off x="7178040" y="1828800"/>
            <a:ext cx="4526280"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Variantes habituales</a:t>
            </a:r>
            <a:endParaRPr lang="en-US" sz="1600" dirty="0"/>
          </a:p>
        </p:txBody>
      </p:sp>
      <p:sp>
        <p:nvSpPr>
          <p:cNvPr id="10" name="Text 8"/>
          <p:cNvSpPr/>
          <p:nvPr/>
        </p:nvSpPr>
        <p:spPr>
          <a:xfrm>
            <a:off x="7178040" y="2331720"/>
            <a:ext cx="4526280" cy="3840480"/>
          </a:xfrm>
          <a:prstGeom prst="rect">
            <a:avLst/>
          </a:prstGeom>
          <a:noFill/>
          <a:ln/>
        </p:spPr>
        <p:txBody>
          <a:bodyPr wrap="square" lIns="0" tIns="0" rIns="0" bIns="0" rtlCol="0" anchor="ctr"/>
          <a:lstStyle/>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Movimientos en 8 direcciones (incluye diagonales).</a:t>
            </a:r>
            <a:endParaRPr lang="en-US" sz="1300" dirty="0"/>
          </a:p>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Costos negativos (siempre que el grafo sea acíclico).</a:t>
            </a:r>
            <a:endParaRPr lang="en-US" sz="1300" dirty="0"/>
          </a:p>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Restricciones: celdas bloqueadas, peajes, obstáculos.</a:t>
            </a:r>
            <a:endParaRPr lang="en-US" sz="1300" dirty="0"/>
          </a:p>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Caminos en cuadrículas triangulares (problemas de Project Euler).</a:t>
            </a:r>
            <a:endParaRPr lang="en-US" sz="1300" dirty="0"/>
          </a:p>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Generalización a cualquier DAG con pesos en aristas.</a:t>
            </a:r>
            <a:endParaRPr lang="en-US" sz="1300" dirty="0"/>
          </a:p>
        </p:txBody>
      </p:sp>
      <p:sp>
        <p:nvSpPr>
          <p:cNvPr id="11" name="Text 9"/>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2" name="Text 10"/>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Ejemplo: grilla 3×3</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37360"/>
            <a:ext cx="5806440" cy="2194560"/>
          </a:xfrm>
          <a:prstGeom prst="rect">
            <a:avLst/>
          </a:prstGeom>
          <a:solidFill>
            <a:srgbClr val="F4F7FA"/>
          </a:solidFill>
          <a:ln w="12700">
            <a:solidFill>
              <a:srgbClr val="F4F7FA"/>
            </a:solidFill>
            <a:prstDash val="solid"/>
          </a:ln>
        </p:spPr>
      </p:sp>
      <p:sp>
        <p:nvSpPr>
          <p:cNvPr id="7" name="Shape 5"/>
          <p:cNvSpPr/>
          <p:nvPr/>
        </p:nvSpPr>
        <p:spPr>
          <a:xfrm>
            <a:off x="457200" y="1737360"/>
            <a:ext cx="548640" cy="548640"/>
          </a:xfrm>
          <a:prstGeom prst="rect">
            <a:avLst/>
          </a:prstGeom>
          <a:solidFill>
            <a:srgbClr val="065A82"/>
          </a:solidFill>
          <a:ln w="12700">
            <a:solidFill>
              <a:srgbClr val="065A82"/>
            </a:solidFill>
            <a:prstDash val="solid"/>
          </a:ln>
        </p:spPr>
      </p:sp>
      <p:sp>
        <p:nvSpPr>
          <p:cNvPr id="8" name="Text 6"/>
          <p:cNvSpPr/>
          <p:nvPr/>
        </p:nvSpPr>
        <p:spPr>
          <a:xfrm>
            <a:off x="45720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114300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Costos de cada celda</a:t>
            </a:r>
            <a:endParaRPr lang="en-US" sz="1600" dirty="0"/>
          </a:p>
        </p:txBody>
      </p:sp>
      <p:sp>
        <p:nvSpPr>
          <p:cNvPr id="10" name="Text 8"/>
          <p:cNvSpPr/>
          <p:nvPr/>
        </p:nvSpPr>
        <p:spPr>
          <a:xfrm>
            <a:off x="64008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Fila 0: [1, 3, 1]</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Fila 1: [1, 5, 1]</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Fila 2: [4, 2, 1]</a:t>
            </a:r>
            <a:endParaRPr lang="en-US" sz="1200" dirty="0"/>
          </a:p>
        </p:txBody>
      </p:sp>
      <p:sp>
        <p:nvSpPr>
          <p:cNvPr id="11" name="Shape 9"/>
          <p:cNvSpPr/>
          <p:nvPr/>
        </p:nvSpPr>
        <p:spPr>
          <a:xfrm>
            <a:off x="6355080" y="1737360"/>
            <a:ext cx="5806440" cy="2194560"/>
          </a:xfrm>
          <a:prstGeom prst="rect">
            <a:avLst/>
          </a:prstGeom>
          <a:solidFill>
            <a:srgbClr val="F4F7FA"/>
          </a:solidFill>
          <a:ln w="12700">
            <a:solidFill>
              <a:srgbClr val="F4F7FA"/>
            </a:solidFill>
            <a:prstDash val="solid"/>
          </a:ln>
        </p:spPr>
      </p:sp>
      <p:sp>
        <p:nvSpPr>
          <p:cNvPr id="12" name="Shape 10"/>
          <p:cNvSpPr/>
          <p:nvPr/>
        </p:nvSpPr>
        <p:spPr>
          <a:xfrm>
            <a:off x="6355080" y="1737360"/>
            <a:ext cx="548640" cy="548640"/>
          </a:xfrm>
          <a:prstGeom prst="rect">
            <a:avLst/>
          </a:prstGeom>
          <a:solidFill>
            <a:srgbClr val="1C7293"/>
          </a:solidFill>
          <a:ln w="12700">
            <a:solidFill>
              <a:srgbClr val="1C7293"/>
            </a:solidFill>
            <a:prstDash val="solid"/>
          </a:ln>
        </p:spPr>
      </p:sp>
      <p:sp>
        <p:nvSpPr>
          <p:cNvPr id="13" name="Text 11"/>
          <p:cNvSpPr/>
          <p:nvPr/>
        </p:nvSpPr>
        <p:spPr>
          <a:xfrm>
            <a:off x="635508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704088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Camino candidato A</a:t>
            </a:r>
            <a:endParaRPr lang="en-US" sz="1600" dirty="0"/>
          </a:p>
        </p:txBody>
      </p:sp>
      <p:sp>
        <p:nvSpPr>
          <p:cNvPr id="15" name="Text 13"/>
          <p:cNvSpPr/>
          <p:nvPr/>
        </p:nvSpPr>
        <p:spPr>
          <a:xfrm>
            <a:off x="653796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(0,0)→(0,1)→(0,2)→(1,2)→(2,2)</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Costo: 1+3+1+1+1 = 7</a:t>
            </a:r>
            <a:endParaRPr lang="en-US" sz="1200" dirty="0"/>
          </a:p>
        </p:txBody>
      </p:sp>
      <p:sp>
        <p:nvSpPr>
          <p:cNvPr id="16" name="Shape 14"/>
          <p:cNvSpPr/>
          <p:nvPr/>
        </p:nvSpPr>
        <p:spPr>
          <a:xfrm>
            <a:off x="457200" y="4114800"/>
            <a:ext cx="5806440" cy="2194560"/>
          </a:xfrm>
          <a:prstGeom prst="rect">
            <a:avLst/>
          </a:prstGeom>
          <a:solidFill>
            <a:srgbClr val="F4F7FA"/>
          </a:solidFill>
          <a:ln w="12700">
            <a:solidFill>
              <a:srgbClr val="F4F7FA"/>
            </a:solidFill>
            <a:prstDash val="solid"/>
          </a:ln>
        </p:spPr>
      </p:sp>
      <p:sp>
        <p:nvSpPr>
          <p:cNvPr id="17" name="Shape 15"/>
          <p:cNvSpPr/>
          <p:nvPr/>
        </p:nvSpPr>
        <p:spPr>
          <a:xfrm>
            <a:off x="457200" y="4114800"/>
            <a:ext cx="548640" cy="548640"/>
          </a:xfrm>
          <a:prstGeom prst="rect">
            <a:avLst/>
          </a:prstGeom>
          <a:solidFill>
            <a:srgbClr val="21295C"/>
          </a:solidFill>
          <a:ln w="12700">
            <a:solidFill>
              <a:srgbClr val="21295C"/>
            </a:solidFill>
            <a:prstDash val="solid"/>
          </a:ln>
        </p:spPr>
      </p:sp>
      <p:sp>
        <p:nvSpPr>
          <p:cNvPr id="18" name="Text 16"/>
          <p:cNvSpPr/>
          <p:nvPr/>
        </p:nvSpPr>
        <p:spPr>
          <a:xfrm>
            <a:off x="457200" y="4114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114300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Camino candidato B</a:t>
            </a:r>
            <a:endParaRPr lang="en-US" sz="1600" dirty="0"/>
          </a:p>
        </p:txBody>
      </p:sp>
      <p:sp>
        <p:nvSpPr>
          <p:cNvPr id="20" name="Text 18"/>
          <p:cNvSpPr/>
          <p:nvPr/>
        </p:nvSpPr>
        <p:spPr>
          <a:xfrm>
            <a:off x="64008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(0,0)→(1,0)→(2,0)→(2,1)→(2,2)</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Costo: 1+1+4+2+1 = 9</a:t>
            </a:r>
            <a:endParaRPr lang="en-US" sz="1200" dirty="0"/>
          </a:p>
        </p:txBody>
      </p:sp>
      <p:sp>
        <p:nvSpPr>
          <p:cNvPr id="21" name="Shape 19"/>
          <p:cNvSpPr/>
          <p:nvPr/>
        </p:nvSpPr>
        <p:spPr>
          <a:xfrm>
            <a:off x="6355080" y="4114800"/>
            <a:ext cx="5806440" cy="2194560"/>
          </a:xfrm>
          <a:prstGeom prst="rect">
            <a:avLst/>
          </a:prstGeom>
          <a:solidFill>
            <a:srgbClr val="F4F7FA"/>
          </a:solidFill>
          <a:ln w="12700">
            <a:solidFill>
              <a:srgbClr val="F4F7FA"/>
            </a:solidFill>
            <a:prstDash val="solid"/>
          </a:ln>
        </p:spPr>
      </p:sp>
      <p:sp>
        <p:nvSpPr>
          <p:cNvPr id="22" name="Shape 20"/>
          <p:cNvSpPr/>
          <p:nvPr/>
        </p:nvSpPr>
        <p:spPr>
          <a:xfrm>
            <a:off x="6355080" y="4114800"/>
            <a:ext cx="548640" cy="548640"/>
          </a:xfrm>
          <a:prstGeom prst="rect">
            <a:avLst/>
          </a:prstGeom>
          <a:solidFill>
            <a:srgbClr val="F2A93B"/>
          </a:solidFill>
          <a:ln w="12700">
            <a:solidFill>
              <a:srgbClr val="F2A93B"/>
            </a:solidFill>
            <a:prstDash val="solid"/>
          </a:ln>
        </p:spPr>
      </p:sp>
      <p:sp>
        <p:nvSpPr>
          <p:cNvPr id="23" name="Text 21"/>
          <p:cNvSpPr/>
          <p:nvPr/>
        </p:nvSpPr>
        <p:spPr>
          <a:xfrm>
            <a:off x="6355080" y="4114800"/>
            <a:ext cx="548640" cy="548640"/>
          </a:xfrm>
          <a:prstGeom prst="rect">
            <a:avLst/>
          </a:prstGeom>
          <a:noFill/>
          <a:ln/>
        </p:spPr>
        <p:txBody>
          <a:bodyPr wrap="square" lIns="0" tIns="0" rIns="0" bIns="0"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04</a:t>
            </a:r>
            <a:endParaRPr lang="en-US" sz="1600" dirty="0"/>
          </a:p>
        </p:txBody>
      </p:sp>
      <p:sp>
        <p:nvSpPr>
          <p:cNvPr id="24" name="Text 22"/>
          <p:cNvSpPr/>
          <p:nvPr/>
        </p:nvSpPr>
        <p:spPr>
          <a:xfrm>
            <a:off x="704088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Camino óptimo</a:t>
            </a:r>
            <a:endParaRPr lang="en-US" sz="1600" dirty="0"/>
          </a:p>
        </p:txBody>
      </p:sp>
      <p:sp>
        <p:nvSpPr>
          <p:cNvPr id="25" name="Text 23"/>
          <p:cNvSpPr/>
          <p:nvPr/>
        </p:nvSpPr>
        <p:spPr>
          <a:xfrm>
            <a:off x="653796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(0,0)→(0,1)→(0,2)→(1,2)→(2,2)</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Costo mínimo: 7</a:t>
            </a:r>
            <a:endParaRPr lang="en-US" sz="1200" dirty="0"/>
          </a:p>
        </p:txBody>
      </p:sp>
      <p:sp>
        <p:nvSpPr>
          <p:cNvPr id="26" name="Text 24"/>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7" name="Text 25"/>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Recurrencia del camino mínimo</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914400" y="1828800"/>
            <a:ext cx="10332720" cy="1463040"/>
          </a:xfrm>
          <a:prstGeom prst="rect">
            <a:avLst/>
          </a:prstGeom>
          <a:solidFill>
            <a:srgbClr val="21295C"/>
          </a:solidFill>
          <a:ln w="12700">
            <a:solidFill>
              <a:srgbClr val="21295C"/>
            </a:solidFill>
            <a:prstDash val="solid"/>
          </a:ln>
        </p:spPr>
      </p:sp>
      <p:sp>
        <p:nvSpPr>
          <p:cNvPr id="7" name="Text 5"/>
          <p:cNvSpPr/>
          <p:nvPr/>
        </p:nvSpPr>
        <p:spPr>
          <a:xfrm>
            <a:off x="914400" y="1828800"/>
            <a:ext cx="10332720" cy="1463040"/>
          </a:xfrm>
          <a:prstGeom prst="rect">
            <a:avLst/>
          </a:prstGeom>
          <a:noFill/>
          <a:ln/>
        </p:spPr>
        <p:txBody>
          <a:bodyPr wrap="square" lIns="0" tIns="0" rIns="0" bIns="0" rtlCol="0" anchor="ctr"/>
          <a:lstStyle/>
          <a:p>
            <a:pPr algn="ctr" indent="0" marL="0">
              <a:buNone/>
            </a:pPr>
            <a:r>
              <a:rPr lang="en-US" sz="2400" b="1" dirty="0">
                <a:solidFill>
                  <a:srgbClr val="F2A93B"/>
                </a:solidFill>
                <a:latin typeface="Consolas" pitchFamily="34" charset="0"/>
                <a:ea typeface="Consolas" pitchFamily="34" charset="-122"/>
                <a:cs typeface="Consolas" pitchFamily="34" charset="-120"/>
              </a:rPr>
              <a:t>dp[i][j] = costo[i][j] + min(dp[i-1][j], dp[i][j-1])</a:t>
            </a:r>
            <a:endParaRPr lang="en-US" sz="2400" dirty="0"/>
          </a:p>
        </p:txBody>
      </p:sp>
      <p:sp>
        <p:nvSpPr>
          <p:cNvPr id="8" name="Text 6"/>
          <p:cNvSpPr/>
          <p:nvPr/>
        </p:nvSpPr>
        <p:spPr>
          <a:xfrm>
            <a:off x="457200" y="3520440"/>
            <a:ext cx="11247120" cy="731520"/>
          </a:xfrm>
          <a:prstGeom prst="rect">
            <a:avLst/>
          </a:prstGeom>
          <a:noFill/>
          <a:ln/>
        </p:spPr>
        <p:txBody>
          <a:bodyPr wrap="square" lIns="0" tIns="0" rIns="0" bIns="0" rtlCol="0" anchor="ctr"/>
          <a:lstStyle/>
          <a:p>
            <a:pPr algn="ctr" indent="0" marL="0">
              <a:buNone/>
            </a:pPr>
            <a:r>
              <a:rPr lang="en-US" sz="1500" i="1" dirty="0">
                <a:solidFill>
                  <a:srgbClr val="1B2B3A"/>
                </a:solidFill>
                <a:latin typeface="Calibri" pitchFamily="34" charset="0"/>
                <a:ea typeface="Calibri" pitchFamily="34" charset="-122"/>
                <a:cs typeface="Calibri" pitchFamily="34" charset="-120"/>
              </a:rPr>
              <a:t>Para llegar a la celda (i, j) debimos venir desde arriba o desde la izquierda. Tomamos la opción más barata y sumamos el costo de la celda actual.</a:t>
            </a:r>
            <a:endParaRPr lang="en-US" sz="1500" dirty="0"/>
          </a:p>
        </p:txBody>
      </p:sp>
      <p:sp>
        <p:nvSpPr>
          <p:cNvPr id="9" name="Shape 7"/>
          <p:cNvSpPr/>
          <p:nvPr/>
        </p:nvSpPr>
        <p:spPr>
          <a:xfrm>
            <a:off x="548640" y="4434840"/>
            <a:ext cx="3566160" cy="1783080"/>
          </a:xfrm>
          <a:prstGeom prst="rect">
            <a:avLst/>
          </a:prstGeom>
          <a:solidFill>
            <a:srgbClr val="F4F7FA"/>
          </a:solidFill>
          <a:ln w="12700">
            <a:solidFill>
              <a:srgbClr val="F4F7FA"/>
            </a:solidFill>
            <a:prstDash val="solid"/>
          </a:ln>
        </p:spPr>
      </p:sp>
      <p:sp>
        <p:nvSpPr>
          <p:cNvPr id="10" name="Text 8"/>
          <p:cNvSpPr/>
          <p:nvPr/>
        </p:nvSpPr>
        <p:spPr>
          <a:xfrm>
            <a:off x="640080" y="4526280"/>
            <a:ext cx="338328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Caso base</a:t>
            </a:r>
            <a:endParaRPr lang="en-US" sz="1300" dirty="0"/>
          </a:p>
        </p:txBody>
      </p:sp>
      <p:sp>
        <p:nvSpPr>
          <p:cNvPr id="11" name="Text 9"/>
          <p:cNvSpPr/>
          <p:nvPr/>
        </p:nvSpPr>
        <p:spPr>
          <a:xfrm>
            <a:off x="640080" y="4937760"/>
            <a:ext cx="3383280" cy="128016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dp[0][0] = costo[0][0] — la única celda accesible sin movimientos.</a:t>
            </a:r>
            <a:endParaRPr lang="en-US" sz="1100" dirty="0"/>
          </a:p>
        </p:txBody>
      </p:sp>
      <p:sp>
        <p:nvSpPr>
          <p:cNvPr id="12" name="Shape 10"/>
          <p:cNvSpPr/>
          <p:nvPr/>
        </p:nvSpPr>
        <p:spPr>
          <a:xfrm>
            <a:off x="4297680" y="4434840"/>
            <a:ext cx="3566160" cy="1783080"/>
          </a:xfrm>
          <a:prstGeom prst="rect">
            <a:avLst/>
          </a:prstGeom>
          <a:solidFill>
            <a:srgbClr val="F4F7FA"/>
          </a:solidFill>
          <a:ln w="12700">
            <a:solidFill>
              <a:srgbClr val="F4F7FA"/>
            </a:solidFill>
            <a:prstDash val="solid"/>
          </a:ln>
        </p:spPr>
      </p:sp>
      <p:sp>
        <p:nvSpPr>
          <p:cNvPr id="13" name="Text 11"/>
          <p:cNvSpPr/>
          <p:nvPr/>
        </p:nvSpPr>
        <p:spPr>
          <a:xfrm>
            <a:off x="4389120" y="4526280"/>
            <a:ext cx="338328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Primera fila</a:t>
            </a:r>
            <a:endParaRPr lang="en-US" sz="1300" dirty="0"/>
          </a:p>
        </p:txBody>
      </p:sp>
      <p:sp>
        <p:nvSpPr>
          <p:cNvPr id="14" name="Text 12"/>
          <p:cNvSpPr/>
          <p:nvPr/>
        </p:nvSpPr>
        <p:spPr>
          <a:xfrm>
            <a:off x="4389120" y="4937760"/>
            <a:ext cx="3383280" cy="128016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dp[0][j] = dp[0][j-1] + costo[0][j] — solo movimientos horizontales.</a:t>
            </a:r>
            <a:endParaRPr lang="en-US" sz="1100" dirty="0"/>
          </a:p>
        </p:txBody>
      </p:sp>
      <p:sp>
        <p:nvSpPr>
          <p:cNvPr id="15" name="Shape 13"/>
          <p:cNvSpPr/>
          <p:nvPr/>
        </p:nvSpPr>
        <p:spPr>
          <a:xfrm>
            <a:off x="8046720" y="4434840"/>
            <a:ext cx="3566160" cy="1783080"/>
          </a:xfrm>
          <a:prstGeom prst="rect">
            <a:avLst/>
          </a:prstGeom>
          <a:solidFill>
            <a:srgbClr val="F4F7FA"/>
          </a:solidFill>
          <a:ln w="12700">
            <a:solidFill>
              <a:srgbClr val="F4F7FA"/>
            </a:solidFill>
            <a:prstDash val="solid"/>
          </a:ln>
        </p:spPr>
      </p:sp>
      <p:sp>
        <p:nvSpPr>
          <p:cNvPr id="16" name="Text 14"/>
          <p:cNvSpPr/>
          <p:nvPr/>
        </p:nvSpPr>
        <p:spPr>
          <a:xfrm>
            <a:off x="8138160" y="4526280"/>
            <a:ext cx="338328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Primera columna</a:t>
            </a:r>
            <a:endParaRPr lang="en-US" sz="1300" dirty="0"/>
          </a:p>
        </p:txBody>
      </p:sp>
      <p:sp>
        <p:nvSpPr>
          <p:cNvPr id="17" name="Text 15"/>
          <p:cNvSpPr/>
          <p:nvPr/>
        </p:nvSpPr>
        <p:spPr>
          <a:xfrm>
            <a:off x="8138160" y="4937760"/>
            <a:ext cx="3383280" cy="128016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dp[i][0] = dp[i-1][0] + costo[i][0] — solo movimientos verticales.</a:t>
            </a:r>
            <a:endParaRPr lang="en-US" sz="1100" dirty="0"/>
          </a:p>
        </p:txBody>
      </p:sp>
      <p:sp>
        <p:nvSpPr>
          <p:cNvPr id="18" name="Text 16"/>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9" name="Text 17"/>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Orden de evaluación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37360"/>
            <a:ext cx="11247120" cy="2194560"/>
          </a:xfrm>
          <a:prstGeom prst="rect">
            <a:avLst/>
          </a:prstGeom>
          <a:solidFill>
            <a:srgbClr val="21295C"/>
          </a:solidFill>
          <a:ln w="12700">
            <a:solidFill>
              <a:srgbClr val="21295C"/>
            </a:solidFill>
            <a:prstDash val="solid"/>
          </a:ln>
        </p:spPr>
      </p:sp>
      <p:sp>
        <p:nvSpPr>
          <p:cNvPr id="7" name="Text 5"/>
          <p:cNvSpPr/>
          <p:nvPr/>
        </p:nvSpPr>
        <p:spPr>
          <a:xfrm>
            <a:off x="822960" y="1828800"/>
            <a:ext cx="10515600" cy="164592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"Cada celda depende de la de arriba y la de la izquierda. Resolvamos por filas, de izquierda a derecha."</a:t>
            </a:r>
            <a:endParaRPr lang="en-US" sz="2200" dirty="0"/>
          </a:p>
        </p:txBody>
      </p:sp>
      <p:sp>
        <p:nvSpPr>
          <p:cNvPr id="8" name="Text 6"/>
          <p:cNvSpPr/>
          <p:nvPr/>
        </p:nvSpPr>
        <p:spPr>
          <a:xfrm>
            <a:off x="822960" y="3520440"/>
            <a:ext cx="10515600" cy="365760"/>
          </a:xfrm>
          <a:prstGeom prst="rect">
            <a:avLst/>
          </a:prstGeom>
          <a:noFill/>
          <a:ln/>
        </p:spPr>
        <p:txBody>
          <a:bodyPr wrap="square" lIns="0" tIns="0" rIns="0" bIns="0" rtlCol="0" anchor="ctr"/>
          <a:lstStyle/>
          <a:p>
            <a:pPr indent="0" marL="0">
              <a:buNone/>
            </a:pPr>
            <a:r>
              <a:rPr lang="en-US" sz="1200" dirty="0">
                <a:solidFill>
                  <a:srgbClr val="F2A93B"/>
                </a:solidFill>
                <a:latin typeface="Calibri" pitchFamily="34" charset="0"/>
                <a:ea typeface="Calibri" pitchFamily="34" charset="-122"/>
                <a:cs typeface="Calibri" pitchFamily="34" charset="-120"/>
              </a:rPr>
              <a:t>Principio del orden topológico</a:t>
            </a:r>
            <a:endParaRPr lang="en-US" sz="1200" dirty="0"/>
          </a:p>
        </p:txBody>
      </p:sp>
      <p:sp>
        <p:nvSpPr>
          <p:cNvPr id="9" name="Text 7"/>
          <p:cNvSpPr/>
          <p:nvPr/>
        </p:nvSpPr>
        <p:spPr>
          <a:xfrm>
            <a:off x="457200" y="4206240"/>
            <a:ext cx="11247120" cy="2103120"/>
          </a:xfrm>
          <a:prstGeom prst="rect">
            <a:avLst/>
          </a:prstGeom>
          <a:noFill/>
          <a:ln/>
        </p:spPr>
        <p:txBody>
          <a:bodyPr wrap="square" lIns="0" tIns="0" rIns="0" bIns="0" rtlCol="0" anchor="ctr"/>
          <a:lstStyle/>
          <a:p>
            <a:pPr indent="0" marL="0">
              <a:spcAft>
                <a:spcPts val="800"/>
              </a:spcAft>
              <a:buNone/>
            </a:pPr>
            <a:r>
              <a:rPr lang="en-US" sz="1500" dirty="0">
                <a:solidFill>
                  <a:srgbClr val="1B2B3A"/>
                </a:solidFill>
                <a:latin typeface="Calibri" pitchFamily="34" charset="0"/>
                <a:ea typeface="Calibri" pitchFamily="34" charset="-122"/>
                <a:cs typeface="Calibri" pitchFamily="34" charset="-120"/>
              </a:rPr>
              <a:t>En una grilla, el orden natural (fila por fila, columna por columna) coincide con el orden topológico del DAG implícito. En grafos generales necesitamos un sort topológico explícito antes de aplicar la recurrencia.</a:t>
            </a:r>
            <a:endParaRPr lang="en-US" sz="1500" dirty="0"/>
          </a:p>
        </p:txBody>
      </p:sp>
      <p:sp>
        <p:nvSpPr>
          <p:cNvPr id="10" name="Text 8"/>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1" name="Text 9"/>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Implementación bottom-up</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457200"/>
          </a:xfrm>
          <a:prstGeom prst="rect">
            <a:avLst/>
          </a:prstGeom>
          <a:noFill/>
          <a:ln/>
        </p:spPr>
        <p:txBody>
          <a:bodyPr wrap="square" lIns="0" tIns="0" rIns="0" bIns="0" rtlCol="0" anchor="ctr"/>
          <a:lstStyle/>
          <a:p>
            <a:pPr indent="0" marL="0">
              <a:buNone/>
            </a:pPr>
            <a:r>
              <a:rPr lang="en-US" sz="1300" i="1" dirty="0">
                <a:solidFill>
                  <a:srgbClr val="5C6B7A"/>
                </a:solidFill>
                <a:latin typeface="Calibri" pitchFamily="34" charset="0"/>
                <a:ea typeface="Calibri" pitchFamily="34" charset="-122"/>
                <a:cs typeface="Calibri" pitchFamily="34" charset="-120"/>
              </a:rPr>
              <a:t>Llenamos la tabla siguiendo el orden topológico natural de la grilla.</a:t>
            </a:r>
            <a:endParaRPr lang="en-US" sz="1300" dirty="0"/>
          </a:p>
        </p:txBody>
      </p:sp>
      <p:sp>
        <p:nvSpPr>
          <p:cNvPr id="7" name="Shape 5"/>
          <p:cNvSpPr/>
          <p:nvPr/>
        </p:nvSpPr>
        <p:spPr>
          <a:xfrm>
            <a:off x="457200" y="2240280"/>
            <a:ext cx="11247120" cy="4023360"/>
          </a:xfrm>
          <a:prstGeom prst="rect">
            <a:avLst/>
          </a:prstGeom>
          <a:solidFill>
            <a:srgbClr val="1A2332"/>
          </a:solidFill>
          <a:ln w="12700">
            <a:solidFill>
              <a:srgbClr val="1A2332"/>
            </a:solidFill>
            <a:prstDash val="solid"/>
          </a:ln>
        </p:spPr>
      </p:sp>
      <p:sp>
        <p:nvSpPr>
          <p:cNvPr id="8" name="Shape 6"/>
          <p:cNvSpPr/>
          <p:nvPr/>
        </p:nvSpPr>
        <p:spPr>
          <a:xfrm>
            <a:off x="457200" y="2240280"/>
            <a:ext cx="1097280" cy="292608"/>
          </a:xfrm>
          <a:prstGeom prst="rect">
            <a:avLst/>
          </a:prstGeom>
          <a:solidFill>
            <a:srgbClr val="F2A93B"/>
          </a:solidFill>
          <a:ln w="12700">
            <a:solidFill>
              <a:srgbClr val="F2A93B"/>
            </a:solidFill>
            <a:prstDash val="solid"/>
          </a:ln>
        </p:spPr>
      </p:sp>
      <p:sp>
        <p:nvSpPr>
          <p:cNvPr id="9" name="Text 7"/>
          <p:cNvSpPr/>
          <p:nvPr/>
        </p:nvSpPr>
        <p:spPr>
          <a:xfrm>
            <a:off x="457200" y="2240280"/>
            <a:ext cx="109728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onsolas" pitchFamily="34" charset="0"/>
                <a:ea typeface="Consolas" pitchFamily="34" charset="-122"/>
                <a:cs typeface="Consolas" pitchFamily="34" charset="-120"/>
              </a:rPr>
              <a:t>PYTHON</a:t>
            </a:r>
            <a:endParaRPr lang="en-US" sz="1000" dirty="0"/>
          </a:p>
        </p:txBody>
      </p:sp>
      <p:sp>
        <p:nvSpPr>
          <p:cNvPr id="10" name="Text 8"/>
          <p:cNvSpPr/>
          <p:nvPr/>
        </p:nvSpPr>
        <p:spPr>
          <a:xfrm>
            <a:off x="640080" y="2606040"/>
            <a:ext cx="10881360" cy="3611880"/>
          </a:xfrm>
          <a:prstGeom prst="rect">
            <a:avLst/>
          </a:prstGeom>
          <a:noFill/>
          <a:ln/>
        </p:spPr>
        <p:txBody>
          <a:bodyPr wrap="square" lIns="0" tIns="0" rIns="0" bIns="0" rtlCol="0" anchor="ctr"/>
          <a:lstStyle/>
          <a:p>
            <a:pPr indent="0" marL="0">
              <a:buNone/>
            </a:pPr>
            <a:r>
              <a:rPr lang="en-US" sz="1300" dirty="0">
                <a:solidFill>
                  <a:srgbClr val="E8EEF5"/>
                </a:solidFill>
                <a:latin typeface="Consolas" pitchFamily="34" charset="0"/>
                <a:ea typeface="Consolas" pitchFamily="34" charset="-122"/>
                <a:cs typeface="Consolas" pitchFamily="34" charset="-120"/>
              </a:rPr>
              <a:t>def camino_minimo(costo):</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m, n = len(costo), len(costo[0])</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dp = [[0] * n for _ in range(m)]</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dp[0][0] = costo[0][0]</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 Primera fila</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j in range(1, n):</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dp[0][j] = dp[0][j-1] + costo[0][j]</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 Primera columna</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i in range(1, m):</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dp[i][0] = dp[i-1][0] + costo[i][0]</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 Resto de la tabla</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i in range(1, m):</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j in range(1, n):</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dp[i][j] = costo[i][j] + min(dp[i-1][j], dp[i][j-1])</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return dp[m-1][n-1]</a:t>
            </a:r>
            <a:endParaRPr lang="en-US" sz="1300" dirty="0"/>
          </a:p>
        </p:txBody>
      </p:sp>
      <p:sp>
        <p:nvSpPr>
          <p:cNvPr id="11" name="Text 9"/>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2" name="Text 10"/>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Reconstrucción del camino óptimo</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457200"/>
          </a:xfrm>
          <a:prstGeom prst="rect">
            <a:avLst/>
          </a:prstGeom>
          <a:noFill/>
          <a:ln/>
        </p:spPr>
        <p:txBody>
          <a:bodyPr wrap="square" lIns="0" tIns="0" rIns="0" bIns="0" rtlCol="0" anchor="ctr"/>
          <a:lstStyle/>
          <a:p>
            <a:pPr indent="0" marL="0">
              <a:buNone/>
            </a:pPr>
            <a:r>
              <a:rPr lang="en-US" sz="1300" i="1" dirty="0">
                <a:solidFill>
                  <a:srgbClr val="5C6B7A"/>
                </a:solidFill>
                <a:latin typeface="Calibri" pitchFamily="34" charset="0"/>
                <a:ea typeface="Calibri" pitchFamily="34" charset="-122"/>
                <a:cs typeface="Calibri" pitchFamily="34" charset="-120"/>
              </a:rPr>
              <a:t>Recorremos la tabla desde la esquina final hacia el origen, eligiendo en cada paso al predecesor con menor dp.</a:t>
            </a:r>
            <a:endParaRPr lang="en-US" sz="1300" dirty="0"/>
          </a:p>
        </p:txBody>
      </p:sp>
      <p:sp>
        <p:nvSpPr>
          <p:cNvPr id="7" name="Shape 5"/>
          <p:cNvSpPr/>
          <p:nvPr/>
        </p:nvSpPr>
        <p:spPr>
          <a:xfrm>
            <a:off x="457200" y="2240280"/>
            <a:ext cx="11247120" cy="4023360"/>
          </a:xfrm>
          <a:prstGeom prst="rect">
            <a:avLst/>
          </a:prstGeom>
          <a:solidFill>
            <a:srgbClr val="1A2332"/>
          </a:solidFill>
          <a:ln w="12700">
            <a:solidFill>
              <a:srgbClr val="1A2332"/>
            </a:solidFill>
            <a:prstDash val="solid"/>
          </a:ln>
        </p:spPr>
      </p:sp>
      <p:sp>
        <p:nvSpPr>
          <p:cNvPr id="8" name="Shape 6"/>
          <p:cNvSpPr/>
          <p:nvPr/>
        </p:nvSpPr>
        <p:spPr>
          <a:xfrm>
            <a:off x="457200" y="2240280"/>
            <a:ext cx="1097280" cy="292608"/>
          </a:xfrm>
          <a:prstGeom prst="rect">
            <a:avLst/>
          </a:prstGeom>
          <a:solidFill>
            <a:srgbClr val="F2A93B"/>
          </a:solidFill>
          <a:ln w="12700">
            <a:solidFill>
              <a:srgbClr val="F2A93B"/>
            </a:solidFill>
            <a:prstDash val="solid"/>
          </a:ln>
        </p:spPr>
      </p:sp>
      <p:sp>
        <p:nvSpPr>
          <p:cNvPr id="9" name="Text 7"/>
          <p:cNvSpPr/>
          <p:nvPr/>
        </p:nvSpPr>
        <p:spPr>
          <a:xfrm>
            <a:off x="457200" y="2240280"/>
            <a:ext cx="109728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onsolas" pitchFamily="34" charset="0"/>
                <a:ea typeface="Consolas" pitchFamily="34" charset="-122"/>
                <a:cs typeface="Consolas" pitchFamily="34" charset="-120"/>
              </a:rPr>
              <a:t>PYTHON</a:t>
            </a:r>
            <a:endParaRPr lang="en-US" sz="1000" dirty="0"/>
          </a:p>
        </p:txBody>
      </p:sp>
      <p:sp>
        <p:nvSpPr>
          <p:cNvPr id="10" name="Text 8"/>
          <p:cNvSpPr/>
          <p:nvPr/>
        </p:nvSpPr>
        <p:spPr>
          <a:xfrm>
            <a:off x="640080" y="2606040"/>
            <a:ext cx="10881360" cy="3611880"/>
          </a:xfrm>
          <a:prstGeom prst="rect">
            <a:avLst/>
          </a:prstGeom>
          <a:noFill/>
          <a:ln/>
        </p:spPr>
        <p:txBody>
          <a:bodyPr wrap="square" lIns="0" tIns="0" rIns="0" bIns="0" rtlCol="0" anchor="ctr"/>
          <a:lstStyle/>
          <a:p>
            <a:pPr indent="0" marL="0">
              <a:buNone/>
            </a:pPr>
            <a:r>
              <a:rPr lang="en-US" sz="1300" dirty="0">
                <a:solidFill>
                  <a:srgbClr val="E8EEF5"/>
                </a:solidFill>
                <a:latin typeface="Consolas" pitchFamily="34" charset="0"/>
                <a:ea typeface="Consolas" pitchFamily="34" charset="-122"/>
                <a:cs typeface="Consolas" pitchFamily="34" charset="-120"/>
              </a:rPr>
              <a:t>def reconstruir_camino(costo, dp):</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m, n = len(costo), len(costo[0])</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camino = [(m-1, n-1)]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i, j = m-1, n-1</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while (i, j) != (0, 0):</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if i == 0:</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j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elif j == 0:</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i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elif dp[i-1][j] &lt; dp[i][j-1]: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i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else:</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j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camino.append((i, j))</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camino.reverse()</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return camino  # secuencia ordenada de coordenadas</a:t>
            </a:r>
            <a:endParaRPr lang="en-US" sz="1300" dirty="0"/>
          </a:p>
        </p:txBody>
      </p:sp>
      <p:sp>
        <p:nvSpPr>
          <p:cNvPr id="11" name="Text 9"/>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2" name="Text 10"/>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Optimización de espacio</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83080"/>
            <a:ext cx="5577840" cy="4480560"/>
          </a:xfrm>
          <a:prstGeom prst="rect">
            <a:avLst/>
          </a:prstGeom>
          <a:solidFill>
            <a:srgbClr val="F4F7FA"/>
          </a:solidFill>
          <a:ln w="12700">
            <a:solidFill>
              <a:srgbClr val="F4F7FA"/>
            </a:solidFill>
            <a:prstDash val="solid"/>
          </a:ln>
        </p:spPr>
      </p:sp>
      <p:sp>
        <p:nvSpPr>
          <p:cNvPr id="7" name="Shape 5"/>
          <p:cNvSpPr/>
          <p:nvPr/>
        </p:nvSpPr>
        <p:spPr>
          <a:xfrm>
            <a:off x="457200" y="1783080"/>
            <a:ext cx="5577840" cy="548640"/>
          </a:xfrm>
          <a:prstGeom prst="rect">
            <a:avLst/>
          </a:prstGeom>
          <a:solidFill>
            <a:srgbClr val="B85042"/>
          </a:solidFill>
          <a:ln w="12700">
            <a:solidFill>
              <a:srgbClr val="B85042"/>
            </a:solidFill>
            <a:prstDash val="solid"/>
          </a:ln>
        </p:spPr>
      </p:sp>
      <p:sp>
        <p:nvSpPr>
          <p:cNvPr id="8" name="Text 6"/>
          <p:cNvSpPr/>
          <p:nvPr/>
        </p:nvSpPr>
        <p:spPr>
          <a:xfrm>
            <a:off x="457200" y="1783080"/>
            <a:ext cx="55778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VERSIÓN COMPLETA</a:t>
            </a:r>
            <a:endParaRPr lang="en-US" sz="1600" dirty="0"/>
          </a:p>
        </p:txBody>
      </p:sp>
      <p:sp>
        <p:nvSpPr>
          <p:cNvPr id="9" name="Text 7"/>
          <p:cNvSpPr/>
          <p:nvPr/>
        </p:nvSpPr>
        <p:spPr>
          <a:xfrm>
            <a:off x="731520" y="2468880"/>
            <a:ext cx="5120640" cy="36576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Espacio O(m · n) — toda la matriz dp.</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Permite reconstruir el camino fácilmente.</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Útil cuando se necesita la traza completa.</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Recomendada para depurar y enseñar.</a:t>
            </a:r>
            <a:endParaRPr lang="en-US" sz="1400" dirty="0"/>
          </a:p>
        </p:txBody>
      </p:sp>
      <p:sp>
        <p:nvSpPr>
          <p:cNvPr id="10" name="Shape 8"/>
          <p:cNvSpPr/>
          <p:nvPr/>
        </p:nvSpPr>
        <p:spPr>
          <a:xfrm>
            <a:off x="6217920" y="1783080"/>
            <a:ext cx="5577840" cy="4480560"/>
          </a:xfrm>
          <a:prstGeom prst="rect">
            <a:avLst/>
          </a:prstGeom>
          <a:solidFill>
            <a:srgbClr val="F4F7FA"/>
          </a:solidFill>
          <a:ln w="12700">
            <a:solidFill>
              <a:srgbClr val="F4F7FA"/>
            </a:solidFill>
            <a:prstDash val="solid"/>
          </a:ln>
        </p:spPr>
      </p:sp>
      <p:sp>
        <p:nvSpPr>
          <p:cNvPr id="11" name="Shape 9"/>
          <p:cNvSpPr/>
          <p:nvPr/>
        </p:nvSpPr>
        <p:spPr>
          <a:xfrm>
            <a:off x="6217920" y="1783080"/>
            <a:ext cx="5577840" cy="548640"/>
          </a:xfrm>
          <a:prstGeom prst="rect">
            <a:avLst/>
          </a:prstGeom>
          <a:solidFill>
            <a:srgbClr val="065A82"/>
          </a:solidFill>
          <a:ln w="12700">
            <a:solidFill>
              <a:srgbClr val="065A82"/>
            </a:solidFill>
            <a:prstDash val="solid"/>
          </a:ln>
        </p:spPr>
      </p:sp>
      <p:sp>
        <p:nvSpPr>
          <p:cNvPr id="12" name="Text 10"/>
          <p:cNvSpPr/>
          <p:nvPr/>
        </p:nvSpPr>
        <p:spPr>
          <a:xfrm>
            <a:off x="6217920" y="1783080"/>
            <a:ext cx="55778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VERSIÓN OPTIMIZADA</a:t>
            </a:r>
            <a:endParaRPr lang="en-US" sz="1600" dirty="0"/>
          </a:p>
        </p:txBody>
      </p:sp>
      <p:sp>
        <p:nvSpPr>
          <p:cNvPr id="13" name="Text 11"/>
          <p:cNvSpPr/>
          <p:nvPr/>
        </p:nvSpPr>
        <p:spPr>
          <a:xfrm>
            <a:off x="6492240" y="2468880"/>
            <a:ext cx="5120640" cy="36576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Espacio O(n) — solo la fila anterior.</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Iteramos in-place sobre un único arreglo.</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Pierde la traza, no permite reconstrucción directa.</a:t>
            </a:r>
            <a:endParaRPr lang="en-US" sz="1400" dirty="0"/>
          </a:p>
          <a:p>
            <a:pPr marL="342900" indent="-342900">
              <a:spcAft>
                <a:spcPts val="800"/>
              </a:spcAft>
              <a:buSzPct val="100000"/>
              <a:buChar char="■"/>
            </a:pPr>
            <a:r>
              <a:rPr lang="en-US" sz="1400" dirty="0">
                <a:solidFill>
                  <a:srgbClr val="1B2B3A"/>
                </a:solidFill>
                <a:latin typeface="Calibri" pitchFamily="34" charset="0"/>
                <a:ea typeface="Calibri" pitchFamily="34" charset="-122"/>
                <a:cs typeface="Calibri" pitchFamily="34" charset="-120"/>
              </a:rPr>
              <a:t>Útil cuando solo importa el costo final.</a:t>
            </a:r>
            <a:endParaRPr lang="en-US" sz="1400" dirty="0"/>
          </a:p>
        </p:txBody>
      </p:sp>
      <p:sp>
        <p:nvSpPr>
          <p:cNvPr id="14" name="Text 12"/>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5" name="Text 13"/>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Complejidad del algoritmo</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O(m·n)</a:t>
            </a:r>
            <a:endParaRPr lang="en-US" sz="6000" dirty="0"/>
          </a:p>
        </p:txBody>
      </p:sp>
      <p:sp>
        <p:nvSpPr>
          <p:cNvPr id="7" name="Text 5"/>
          <p:cNvSpPr/>
          <p:nvPr/>
        </p:nvSpPr>
        <p:spPr>
          <a:xfrm>
            <a:off x="45720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Tiempo de ejecución</a:t>
            </a:r>
            <a:endParaRPr lang="en-US" sz="1300" dirty="0"/>
          </a:p>
        </p:txBody>
      </p:sp>
      <p:sp>
        <p:nvSpPr>
          <p:cNvPr id="8" name="Text 6"/>
          <p:cNvSpPr/>
          <p:nvPr/>
        </p:nvSpPr>
        <p:spPr>
          <a:xfrm>
            <a:off x="54864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9" name="Text 7"/>
          <p:cNvSpPr/>
          <p:nvPr/>
        </p:nvSpPr>
        <p:spPr>
          <a:xfrm>
            <a:off x="326898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O(m·n)</a:t>
            </a:r>
            <a:endParaRPr lang="en-US" sz="6000" dirty="0"/>
          </a:p>
        </p:txBody>
      </p:sp>
      <p:sp>
        <p:nvSpPr>
          <p:cNvPr id="10" name="Text 8"/>
          <p:cNvSpPr/>
          <p:nvPr/>
        </p:nvSpPr>
        <p:spPr>
          <a:xfrm>
            <a:off x="326898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Espacio versión completa</a:t>
            </a:r>
            <a:endParaRPr lang="en-US" sz="1300" dirty="0"/>
          </a:p>
        </p:txBody>
      </p:sp>
      <p:sp>
        <p:nvSpPr>
          <p:cNvPr id="11" name="Text 9"/>
          <p:cNvSpPr/>
          <p:nvPr/>
        </p:nvSpPr>
        <p:spPr>
          <a:xfrm>
            <a:off x="336042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12" name="Text 10"/>
          <p:cNvSpPr/>
          <p:nvPr/>
        </p:nvSpPr>
        <p:spPr>
          <a:xfrm>
            <a:off x="608076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O(n)</a:t>
            </a:r>
            <a:endParaRPr lang="en-US" sz="6000" dirty="0"/>
          </a:p>
        </p:txBody>
      </p:sp>
      <p:sp>
        <p:nvSpPr>
          <p:cNvPr id="13" name="Text 11"/>
          <p:cNvSpPr/>
          <p:nvPr/>
        </p:nvSpPr>
        <p:spPr>
          <a:xfrm>
            <a:off x="608076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Espacio optimizado</a:t>
            </a:r>
            <a:endParaRPr lang="en-US" sz="1300" dirty="0"/>
          </a:p>
        </p:txBody>
      </p:sp>
      <p:sp>
        <p:nvSpPr>
          <p:cNvPr id="14" name="Text 12"/>
          <p:cNvSpPr/>
          <p:nvPr/>
        </p:nvSpPr>
        <p:spPr>
          <a:xfrm>
            <a:off x="617220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15" name="Text 13"/>
          <p:cNvSpPr/>
          <p:nvPr/>
        </p:nvSpPr>
        <p:spPr>
          <a:xfrm>
            <a:off x="889254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1</a:t>
            </a:r>
            <a:endParaRPr lang="en-US" sz="6000" dirty="0"/>
          </a:p>
        </p:txBody>
      </p:sp>
      <p:sp>
        <p:nvSpPr>
          <p:cNvPr id="16" name="Text 14"/>
          <p:cNvSpPr/>
          <p:nvPr/>
        </p:nvSpPr>
        <p:spPr>
          <a:xfrm>
            <a:off x="889254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Decisiones por celda</a:t>
            </a:r>
            <a:endParaRPr lang="en-US" sz="1300" dirty="0"/>
          </a:p>
        </p:txBody>
      </p:sp>
      <p:sp>
        <p:nvSpPr>
          <p:cNvPr id="17" name="Text 15"/>
          <p:cNvSpPr/>
          <p:nvPr/>
        </p:nvSpPr>
        <p:spPr>
          <a:xfrm>
            <a:off x="898398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18" name="Text 16"/>
          <p:cNvSpPr/>
          <p:nvPr/>
        </p:nvSpPr>
        <p:spPr>
          <a:xfrm>
            <a:off x="457200" y="5989320"/>
            <a:ext cx="11247120" cy="365760"/>
          </a:xfrm>
          <a:prstGeom prst="rect">
            <a:avLst/>
          </a:prstGeom>
          <a:noFill/>
          <a:ln/>
        </p:spPr>
        <p:txBody>
          <a:bodyPr wrap="square" lIns="0" tIns="0" rIns="0" bIns="0" rtlCol="0" anchor="ctr"/>
          <a:lstStyle/>
          <a:p>
            <a:pPr algn="ctr" indent="0" marL="0">
              <a:buNone/>
            </a:pPr>
            <a:r>
              <a:rPr lang="en-US" sz="1100" i="1" dirty="0">
                <a:solidFill>
                  <a:srgbClr val="5C6B7A"/>
                </a:solidFill>
                <a:latin typeface="Calibri" pitchFamily="34" charset="0"/>
                <a:ea typeface="Calibri" pitchFamily="34" charset="-122"/>
                <a:cs typeface="Calibri" pitchFamily="34" charset="-120"/>
              </a:rPr>
              <a:t>Cada celda se calcula exactamente una vez con dos comparaciones constantes — DP en su forma más limpia.</a:t>
            </a:r>
            <a:endParaRPr lang="en-US" sz="1100" dirty="0"/>
          </a:p>
        </p:txBody>
      </p:sp>
      <p:sp>
        <p:nvSpPr>
          <p:cNvPr id="19" name="Text 17"/>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0" name="Text 18"/>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914400"/>
            <a:ext cx="4572000" cy="3657600"/>
          </a:xfrm>
          <a:prstGeom prst="rect">
            <a:avLst/>
          </a:prstGeom>
          <a:noFill/>
          <a:ln/>
        </p:spPr>
        <p:txBody>
          <a:bodyPr wrap="square" lIns="0" tIns="0" rIns="0" bIns="0" rtlCol="0" anchor="ctr"/>
          <a:lstStyle/>
          <a:p>
            <a:pPr algn="l" indent="0" marL="0">
              <a:buNone/>
            </a:pPr>
            <a:r>
              <a:rPr lang="en-US" sz="28000" b="1" dirty="0">
                <a:solidFill>
                  <a:srgbClr val="1C7293"/>
                </a:solidFill>
                <a:latin typeface="Georgia" pitchFamily="34" charset="0"/>
                <a:ea typeface="Georgia" pitchFamily="34" charset="-122"/>
                <a:cs typeface="Georgia" pitchFamily="34" charset="-120"/>
              </a:rPr>
              <a:t>02</a:t>
            </a:r>
            <a:endParaRPr lang="en-US" sz="28000" dirty="0"/>
          </a:p>
        </p:txBody>
      </p:sp>
      <p:sp>
        <p:nvSpPr>
          <p:cNvPr id="3" name="Shape 1"/>
          <p:cNvSpPr/>
          <p:nvPr/>
        </p:nvSpPr>
        <p:spPr>
          <a:xfrm>
            <a:off x="5486400" y="2103120"/>
            <a:ext cx="1280160" cy="292608"/>
          </a:xfrm>
          <a:prstGeom prst="rect">
            <a:avLst/>
          </a:prstGeom>
          <a:solidFill>
            <a:srgbClr val="F2A93B"/>
          </a:solidFill>
          <a:ln w="12700">
            <a:solidFill>
              <a:srgbClr val="F2A93B"/>
            </a:solidFill>
            <a:prstDash val="solid"/>
          </a:ln>
        </p:spPr>
      </p:sp>
      <p:sp>
        <p:nvSpPr>
          <p:cNvPr id="4" name="Text 2"/>
          <p:cNvSpPr/>
          <p:nvPr/>
        </p:nvSpPr>
        <p:spPr>
          <a:xfrm>
            <a:off x="5486400" y="2103120"/>
            <a:ext cx="128016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alibri" pitchFamily="34" charset="0"/>
                <a:ea typeface="Calibri" pitchFamily="34" charset="-122"/>
                <a:cs typeface="Calibri" pitchFamily="34" charset="-120"/>
              </a:rPr>
              <a:t>SESIÓN 19</a:t>
            </a:r>
            <a:endParaRPr lang="en-US" sz="1000" dirty="0"/>
          </a:p>
        </p:txBody>
      </p:sp>
      <p:sp>
        <p:nvSpPr>
          <p:cNvPr id="5" name="Text 3"/>
          <p:cNvSpPr/>
          <p:nvPr/>
        </p:nvSpPr>
        <p:spPr>
          <a:xfrm>
            <a:off x="5486400" y="2560320"/>
            <a:ext cx="6217920" cy="14630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Asignación de recursos</a:t>
            </a:r>
            <a:endParaRPr lang="en-US" sz="4000" dirty="0"/>
          </a:p>
        </p:txBody>
      </p:sp>
      <p:sp>
        <p:nvSpPr>
          <p:cNvPr id="6" name="Text 4"/>
          <p:cNvSpPr/>
          <p:nvPr/>
        </p:nvSpPr>
        <p:spPr>
          <a:xfrm>
            <a:off x="5486400" y="4114800"/>
            <a:ext cx="6217920" cy="1371600"/>
          </a:xfrm>
          <a:prstGeom prst="rect">
            <a:avLst/>
          </a:prstGeom>
          <a:noFill/>
          <a:ln/>
        </p:spPr>
        <p:txBody>
          <a:bodyPr wrap="square" lIns="0" tIns="0" rIns="0" bIns="0" rtlCol="0" anchor="ctr"/>
          <a:lstStyle/>
          <a:p>
            <a:pPr indent="0" marL="0">
              <a:buNone/>
            </a:pPr>
            <a:r>
              <a:rPr lang="en-US" sz="1600" i="1" dirty="0">
                <a:solidFill>
                  <a:srgbClr val="C8D6E5"/>
                </a:solidFill>
                <a:latin typeface="Calibri" pitchFamily="34" charset="0"/>
                <a:ea typeface="Calibri" pitchFamily="34" charset="-122"/>
                <a:cs typeface="Calibri" pitchFamily="34" charset="-120"/>
              </a:rPr>
              <a:t>Distribuir capital limitado entre N actividades con retornos no lineales.</a:t>
            </a:r>
            <a:endParaRPr lang="en-US" sz="1600" dirty="0"/>
          </a:p>
        </p:txBody>
      </p:sp>
      <p:sp>
        <p:nvSpPr>
          <p:cNvPr id="7" name="Text 5"/>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8" name="Text 6"/>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El problema de asignación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6217920" cy="457200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Disponemos de R unidades de un recurso (capital, horas, máquinas).</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Tenemos N proyectos donde podemos invertir.</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Cada proyecto i tiene una función de retorno f_i(x) que da la ganancia al asignarle x unidades.</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Las funciones f_i suelen ser NO lineales: ofrecen rendimientos decrecientes.</a:t>
            </a:r>
            <a:endParaRPr lang="en-US" sz="1500" dirty="0"/>
          </a:p>
          <a:p>
            <a:pPr marL="342900" indent="-342900">
              <a:spcAft>
                <a:spcPts val="600"/>
              </a:spcAft>
              <a:buSzPct val="100000"/>
              <a:buChar char="■"/>
            </a:pPr>
            <a:r>
              <a:rPr lang="en-US" sz="1500" dirty="0">
                <a:solidFill>
                  <a:srgbClr val="1B2B3A"/>
                </a:solidFill>
                <a:latin typeface="Calibri" pitchFamily="34" charset="0"/>
                <a:ea typeface="Calibri" pitchFamily="34" charset="-122"/>
                <a:cs typeface="Calibri" pitchFamily="34" charset="-120"/>
              </a:rPr>
              <a:t>Objetivo: maximizar la ganancia total respetando que la suma de asignaciones sea ≤ R.</a:t>
            </a:r>
            <a:endParaRPr lang="en-US" sz="1500" dirty="0"/>
          </a:p>
        </p:txBody>
      </p:sp>
      <p:sp>
        <p:nvSpPr>
          <p:cNvPr id="7" name="Shape 5"/>
          <p:cNvSpPr/>
          <p:nvPr/>
        </p:nvSpPr>
        <p:spPr>
          <a:xfrm>
            <a:off x="6949440" y="1691640"/>
            <a:ext cx="4846320" cy="4572000"/>
          </a:xfrm>
          <a:prstGeom prst="rect">
            <a:avLst/>
          </a:prstGeom>
          <a:solidFill>
            <a:srgbClr val="F4F7FA"/>
          </a:solidFill>
          <a:ln w="12700">
            <a:solidFill>
              <a:srgbClr val="F4F7FA"/>
            </a:solidFill>
            <a:prstDash val="solid"/>
          </a:ln>
        </p:spPr>
      </p:sp>
      <p:sp>
        <p:nvSpPr>
          <p:cNvPr id="8" name="Shape 6"/>
          <p:cNvSpPr/>
          <p:nvPr/>
        </p:nvSpPr>
        <p:spPr>
          <a:xfrm>
            <a:off x="6949440" y="1691640"/>
            <a:ext cx="73152" cy="4572000"/>
          </a:xfrm>
          <a:prstGeom prst="rect">
            <a:avLst/>
          </a:prstGeom>
          <a:solidFill>
            <a:srgbClr val="F2A93B"/>
          </a:solidFill>
          <a:ln w="12700">
            <a:solidFill>
              <a:srgbClr val="F2A93B"/>
            </a:solidFill>
            <a:prstDash val="solid"/>
          </a:ln>
        </p:spPr>
      </p:sp>
      <p:sp>
        <p:nvSpPr>
          <p:cNvPr id="9" name="Text 7"/>
          <p:cNvSpPr/>
          <p:nvPr/>
        </p:nvSpPr>
        <p:spPr>
          <a:xfrm>
            <a:off x="7178040" y="1828800"/>
            <a:ext cx="4526280" cy="45720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¿Por qué no usar greedy?</a:t>
            </a:r>
            <a:endParaRPr lang="en-US" sz="1600" dirty="0"/>
          </a:p>
        </p:txBody>
      </p:sp>
      <p:sp>
        <p:nvSpPr>
          <p:cNvPr id="10" name="Text 8"/>
          <p:cNvSpPr/>
          <p:nvPr/>
        </p:nvSpPr>
        <p:spPr>
          <a:xfrm>
            <a:off x="7178040" y="2331720"/>
            <a:ext cx="4526280" cy="3840480"/>
          </a:xfrm>
          <a:prstGeom prst="rect">
            <a:avLst/>
          </a:prstGeom>
          <a:noFill/>
          <a:ln/>
        </p:spPr>
        <p:txBody>
          <a:bodyPr wrap="square" lIns="0" tIns="0" rIns="0" bIns="0" rtlCol="0" anchor="ctr"/>
          <a:lstStyle/>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Si f_i fuera lineal, bastaría con elegir el proyecto de mayor pendiente.</a:t>
            </a:r>
            <a:endParaRPr lang="en-US" sz="1300" dirty="0"/>
          </a:p>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Pero con rendimientos decrecientes, repartir es mejor que concentrar.</a:t>
            </a:r>
            <a:endParaRPr lang="en-US" sz="1300" dirty="0"/>
          </a:p>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Un greedy local puede dejar mucho dinero en la mesa.</a:t>
            </a:r>
            <a:endParaRPr lang="en-US" sz="1300" dirty="0"/>
          </a:p>
          <a:p>
            <a:pPr indent="0" marL="0">
              <a:spcAft>
                <a:spcPts val="800"/>
              </a:spcAft>
              <a:buNone/>
            </a:pPr>
            <a:r>
              <a:rPr lang="en-US" sz="1300" dirty="0">
                <a:solidFill>
                  <a:srgbClr val="1B2B3A"/>
                </a:solidFill>
                <a:latin typeface="Calibri" pitchFamily="34" charset="0"/>
                <a:ea typeface="Calibri" pitchFamily="34" charset="-122"/>
                <a:cs typeface="Calibri" pitchFamily="34" charset="-120"/>
              </a:rPr>
              <a:t>DP nos da la garantía de optimalidad global.</a:t>
            </a:r>
            <a:endParaRPr lang="en-US" sz="1300" dirty="0"/>
          </a:p>
        </p:txBody>
      </p:sp>
      <p:sp>
        <p:nvSpPr>
          <p:cNvPr id="11" name="Text 9"/>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2" name="Text 10"/>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Recurrencia de la asignación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914400" y="1828800"/>
            <a:ext cx="10332720" cy="1463040"/>
          </a:xfrm>
          <a:prstGeom prst="rect">
            <a:avLst/>
          </a:prstGeom>
          <a:solidFill>
            <a:srgbClr val="21295C"/>
          </a:solidFill>
          <a:ln w="12700">
            <a:solidFill>
              <a:srgbClr val="21295C"/>
            </a:solidFill>
            <a:prstDash val="solid"/>
          </a:ln>
        </p:spPr>
      </p:sp>
      <p:sp>
        <p:nvSpPr>
          <p:cNvPr id="7" name="Text 5"/>
          <p:cNvSpPr/>
          <p:nvPr/>
        </p:nvSpPr>
        <p:spPr>
          <a:xfrm>
            <a:off x="914400" y="1828800"/>
            <a:ext cx="10332720" cy="1463040"/>
          </a:xfrm>
          <a:prstGeom prst="rect">
            <a:avLst/>
          </a:prstGeom>
          <a:noFill/>
          <a:ln/>
        </p:spPr>
        <p:txBody>
          <a:bodyPr wrap="square" lIns="0" tIns="0" rIns="0" bIns="0" rtlCol="0" anchor="ctr"/>
          <a:lstStyle/>
          <a:p>
            <a:pPr algn="ctr" indent="0" marL="0">
              <a:buNone/>
            </a:pPr>
            <a:r>
              <a:rPr lang="en-US" sz="2400" b="1" dirty="0">
                <a:solidFill>
                  <a:srgbClr val="F2A93B"/>
                </a:solidFill>
                <a:latin typeface="Consolas" pitchFamily="34" charset="0"/>
                <a:ea typeface="Consolas" pitchFamily="34" charset="-122"/>
                <a:cs typeface="Consolas" pitchFamily="34" charset="-120"/>
              </a:rPr>
              <a:t>dp[i][r] = max sobre x ∈ [0, r] de { f_i(x) + dp[i-1][r-x] }</a:t>
            </a:r>
            <a:endParaRPr lang="en-US" sz="2400" dirty="0"/>
          </a:p>
        </p:txBody>
      </p:sp>
      <p:sp>
        <p:nvSpPr>
          <p:cNvPr id="8" name="Text 6"/>
          <p:cNvSpPr/>
          <p:nvPr/>
        </p:nvSpPr>
        <p:spPr>
          <a:xfrm>
            <a:off x="457200" y="3520440"/>
            <a:ext cx="11247120" cy="731520"/>
          </a:xfrm>
          <a:prstGeom prst="rect">
            <a:avLst/>
          </a:prstGeom>
          <a:noFill/>
          <a:ln/>
        </p:spPr>
        <p:txBody>
          <a:bodyPr wrap="square" lIns="0" tIns="0" rIns="0" bIns="0" rtlCol="0" anchor="ctr"/>
          <a:lstStyle/>
          <a:p>
            <a:pPr algn="ctr" indent="0" marL="0">
              <a:buNone/>
            </a:pPr>
            <a:r>
              <a:rPr lang="en-US" sz="1500" i="1" dirty="0">
                <a:solidFill>
                  <a:srgbClr val="1B2B3A"/>
                </a:solidFill>
                <a:latin typeface="Calibri" pitchFamily="34" charset="0"/>
                <a:ea typeface="Calibri" pitchFamily="34" charset="-122"/>
                <a:cs typeface="Calibri" pitchFamily="34" charset="-120"/>
              </a:rPr>
              <a:t>Estado: i = proyecto considerado, r = recurso disponible. Decisión: cuánto asignar al proyecto i. Ganancia: lo que produce el proyecto más lo óptimo del resto.</a:t>
            </a:r>
            <a:endParaRPr lang="en-US" sz="1500" dirty="0"/>
          </a:p>
        </p:txBody>
      </p:sp>
      <p:sp>
        <p:nvSpPr>
          <p:cNvPr id="9" name="Shape 7"/>
          <p:cNvSpPr/>
          <p:nvPr/>
        </p:nvSpPr>
        <p:spPr>
          <a:xfrm>
            <a:off x="548640" y="4434840"/>
            <a:ext cx="3566160" cy="1783080"/>
          </a:xfrm>
          <a:prstGeom prst="rect">
            <a:avLst/>
          </a:prstGeom>
          <a:solidFill>
            <a:srgbClr val="F4F7FA"/>
          </a:solidFill>
          <a:ln w="12700">
            <a:solidFill>
              <a:srgbClr val="F4F7FA"/>
            </a:solidFill>
            <a:prstDash val="solid"/>
          </a:ln>
        </p:spPr>
      </p:sp>
      <p:sp>
        <p:nvSpPr>
          <p:cNvPr id="10" name="Text 8"/>
          <p:cNvSpPr/>
          <p:nvPr/>
        </p:nvSpPr>
        <p:spPr>
          <a:xfrm>
            <a:off x="640080" y="4526280"/>
            <a:ext cx="338328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Caso base</a:t>
            </a:r>
            <a:endParaRPr lang="en-US" sz="1300" dirty="0"/>
          </a:p>
        </p:txBody>
      </p:sp>
      <p:sp>
        <p:nvSpPr>
          <p:cNvPr id="11" name="Text 9"/>
          <p:cNvSpPr/>
          <p:nvPr/>
        </p:nvSpPr>
        <p:spPr>
          <a:xfrm>
            <a:off x="640080" y="4937760"/>
            <a:ext cx="3383280" cy="128016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dp[0][r] = 0 para todo r — sin proyectos no hay ganancia posible.</a:t>
            </a:r>
            <a:endParaRPr lang="en-US" sz="1100" dirty="0"/>
          </a:p>
        </p:txBody>
      </p:sp>
      <p:sp>
        <p:nvSpPr>
          <p:cNvPr id="12" name="Shape 10"/>
          <p:cNvSpPr/>
          <p:nvPr/>
        </p:nvSpPr>
        <p:spPr>
          <a:xfrm>
            <a:off x="4297680" y="4434840"/>
            <a:ext cx="3566160" cy="1783080"/>
          </a:xfrm>
          <a:prstGeom prst="rect">
            <a:avLst/>
          </a:prstGeom>
          <a:solidFill>
            <a:srgbClr val="F4F7FA"/>
          </a:solidFill>
          <a:ln w="12700">
            <a:solidFill>
              <a:srgbClr val="F4F7FA"/>
            </a:solidFill>
            <a:prstDash val="solid"/>
          </a:ln>
        </p:spPr>
      </p:sp>
      <p:sp>
        <p:nvSpPr>
          <p:cNvPr id="13" name="Text 11"/>
          <p:cNvSpPr/>
          <p:nvPr/>
        </p:nvSpPr>
        <p:spPr>
          <a:xfrm>
            <a:off x="4389120" y="4526280"/>
            <a:ext cx="338328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Significado de x</a:t>
            </a:r>
            <a:endParaRPr lang="en-US" sz="1300" dirty="0"/>
          </a:p>
        </p:txBody>
      </p:sp>
      <p:sp>
        <p:nvSpPr>
          <p:cNvPr id="14" name="Text 12"/>
          <p:cNvSpPr/>
          <p:nvPr/>
        </p:nvSpPr>
        <p:spPr>
          <a:xfrm>
            <a:off x="4389120" y="4937760"/>
            <a:ext cx="3383280" cy="128016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Cantidad invertida en el proyecto i. Iteramos todos los repartos posibles.</a:t>
            </a:r>
            <a:endParaRPr lang="en-US" sz="1100" dirty="0"/>
          </a:p>
        </p:txBody>
      </p:sp>
      <p:sp>
        <p:nvSpPr>
          <p:cNvPr id="15" name="Shape 13"/>
          <p:cNvSpPr/>
          <p:nvPr/>
        </p:nvSpPr>
        <p:spPr>
          <a:xfrm>
            <a:off x="8046720" y="4434840"/>
            <a:ext cx="3566160" cy="1783080"/>
          </a:xfrm>
          <a:prstGeom prst="rect">
            <a:avLst/>
          </a:prstGeom>
          <a:solidFill>
            <a:srgbClr val="F4F7FA"/>
          </a:solidFill>
          <a:ln w="12700">
            <a:solidFill>
              <a:srgbClr val="F4F7FA"/>
            </a:solidFill>
            <a:prstDash val="solid"/>
          </a:ln>
        </p:spPr>
      </p:sp>
      <p:sp>
        <p:nvSpPr>
          <p:cNvPr id="16" name="Text 14"/>
          <p:cNvSpPr/>
          <p:nvPr/>
        </p:nvSpPr>
        <p:spPr>
          <a:xfrm>
            <a:off x="8138160" y="4526280"/>
            <a:ext cx="3383280" cy="36576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Subproblema</a:t>
            </a:r>
            <a:endParaRPr lang="en-US" sz="1300" dirty="0"/>
          </a:p>
        </p:txBody>
      </p:sp>
      <p:sp>
        <p:nvSpPr>
          <p:cNvPr id="17" name="Text 15"/>
          <p:cNvSpPr/>
          <p:nvPr/>
        </p:nvSpPr>
        <p:spPr>
          <a:xfrm>
            <a:off x="8138160" y="4937760"/>
            <a:ext cx="3383280" cy="128016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dp[i-1][r-x] = lo mejor que podemos hacer con los proyectos previos y el recurso restante.</a:t>
            </a:r>
            <a:endParaRPr lang="en-US" sz="1100" dirty="0"/>
          </a:p>
        </p:txBody>
      </p:sp>
      <p:sp>
        <p:nvSpPr>
          <p:cNvPr id="18" name="Text 16"/>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9" name="Text 17"/>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Ejemplo: 3 proyectos, 4 unidades</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37360"/>
            <a:ext cx="5806440" cy="2194560"/>
          </a:xfrm>
          <a:prstGeom prst="rect">
            <a:avLst/>
          </a:prstGeom>
          <a:solidFill>
            <a:srgbClr val="F4F7FA"/>
          </a:solidFill>
          <a:ln w="12700">
            <a:solidFill>
              <a:srgbClr val="F4F7FA"/>
            </a:solidFill>
            <a:prstDash val="solid"/>
          </a:ln>
        </p:spPr>
      </p:sp>
      <p:sp>
        <p:nvSpPr>
          <p:cNvPr id="7" name="Shape 5"/>
          <p:cNvSpPr/>
          <p:nvPr/>
        </p:nvSpPr>
        <p:spPr>
          <a:xfrm>
            <a:off x="457200" y="1737360"/>
            <a:ext cx="548640" cy="548640"/>
          </a:xfrm>
          <a:prstGeom prst="rect">
            <a:avLst/>
          </a:prstGeom>
          <a:solidFill>
            <a:srgbClr val="065A82"/>
          </a:solidFill>
          <a:ln w="12700">
            <a:solidFill>
              <a:srgbClr val="065A82"/>
            </a:solidFill>
            <a:prstDash val="solid"/>
          </a:ln>
        </p:spPr>
      </p:sp>
      <p:sp>
        <p:nvSpPr>
          <p:cNvPr id="8" name="Text 6"/>
          <p:cNvSpPr/>
          <p:nvPr/>
        </p:nvSpPr>
        <p:spPr>
          <a:xfrm>
            <a:off x="45720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114300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Proyecto A: f₁(x)</a:t>
            </a:r>
            <a:endParaRPr lang="en-US" sz="1600" dirty="0"/>
          </a:p>
        </p:txBody>
      </p:sp>
      <p:sp>
        <p:nvSpPr>
          <p:cNvPr id="10" name="Text 8"/>
          <p:cNvSpPr/>
          <p:nvPr/>
        </p:nvSpPr>
        <p:spPr>
          <a:xfrm>
            <a:off x="64008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f₁(0)=0, f₁(1)=4</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f₁(2)=7, f₁(3)=9</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f₁(4)=10</a:t>
            </a:r>
            <a:endParaRPr lang="en-US" sz="1200" dirty="0"/>
          </a:p>
        </p:txBody>
      </p:sp>
      <p:sp>
        <p:nvSpPr>
          <p:cNvPr id="11" name="Shape 9"/>
          <p:cNvSpPr/>
          <p:nvPr/>
        </p:nvSpPr>
        <p:spPr>
          <a:xfrm>
            <a:off x="6355080" y="1737360"/>
            <a:ext cx="5806440" cy="2194560"/>
          </a:xfrm>
          <a:prstGeom prst="rect">
            <a:avLst/>
          </a:prstGeom>
          <a:solidFill>
            <a:srgbClr val="F4F7FA"/>
          </a:solidFill>
          <a:ln w="12700">
            <a:solidFill>
              <a:srgbClr val="F4F7FA"/>
            </a:solidFill>
            <a:prstDash val="solid"/>
          </a:ln>
        </p:spPr>
      </p:sp>
      <p:sp>
        <p:nvSpPr>
          <p:cNvPr id="12" name="Shape 10"/>
          <p:cNvSpPr/>
          <p:nvPr/>
        </p:nvSpPr>
        <p:spPr>
          <a:xfrm>
            <a:off x="6355080" y="1737360"/>
            <a:ext cx="548640" cy="548640"/>
          </a:xfrm>
          <a:prstGeom prst="rect">
            <a:avLst/>
          </a:prstGeom>
          <a:solidFill>
            <a:srgbClr val="1C7293"/>
          </a:solidFill>
          <a:ln w="12700">
            <a:solidFill>
              <a:srgbClr val="1C7293"/>
            </a:solidFill>
            <a:prstDash val="solid"/>
          </a:ln>
        </p:spPr>
      </p:sp>
      <p:sp>
        <p:nvSpPr>
          <p:cNvPr id="13" name="Text 11"/>
          <p:cNvSpPr/>
          <p:nvPr/>
        </p:nvSpPr>
        <p:spPr>
          <a:xfrm>
            <a:off x="635508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704088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Proyecto B: f₂(x)</a:t>
            </a:r>
            <a:endParaRPr lang="en-US" sz="1600" dirty="0"/>
          </a:p>
        </p:txBody>
      </p:sp>
      <p:sp>
        <p:nvSpPr>
          <p:cNvPr id="15" name="Text 13"/>
          <p:cNvSpPr/>
          <p:nvPr/>
        </p:nvSpPr>
        <p:spPr>
          <a:xfrm>
            <a:off x="653796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f₂(0)=0, f₂(1)=3</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f₂(2)=6, f₂(3)=8</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f₂(4)=9</a:t>
            </a:r>
            <a:endParaRPr lang="en-US" sz="1200" dirty="0"/>
          </a:p>
        </p:txBody>
      </p:sp>
      <p:sp>
        <p:nvSpPr>
          <p:cNvPr id="16" name="Shape 14"/>
          <p:cNvSpPr/>
          <p:nvPr/>
        </p:nvSpPr>
        <p:spPr>
          <a:xfrm>
            <a:off x="457200" y="4114800"/>
            <a:ext cx="5806440" cy="2194560"/>
          </a:xfrm>
          <a:prstGeom prst="rect">
            <a:avLst/>
          </a:prstGeom>
          <a:solidFill>
            <a:srgbClr val="F4F7FA"/>
          </a:solidFill>
          <a:ln w="12700">
            <a:solidFill>
              <a:srgbClr val="F4F7FA"/>
            </a:solidFill>
            <a:prstDash val="solid"/>
          </a:ln>
        </p:spPr>
      </p:sp>
      <p:sp>
        <p:nvSpPr>
          <p:cNvPr id="17" name="Shape 15"/>
          <p:cNvSpPr/>
          <p:nvPr/>
        </p:nvSpPr>
        <p:spPr>
          <a:xfrm>
            <a:off x="457200" y="4114800"/>
            <a:ext cx="548640" cy="548640"/>
          </a:xfrm>
          <a:prstGeom prst="rect">
            <a:avLst/>
          </a:prstGeom>
          <a:solidFill>
            <a:srgbClr val="21295C"/>
          </a:solidFill>
          <a:ln w="12700">
            <a:solidFill>
              <a:srgbClr val="21295C"/>
            </a:solidFill>
            <a:prstDash val="solid"/>
          </a:ln>
        </p:spPr>
      </p:sp>
      <p:sp>
        <p:nvSpPr>
          <p:cNvPr id="18" name="Text 16"/>
          <p:cNvSpPr/>
          <p:nvPr/>
        </p:nvSpPr>
        <p:spPr>
          <a:xfrm>
            <a:off x="457200" y="4114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114300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Proyecto C: f₃(x)</a:t>
            </a:r>
            <a:endParaRPr lang="en-US" sz="1600" dirty="0"/>
          </a:p>
        </p:txBody>
      </p:sp>
      <p:sp>
        <p:nvSpPr>
          <p:cNvPr id="20" name="Text 18"/>
          <p:cNvSpPr/>
          <p:nvPr/>
        </p:nvSpPr>
        <p:spPr>
          <a:xfrm>
            <a:off x="64008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f₃(0)=0, f₃(1)=5</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f₃(2)=7, f₃(3)=8</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f₃(4)=8</a:t>
            </a:r>
            <a:endParaRPr lang="en-US" sz="1200" dirty="0"/>
          </a:p>
        </p:txBody>
      </p:sp>
      <p:sp>
        <p:nvSpPr>
          <p:cNvPr id="21" name="Shape 19"/>
          <p:cNvSpPr/>
          <p:nvPr/>
        </p:nvSpPr>
        <p:spPr>
          <a:xfrm>
            <a:off x="6355080" y="4114800"/>
            <a:ext cx="5806440" cy="2194560"/>
          </a:xfrm>
          <a:prstGeom prst="rect">
            <a:avLst/>
          </a:prstGeom>
          <a:solidFill>
            <a:srgbClr val="F4F7FA"/>
          </a:solidFill>
          <a:ln w="12700">
            <a:solidFill>
              <a:srgbClr val="F4F7FA"/>
            </a:solidFill>
            <a:prstDash val="solid"/>
          </a:ln>
        </p:spPr>
      </p:sp>
      <p:sp>
        <p:nvSpPr>
          <p:cNvPr id="22" name="Shape 20"/>
          <p:cNvSpPr/>
          <p:nvPr/>
        </p:nvSpPr>
        <p:spPr>
          <a:xfrm>
            <a:off x="6355080" y="4114800"/>
            <a:ext cx="548640" cy="548640"/>
          </a:xfrm>
          <a:prstGeom prst="rect">
            <a:avLst/>
          </a:prstGeom>
          <a:solidFill>
            <a:srgbClr val="F2A93B"/>
          </a:solidFill>
          <a:ln w="12700">
            <a:solidFill>
              <a:srgbClr val="F2A93B"/>
            </a:solidFill>
            <a:prstDash val="solid"/>
          </a:ln>
        </p:spPr>
      </p:sp>
      <p:sp>
        <p:nvSpPr>
          <p:cNvPr id="23" name="Text 21"/>
          <p:cNvSpPr/>
          <p:nvPr/>
        </p:nvSpPr>
        <p:spPr>
          <a:xfrm>
            <a:off x="6355080" y="4114800"/>
            <a:ext cx="548640" cy="548640"/>
          </a:xfrm>
          <a:prstGeom prst="rect">
            <a:avLst/>
          </a:prstGeom>
          <a:noFill/>
          <a:ln/>
        </p:spPr>
        <p:txBody>
          <a:bodyPr wrap="square" lIns="0" tIns="0" rIns="0" bIns="0"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04</a:t>
            </a:r>
            <a:endParaRPr lang="en-US" sz="1600" dirty="0"/>
          </a:p>
        </p:txBody>
      </p:sp>
      <p:sp>
        <p:nvSpPr>
          <p:cNvPr id="24" name="Text 22"/>
          <p:cNvSpPr/>
          <p:nvPr/>
        </p:nvSpPr>
        <p:spPr>
          <a:xfrm>
            <a:off x="704088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Solución óptima</a:t>
            </a:r>
            <a:endParaRPr lang="en-US" sz="1600" dirty="0"/>
          </a:p>
        </p:txBody>
      </p:sp>
      <p:sp>
        <p:nvSpPr>
          <p:cNvPr id="25" name="Text 23"/>
          <p:cNvSpPr/>
          <p:nvPr/>
        </p:nvSpPr>
        <p:spPr>
          <a:xfrm>
            <a:off x="653796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A=1, B=1, C=2</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Ganancia: 4+3+7 = 14</a:t>
            </a:r>
            <a:endParaRPr lang="en-US" sz="1200" dirty="0"/>
          </a:p>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(Mejor que A=4: solo 10)</a:t>
            </a:r>
            <a:endParaRPr lang="en-US" sz="1200" dirty="0"/>
          </a:p>
        </p:txBody>
      </p:sp>
      <p:sp>
        <p:nvSpPr>
          <p:cNvPr id="26" name="Text 24"/>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7" name="Text 25"/>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Implementación de la asignación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457200"/>
          </a:xfrm>
          <a:prstGeom prst="rect">
            <a:avLst/>
          </a:prstGeom>
          <a:noFill/>
          <a:ln/>
        </p:spPr>
        <p:txBody>
          <a:bodyPr wrap="square" lIns="0" tIns="0" rIns="0" bIns="0" rtlCol="0" anchor="ctr"/>
          <a:lstStyle/>
          <a:p>
            <a:pPr indent="0" marL="0">
              <a:buNone/>
            </a:pPr>
            <a:r>
              <a:rPr lang="en-US" sz="1300" i="1" dirty="0">
                <a:solidFill>
                  <a:srgbClr val="5C6B7A"/>
                </a:solidFill>
                <a:latin typeface="Calibri" pitchFamily="34" charset="0"/>
                <a:ea typeface="Calibri" pitchFamily="34" charset="-122"/>
                <a:cs typeface="Calibri" pitchFamily="34" charset="-120"/>
              </a:rPr>
              <a:t>Tabla 2D indexada por proyecto y recurso disponible.</a:t>
            </a:r>
            <a:endParaRPr lang="en-US" sz="1300" dirty="0"/>
          </a:p>
        </p:txBody>
      </p:sp>
      <p:sp>
        <p:nvSpPr>
          <p:cNvPr id="7" name="Shape 5"/>
          <p:cNvSpPr/>
          <p:nvPr/>
        </p:nvSpPr>
        <p:spPr>
          <a:xfrm>
            <a:off x="457200" y="2240280"/>
            <a:ext cx="11247120" cy="4023360"/>
          </a:xfrm>
          <a:prstGeom prst="rect">
            <a:avLst/>
          </a:prstGeom>
          <a:solidFill>
            <a:srgbClr val="1A2332"/>
          </a:solidFill>
          <a:ln w="12700">
            <a:solidFill>
              <a:srgbClr val="1A2332"/>
            </a:solidFill>
            <a:prstDash val="solid"/>
          </a:ln>
        </p:spPr>
      </p:sp>
      <p:sp>
        <p:nvSpPr>
          <p:cNvPr id="8" name="Shape 6"/>
          <p:cNvSpPr/>
          <p:nvPr/>
        </p:nvSpPr>
        <p:spPr>
          <a:xfrm>
            <a:off x="457200" y="2240280"/>
            <a:ext cx="1097280" cy="292608"/>
          </a:xfrm>
          <a:prstGeom prst="rect">
            <a:avLst/>
          </a:prstGeom>
          <a:solidFill>
            <a:srgbClr val="F2A93B"/>
          </a:solidFill>
          <a:ln w="12700">
            <a:solidFill>
              <a:srgbClr val="F2A93B"/>
            </a:solidFill>
            <a:prstDash val="solid"/>
          </a:ln>
        </p:spPr>
      </p:sp>
      <p:sp>
        <p:nvSpPr>
          <p:cNvPr id="9" name="Text 7"/>
          <p:cNvSpPr/>
          <p:nvPr/>
        </p:nvSpPr>
        <p:spPr>
          <a:xfrm>
            <a:off x="457200" y="2240280"/>
            <a:ext cx="109728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onsolas" pitchFamily="34" charset="0"/>
                <a:ea typeface="Consolas" pitchFamily="34" charset="-122"/>
                <a:cs typeface="Consolas" pitchFamily="34" charset="-120"/>
              </a:rPr>
              <a:t>PYTHON</a:t>
            </a:r>
            <a:endParaRPr lang="en-US" sz="1000" dirty="0"/>
          </a:p>
        </p:txBody>
      </p:sp>
      <p:sp>
        <p:nvSpPr>
          <p:cNvPr id="10" name="Text 8"/>
          <p:cNvSpPr/>
          <p:nvPr/>
        </p:nvSpPr>
        <p:spPr>
          <a:xfrm>
            <a:off x="640080" y="2606040"/>
            <a:ext cx="10881360" cy="3611880"/>
          </a:xfrm>
          <a:prstGeom prst="rect">
            <a:avLst/>
          </a:prstGeom>
          <a:noFill/>
          <a:ln/>
        </p:spPr>
        <p:txBody>
          <a:bodyPr wrap="square" lIns="0" tIns="0" rIns="0" bIns="0" rtlCol="0" anchor="ctr"/>
          <a:lstStyle/>
          <a:p>
            <a:pPr indent="0" marL="0">
              <a:buNone/>
            </a:pPr>
            <a:r>
              <a:rPr lang="en-US" sz="1300" dirty="0">
                <a:solidFill>
                  <a:srgbClr val="E8EEF5"/>
                </a:solidFill>
                <a:latin typeface="Consolas" pitchFamily="34" charset="0"/>
                <a:ea typeface="Consolas" pitchFamily="34" charset="-122"/>
                <a:cs typeface="Consolas" pitchFamily="34" charset="-120"/>
              </a:rPr>
              <a:t>def asignacion_recursos(funciones, R):</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N = len(funciones)</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dp = [[0] * (R + 1) for _ in range(N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elec = [[0] * (R + 1) for _ in range(N + 1)]</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i in range(1, N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r in range(R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mejor = 0</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mejor_x = 0</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x in range(r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ganancia = funciones[i-1](x) + dp[i-1][r-x]</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if ganancia &gt; mejor:</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mejor = ganancia</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mejor_x = x</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dp[i][r] = mejor</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elec[i][r] = mejor_x</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return dp[N][R], elec</a:t>
            </a:r>
            <a:endParaRPr lang="en-US" sz="1300" dirty="0"/>
          </a:p>
        </p:txBody>
      </p:sp>
      <p:sp>
        <p:nvSpPr>
          <p:cNvPr id="11" name="Text 9"/>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2" name="Text 10"/>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Reconstrucción de las asignaciones</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457200"/>
          </a:xfrm>
          <a:prstGeom prst="rect">
            <a:avLst/>
          </a:prstGeom>
          <a:noFill/>
          <a:ln/>
        </p:spPr>
        <p:txBody>
          <a:bodyPr wrap="square" lIns="0" tIns="0" rIns="0" bIns="0" rtlCol="0" anchor="ctr"/>
          <a:lstStyle/>
          <a:p>
            <a:pPr indent="0" marL="0">
              <a:buNone/>
            </a:pPr>
            <a:r>
              <a:rPr lang="en-US" sz="1300" i="1" dirty="0">
                <a:solidFill>
                  <a:srgbClr val="5C6B7A"/>
                </a:solidFill>
                <a:latin typeface="Calibri" pitchFamily="34" charset="0"/>
                <a:ea typeface="Calibri" pitchFamily="34" charset="-122"/>
                <a:cs typeface="Calibri" pitchFamily="34" charset="-120"/>
              </a:rPr>
              <a:t>Con la matriz de decisiones recuperamos cuánto se asignó a cada proyecto.</a:t>
            </a:r>
            <a:endParaRPr lang="en-US" sz="1300" dirty="0"/>
          </a:p>
        </p:txBody>
      </p:sp>
      <p:sp>
        <p:nvSpPr>
          <p:cNvPr id="7" name="Shape 5"/>
          <p:cNvSpPr/>
          <p:nvPr/>
        </p:nvSpPr>
        <p:spPr>
          <a:xfrm>
            <a:off x="457200" y="2240280"/>
            <a:ext cx="11247120" cy="4023360"/>
          </a:xfrm>
          <a:prstGeom prst="rect">
            <a:avLst/>
          </a:prstGeom>
          <a:solidFill>
            <a:srgbClr val="1A2332"/>
          </a:solidFill>
          <a:ln w="12700">
            <a:solidFill>
              <a:srgbClr val="1A2332"/>
            </a:solidFill>
            <a:prstDash val="solid"/>
          </a:ln>
        </p:spPr>
      </p:sp>
      <p:sp>
        <p:nvSpPr>
          <p:cNvPr id="8" name="Shape 6"/>
          <p:cNvSpPr/>
          <p:nvPr/>
        </p:nvSpPr>
        <p:spPr>
          <a:xfrm>
            <a:off x="457200" y="2240280"/>
            <a:ext cx="1097280" cy="292608"/>
          </a:xfrm>
          <a:prstGeom prst="rect">
            <a:avLst/>
          </a:prstGeom>
          <a:solidFill>
            <a:srgbClr val="F2A93B"/>
          </a:solidFill>
          <a:ln w="12700">
            <a:solidFill>
              <a:srgbClr val="F2A93B"/>
            </a:solidFill>
            <a:prstDash val="solid"/>
          </a:ln>
        </p:spPr>
      </p:sp>
      <p:sp>
        <p:nvSpPr>
          <p:cNvPr id="9" name="Text 7"/>
          <p:cNvSpPr/>
          <p:nvPr/>
        </p:nvSpPr>
        <p:spPr>
          <a:xfrm>
            <a:off x="457200" y="2240280"/>
            <a:ext cx="109728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onsolas" pitchFamily="34" charset="0"/>
                <a:ea typeface="Consolas" pitchFamily="34" charset="-122"/>
                <a:cs typeface="Consolas" pitchFamily="34" charset="-120"/>
              </a:rPr>
              <a:t>PYTHON</a:t>
            </a:r>
            <a:endParaRPr lang="en-US" sz="1000" dirty="0"/>
          </a:p>
        </p:txBody>
      </p:sp>
      <p:sp>
        <p:nvSpPr>
          <p:cNvPr id="10" name="Text 8"/>
          <p:cNvSpPr/>
          <p:nvPr/>
        </p:nvSpPr>
        <p:spPr>
          <a:xfrm>
            <a:off x="640080" y="2606040"/>
            <a:ext cx="10881360" cy="3611880"/>
          </a:xfrm>
          <a:prstGeom prst="rect">
            <a:avLst/>
          </a:prstGeom>
          <a:noFill/>
          <a:ln/>
        </p:spPr>
        <p:txBody>
          <a:bodyPr wrap="square" lIns="0" tIns="0" rIns="0" bIns="0" rtlCol="0" anchor="ctr"/>
          <a:lstStyle/>
          <a:p>
            <a:pPr indent="0" marL="0">
              <a:buNone/>
            </a:pPr>
            <a:r>
              <a:rPr lang="en-US" sz="1300" dirty="0">
                <a:solidFill>
                  <a:srgbClr val="E8EEF5"/>
                </a:solidFill>
                <a:latin typeface="Consolas" pitchFamily="34" charset="0"/>
                <a:ea typeface="Consolas" pitchFamily="34" charset="-122"/>
                <a:cs typeface="Consolas" pitchFamily="34" charset="-120"/>
              </a:rPr>
              <a:t>def reconstruir_asignacion(elec, R):</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N = len(elec) - 1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asignacion = [0] * N</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r = R</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for i in range(N, 0, -1):</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x = elec[i][r]</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asignacion[i-1] = x</a:t>
            </a: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r -= x</a:t>
            </a:r>
            <a:endParaRPr lang="en-US" sz="1300" dirty="0"/>
          </a:p>
          <a:p>
            <a:pPr indent="0" marL="0">
              <a:buNone/>
            </a:pPr>
            <a:endParaRPr lang="en-US" sz="1300" dirty="0"/>
          </a:p>
          <a:p>
            <a:pPr indent="0" marL="0">
              <a:buNone/>
            </a:pPr>
            <a:r>
              <a:rPr lang="en-US" sz="1300" dirty="0">
                <a:solidFill>
                  <a:srgbClr val="E8EEF5"/>
                </a:solidFill>
                <a:latin typeface="Consolas" pitchFamily="34" charset="0"/>
                <a:ea typeface="Consolas" pitchFamily="34" charset="-122"/>
                <a:cs typeface="Consolas" pitchFamily="34" charset="-120"/>
              </a:rPr>
              <a:t>    return asignacion  # cuanto se invirtió en cada proyecto</a:t>
            </a:r>
            <a:endParaRPr lang="en-US" sz="1300" dirty="0"/>
          </a:p>
        </p:txBody>
      </p:sp>
      <p:sp>
        <p:nvSpPr>
          <p:cNvPr id="11" name="Text 9"/>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2" name="Text 10"/>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Complejidad del algoritmo</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O(N·R²)</a:t>
            </a:r>
            <a:endParaRPr lang="en-US" sz="6000" dirty="0"/>
          </a:p>
        </p:txBody>
      </p:sp>
      <p:sp>
        <p:nvSpPr>
          <p:cNvPr id="7" name="Text 5"/>
          <p:cNvSpPr/>
          <p:nvPr/>
        </p:nvSpPr>
        <p:spPr>
          <a:xfrm>
            <a:off x="45720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Tiempo de ejecución</a:t>
            </a:r>
            <a:endParaRPr lang="en-US" sz="1300" dirty="0"/>
          </a:p>
        </p:txBody>
      </p:sp>
      <p:sp>
        <p:nvSpPr>
          <p:cNvPr id="8" name="Text 6"/>
          <p:cNvSpPr/>
          <p:nvPr/>
        </p:nvSpPr>
        <p:spPr>
          <a:xfrm>
            <a:off x="54864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9" name="Text 7"/>
          <p:cNvSpPr/>
          <p:nvPr/>
        </p:nvSpPr>
        <p:spPr>
          <a:xfrm>
            <a:off x="326898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O(N·R)</a:t>
            </a:r>
            <a:endParaRPr lang="en-US" sz="6000" dirty="0"/>
          </a:p>
        </p:txBody>
      </p:sp>
      <p:sp>
        <p:nvSpPr>
          <p:cNvPr id="10" name="Text 8"/>
          <p:cNvSpPr/>
          <p:nvPr/>
        </p:nvSpPr>
        <p:spPr>
          <a:xfrm>
            <a:off x="326898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Espacio para dp</a:t>
            </a:r>
            <a:endParaRPr lang="en-US" sz="1300" dirty="0"/>
          </a:p>
        </p:txBody>
      </p:sp>
      <p:sp>
        <p:nvSpPr>
          <p:cNvPr id="11" name="Text 9"/>
          <p:cNvSpPr/>
          <p:nvPr/>
        </p:nvSpPr>
        <p:spPr>
          <a:xfrm>
            <a:off x="336042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12" name="Text 10"/>
          <p:cNvSpPr/>
          <p:nvPr/>
        </p:nvSpPr>
        <p:spPr>
          <a:xfrm>
            <a:off x="608076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O(N·R)</a:t>
            </a:r>
            <a:endParaRPr lang="en-US" sz="6000" dirty="0"/>
          </a:p>
        </p:txBody>
      </p:sp>
      <p:sp>
        <p:nvSpPr>
          <p:cNvPr id="13" name="Text 11"/>
          <p:cNvSpPr/>
          <p:nvPr/>
        </p:nvSpPr>
        <p:spPr>
          <a:xfrm>
            <a:off x="608076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Espacio para elec</a:t>
            </a:r>
            <a:endParaRPr lang="en-US" sz="1300" dirty="0"/>
          </a:p>
        </p:txBody>
      </p:sp>
      <p:sp>
        <p:nvSpPr>
          <p:cNvPr id="14" name="Text 12"/>
          <p:cNvSpPr/>
          <p:nvPr/>
        </p:nvSpPr>
        <p:spPr>
          <a:xfrm>
            <a:off x="617220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15" name="Text 13"/>
          <p:cNvSpPr/>
          <p:nvPr/>
        </p:nvSpPr>
        <p:spPr>
          <a:xfrm>
            <a:off x="8892540" y="2286000"/>
            <a:ext cx="2811780" cy="1463040"/>
          </a:xfrm>
          <a:prstGeom prst="rect">
            <a:avLst/>
          </a:prstGeom>
          <a:noFill/>
          <a:ln/>
        </p:spPr>
        <p:txBody>
          <a:bodyPr wrap="square" lIns="0" tIns="0" rIns="0" bIns="0" rtlCol="0" anchor="ctr"/>
          <a:lstStyle/>
          <a:p>
            <a:pPr algn="ctr" indent="0" marL="0">
              <a:buNone/>
            </a:pPr>
            <a:r>
              <a:rPr lang="en-US" sz="6000" b="1" dirty="0">
                <a:solidFill>
                  <a:srgbClr val="065A82"/>
                </a:solidFill>
                <a:latin typeface="Georgia" pitchFamily="34" charset="0"/>
                <a:ea typeface="Georgia" pitchFamily="34" charset="-122"/>
                <a:cs typeface="Georgia" pitchFamily="34" charset="-120"/>
              </a:rPr>
              <a:t>Pseudo-pol</a:t>
            </a:r>
            <a:endParaRPr lang="en-US" sz="6000" dirty="0"/>
          </a:p>
        </p:txBody>
      </p:sp>
      <p:sp>
        <p:nvSpPr>
          <p:cNvPr id="16" name="Text 14"/>
          <p:cNvSpPr/>
          <p:nvPr/>
        </p:nvSpPr>
        <p:spPr>
          <a:xfrm>
            <a:off x="8892540" y="3840480"/>
            <a:ext cx="2811780" cy="457200"/>
          </a:xfrm>
          <a:prstGeom prst="rect">
            <a:avLst/>
          </a:prstGeom>
          <a:noFill/>
          <a:ln/>
        </p:spPr>
        <p:txBody>
          <a:bodyPr wrap="square" lIns="0" tIns="0" rIns="0" bIns="0" rtlCol="0" anchor="ctr"/>
          <a:lstStyle/>
          <a:p>
            <a:pPr algn="ctr" indent="0" marL="0">
              <a:buNone/>
            </a:pPr>
            <a:r>
              <a:rPr lang="en-US" sz="1300" b="1" spc="100" kern="0" dirty="0">
                <a:solidFill>
                  <a:srgbClr val="21295C"/>
                </a:solidFill>
                <a:latin typeface="Calibri" pitchFamily="34" charset="0"/>
                <a:ea typeface="Calibri" pitchFamily="34" charset="-122"/>
                <a:cs typeface="Calibri" pitchFamily="34" charset="-120"/>
              </a:rPr>
              <a:t>Naturaleza</a:t>
            </a:r>
            <a:endParaRPr lang="en-US" sz="1300" dirty="0"/>
          </a:p>
        </p:txBody>
      </p:sp>
      <p:sp>
        <p:nvSpPr>
          <p:cNvPr id="17" name="Text 15"/>
          <p:cNvSpPr/>
          <p:nvPr/>
        </p:nvSpPr>
        <p:spPr>
          <a:xfrm>
            <a:off x="8983980" y="4297680"/>
            <a:ext cx="2628900" cy="1371600"/>
          </a:xfrm>
          <a:prstGeom prst="rect">
            <a:avLst/>
          </a:prstGeom>
          <a:noFill/>
          <a:ln/>
        </p:spPr>
        <p:txBody>
          <a:bodyPr wrap="square" lIns="0" tIns="0" rIns="0" bIns="0" rtlCol="0" anchor="ctr"/>
          <a:lstStyle/>
          <a:p>
            <a:pPr algn="ctr" indent="0" marL="0">
              <a:buNone/>
            </a:pPr>
            <a:endParaRPr lang="en-US" sz="1100" dirty="0"/>
          </a:p>
        </p:txBody>
      </p:sp>
      <p:sp>
        <p:nvSpPr>
          <p:cNvPr id="18" name="Text 16"/>
          <p:cNvSpPr/>
          <p:nvPr/>
        </p:nvSpPr>
        <p:spPr>
          <a:xfrm>
            <a:off x="457200" y="5989320"/>
            <a:ext cx="11247120" cy="365760"/>
          </a:xfrm>
          <a:prstGeom prst="rect">
            <a:avLst/>
          </a:prstGeom>
          <a:noFill/>
          <a:ln/>
        </p:spPr>
        <p:txBody>
          <a:bodyPr wrap="square" lIns="0" tIns="0" rIns="0" bIns="0" rtlCol="0" anchor="ctr"/>
          <a:lstStyle/>
          <a:p>
            <a:pPr algn="ctr" indent="0" marL="0">
              <a:buNone/>
            </a:pPr>
            <a:r>
              <a:rPr lang="en-US" sz="1100" i="1" dirty="0">
                <a:solidFill>
                  <a:srgbClr val="5C6B7A"/>
                </a:solidFill>
                <a:latin typeface="Calibri" pitchFamily="34" charset="0"/>
                <a:ea typeface="Calibri" pitchFamily="34" charset="-122"/>
                <a:cs typeface="Calibri" pitchFamily="34" charset="-120"/>
              </a:rPr>
              <a:t>Es pseudo-polinomial: depende del valor de R, no solo del tamaño de su representación. Igual que la mochila 0/1 — pertenecen a la misma familia.</a:t>
            </a:r>
            <a:endParaRPr lang="en-US" sz="1100" dirty="0"/>
          </a:p>
        </p:txBody>
      </p:sp>
      <p:sp>
        <p:nvSpPr>
          <p:cNvPr id="19" name="Text 17"/>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0" name="Text 18"/>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Variantes del problema de asignación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37360"/>
            <a:ext cx="5806440" cy="2194560"/>
          </a:xfrm>
          <a:prstGeom prst="rect">
            <a:avLst/>
          </a:prstGeom>
          <a:solidFill>
            <a:srgbClr val="F4F7FA"/>
          </a:solidFill>
          <a:ln w="12700">
            <a:solidFill>
              <a:srgbClr val="F4F7FA"/>
            </a:solidFill>
            <a:prstDash val="solid"/>
          </a:ln>
        </p:spPr>
      </p:sp>
      <p:sp>
        <p:nvSpPr>
          <p:cNvPr id="7" name="Shape 5"/>
          <p:cNvSpPr/>
          <p:nvPr/>
        </p:nvSpPr>
        <p:spPr>
          <a:xfrm>
            <a:off x="457200" y="1737360"/>
            <a:ext cx="548640" cy="548640"/>
          </a:xfrm>
          <a:prstGeom prst="rect">
            <a:avLst/>
          </a:prstGeom>
          <a:solidFill>
            <a:srgbClr val="065A82"/>
          </a:solidFill>
          <a:ln w="12700">
            <a:solidFill>
              <a:srgbClr val="065A82"/>
            </a:solidFill>
            <a:prstDash val="solid"/>
          </a:ln>
        </p:spPr>
      </p:sp>
      <p:sp>
        <p:nvSpPr>
          <p:cNvPr id="8" name="Text 6"/>
          <p:cNvSpPr/>
          <p:nvPr/>
        </p:nvSpPr>
        <p:spPr>
          <a:xfrm>
            <a:off x="45720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114300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Asignación con mínimos</a:t>
            </a:r>
            <a:endParaRPr lang="en-US" sz="1600" dirty="0"/>
          </a:p>
        </p:txBody>
      </p:sp>
      <p:sp>
        <p:nvSpPr>
          <p:cNvPr id="10" name="Text 8"/>
          <p:cNvSpPr/>
          <p:nvPr/>
        </p:nvSpPr>
        <p:spPr>
          <a:xfrm>
            <a:off x="64008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Cada proyecto exige una inversión mínima para activarse. Modelamos f_i(x) = -∞ si x &lt; min_i.</a:t>
            </a:r>
            <a:endParaRPr lang="en-US" sz="1200" dirty="0"/>
          </a:p>
        </p:txBody>
      </p:sp>
      <p:sp>
        <p:nvSpPr>
          <p:cNvPr id="11" name="Shape 9"/>
          <p:cNvSpPr/>
          <p:nvPr/>
        </p:nvSpPr>
        <p:spPr>
          <a:xfrm>
            <a:off x="6355080" y="1737360"/>
            <a:ext cx="5806440" cy="2194560"/>
          </a:xfrm>
          <a:prstGeom prst="rect">
            <a:avLst/>
          </a:prstGeom>
          <a:solidFill>
            <a:srgbClr val="F4F7FA"/>
          </a:solidFill>
          <a:ln w="12700">
            <a:solidFill>
              <a:srgbClr val="F4F7FA"/>
            </a:solidFill>
            <a:prstDash val="solid"/>
          </a:ln>
        </p:spPr>
      </p:sp>
      <p:sp>
        <p:nvSpPr>
          <p:cNvPr id="12" name="Shape 10"/>
          <p:cNvSpPr/>
          <p:nvPr/>
        </p:nvSpPr>
        <p:spPr>
          <a:xfrm>
            <a:off x="6355080" y="1737360"/>
            <a:ext cx="548640" cy="548640"/>
          </a:xfrm>
          <a:prstGeom prst="rect">
            <a:avLst/>
          </a:prstGeom>
          <a:solidFill>
            <a:srgbClr val="1C7293"/>
          </a:solidFill>
          <a:ln w="12700">
            <a:solidFill>
              <a:srgbClr val="1C7293"/>
            </a:solidFill>
            <a:prstDash val="solid"/>
          </a:ln>
        </p:spPr>
      </p:sp>
      <p:sp>
        <p:nvSpPr>
          <p:cNvPr id="13" name="Text 11"/>
          <p:cNvSpPr/>
          <p:nvPr/>
        </p:nvSpPr>
        <p:spPr>
          <a:xfrm>
            <a:off x="635508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704088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Asignación entera vs continua</a:t>
            </a:r>
            <a:endParaRPr lang="en-US" sz="1600" dirty="0"/>
          </a:p>
        </p:txBody>
      </p:sp>
      <p:sp>
        <p:nvSpPr>
          <p:cNvPr id="15" name="Text 13"/>
          <p:cNvSpPr/>
          <p:nvPr/>
        </p:nvSpPr>
        <p:spPr>
          <a:xfrm>
            <a:off x="653796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Si el recurso es continuo, recurrimos a optimización convexa. Aquí asumimos discretización.</a:t>
            </a:r>
            <a:endParaRPr lang="en-US" sz="1200" dirty="0"/>
          </a:p>
        </p:txBody>
      </p:sp>
      <p:sp>
        <p:nvSpPr>
          <p:cNvPr id="16" name="Shape 14"/>
          <p:cNvSpPr/>
          <p:nvPr/>
        </p:nvSpPr>
        <p:spPr>
          <a:xfrm>
            <a:off x="457200" y="4114800"/>
            <a:ext cx="5806440" cy="2194560"/>
          </a:xfrm>
          <a:prstGeom prst="rect">
            <a:avLst/>
          </a:prstGeom>
          <a:solidFill>
            <a:srgbClr val="F4F7FA"/>
          </a:solidFill>
          <a:ln w="12700">
            <a:solidFill>
              <a:srgbClr val="F4F7FA"/>
            </a:solidFill>
            <a:prstDash val="solid"/>
          </a:ln>
        </p:spPr>
      </p:sp>
      <p:sp>
        <p:nvSpPr>
          <p:cNvPr id="17" name="Shape 15"/>
          <p:cNvSpPr/>
          <p:nvPr/>
        </p:nvSpPr>
        <p:spPr>
          <a:xfrm>
            <a:off x="457200" y="4114800"/>
            <a:ext cx="548640" cy="548640"/>
          </a:xfrm>
          <a:prstGeom prst="rect">
            <a:avLst/>
          </a:prstGeom>
          <a:solidFill>
            <a:srgbClr val="21295C"/>
          </a:solidFill>
          <a:ln w="12700">
            <a:solidFill>
              <a:srgbClr val="21295C"/>
            </a:solidFill>
            <a:prstDash val="solid"/>
          </a:ln>
        </p:spPr>
      </p:sp>
      <p:sp>
        <p:nvSpPr>
          <p:cNvPr id="18" name="Text 16"/>
          <p:cNvSpPr/>
          <p:nvPr/>
        </p:nvSpPr>
        <p:spPr>
          <a:xfrm>
            <a:off x="457200" y="4114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114300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Asignación con dependencias</a:t>
            </a:r>
            <a:endParaRPr lang="en-US" sz="1600" dirty="0"/>
          </a:p>
        </p:txBody>
      </p:sp>
      <p:sp>
        <p:nvSpPr>
          <p:cNvPr id="20" name="Text 18"/>
          <p:cNvSpPr/>
          <p:nvPr/>
        </p:nvSpPr>
        <p:spPr>
          <a:xfrm>
            <a:off x="64008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Algunos proyectos requieren que otros estén activos. Se resuelve con DP sobre árbol de dependencias.</a:t>
            </a:r>
            <a:endParaRPr lang="en-US" sz="1200" dirty="0"/>
          </a:p>
        </p:txBody>
      </p:sp>
      <p:sp>
        <p:nvSpPr>
          <p:cNvPr id="21" name="Shape 19"/>
          <p:cNvSpPr/>
          <p:nvPr/>
        </p:nvSpPr>
        <p:spPr>
          <a:xfrm>
            <a:off x="6355080" y="4114800"/>
            <a:ext cx="5806440" cy="2194560"/>
          </a:xfrm>
          <a:prstGeom prst="rect">
            <a:avLst/>
          </a:prstGeom>
          <a:solidFill>
            <a:srgbClr val="F4F7FA"/>
          </a:solidFill>
          <a:ln w="12700">
            <a:solidFill>
              <a:srgbClr val="F4F7FA"/>
            </a:solidFill>
            <a:prstDash val="solid"/>
          </a:ln>
        </p:spPr>
      </p:sp>
      <p:sp>
        <p:nvSpPr>
          <p:cNvPr id="22" name="Shape 20"/>
          <p:cNvSpPr/>
          <p:nvPr/>
        </p:nvSpPr>
        <p:spPr>
          <a:xfrm>
            <a:off x="6355080" y="4114800"/>
            <a:ext cx="548640" cy="548640"/>
          </a:xfrm>
          <a:prstGeom prst="rect">
            <a:avLst/>
          </a:prstGeom>
          <a:solidFill>
            <a:srgbClr val="F2A93B"/>
          </a:solidFill>
          <a:ln w="12700">
            <a:solidFill>
              <a:srgbClr val="F2A93B"/>
            </a:solidFill>
            <a:prstDash val="solid"/>
          </a:ln>
        </p:spPr>
      </p:sp>
      <p:sp>
        <p:nvSpPr>
          <p:cNvPr id="23" name="Text 21"/>
          <p:cNvSpPr/>
          <p:nvPr/>
        </p:nvSpPr>
        <p:spPr>
          <a:xfrm>
            <a:off x="6355080" y="4114800"/>
            <a:ext cx="548640" cy="548640"/>
          </a:xfrm>
          <a:prstGeom prst="rect">
            <a:avLst/>
          </a:prstGeom>
          <a:noFill/>
          <a:ln/>
        </p:spPr>
        <p:txBody>
          <a:bodyPr wrap="square" lIns="0" tIns="0" rIns="0" bIns="0"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04</a:t>
            </a:r>
            <a:endParaRPr lang="en-US" sz="1600" dirty="0"/>
          </a:p>
        </p:txBody>
      </p:sp>
      <p:sp>
        <p:nvSpPr>
          <p:cNvPr id="24" name="Text 22"/>
          <p:cNvSpPr/>
          <p:nvPr/>
        </p:nvSpPr>
        <p:spPr>
          <a:xfrm>
            <a:off x="704088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Asignación dinámica en el tiempo</a:t>
            </a:r>
            <a:endParaRPr lang="en-US" sz="1600" dirty="0"/>
          </a:p>
        </p:txBody>
      </p:sp>
      <p:sp>
        <p:nvSpPr>
          <p:cNvPr id="25" name="Text 23"/>
          <p:cNvSpPr/>
          <p:nvPr/>
        </p:nvSpPr>
        <p:spPr>
          <a:xfrm>
            <a:off x="653796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Distribuir presupuesto a lo largo de varios periodos. Estado adicional: tiempo restante.</a:t>
            </a:r>
            <a:endParaRPr lang="en-US" sz="1200" dirty="0"/>
          </a:p>
        </p:txBody>
      </p:sp>
      <p:sp>
        <p:nvSpPr>
          <p:cNvPr id="26" name="Text 24"/>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7" name="Text 25"/>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914400"/>
            <a:ext cx="4572000" cy="3657600"/>
          </a:xfrm>
          <a:prstGeom prst="rect">
            <a:avLst/>
          </a:prstGeom>
          <a:noFill/>
          <a:ln/>
        </p:spPr>
        <p:txBody>
          <a:bodyPr wrap="square" lIns="0" tIns="0" rIns="0" bIns="0" rtlCol="0" anchor="ctr"/>
          <a:lstStyle/>
          <a:p>
            <a:pPr algn="l" indent="0" marL="0">
              <a:buNone/>
            </a:pPr>
            <a:r>
              <a:rPr lang="en-US" sz="28000" b="1" dirty="0">
                <a:solidFill>
                  <a:srgbClr val="1C7293"/>
                </a:solidFill>
                <a:latin typeface="Georgia" pitchFamily="34" charset="0"/>
                <a:ea typeface="Georgia" pitchFamily="34" charset="-122"/>
                <a:cs typeface="Georgia" pitchFamily="34" charset="-120"/>
              </a:rPr>
              <a:t>03</a:t>
            </a:r>
            <a:endParaRPr lang="en-US" sz="28000" dirty="0"/>
          </a:p>
        </p:txBody>
      </p:sp>
      <p:sp>
        <p:nvSpPr>
          <p:cNvPr id="3" name="Shape 1"/>
          <p:cNvSpPr/>
          <p:nvPr/>
        </p:nvSpPr>
        <p:spPr>
          <a:xfrm>
            <a:off x="5486400" y="2103120"/>
            <a:ext cx="1280160" cy="292608"/>
          </a:xfrm>
          <a:prstGeom prst="rect">
            <a:avLst/>
          </a:prstGeom>
          <a:solidFill>
            <a:srgbClr val="F2A93B"/>
          </a:solidFill>
          <a:ln w="12700">
            <a:solidFill>
              <a:srgbClr val="F2A93B"/>
            </a:solidFill>
            <a:prstDash val="solid"/>
          </a:ln>
        </p:spPr>
      </p:sp>
      <p:sp>
        <p:nvSpPr>
          <p:cNvPr id="4" name="Text 2"/>
          <p:cNvSpPr/>
          <p:nvPr/>
        </p:nvSpPr>
        <p:spPr>
          <a:xfrm>
            <a:off x="5486400" y="2103120"/>
            <a:ext cx="128016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alibri" pitchFamily="34" charset="0"/>
                <a:ea typeface="Calibri" pitchFamily="34" charset="-122"/>
                <a:cs typeface="Calibri" pitchFamily="34" charset="-120"/>
              </a:rPr>
              <a:t>SESIÓN 19</a:t>
            </a:r>
            <a:endParaRPr lang="en-US" sz="1000" dirty="0"/>
          </a:p>
        </p:txBody>
      </p:sp>
      <p:sp>
        <p:nvSpPr>
          <p:cNvPr id="5" name="Text 3"/>
          <p:cNvSpPr/>
          <p:nvPr/>
        </p:nvSpPr>
        <p:spPr>
          <a:xfrm>
            <a:off x="5486400" y="2560320"/>
            <a:ext cx="6217920" cy="14630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Aplicación a pruebas</a:t>
            </a:r>
            <a:endParaRPr lang="en-US" sz="4000" dirty="0"/>
          </a:p>
        </p:txBody>
      </p:sp>
      <p:sp>
        <p:nvSpPr>
          <p:cNvPr id="6" name="Text 4"/>
          <p:cNvSpPr/>
          <p:nvPr/>
        </p:nvSpPr>
        <p:spPr>
          <a:xfrm>
            <a:off x="5486400" y="4114800"/>
            <a:ext cx="6217920" cy="1371600"/>
          </a:xfrm>
          <a:prstGeom prst="rect">
            <a:avLst/>
          </a:prstGeom>
          <a:noFill/>
          <a:ln/>
        </p:spPr>
        <p:txBody>
          <a:bodyPr wrap="square" lIns="0" tIns="0" rIns="0" bIns="0" rtlCol="0" anchor="ctr"/>
          <a:lstStyle/>
          <a:p>
            <a:pPr indent="0" marL="0">
              <a:buNone/>
            </a:pPr>
            <a:r>
              <a:rPr lang="en-US" sz="1600" i="1" dirty="0">
                <a:solidFill>
                  <a:srgbClr val="C8D6E5"/>
                </a:solidFill>
                <a:latin typeface="Calibri" pitchFamily="34" charset="0"/>
                <a:ea typeface="Calibri" pitchFamily="34" charset="-122"/>
                <a:cs typeface="Calibri" pitchFamily="34" charset="-120"/>
              </a:rPr>
              <a:t>Cómo estos dos problemas resuelven retos reales del área de testing.</a:t>
            </a:r>
            <a:endParaRPr lang="en-US" sz="1600" dirty="0"/>
          </a:p>
        </p:txBody>
      </p:sp>
      <p:sp>
        <p:nvSpPr>
          <p:cNvPr id="7" name="Text 5"/>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8" name="Text 6"/>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Camino de mínimo costo en testing</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54864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Donde aparece este algoritmo en nuestra disciplina:</a:t>
            </a:r>
            <a:endParaRPr lang="en-US" sz="1400" dirty="0"/>
          </a:p>
        </p:txBody>
      </p:sp>
      <p:sp>
        <p:nvSpPr>
          <p:cNvPr id="7" name="Shape 5"/>
          <p:cNvSpPr/>
          <p:nvPr/>
        </p:nvSpPr>
        <p:spPr>
          <a:xfrm>
            <a:off x="457200" y="2377440"/>
            <a:ext cx="502920" cy="502920"/>
          </a:xfrm>
          <a:prstGeom prst="ellipse">
            <a:avLst/>
          </a:prstGeom>
          <a:solidFill>
            <a:srgbClr val="065A82"/>
          </a:solidFill>
          <a:ln w="12700">
            <a:solidFill>
              <a:srgbClr val="065A82"/>
            </a:solidFill>
            <a:prstDash val="solid"/>
          </a:ln>
        </p:spPr>
      </p:sp>
      <p:sp>
        <p:nvSpPr>
          <p:cNvPr id="8" name="Text 6"/>
          <p:cNvSpPr/>
          <p:nvPr/>
        </p:nvSpPr>
        <p:spPr>
          <a:xfrm>
            <a:off x="457200" y="2377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143000" y="233172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Cobertura de caminos en grafos de control</a:t>
            </a:r>
            <a:endParaRPr lang="en-US" sz="1600" dirty="0"/>
          </a:p>
        </p:txBody>
      </p:sp>
      <p:sp>
        <p:nvSpPr>
          <p:cNvPr id="10" name="Text 8"/>
          <p:cNvSpPr/>
          <p:nvPr/>
        </p:nvSpPr>
        <p:spPr>
          <a:xfrm>
            <a:off x="1143000" y="269748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Encontrar el camino más corto que cubra una rama específica del CFG (Control Flow Graph) durante white-box testing.</a:t>
            </a:r>
            <a:endParaRPr lang="en-US" sz="1200" dirty="0"/>
          </a:p>
        </p:txBody>
      </p:sp>
      <p:sp>
        <p:nvSpPr>
          <p:cNvPr id="11" name="Shape 9"/>
          <p:cNvSpPr/>
          <p:nvPr/>
        </p:nvSpPr>
        <p:spPr>
          <a:xfrm>
            <a:off x="457200" y="3303270"/>
            <a:ext cx="502920" cy="502920"/>
          </a:xfrm>
          <a:prstGeom prst="ellipse">
            <a:avLst/>
          </a:prstGeom>
          <a:solidFill>
            <a:srgbClr val="065A82"/>
          </a:solidFill>
          <a:ln w="12700">
            <a:solidFill>
              <a:srgbClr val="065A82"/>
            </a:solidFill>
            <a:prstDash val="solid"/>
          </a:ln>
        </p:spPr>
      </p:sp>
      <p:sp>
        <p:nvSpPr>
          <p:cNvPr id="12" name="Text 10"/>
          <p:cNvSpPr/>
          <p:nvPr/>
        </p:nvSpPr>
        <p:spPr>
          <a:xfrm>
            <a:off x="457200" y="330327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143000" y="325755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Generación de casos de prueba mínimos</a:t>
            </a:r>
            <a:endParaRPr lang="en-US" sz="1600" dirty="0"/>
          </a:p>
        </p:txBody>
      </p:sp>
      <p:sp>
        <p:nvSpPr>
          <p:cNvPr id="14" name="Text 12"/>
          <p:cNvSpPr/>
          <p:nvPr/>
        </p:nvSpPr>
        <p:spPr>
          <a:xfrm>
            <a:off x="1143000" y="362331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Buscar la secuencia más corta de transiciones que active un estado en una máquina de estados finitos.</a:t>
            </a:r>
            <a:endParaRPr lang="en-US" sz="1200" dirty="0"/>
          </a:p>
        </p:txBody>
      </p:sp>
      <p:sp>
        <p:nvSpPr>
          <p:cNvPr id="15" name="Shape 13"/>
          <p:cNvSpPr/>
          <p:nvPr/>
        </p:nvSpPr>
        <p:spPr>
          <a:xfrm>
            <a:off x="457200" y="4229100"/>
            <a:ext cx="502920" cy="502920"/>
          </a:xfrm>
          <a:prstGeom prst="ellipse">
            <a:avLst/>
          </a:prstGeom>
          <a:solidFill>
            <a:srgbClr val="065A82"/>
          </a:solidFill>
          <a:ln w="12700">
            <a:solidFill>
              <a:srgbClr val="065A82"/>
            </a:solidFill>
            <a:prstDash val="solid"/>
          </a:ln>
        </p:spPr>
      </p:sp>
      <p:sp>
        <p:nvSpPr>
          <p:cNvPr id="16" name="Text 14"/>
          <p:cNvSpPr/>
          <p:nvPr/>
        </p:nvSpPr>
        <p:spPr>
          <a:xfrm>
            <a:off x="457200" y="42291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143000" y="418338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Análisis de costo de ejecución</a:t>
            </a:r>
            <a:endParaRPr lang="en-US" sz="1600" dirty="0"/>
          </a:p>
        </p:txBody>
      </p:sp>
      <p:sp>
        <p:nvSpPr>
          <p:cNvPr id="18" name="Text 16"/>
          <p:cNvSpPr/>
          <p:nvPr/>
        </p:nvSpPr>
        <p:spPr>
          <a:xfrm>
            <a:off x="1143000" y="454914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Estimar la ruta más barata (en tiempo o memoria) entre dos puntos de un programa para benchmarks.</a:t>
            </a:r>
            <a:endParaRPr lang="en-US" sz="1200" dirty="0"/>
          </a:p>
        </p:txBody>
      </p:sp>
      <p:sp>
        <p:nvSpPr>
          <p:cNvPr id="19" name="Shape 17"/>
          <p:cNvSpPr/>
          <p:nvPr/>
        </p:nvSpPr>
        <p:spPr>
          <a:xfrm>
            <a:off x="457200" y="5154930"/>
            <a:ext cx="502920" cy="502920"/>
          </a:xfrm>
          <a:prstGeom prst="ellipse">
            <a:avLst/>
          </a:prstGeom>
          <a:solidFill>
            <a:srgbClr val="065A82"/>
          </a:solidFill>
          <a:ln w="12700">
            <a:solidFill>
              <a:srgbClr val="065A82"/>
            </a:solidFill>
            <a:prstDash val="solid"/>
          </a:ln>
        </p:spPr>
      </p:sp>
      <p:sp>
        <p:nvSpPr>
          <p:cNvPr id="20" name="Text 18"/>
          <p:cNvSpPr/>
          <p:nvPr/>
        </p:nvSpPr>
        <p:spPr>
          <a:xfrm>
            <a:off x="457200" y="515493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143000" y="510921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Optimización de pipelines de CI/CD</a:t>
            </a:r>
            <a:endParaRPr lang="en-US" sz="1600" dirty="0"/>
          </a:p>
        </p:txBody>
      </p:sp>
      <p:sp>
        <p:nvSpPr>
          <p:cNvPr id="22" name="Text 20"/>
          <p:cNvSpPr/>
          <p:nvPr/>
        </p:nvSpPr>
        <p:spPr>
          <a:xfrm>
            <a:off x="1143000" y="547497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Modelar las etapas como un DAG y minimizar el tiempo total de ejecución de la suite de pruebas.</a:t>
            </a:r>
            <a:endParaRPr lang="en-US" sz="1200" dirty="0"/>
          </a:p>
        </p:txBody>
      </p:sp>
      <p:sp>
        <p:nvSpPr>
          <p:cNvPr id="23" name="Text 21"/>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4" name="Text 22"/>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Asignación de recursos en testing</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54864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Distribuir esfuerzo de pruebas es exactamente este problema:</a:t>
            </a:r>
            <a:endParaRPr lang="en-US" sz="1400" dirty="0"/>
          </a:p>
        </p:txBody>
      </p:sp>
      <p:sp>
        <p:nvSpPr>
          <p:cNvPr id="7" name="Shape 5"/>
          <p:cNvSpPr/>
          <p:nvPr/>
        </p:nvSpPr>
        <p:spPr>
          <a:xfrm>
            <a:off x="457200" y="2377440"/>
            <a:ext cx="502920" cy="502920"/>
          </a:xfrm>
          <a:prstGeom prst="ellipse">
            <a:avLst/>
          </a:prstGeom>
          <a:solidFill>
            <a:srgbClr val="065A82"/>
          </a:solidFill>
          <a:ln w="12700">
            <a:solidFill>
              <a:srgbClr val="065A82"/>
            </a:solidFill>
            <a:prstDash val="solid"/>
          </a:ln>
        </p:spPr>
      </p:sp>
      <p:sp>
        <p:nvSpPr>
          <p:cNvPr id="8" name="Text 6"/>
          <p:cNvSpPr/>
          <p:nvPr/>
        </p:nvSpPr>
        <p:spPr>
          <a:xfrm>
            <a:off x="457200" y="2377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143000" y="233172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Distribución de presupuesto entre módulos</a:t>
            </a:r>
            <a:endParaRPr lang="en-US" sz="1600" dirty="0"/>
          </a:p>
        </p:txBody>
      </p:sp>
      <p:sp>
        <p:nvSpPr>
          <p:cNvPr id="10" name="Text 8"/>
          <p:cNvSpPr/>
          <p:nvPr/>
        </p:nvSpPr>
        <p:spPr>
          <a:xfrm>
            <a:off x="1143000" y="269748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Cada módulo tiene una función de detección de defectos no lineal. ¿Cuántas horas dedicar a cada uno?</a:t>
            </a:r>
            <a:endParaRPr lang="en-US" sz="1200" dirty="0"/>
          </a:p>
        </p:txBody>
      </p:sp>
      <p:sp>
        <p:nvSpPr>
          <p:cNvPr id="11" name="Shape 9"/>
          <p:cNvSpPr/>
          <p:nvPr/>
        </p:nvSpPr>
        <p:spPr>
          <a:xfrm>
            <a:off x="457200" y="3303270"/>
            <a:ext cx="502920" cy="502920"/>
          </a:xfrm>
          <a:prstGeom prst="ellipse">
            <a:avLst/>
          </a:prstGeom>
          <a:solidFill>
            <a:srgbClr val="065A82"/>
          </a:solidFill>
          <a:ln w="12700">
            <a:solidFill>
              <a:srgbClr val="065A82"/>
            </a:solidFill>
            <a:prstDash val="solid"/>
          </a:ln>
        </p:spPr>
      </p:sp>
      <p:sp>
        <p:nvSpPr>
          <p:cNvPr id="12" name="Text 10"/>
          <p:cNvSpPr/>
          <p:nvPr/>
        </p:nvSpPr>
        <p:spPr>
          <a:xfrm>
            <a:off x="457200" y="330327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143000" y="325755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Reparto de testers entre proyectos</a:t>
            </a:r>
            <a:endParaRPr lang="en-US" sz="1600" dirty="0"/>
          </a:p>
        </p:txBody>
      </p:sp>
      <p:sp>
        <p:nvSpPr>
          <p:cNvPr id="14" name="Text 12"/>
          <p:cNvSpPr/>
          <p:nvPr/>
        </p:nvSpPr>
        <p:spPr>
          <a:xfrm>
            <a:off x="1143000" y="362331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Asignar N personas a M productos maximizando la cobertura combinada esperada.</a:t>
            </a:r>
            <a:endParaRPr lang="en-US" sz="1200" dirty="0"/>
          </a:p>
        </p:txBody>
      </p:sp>
      <p:sp>
        <p:nvSpPr>
          <p:cNvPr id="15" name="Shape 13"/>
          <p:cNvSpPr/>
          <p:nvPr/>
        </p:nvSpPr>
        <p:spPr>
          <a:xfrm>
            <a:off x="457200" y="4229100"/>
            <a:ext cx="502920" cy="502920"/>
          </a:xfrm>
          <a:prstGeom prst="ellipse">
            <a:avLst/>
          </a:prstGeom>
          <a:solidFill>
            <a:srgbClr val="065A82"/>
          </a:solidFill>
          <a:ln w="12700">
            <a:solidFill>
              <a:srgbClr val="065A82"/>
            </a:solidFill>
            <a:prstDash val="solid"/>
          </a:ln>
        </p:spPr>
      </p:sp>
      <p:sp>
        <p:nvSpPr>
          <p:cNvPr id="16" name="Text 14"/>
          <p:cNvSpPr/>
          <p:nvPr/>
        </p:nvSpPr>
        <p:spPr>
          <a:xfrm>
            <a:off x="457200" y="42291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143000" y="418338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Selección de casos en regression suite</a:t>
            </a:r>
            <a:endParaRPr lang="en-US" sz="1600" dirty="0"/>
          </a:p>
        </p:txBody>
      </p:sp>
      <p:sp>
        <p:nvSpPr>
          <p:cNvPr id="18" name="Text 16"/>
          <p:cNvSpPr/>
          <p:nvPr/>
        </p:nvSpPr>
        <p:spPr>
          <a:xfrm>
            <a:off x="1143000" y="454914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Variante: elegir qué subconjunto de pruebas ejecutar dentro de una ventana de tiempo fija.</a:t>
            </a:r>
            <a:endParaRPr lang="en-US" sz="1200" dirty="0"/>
          </a:p>
        </p:txBody>
      </p:sp>
      <p:sp>
        <p:nvSpPr>
          <p:cNvPr id="19" name="Shape 17"/>
          <p:cNvSpPr/>
          <p:nvPr/>
        </p:nvSpPr>
        <p:spPr>
          <a:xfrm>
            <a:off x="457200" y="5154930"/>
            <a:ext cx="502920" cy="502920"/>
          </a:xfrm>
          <a:prstGeom prst="ellipse">
            <a:avLst/>
          </a:prstGeom>
          <a:solidFill>
            <a:srgbClr val="065A82"/>
          </a:solidFill>
          <a:ln w="12700">
            <a:solidFill>
              <a:srgbClr val="065A82"/>
            </a:solidFill>
            <a:prstDash val="solid"/>
          </a:ln>
        </p:spPr>
      </p:sp>
      <p:sp>
        <p:nvSpPr>
          <p:cNvPr id="20" name="Text 18"/>
          <p:cNvSpPr/>
          <p:nvPr/>
        </p:nvSpPr>
        <p:spPr>
          <a:xfrm>
            <a:off x="457200" y="515493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143000" y="510921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Inversión en automatización vs manual</a:t>
            </a:r>
            <a:endParaRPr lang="en-US" sz="1600" dirty="0"/>
          </a:p>
        </p:txBody>
      </p:sp>
      <p:sp>
        <p:nvSpPr>
          <p:cNvPr id="22" name="Text 20"/>
          <p:cNvSpPr/>
          <p:nvPr/>
        </p:nvSpPr>
        <p:spPr>
          <a:xfrm>
            <a:off x="1143000" y="5474970"/>
            <a:ext cx="10515600" cy="514350"/>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Distribuir presupuesto entre crear pruebas automatizadas (alto costo inicial) y ejecutar pruebas manuales.</a:t>
            </a:r>
            <a:endParaRPr lang="en-US" sz="1200" dirty="0"/>
          </a:p>
        </p:txBody>
      </p:sp>
      <p:sp>
        <p:nvSpPr>
          <p:cNvPr id="23" name="Text 21"/>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4" name="Text 22"/>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Caso integrador</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37360"/>
            <a:ext cx="11247120" cy="2194560"/>
          </a:xfrm>
          <a:prstGeom prst="rect">
            <a:avLst/>
          </a:prstGeom>
          <a:solidFill>
            <a:srgbClr val="21295C"/>
          </a:solidFill>
          <a:ln w="12700">
            <a:solidFill>
              <a:srgbClr val="21295C"/>
            </a:solidFill>
            <a:prstDash val="solid"/>
          </a:ln>
        </p:spPr>
      </p:sp>
      <p:sp>
        <p:nvSpPr>
          <p:cNvPr id="7" name="Text 5"/>
          <p:cNvSpPr/>
          <p:nvPr/>
        </p:nvSpPr>
        <p:spPr>
          <a:xfrm>
            <a:off x="822960" y="1828800"/>
            <a:ext cx="10515600" cy="164592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"Una empresa con $100k de presupuesto anual debe decidir cuánto invertir en pruebas unitarias, integración, e2e y rendimiento."</a:t>
            </a:r>
            <a:endParaRPr lang="en-US" sz="2200" dirty="0"/>
          </a:p>
        </p:txBody>
      </p:sp>
      <p:sp>
        <p:nvSpPr>
          <p:cNvPr id="8" name="Text 6"/>
          <p:cNvSpPr/>
          <p:nvPr/>
        </p:nvSpPr>
        <p:spPr>
          <a:xfrm>
            <a:off x="822960" y="3520440"/>
            <a:ext cx="10515600" cy="365760"/>
          </a:xfrm>
          <a:prstGeom prst="rect">
            <a:avLst/>
          </a:prstGeom>
          <a:noFill/>
          <a:ln/>
        </p:spPr>
        <p:txBody>
          <a:bodyPr wrap="square" lIns="0" tIns="0" rIns="0" bIns="0" rtlCol="0" anchor="ctr"/>
          <a:lstStyle/>
          <a:p>
            <a:pPr indent="0" marL="0">
              <a:buNone/>
            </a:pPr>
            <a:r>
              <a:rPr lang="en-US" sz="1200" dirty="0">
                <a:solidFill>
                  <a:srgbClr val="F2A93B"/>
                </a:solidFill>
                <a:latin typeface="Calibri" pitchFamily="34" charset="0"/>
                <a:ea typeface="Calibri" pitchFamily="34" charset="-122"/>
                <a:cs typeface="Calibri" pitchFamily="34" charset="-120"/>
              </a:rPr>
              <a:t>Solución: asignación de recursos</a:t>
            </a:r>
            <a:endParaRPr lang="en-US" sz="1200" dirty="0"/>
          </a:p>
        </p:txBody>
      </p:sp>
      <p:sp>
        <p:nvSpPr>
          <p:cNvPr id="9" name="Text 7"/>
          <p:cNvSpPr/>
          <p:nvPr/>
        </p:nvSpPr>
        <p:spPr>
          <a:xfrm>
            <a:off x="457200" y="4206240"/>
            <a:ext cx="11247120" cy="2103120"/>
          </a:xfrm>
          <a:prstGeom prst="rect">
            <a:avLst/>
          </a:prstGeom>
          <a:noFill/>
          <a:ln/>
        </p:spPr>
        <p:txBody>
          <a:bodyPr wrap="square" lIns="0" tIns="0" rIns="0" bIns="0" rtlCol="0" anchor="ctr"/>
          <a:lstStyle/>
          <a:p>
            <a:pPr indent="0" marL="0">
              <a:spcAft>
                <a:spcPts val="800"/>
              </a:spcAft>
              <a:buNone/>
            </a:pPr>
            <a:r>
              <a:rPr lang="en-US" sz="1500" dirty="0">
                <a:solidFill>
                  <a:srgbClr val="1B2B3A"/>
                </a:solidFill>
                <a:latin typeface="Calibri" pitchFamily="34" charset="0"/>
                <a:ea typeface="Calibri" pitchFamily="34" charset="-122"/>
                <a:cs typeface="Calibri" pitchFamily="34" charset="-120"/>
              </a:rPr>
              <a:t>Cada tipo de prueba tiene una función que mide defectos detectados en función del presupuesto invertido. La ley de rendimientos decrecientes nos dice que duplicar presupuesto no duplica defectos encontrados. La DP encuentra la distribución óptima exacta — algo imposible con intuición.</a:t>
            </a:r>
            <a:endParaRPr lang="en-US" sz="1500" dirty="0"/>
          </a:p>
        </p:txBody>
      </p:sp>
      <p:sp>
        <p:nvSpPr>
          <p:cNvPr id="10" name="Text 8"/>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1" name="Text 9"/>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914400"/>
            <a:ext cx="4572000" cy="3657600"/>
          </a:xfrm>
          <a:prstGeom prst="rect">
            <a:avLst/>
          </a:prstGeom>
          <a:noFill/>
          <a:ln/>
        </p:spPr>
        <p:txBody>
          <a:bodyPr wrap="square" lIns="0" tIns="0" rIns="0" bIns="0" rtlCol="0" anchor="ctr"/>
          <a:lstStyle/>
          <a:p>
            <a:pPr algn="l" indent="0" marL="0">
              <a:buNone/>
            </a:pPr>
            <a:r>
              <a:rPr lang="en-US" sz="28000" b="1" dirty="0">
                <a:solidFill>
                  <a:srgbClr val="1C7293"/>
                </a:solidFill>
                <a:latin typeface="Georgia" pitchFamily="34" charset="0"/>
                <a:ea typeface="Georgia" pitchFamily="34" charset="-122"/>
                <a:cs typeface="Georgia" pitchFamily="34" charset="-120"/>
              </a:rPr>
              <a:t>04</a:t>
            </a:r>
            <a:endParaRPr lang="en-US" sz="28000" dirty="0"/>
          </a:p>
        </p:txBody>
      </p:sp>
      <p:sp>
        <p:nvSpPr>
          <p:cNvPr id="3" name="Shape 1"/>
          <p:cNvSpPr/>
          <p:nvPr/>
        </p:nvSpPr>
        <p:spPr>
          <a:xfrm>
            <a:off x="5486400" y="2103120"/>
            <a:ext cx="1280160" cy="292608"/>
          </a:xfrm>
          <a:prstGeom prst="rect">
            <a:avLst/>
          </a:prstGeom>
          <a:solidFill>
            <a:srgbClr val="F2A93B"/>
          </a:solidFill>
          <a:ln w="12700">
            <a:solidFill>
              <a:srgbClr val="F2A93B"/>
            </a:solidFill>
            <a:prstDash val="solid"/>
          </a:ln>
        </p:spPr>
      </p:sp>
      <p:sp>
        <p:nvSpPr>
          <p:cNvPr id="4" name="Text 2"/>
          <p:cNvSpPr/>
          <p:nvPr/>
        </p:nvSpPr>
        <p:spPr>
          <a:xfrm>
            <a:off x="5486400" y="2103120"/>
            <a:ext cx="128016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alibri" pitchFamily="34" charset="0"/>
                <a:ea typeface="Calibri" pitchFamily="34" charset="-122"/>
                <a:cs typeface="Calibri" pitchFamily="34" charset="-120"/>
              </a:rPr>
              <a:t>SESIÓN 19</a:t>
            </a:r>
            <a:endParaRPr lang="en-US" sz="1000" dirty="0"/>
          </a:p>
        </p:txBody>
      </p:sp>
      <p:sp>
        <p:nvSpPr>
          <p:cNvPr id="5" name="Text 3"/>
          <p:cNvSpPr/>
          <p:nvPr/>
        </p:nvSpPr>
        <p:spPr>
          <a:xfrm>
            <a:off x="5486400" y="2560320"/>
            <a:ext cx="6217920" cy="14630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Cierre del bloque</a:t>
            </a:r>
            <a:endParaRPr lang="en-US" sz="4000" dirty="0"/>
          </a:p>
        </p:txBody>
      </p:sp>
      <p:sp>
        <p:nvSpPr>
          <p:cNvPr id="6" name="Text 4"/>
          <p:cNvSpPr/>
          <p:nvPr/>
        </p:nvSpPr>
        <p:spPr>
          <a:xfrm>
            <a:off x="5486400" y="4114800"/>
            <a:ext cx="6217920" cy="1371600"/>
          </a:xfrm>
          <a:prstGeom prst="rect">
            <a:avLst/>
          </a:prstGeom>
          <a:noFill/>
          <a:ln/>
        </p:spPr>
        <p:txBody>
          <a:bodyPr wrap="square" lIns="0" tIns="0" rIns="0" bIns="0" rtlCol="0" anchor="ctr"/>
          <a:lstStyle/>
          <a:p>
            <a:pPr indent="0" marL="0">
              <a:buNone/>
            </a:pPr>
            <a:r>
              <a:rPr lang="en-US" sz="1600" i="1" dirty="0">
                <a:solidFill>
                  <a:srgbClr val="C8D6E5"/>
                </a:solidFill>
                <a:latin typeface="Calibri" pitchFamily="34" charset="0"/>
                <a:ea typeface="Calibri" pitchFamily="34" charset="-122"/>
                <a:cs typeface="Calibri" pitchFamily="34" charset="-120"/>
              </a:rPr>
              <a:t>Una visión integradora de las cuatro sesiones de programación dinámica.</a:t>
            </a:r>
            <a:endParaRPr lang="en-US" sz="1600" dirty="0"/>
          </a:p>
        </p:txBody>
      </p:sp>
      <p:sp>
        <p:nvSpPr>
          <p:cNvPr id="7" name="Text 5"/>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8" name="Text 6"/>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Recorrido por las cuatro sesiones</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37360"/>
            <a:ext cx="5806440" cy="2194560"/>
          </a:xfrm>
          <a:prstGeom prst="rect">
            <a:avLst/>
          </a:prstGeom>
          <a:solidFill>
            <a:srgbClr val="F4F7FA"/>
          </a:solidFill>
          <a:ln w="12700">
            <a:solidFill>
              <a:srgbClr val="F4F7FA"/>
            </a:solidFill>
            <a:prstDash val="solid"/>
          </a:ln>
        </p:spPr>
      </p:sp>
      <p:sp>
        <p:nvSpPr>
          <p:cNvPr id="7" name="Shape 5"/>
          <p:cNvSpPr/>
          <p:nvPr/>
        </p:nvSpPr>
        <p:spPr>
          <a:xfrm>
            <a:off x="457200" y="1737360"/>
            <a:ext cx="548640" cy="548640"/>
          </a:xfrm>
          <a:prstGeom prst="rect">
            <a:avLst/>
          </a:prstGeom>
          <a:solidFill>
            <a:srgbClr val="065A82"/>
          </a:solidFill>
          <a:ln w="12700">
            <a:solidFill>
              <a:srgbClr val="065A82"/>
            </a:solidFill>
            <a:prstDash val="solid"/>
          </a:ln>
        </p:spPr>
      </p:sp>
      <p:sp>
        <p:nvSpPr>
          <p:cNvPr id="8" name="Text 6"/>
          <p:cNvSpPr/>
          <p:nvPr/>
        </p:nvSpPr>
        <p:spPr>
          <a:xfrm>
            <a:off x="45720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114300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Sesión 16 — Fundamentos</a:t>
            </a:r>
            <a:endParaRPr lang="en-US" sz="1600" dirty="0"/>
          </a:p>
        </p:txBody>
      </p:sp>
      <p:sp>
        <p:nvSpPr>
          <p:cNvPr id="10" name="Text 8"/>
          <p:cNvSpPr/>
          <p:nvPr/>
        </p:nvSpPr>
        <p:spPr>
          <a:xfrm>
            <a:off x="64008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Etapas, estados, principio de optimalidad. Memoización vs tabulación. La receta de cinco pasos.</a:t>
            </a:r>
            <a:endParaRPr lang="en-US" sz="1200" dirty="0"/>
          </a:p>
        </p:txBody>
      </p:sp>
      <p:sp>
        <p:nvSpPr>
          <p:cNvPr id="11" name="Shape 9"/>
          <p:cNvSpPr/>
          <p:nvPr/>
        </p:nvSpPr>
        <p:spPr>
          <a:xfrm>
            <a:off x="6355080" y="1737360"/>
            <a:ext cx="5806440" cy="2194560"/>
          </a:xfrm>
          <a:prstGeom prst="rect">
            <a:avLst/>
          </a:prstGeom>
          <a:solidFill>
            <a:srgbClr val="F4F7FA"/>
          </a:solidFill>
          <a:ln w="12700">
            <a:solidFill>
              <a:srgbClr val="F4F7FA"/>
            </a:solidFill>
            <a:prstDash val="solid"/>
          </a:ln>
        </p:spPr>
      </p:sp>
      <p:sp>
        <p:nvSpPr>
          <p:cNvPr id="12" name="Shape 10"/>
          <p:cNvSpPr/>
          <p:nvPr/>
        </p:nvSpPr>
        <p:spPr>
          <a:xfrm>
            <a:off x="6355080" y="1737360"/>
            <a:ext cx="548640" cy="548640"/>
          </a:xfrm>
          <a:prstGeom prst="rect">
            <a:avLst/>
          </a:prstGeom>
          <a:solidFill>
            <a:srgbClr val="1C7293"/>
          </a:solidFill>
          <a:ln w="12700">
            <a:solidFill>
              <a:srgbClr val="1C7293"/>
            </a:solidFill>
            <a:prstDash val="solid"/>
          </a:ln>
        </p:spPr>
      </p:sp>
      <p:sp>
        <p:nvSpPr>
          <p:cNvPr id="13" name="Text 11"/>
          <p:cNvSpPr/>
          <p:nvPr/>
        </p:nvSpPr>
        <p:spPr>
          <a:xfrm>
            <a:off x="635508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7040880" y="178308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Sesión 17 — Mochila y Fibonacci</a:t>
            </a:r>
            <a:endParaRPr lang="en-US" sz="1600" dirty="0"/>
          </a:p>
        </p:txBody>
      </p:sp>
      <p:sp>
        <p:nvSpPr>
          <p:cNvPr id="15" name="Text 13"/>
          <p:cNvSpPr/>
          <p:nvPr/>
        </p:nvSpPr>
        <p:spPr>
          <a:xfrm>
            <a:off x="6537960" y="242316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Primer estado bidimensional. Reconstrucción de objetos elegidos. Optimización de espacio O(W).</a:t>
            </a:r>
            <a:endParaRPr lang="en-US" sz="1200" dirty="0"/>
          </a:p>
        </p:txBody>
      </p:sp>
      <p:sp>
        <p:nvSpPr>
          <p:cNvPr id="16" name="Shape 14"/>
          <p:cNvSpPr/>
          <p:nvPr/>
        </p:nvSpPr>
        <p:spPr>
          <a:xfrm>
            <a:off x="457200" y="4114800"/>
            <a:ext cx="5806440" cy="2194560"/>
          </a:xfrm>
          <a:prstGeom prst="rect">
            <a:avLst/>
          </a:prstGeom>
          <a:solidFill>
            <a:srgbClr val="F4F7FA"/>
          </a:solidFill>
          <a:ln w="12700">
            <a:solidFill>
              <a:srgbClr val="F4F7FA"/>
            </a:solidFill>
            <a:prstDash val="solid"/>
          </a:ln>
        </p:spPr>
      </p:sp>
      <p:sp>
        <p:nvSpPr>
          <p:cNvPr id="17" name="Shape 15"/>
          <p:cNvSpPr/>
          <p:nvPr/>
        </p:nvSpPr>
        <p:spPr>
          <a:xfrm>
            <a:off x="457200" y="4114800"/>
            <a:ext cx="548640" cy="548640"/>
          </a:xfrm>
          <a:prstGeom prst="rect">
            <a:avLst/>
          </a:prstGeom>
          <a:solidFill>
            <a:srgbClr val="21295C"/>
          </a:solidFill>
          <a:ln w="12700">
            <a:solidFill>
              <a:srgbClr val="21295C"/>
            </a:solidFill>
            <a:prstDash val="solid"/>
          </a:ln>
        </p:spPr>
      </p:sp>
      <p:sp>
        <p:nvSpPr>
          <p:cNvPr id="18" name="Text 16"/>
          <p:cNvSpPr/>
          <p:nvPr/>
        </p:nvSpPr>
        <p:spPr>
          <a:xfrm>
            <a:off x="457200" y="4114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114300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Sesión 18 — Binomiales y LCS</a:t>
            </a:r>
            <a:endParaRPr lang="en-US" sz="1600" dirty="0"/>
          </a:p>
        </p:txBody>
      </p:sp>
      <p:sp>
        <p:nvSpPr>
          <p:cNvPr id="20" name="Text 18"/>
          <p:cNvSpPr/>
          <p:nvPr/>
        </p:nvSpPr>
        <p:spPr>
          <a:xfrm>
            <a:off x="64008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Tablas 2D para problemas combinatorios. Comparación de secuencias. Aplicaciones a diff.</a:t>
            </a:r>
            <a:endParaRPr lang="en-US" sz="1200" dirty="0"/>
          </a:p>
        </p:txBody>
      </p:sp>
      <p:sp>
        <p:nvSpPr>
          <p:cNvPr id="21" name="Shape 19"/>
          <p:cNvSpPr/>
          <p:nvPr/>
        </p:nvSpPr>
        <p:spPr>
          <a:xfrm>
            <a:off x="6355080" y="4114800"/>
            <a:ext cx="5806440" cy="2194560"/>
          </a:xfrm>
          <a:prstGeom prst="rect">
            <a:avLst/>
          </a:prstGeom>
          <a:solidFill>
            <a:srgbClr val="F4F7FA"/>
          </a:solidFill>
          <a:ln w="12700">
            <a:solidFill>
              <a:srgbClr val="F4F7FA"/>
            </a:solidFill>
            <a:prstDash val="solid"/>
          </a:ln>
        </p:spPr>
      </p:sp>
      <p:sp>
        <p:nvSpPr>
          <p:cNvPr id="22" name="Shape 20"/>
          <p:cNvSpPr/>
          <p:nvPr/>
        </p:nvSpPr>
        <p:spPr>
          <a:xfrm>
            <a:off x="6355080" y="4114800"/>
            <a:ext cx="548640" cy="548640"/>
          </a:xfrm>
          <a:prstGeom prst="rect">
            <a:avLst/>
          </a:prstGeom>
          <a:solidFill>
            <a:srgbClr val="F2A93B"/>
          </a:solidFill>
          <a:ln w="12700">
            <a:solidFill>
              <a:srgbClr val="F2A93B"/>
            </a:solidFill>
            <a:prstDash val="solid"/>
          </a:ln>
        </p:spPr>
      </p:sp>
      <p:sp>
        <p:nvSpPr>
          <p:cNvPr id="23" name="Text 21"/>
          <p:cNvSpPr/>
          <p:nvPr/>
        </p:nvSpPr>
        <p:spPr>
          <a:xfrm>
            <a:off x="6355080" y="4114800"/>
            <a:ext cx="548640" cy="548640"/>
          </a:xfrm>
          <a:prstGeom prst="rect">
            <a:avLst/>
          </a:prstGeom>
          <a:noFill/>
          <a:ln/>
        </p:spPr>
        <p:txBody>
          <a:bodyPr wrap="square" lIns="0" tIns="0" rIns="0" bIns="0"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04</a:t>
            </a:r>
            <a:endParaRPr lang="en-US" sz="1600" dirty="0"/>
          </a:p>
        </p:txBody>
      </p:sp>
      <p:sp>
        <p:nvSpPr>
          <p:cNvPr id="24" name="Text 22"/>
          <p:cNvSpPr/>
          <p:nvPr/>
        </p:nvSpPr>
        <p:spPr>
          <a:xfrm>
            <a:off x="7040880" y="4160520"/>
            <a:ext cx="502920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Sesión 19 — Caminos y asignación</a:t>
            </a:r>
            <a:endParaRPr lang="en-US" sz="1600" dirty="0"/>
          </a:p>
        </p:txBody>
      </p:sp>
      <p:sp>
        <p:nvSpPr>
          <p:cNvPr id="25" name="Text 23"/>
          <p:cNvSpPr/>
          <p:nvPr/>
        </p:nvSpPr>
        <p:spPr>
          <a:xfrm>
            <a:off x="6537960" y="4800600"/>
            <a:ext cx="5486400" cy="1417320"/>
          </a:xfrm>
          <a:prstGeom prst="rect">
            <a:avLst/>
          </a:prstGeom>
          <a:noFill/>
          <a:ln/>
        </p:spPr>
        <p:txBody>
          <a:bodyPr wrap="square" lIns="0" tIns="0" rIns="0" bIns="0" rtlCol="0" anchor="ctr"/>
          <a:lstStyle/>
          <a:p>
            <a:pPr indent="0" marL="0">
              <a:spcAft>
                <a:spcPts val="400"/>
              </a:spcAft>
              <a:buNone/>
            </a:pPr>
            <a:r>
              <a:rPr lang="en-US" sz="1200" dirty="0">
                <a:solidFill>
                  <a:srgbClr val="1B2B3A"/>
                </a:solidFill>
                <a:latin typeface="Calibri" pitchFamily="34" charset="0"/>
                <a:ea typeface="Calibri" pitchFamily="34" charset="-122"/>
                <a:cs typeface="Calibri" pitchFamily="34" charset="-120"/>
              </a:rPr>
              <a:t>DP en grafos dirigidos acíclicos. Distribución óptima de recursos. Cierre con aplicaciones a testing.</a:t>
            </a:r>
            <a:endParaRPr lang="en-US" sz="1200" dirty="0"/>
          </a:p>
        </p:txBody>
      </p:sp>
      <p:sp>
        <p:nvSpPr>
          <p:cNvPr id="26" name="Text 24"/>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7" name="Text 25"/>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La receta de DP, repasada</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691640"/>
            <a:ext cx="11247120" cy="54864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Los cinco pasos que se aplican igual en los cuatro problemas vistos:</a:t>
            </a:r>
            <a:endParaRPr lang="en-US" sz="1400" dirty="0"/>
          </a:p>
        </p:txBody>
      </p:sp>
      <p:sp>
        <p:nvSpPr>
          <p:cNvPr id="7" name="Shape 5"/>
          <p:cNvSpPr/>
          <p:nvPr/>
        </p:nvSpPr>
        <p:spPr>
          <a:xfrm>
            <a:off x="457200" y="2377440"/>
            <a:ext cx="502920" cy="502920"/>
          </a:xfrm>
          <a:prstGeom prst="ellipse">
            <a:avLst/>
          </a:prstGeom>
          <a:solidFill>
            <a:srgbClr val="065A82"/>
          </a:solidFill>
          <a:ln w="12700">
            <a:solidFill>
              <a:srgbClr val="065A82"/>
            </a:solidFill>
            <a:prstDash val="solid"/>
          </a:ln>
        </p:spPr>
      </p:sp>
      <p:sp>
        <p:nvSpPr>
          <p:cNvPr id="8" name="Text 6"/>
          <p:cNvSpPr/>
          <p:nvPr/>
        </p:nvSpPr>
        <p:spPr>
          <a:xfrm>
            <a:off x="457200" y="2377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143000" y="2331720"/>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1. Identificar el subproblema</a:t>
            </a:r>
            <a:endParaRPr lang="en-US" sz="1600" dirty="0"/>
          </a:p>
        </p:txBody>
      </p:sp>
      <p:sp>
        <p:nvSpPr>
          <p:cNvPr id="10" name="Text 8"/>
          <p:cNvSpPr/>
          <p:nvPr/>
        </p:nvSpPr>
        <p:spPr>
          <a:xfrm>
            <a:off x="1143000" y="2697480"/>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Reformular la pregunta como una decisión secuencial sobre instancias más pequeñas.</a:t>
            </a:r>
            <a:endParaRPr lang="en-US" sz="1200" dirty="0"/>
          </a:p>
        </p:txBody>
      </p:sp>
      <p:sp>
        <p:nvSpPr>
          <p:cNvPr id="11" name="Shape 9"/>
          <p:cNvSpPr/>
          <p:nvPr/>
        </p:nvSpPr>
        <p:spPr>
          <a:xfrm>
            <a:off x="457200" y="3118104"/>
            <a:ext cx="502920" cy="502920"/>
          </a:xfrm>
          <a:prstGeom prst="ellipse">
            <a:avLst/>
          </a:prstGeom>
          <a:solidFill>
            <a:srgbClr val="065A82"/>
          </a:solidFill>
          <a:ln w="12700">
            <a:solidFill>
              <a:srgbClr val="065A82"/>
            </a:solidFill>
            <a:prstDash val="solid"/>
          </a:ln>
        </p:spPr>
      </p:sp>
      <p:sp>
        <p:nvSpPr>
          <p:cNvPr id="12" name="Text 10"/>
          <p:cNvSpPr/>
          <p:nvPr/>
        </p:nvSpPr>
        <p:spPr>
          <a:xfrm>
            <a:off x="457200" y="31181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143000" y="3072384"/>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2. Definir el estado</a:t>
            </a:r>
            <a:endParaRPr lang="en-US" sz="1600" dirty="0"/>
          </a:p>
        </p:txBody>
      </p:sp>
      <p:sp>
        <p:nvSpPr>
          <p:cNvPr id="14" name="Text 12"/>
          <p:cNvSpPr/>
          <p:nvPr/>
        </p:nvSpPr>
        <p:spPr>
          <a:xfrm>
            <a:off x="1143000" y="3438144"/>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Las variables que caracterizan una situación intermedia. Ejemplos: (i, j), (i, w), (i, r).</a:t>
            </a:r>
            <a:endParaRPr lang="en-US" sz="1200" dirty="0"/>
          </a:p>
        </p:txBody>
      </p:sp>
      <p:sp>
        <p:nvSpPr>
          <p:cNvPr id="15" name="Shape 13"/>
          <p:cNvSpPr/>
          <p:nvPr/>
        </p:nvSpPr>
        <p:spPr>
          <a:xfrm>
            <a:off x="457200" y="3858768"/>
            <a:ext cx="502920" cy="502920"/>
          </a:xfrm>
          <a:prstGeom prst="ellipse">
            <a:avLst/>
          </a:prstGeom>
          <a:solidFill>
            <a:srgbClr val="065A82"/>
          </a:solidFill>
          <a:ln w="12700">
            <a:solidFill>
              <a:srgbClr val="065A82"/>
            </a:solidFill>
            <a:prstDash val="solid"/>
          </a:ln>
        </p:spPr>
      </p:sp>
      <p:sp>
        <p:nvSpPr>
          <p:cNvPr id="16" name="Text 14"/>
          <p:cNvSpPr/>
          <p:nvPr/>
        </p:nvSpPr>
        <p:spPr>
          <a:xfrm>
            <a:off x="457200" y="3858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143000" y="3813048"/>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3. Escribir la recurrencia</a:t>
            </a:r>
            <a:endParaRPr lang="en-US" sz="1600" dirty="0"/>
          </a:p>
        </p:txBody>
      </p:sp>
      <p:sp>
        <p:nvSpPr>
          <p:cNvPr id="18" name="Text 16"/>
          <p:cNvSpPr/>
          <p:nvPr/>
        </p:nvSpPr>
        <p:spPr>
          <a:xfrm>
            <a:off x="1143000" y="4178808"/>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La ecuación que relaciona el estado actual con estados previos. Esta es la creatividad del DP.</a:t>
            </a:r>
            <a:endParaRPr lang="en-US" sz="1200" dirty="0"/>
          </a:p>
        </p:txBody>
      </p:sp>
      <p:sp>
        <p:nvSpPr>
          <p:cNvPr id="19" name="Shape 17"/>
          <p:cNvSpPr/>
          <p:nvPr/>
        </p:nvSpPr>
        <p:spPr>
          <a:xfrm>
            <a:off x="457200" y="4599432"/>
            <a:ext cx="502920" cy="502920"/>
          </a:xfrm>
          <a:prstGeom prst="ellipse">
            <a:avLst/>
          </a:prstGeom>
          <a:solidFill>
            <a:srgbClr val="065A82"/>
          </a:solidFill>
          <a:ln w="12700">
            <a:solidFill>
              <a:srgbClr val="065A82"/>
            </a:solidFill>
            <a:prstDash val="solid"/>
          </a:ln>
        </p:spPr>
      </p:sp>
      <p:sp>
        <p:nvSpPr>
          <p:cNvPr id="20" name="Text 18"/>
          <p:cNvSpPr/>
          <p:nvPr/>
        </p:nvSpPr>
        <p:spPr>
          <a:xfrm>
            <a:off x="457200" y="45994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143000" y="4553712"/>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4. Determinar el orden</a:t>
            </a:r>
            <a:endParaRPr lang="en-US" sz="1600" dirty="0"/>
          </a:p>
        </p:txBody>
      </p:sp>
      <p:sp>
        <p:nvSpPr>
          <p:cNvPr id="22" name="Text 20"/>
          <p:cNvSpPr/>
          <p:nvPr/>
        </p:nvSpPr>
        <p:spPr>
          <a:xfrm>
            <a:off x="1143000" y="4919472"/>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Resolver subproblemas en orden topológico. En grilla: por filas. En grafos: con sort topológico.</a:t>
            </a:r>
            <a:endParaRPr lang="en-US" sz="1200" dirty="0"/>
          </a:p>
        </p:txBody>
      </p:sp>
      <p:sp>
        <p:nvSpPr>
          <p:cNvPr id="23" name="Shape 21"/>
          <p:cNvSpPr/>
          <p:nvPr/>
        </p:nvSpPr>
        <p:spPr>
          <a:xfrm>
            <a:off x="457200" y="5340096"/>
            <a:ext cx="502920" cy="502920"/>
          </a:xfrm>
          <a:prstGeom prst="ellipse">
            <a:avLst/>
          </a:prstGeom>
          <a:solidFill>
            <a:srgbClr val="065A82"/>
          </a:solidFill>
          <a:ln w="12700">
            <a:solidFill>
              <a:srgbClr val="065A82"/>
            </a:solidFill>
            <a:prstDash val="solid"/>
          </a:ln>
        </p:spPr>
      </p:sp>
      <p:sp>
        <p:nvSpPr>
          <p:cNvPr id="24" name="Text 22"/>
          <p:cNvSpPr/>
          <p:nvPr/>
        </p:nvSpPr>
        <p:spPr>
          <a:xfrm>
            <a:off x="457200" y="534009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1143000" y="5294376"/>
            <a:ext cx="10515600" cy="36576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5. Reconstruir si hace falta</a:t>
            </a:r>
            <a:endParaRPr lang="en-US" sz="1600" dirty="0"/>
          </a:p>
        </p:txBody>
      </p:sp>
      <p:sp>
        <p:nvSpPr>
          <p:cNvPr id="26" name="Text 24"/>
          <p:cNvSpPr/>
          <p:nvPr/>
        </p:nvSpPr>
        <p:spPr>
          <a:xfrm>
            <a:off x="1143000" y="5660136"/>
            <a:ext cx="10515600" cy="329184"/>
          </a:xfrm>
          <a:prstGeom prst="rect">
            <a:avLst/>
          </a:prstGeom>
          <a:noFill/>
          <a:ln/>
        </p:spPr>
        <p:txBody>
          <a:bodyPr wrap="square" lIns="0" tIns="0" rIns="0" bIns="0" rtlCol="0" anchor="ctr"/>
          <a:lstStyle/>
          <a:p>
            <a:pPr indent="0" marL="0">
              <a:buNone/>
            </a:pPr>
            <a:r>
              <a:rPr lang="en-US" sz="1200" dirty="0">
                <a:solidFill>
                  <a:srgbClr val="1B2B3A"/>
                </a:solidFill>
                <a:latin typeface="Calibri" pitchFamily="34" charset="0"/>
                <a:ea typeface="Calibri" pitchFamily="34" charset="-122"/>
                <a:cs typeface="Calibri" pitchFamily="34" charset="-120"/>
              </a:rPr>
              <a:t>Mantener punteros o decisiones para recuperar la solución, no solo su valor óptimo.</a:t>
            </a:r>
            <a:endParaRPr lang="en-US" sz="1200" dirty="0"/>
          </a:p>
        </p:txBody>
      </p:sp>
      <p:sp>
        <p:nvSpPr>
          <p:cNvPr id="27" name="Text 25"/>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28" name="Text 26"/>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065A82"/>
          </a:solidFill>
          <a:ln w="12700">
            <a:solidFill>
              <a:srgbClr val="065A82"/>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Reflexión final</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Shape 4"/>
          <p:cNvSpPr/>
          <p:nvPr/>
        </p:nvSpPr>
        <p:spPr>
          <a:xfrm>
            <a:off x="457200" y="1737360"/>
            <a:ext cx="11247120" cy="2194560"/>
          </a:xfrm>
          <a:prstGeom prst="rect">
            <a:avLst/>
          </a:prstGeom>
          <a:solidFill>
            <a:srgbClr val="21295C"/>
          </a:solidFill>
          <a:ln w="12700">
            <a:solidFill>
              <a:srgbClr val="21295C"/>
            </a:solidFill>
            <a:prstDash val="solid"/>
          </a:ln>
        </p:spPr>
      </p:sp>
      <p:sp>
        <p:nvSpPr>
          <p:cNvPr id="7" name="Text 5"/>
          <p:cNvSpPr/>
          <p:nvPr/>
        </p:nvSpPr>
        <p:spPr>
          <a:xfrm>
            <a:off x="822960" y="1828800"/>
            <a:ext cx="10515600" cy="164592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"La programación dinámica no es una técnica más: es una forma de pensar."</a:t>
            </a:r>
            <a:endParaRPr lang="en-US" sz="2200" dirty="0"/>
          </a:p>
        </p:txBody>
      </p:sp>
      <p:sp>
        <p:nvSpPr>
          <p:cNvPr id="8" name="Text 6"/>
          <p:cNvSpPr/>
          <p:nvPr/>
        </p:nvSpPr>
        <p:spPr>
          <a:xfrm>
            <a:off x="822960" y="3520440"/>
            <a:ext cx="10515600" cy="365760"/>
          </a:xfrm>
          <a:prstGeom prst="rect">
            <a:avLst/>
          </a:prstGeom>
          <a:noFill/>
          <a:ln/>
        </p:spPr>
        <p:txBody>
          <a:bodyPr wrap="square" lIns="0" tIns="0" rIns="0" bIns="0" rtlCol="0" anchor="ctr"/>
          <a:lstStyle/>
          <a:p>
            <a:pPr indent="0" marL="0">
              <a:buNone/>
            </a:pPr>
            <a:r>
              <a:rPr lang="en-US" sz="1200" dirty="0">
                <a:solidFill>
                  <a:srgbClr val="F2A93B"/>
                </a:solidFill>
                <a:latin typeface="Calibri" pitchFamily="34" charset="0"/>
                <a:ea typeface="Calibri" pitchFamily="34" charset="-122"/>
                <a:cs typeface="Calibri" pitchFamily="34" charset="-120"/>
              </a:rPr>
              <a:t>Por qué importa para un ingeniero de pruebas</a:t>
            </a:r>
            <a:endParaRPr lang="en-US" sz="1200" dirty="0"/>
          </a:p>
        </p:txBody>
      </p:sp>
      <p:sp>
        <p:nvSpPr>
          <p:cNvPr id="9" name="Text 7"/>
          <p:cNvSpPr/>
          <p:nvPr/>
        </p:nvSpPr>
        <p:spPr>
          <a:xfrm>
            <a:off x="457200" y="4206240"/>
            <a:ext cx="11247120" cy="2103120"/>
          </a:xfrm>
          <a:prstGeom prst="rect">
            <a:avLst/>
          </a:prstGeom>
          <a:noFill/>
          <a:ln/>
        </p:spPr>
        <p:txBody>
          <a:bodyPr wrap="square" lIns="0" tIns="0" rIns="0" bIns="0" rtlCol="0" anchor="ctr"/>
          <a:lstStyle/>
          <a:p>
            <a:pPr indent="0" marL="0">
              <a:spcAft>
                <a:spcPts val="800"/>
              </a:spcAft>
              <a:buNone/>
            </a:pPr>
            <a:r>
              <a:rPr lang="en-US" sz="1500" dirty="0">
                <a:solidFill>
                  <a:srgbClr val="1B2B3A"/>
                </a:solidFill>
                <a:latin typeface="Calibri" pitchFamily="34" charset="0"/>
                <a:ea typeface="Calibri" pitchFamily="34" charset="-122"/>
                <a:cs typeface="Calibri" pitchFamily="34" charset="-120"/>
              </a:rPr>
              <a:t>Muchos problemas críticos en software cuestan demasiado de resolver por fuerza bruta. DP nos da algoritmos exactos en tiempo polinomial donde antes solo había heurísticas. En testing, esto se traduce en suites más eficientes, mejor distribución de recursos y decisiones técnicas defendibles con números.</a:t>
            </a:r>
            <a:endParaRPr lang="en-US" sz="1500" dirty="0"/>
          </a:p>
        </p:txBody>
      </p:sp>
      <p:sp>
        <p:nvSpPr>
          <p:cNvPr id="10" name="Text 8"/>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1" name="Text 9"/>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F2A93B"/>
          </a:solidFill>
          <a:ln w="12700">
            <a:solidFill>
              <a:srgbClr val="F2A93B"/>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Síntesis de la sesión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828800"/>
            <a:ext cx="914400" cy="777240"/>
          </a:xfrm>
          <a:prstGeom prst="rect">
            <a:avLst/>
          </a:prstGeom>
          <a:noFill/>
          <a:ln/>
        </p:spPr>
        <p:txBody>
          <a:bodyPr wrap="square" lIns="0" tIns="0" rIns="0" bIns="0" rtlCol="0" anchor="ctr"/>
          <a:lstStyle/>
          <a:p>
            <a:pPr indent="0" marL="0">
              <a:buNone/>
            </a:pPr>
            <a:r>
              <a:rPr lang="en-US" sz="3600" b="1" dirty="0">
                <a:solidFill>
                  <a:srgbClr val="F2A93B"/>
                </a:solidFill>
                <a:latin typeface="Georgia" pitchFamily="34" charset="0"/>
                <a:ea typeface="Georgia" pitchFamily="34" charset="-122"/>
                <a:cs typeface="Georgia" pitchFamily="34" charset="-120"/>
              </a:rPr>
              <a:t>01</a:t>
            </a:r>
            <a:endParaRPr lang="en-US" sz="3600" dirty="0"/>
          </a:p>
        </p:txBody>
      </p:sp>
      <p:sp>
        <p:nvSpPr>
          <p:cNvPr id="7" name="Text 5"/>
          <p:cNvSpPr/>
          <p:nvPr/>
        </p:nvSpPr>
        <p:spPr>
          <a:xfrm>
            <a:off x="1554480" y="1920240"/>
            <a:ext cx="1005840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Camino de mínimo costo: DP en grilla con recurrencia dp[i][j] = costo[i][j] + min(arriba, izquierda).</a:t>
            </a:r>
            <a:endParaRPr lang="en-US" sz="1500" dirty="0"/>
          </a:p>
        </p:txBody>
      </p:sp>
      <p:sp>
        <p:nvSpPr>
          <p:cNvPr id="8" name="Text 6"/>
          <p:cNvSpPr/>
          <p:nvPr/>
        </p:nvSpPr>
        <p:spPr>
          <a:xfrm>
            <a:off x="457200" y="2697480"/>
            <a:ext cx="914400" cy="777240"/>
          </a:xfrm>
          <a:prstGeom prst="rect">
            <a:avLst/>
          </a:prstGeom>
          <a:noFill/>
          <a:ln/>
        </p:spPr>
        <p:txBody>
          <a:bodyPr wrap="square" lIns="0" tIns="0" rIns="0" bIns="0" rtlCol="0" anchor="ctr"/>
          <a:lstStyle/>
          <a:p>
            <a:pPr indent="0" marL="0">
              <a:buNone/>
            </a:pPr>
            <a:r>
              <a:rPr lang="en-US" sz="3600" b="1" dirty="0">
                <a:solidFill>
                  <a:srgbClr val="F2A93B"/>
                </a:solidFill>
                <a:latin typeface="Georgia" pitchFamily="34" charset="0"/>
                <a:ea typeface="Georgia" pitchFamily="34" charset="-122"/>
                <a:cs typeface="Georgia" pitchFamily="34" charset="-120"/>
              </a:rPr>
              <a:t>02</a:t>
            </a:r>
            <a:endParaRPr lang="en-US" sz="3600" dirty="0"/>
          </a:p>
        </p:txBody>
      </p:sp>
      <p:sp>
        <p:nvSpPr>
          <p:cNvPr id="9" name="Text 7"/>
          <p:cNvSpPr/>
          <p:nvPr/>
        </p:nvSpPr>
        <p:spPr>
          <a:xfrm>
            <a:off x="1554480" y="2788920"/>
            <a:ext cx="1005840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Asignación de recursos: estado (proyecto, recurso) iterando todos los repartos posibles.</a:t>
            </a:r>
            <a:endParaRPr lang="en-US" sz="1500" dirty="0"/>
          </a:p>
        </p:txBody>
      </p:sp>
      <p:sp>
        <p:nvSpPr>
          <p:cNvPr id="10" name="Text 8"/>
          <p:cNvSpPr/>
          <p:nvPr/>
        </p:nvSpPr>
        <p:spPr>
          <a:xfrm>
            <a:off x="457200" y="3566160"/>
            <a:ext cx="914400" cy="777240"/>
          </a:xfrm>
          <a:prstGeom prst="rect">
            <a:avLst/>
          </a:prstGeom>
          <a:noFill/>
          <a:ln/>
        </p:spPr>
        <p:txBody>
          <a:bodyPr wrap="square" lIns="0" tIns="0" rIns="0" bIns="0" rtlCol="0" anchor="ctr"/>
          <a:lstStyle/>
          <a:p>
            <a:pPr indent="0" marL="0">
              <a:buNone/>
            </a:pPr>
            <a:r>
              <a:rPr lang="en-US" sz="3600" b="1" dirty="0">
                <a:solidFill>
                  <a:srgbClr val="F2A93B"/>
                </a:solidFill>
                <a:latin typeface="Georgia" pitchFamily="34" charset="0"/>
                <a:ea typeface="Georgia" pitchFamily="34" charset="-122"/>
                <a:cs typeface="Georgia" pitchFamily="34" charset="-120"/>
              </a:rPr>
              <a:t>03</a:t>
            </a:r>
            <a:endParaRPr lang="en-US" sz="3600" dirty="0"/>
          </a:p>
        </p:txBody>
      </p:sp>
      <p:sp>
        <p:nvSpPr>
          <p:cNvPr id="11" name="Text 9"/>
          <p:cNvSpPr/>
          <p:nvPr/>
        </p:nvSpPr>
        <p:spPr>
          <a:xfrm>
            <a:off x="1554480" y="3657600"/>
            <a:ext cx="1005840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Reconstrucción de la solución: mantener decisiones para recuperar camino o asignación, no solo valor óptimo.</a:t>
            </a:r>
            <a:endParaRPr lang="en-US" sz="1500" dirty="0"/>
          </a:p>
        </p:txBody>
      </p:sp>
      <p:sp>
        <p:nvSpPr>
          <p:cNvPr id="12" name="Text 10"/>
          <p:cNvSpPr/>
          <p:nvPr/>
        </p:nvSpPr>
        <p:spPr>
          <a:xfrm>
            <a:off x="457200" y="4434840"/>
            <a:ext cx="914400" cy="777240"/>
          </a:xfrm>
          <a:prstGeom prst="rect">
            <a:avLst/>
          </a:prstGeom>
          <a:noFill/>
          <a:ln/>
        </p:spPr>
        <p:txBody>
          <a:bodyPr wrap="square" lIns="0" tIns="0" rIns="0" bIns="0" rtlCol="0" anchor="ctr"/>
          <a:lstStyle/>
          <a:p>
            <a:pPr indent="0" marL="0">
              <a:buNone/>
            </a:pPr>
            <a:r>
              <a:rPr lang="en-US" sz="3600" b="1" dirty="0">
                <a:solidFill>
                  <a:srgbClr val="F2A93B"/>
                </a:solidFill>
                <a:latin typeface="Georgia" pitchFamily="34" charset="0"/>
                <a:ea typeface="Georgia" pitchFamily="34" charset="-122"/>
                <a:cs typeface="Georgia" pitchFamily="34" charset="-120"/>
              </a:rPr>
              <a:t>04</a:t>
            </a:r>
            <a:endParaRPr lang="en-US" sz="3600" dirty="0"/>
          </a:p>
        </p:txBody>
      </p:sp>
      <p:sp>
        <p:nvSpPr>
          <p:cNvPr id="13" name="Text 11"/>
          <p:cNvSpPr/>
          <p:nvPr/>
        </p:nvSpPr>
        <p:spPr>
          <a:xfrm>
            <a:off x="1554480" y="4526280"/>
            <a:ext cx="1005840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Conexión con testing: DP modela cobertura, distribución de presupuesto y selección de casos de prueba.</a:t>
            </a:r>
            <a:endParaRPr lang="en-US" sz="1500" dirty="0"/>
          </a:p>
        </p:txBody>
      </p:sp>
      <p:sp>
        <p:nvSpPr>
          <p:cNvPr id="14" name="Text 12"/>
          <p:cNvSpPr/>
          <p:nvPr/>
        </p:nvSpPr>
        <p:spPr>
          <a:xfrm>
            <a:off x="457200" y="5303520"/>
            <a:ext cx="914400" cy="777240"/>
          </a:xfrm>
          <a:prstGeom prst="rect">
            <a:avLst/>
          </a:prstGeom>
          <a:noFill/>
          <a:ln/>
        </p:spPr>
        <p:txBody>
          <a:bodyPr wrap="square" lIns="0" tIns="0" rIns="0" bIns="0" rtlCol="0" anchor="ctr"/>
          <a:lstStyle/>
          <a:p>
            <a:pPr indent="0" marL="0">
              <a:buNone/>
            </a:pPr>
            <a:r>
              <a:rPr lang="en-US" sz="3600" b="1" dirty="0">
                <a:solidFill>
                  <a:srgbClr val="F2A93B"/>
                </a:solidFill>
                <a:latin typeface="Georgia" pitchFamily="34" charset="0"/>
                <a:ea typeface="Georgia" pitchFamily="34" charset="-122"/>
                <a:cs typeface="Georgia" pitchFamily="34" charset="-120"/>
              </a:rPr>
              <a:t>05</a:t>
            </a:r>
            <a:endParaRPr lang="en-US" sz="3600" dirty="0"/>
          </a:p>
        </p:txBody>
      </p:sp>
      <p:sp>
        <p:nvSpPr>
          <p:cNvPr id="15" name="Text 13"/>
          <p:cNvSpPr/>
          <p:nvPr/>
        </p:nvSpPr>
        <p:spPr>
          <a:xfrm>
            <a:off x="1554480" y="5394960"/>
            <a:ext cx="10058400" cy="6858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La receta de cinco pasos: subproblema, estado, recurrencia, orden y reconstrucción.</a:t>
            </a:r>
            <a:endParaRPr lang="en-US" sz="1500" dirty="0"/>
          </a:p>
        </p:txBody>
      </p:sp>
      <p:sp>
        <p:nvSpPr>
          <p:cNvPr id="16" name="Text 14"/>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8FA0B0"/>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7" name="Text 15"/>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F2A93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365760" y="365760"/>
            <a:ext cx="1280160" cy="292608"/>
          </a:xfrm>
          <a:prstGeom prst="rect">
            <a:avLst/>
          </a:prstGeom>
          <a:solidFill>
            <a:srgbClr val="F2A93B"/>
          </a:solidFill>
          <a:ln w="12700">
            <a:solidFill>
              <a:srgbClr val="F2A93B"/>
            </a:solidFill>
            <a:prstDash val="solid"/>
          </a:ln>
        </p:spPr>
      </p:sp>
      <p:sp>
        <p:nvSpPr>
          <p:cNvPr id="3" name="Text 1"/>
          <p:cNvSpPr/>
          <p:nvPr/>
        </p:nvSpPr>
        <p:spPr>
          <a:xfrm>
            <a:off x="365760" y="365760"/>
            <a:ext cx="1280160" cy="292608"/>
          </a:xfrm>
          <a:prstGeom prst="rect">
            <a:avLst/>
          </a:prstGeom>
          <a:noFill/>
          <a:ln/>
        </p:spPr>
        <p:txBody>
          <a:bodyPr wrap="square" lIns="0" tIns="0" rIns="0" bIns="0" rtlCol="0" anchor="ctr"/>
          <a:lstStyle/>
          <a:p>
            <a:pPr algn="ctr" indent="0" marL="0">
              <a:buNone/>
            </a:pPr>
            <a:r>
              <a:rPr lang="en-US" sz="1000" b="1" spc="200" kern="0" dirty="0">
                <a:solidFill>
                  <a:srgbClr val="21295C"/>
                </a:solidFill>
                <a:latin typeface="Calibri" pitchFamily="34" charset="0"/>
                <a:ea typeface="Calibri" pitchFamily="34" charset="-122"/>
                <a:cs typeface="Calibri" pitchFamily="34" charset="-120"/>
              </a:rPr>
              <a:t>SESIÓN 19</a:t>
            </a:r>
            <a:endParaRPr lang="en-US" sz="1000" dirty="0"/>
          </a:p>
        </p:txBody>
      </p:sp>
      <p:sp>
        <p:nvSpPr>
          <p:cNvPr id="4" name="Text 2"/>
          <p:cNvSpPr/>
          <p:nvPr/>
        </p:nvSpPr>
        <p:spPr>
          <a:xfrm>
            <a:off x="365760" y="777240"/>
            <a:ext cx="114300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Preguntas para reflexión</a:t>
            </a:r>
            <a:endParaRPr lang="en-US" sz="3000" dirty="0"/>
          </a:p>
        </p:txBody>
      </p:sp>
      <p:sp>
        <p:nvSpPr>
          <p:cNvPr id="5" name="Shape 3"/>
          <p:cNvSpPr/>
          <p:nvPr/>
        </p:nvSpPr>
        <p:spPr>
          <a:xfrm>
            <a:off x="365760" y="1417320"/>
            <a:ext cx="548640" cy="45720"/>
          </a:xfrm>
          <a:prstGeom prst="rect">
            <a:avLst/>
          </a:prstGeom>
          <a:solidFill>
            <a:srgbClr val="F2A93B"/>
          </a:solidFill>
          <a:ln w="12700">
            <a:solidFill>
              <a:srgbClr val="F2A93B"/>
            </a:solidFill>
            <a:prstDash val="solid"/>
          </a:ln>
        </p:spPr>
      </p:sp>
      <p:sp>
        <p:nvSpPr>
          <p:cNvPr id="6" name="Text 4"/>
          <p:cNvSpPr/>
          <p:nvPr/>
        </p:nvSpPr>
        <p:spPr>
          <a:xfrm>
            <a:off x="457200" y="1828800"/>
            <a:ext cx="640080" cy="640080"/>
          </a:xfrm>
          <a:prstGeom prst="rect">
            <a:avLst/>
          </a:prstGeom>
          <a:noFill/>
          <a:ln/>
        </p:spPr>
        <p:txBody>
          <a:bodyPr wrap="square" lIns="0" tIns="0" rIns="0" bIns="0" rtlCol="0" anchor="ctr"/>
          <a:lstStyle/>
          <a:p>
            <a:pPr algn="ctr" indent="0" marL="0">
              <a:buNone/>
            </a:pPr>
            <a:r>
              <a:rPr lang="en-US" sz="3600" b="1" dirty="0">
                <a:solidFill>
                  <a:srgbClr val="F2A93B"/>
                </a:solidFill>
                <a:latin typeface="Georgia" pitchFamily="34" charset="0"/>
                <a:ea typeface="Georgia" pitchFamily="34" charset="-122"/>
                <a:cs typeface="Georgia" pitchFamily="34" charset="-120"/>
              </a:rPr>
              <a:t>?</a:t>
            </a:r>
            <a:endParaRPr lang="en-US" sz="3600" dirty="0"/>
          </a:p>
        </p:txBody>
      </p:sp>
      <p:sp>
        <p:nvSpPr>
          <p:cNvPr id="7" name="Text 5"/>
          <p:cNvSpPr/>
          <p:nvPr/>
        </p:nvSpPr>
        <p:spPr>
          <a:xfrm>
            <a:off x="1188720" y="1828800"/>
            <a:ext cx="1051560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¿Por qué la versión optimizada en espacio del camino mínimo pierde la posibilidad de reconstrucción?</a:t>
            </a:r>
            <a:endParaRPr lang="en-US" sz="1600" dirty="0"/>
          </a:p>
        </p:txBody>
      </p:sp>
      <p:sp>
        <p:nvSpPr>
          <p:cNvPr id="8" name="Text 6"/>
          <p:cNvSpPr/>
          <p:nvPr/>
        </p:nvSpPr>
        <p:spPr>
          <a:xfrm>
            <a:off x="457200" y="2606040"/>
            <a:ext cx="640080" cy="640080"/>
          </a:xfrm>
          <a:prstGeom prst="rect">
            <a:avLst/>
          </a:prstGeom>
          <a:noFill/>
          <a:ln/>
        </p:spPr>
        <p:txBody>
          <a:bodyPr wrap="square" lIns="0" tIns="0" rIns="0" bIns="0" rtlCol="0" anchor="ctr"/>
          <a:lstStyle/>
          <a:p>
            <a:pPr algn="ctr" indent="0" marL="0">
              <a:buNone/>
            </a:pPr>
            <a:r>
              <a:rPr lang="en-US" sz="3600" b="1" dirty="0">
                <a:solidFill>
                  <a:srgbClr val="F2A93B"/>
                </a:solidFill>
                <a:latin typeface="Georgia" pitchFamily="34" charset="0"/>
                <a:ea typeface="Georgia" pitchFamily="34" charset="-122"/>
                <a:cs typeface="Georgia" pitchFamily="34" charset="-120"/>
              </a:rPr>
              <a:t>?</a:t>
            </a:r>
            <a:endParaRPr lang="en-US" sz="3600" dirty="0"/>
          </a:p>
        </p:txBody>
      </p:sp>
      <p:sp>
        <p:nvSpPr>
          <p:cNvPr id="9" name="Text 7"/>
          <p:cNvSpPr/>
          <p:nvPr/>
        </p:nvSpPr>
        <p:spPr>
          <a:xfrm>
            <a:off x="1188720" y="2606040"/>
            <a:ext cx="1051560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Si todos los costos de la grilla fueran iguales, ¿qué algoritmo más simple resolvería el problema?</a:t>
            </a:r>
            <a:endParaRPr lang="en-US" sz="1600" dirty="0"/>
          </a:p>
        </p:txBody>
      </p:sp>
      <p:sp>
        <p:nvSpPr>
          <p:cNvPr id="10" name="Text 8"/>
          <p:cNvSpPr/>
          <p:nvPr/>
        </p:nvSpPr>
        <p:spPr>
          <a:xfrm>
            <a:off x="457200" y="3383280"/>
            <a:ext cx="640080" cy="640080"/>
          </a:xfrm>
          <a:prstGeom prst="rect">
            <a:avLst/>
          </a:prstGeom>
          <a:noFill/>
          <a:ln/>
        </p:spPr>
        <p:txBody>
          <a:bodyPr wrap="square" lIns="0" tIns="0" rIns="0" bIns="0" rtlCol="0" anchor="ctr"/>
          <a:lstStyle/>
          <a:p>
            <a:pPr algn="ctr" indent="0" marL="0">
              <a:buNone/>
            </a:pPr>
            <a:r>
              <a:rPr lang="en-US" sz="3600" b="1" dirty="0">
                <a:solidFill>
                  <a:srgbClr val="F2A93B"/>
                </a:solidFill>
                <a:latin typeface="Georgia" pitchFamily="34" charset="0"/>
                <a:ea typeface="Georgia" pitchFamily="34" charset="-122"/>
                <a:cs typeface="Georgia" pitchFamily="34" charset="-120"/>
              </a:rPr>
              <a:t>?</a:t>
            </a:r>
            <a:endParaRPr lang="en-US" sz="3600" dirty="0"/>
          </a:p>
        </p:txBody>
      </p:sp>
      <p:sp>
        <p:nvSpPr>
          <p:cNvPr id="11" name="Text 9"/>
          <p:cNvSpPr/>
          <p:nvPr/>
        </p:nvSpPr>
        <p:spPr>
          <a:xfrm>
            <a:off x="1188720" y="3383280"/>
            <a:ext cx="1051560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¿Qué pasaría si en asignación de recursos las funciones f_i fueran lineales? ¿Sería DP la mejor herramienta?</a:t>
            </a:r>
            <a:endParaRPr lang="en-US" sz="1600" dirty="0"/>
          </a:p>
        </p:txBody>
      </p:sp>
      <p:sp>
        <p:nvSpPr>
          <p:cNvPr id="12" name="Text 10"/>
          <p:cNvSpPr/>
          <p:nvPr/>
        </p:nvSpPr>
        <p:spPr>
          <a:xfrm>
            <a:off x="457200" y="4160520"/>
            <a:ext cx="640080" cy="640080"/>
          </a:xfrm>
          <a:prstGeom prst="rect">
            <a:avLst/>
          </a:prstGeom>
          <a:noFill/>
          <a:ln/>
        </p:spPr>
        <p:txBody>
          <a:bodyPr wrap="square" lIns="0" tIns="0" rIns="0" bIns="0" rtlCol="0" anchor="ctr"/>
          <a:lstStyle/>
          <a:p>
            <a:pPr algn="ctr" indent="0" marL="0">
              <a:buNone/>
            </a:pPr>
            <a:r>
              <a:rPr lang="en-US" sz="3600" b="1" dirty="0">
                <a:solidFill>
                  <a:srgbClr val="F2A93B"/>
                </a:solidFill>
                <a:latin typeface="Georgia" pitchFamily="34" charset="0"/>
                <a:ea typeface="Georgia" pitchFamily="34" charset="-122"/>
                <a:cs typeface="Georgia" pitchFamily="34" charset="-120"/>
              </a:rPr>
              <a:t>?</a:t>
            </a:r>
            <a:endParaRPr lang="en-US" sz="3600" dirty="0"/>
          </a:p>
        </p:txBody>
      </p:sp>
      <p:sp>
        <p:nvSpPr>
          <p:cNvPr id="13" name="Text 11"/>
          <p:cNvSpPr/>
          <p:nvPr/>
        </p:nvSpPr>
        <p:spPr>
          <a:xfrm>
            <a:off x="1188720" y="4160520"/>
            <a:ext cx="1051560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¿Cómo modelarías la asignación de horas de testing entre módulos críticos y no críticos en tu propio proyecto?</a:t>
            </a:r>
            <a:endParaRPr lang="en-US" sz="1600" dirty="0"/>
          </a:p>
        </p:txBody>
      </p:sp>
      <p:sp>
        <p:nvSpPr>
          <p:cNvPr id="14" name="Text 12"/>
          <p:cNvSpPr/>
          <p:nvPr/>
        </p:nvSpPr>
        <p:spPr>
          <a:xfrm>
            <a:off x="457200" y="4937760"/>
            <a:ext cx="640080" cy="640080"/>
          </a:xfrm>
          <a:prstGeom prst="rect">
            <a:avLst/>
          </a:prstGeom>
          <a:noFill/>
          <a:ln/>
        </p:spPr>
        <p:txBody>
          <a:bodyPr wrap="square" lIns="0" tIns="0" rIns="0" bIns="0" rtlCol="0" anchor="ctr"/>
          <a:lstStyle/>
          <a:p>
            <a:pPr algn="ctr" indent="0" marL="0">
              <a:buNone/>
            </a:pPr>
            <a:r>
              <a:rPr lang="en-US" sz="3600" b="1" dirty="0">
                <a:solidFill>
                  <a:srgbClr val="F2A93B"/>
                </a:solidFill>
                <a:latin typeface="Georgia" pitchFamily="34" charset="0"/>
                <a:ea typeface="Georgia" pitchFamily="34" charset="-122"/>
                <a:cs typeface="Georgia" pitchFamily="34" charset="-120"/>
              </a:rPr>
              <a:t>?</a:t>
            </a:r>
            <a:endParaRPr lang="en-US" sz="3600" dirty="0"/>
          </a:p>
        </p:txBody>
      </p:sp>
      <p:sp>
        <p:nvSpPr>
          <p:cNvPr id="15" name="Text 13"/>
          <p:cNvSpPr/>
          <p:nvPr/>
        </p:nvSpPr>
        <p:spPr>
          <a:xfrm>
            <a:off x="1188720" y="4937760"/>
            <a:ext cx="1051560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Mirando hacia atrás: ¿qué problema de los vistos te resultó más complejo y por qué?</a:t>
            </a:r>
            <a:endParaRPr lang="en-US" sz="1600" dirty="0"/>
          </a:p>
        </p:txBody>
      </p:sp>
      <p:sp>
        <p:nvSpPr>
          <p:cNvPr id="16" name="Text 14"/>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8FA0B0"/>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17" name="Text 15"/>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F2A93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2A93B"/>
          </a:solidFill>
          <a:ln w="12700">
            <a:solidFill>
              <a:srgbClr val="F2A93B"/>
            </a:solidFill>
            <a:prstDash val="solid"/>
          </a:ln>
        </p:spPr>
      </p:sp>
      <p:sp>
        <p:nvSpPr>
          <p:cNvPr id="3" name="Text 1"/>
          <p:cNvSpPr/>
          <p:nvPr/>
        </p:nvSpPr>
        <p:spPr>
          <a:xfrm>
            <a:off x="822960" y="2286000"/>
            <a:ext cx="10058400" cy="1371600"/>
          </a:xfrm>
          <a:prstGeom prst="rect">
            <a:avLst/>
          </a:prstGeom>
          <a:noFill/>
          <a:ln/>
        </p:spPr>
        <p:txBody>
          <a:bodyPr wrap="square" lIns="0" tIns="0" rIns="0" bIns="0" rtlCol="0" anchor="ctr"/>
          <a:lstStyle/>
          <a:p>
            <a:pPr indent="0" marL="0">
              <a:buNone/>
            </a:pPr>
            <a:r>
              <a:rPr lang="en-US" sz="8000" b="1" dirty="0">
                <a:solidFill>
                  <a:srgbClr val="FFFFFF"/>
                </a:solidFill>
                <a:latin typeface="Georgia" pitchFamily="34" charset="0"/>
                <a:ea typeface="Georgia" pitchFamily="34" charset="-122"/>
                <a:cs typeface="Georgia" pitchFamily="34" charset="-120"/>
              </a:rPr>
              <a:t>Gracias</a:t>
            </a:r>
            <a:endParaRPr lang="en-US" sz="8000" dirty="0"/>
          </a:p>
        </p:txBody>
      </p:sp>
      <p:sp>
        <p:nvSpPr>
          <p:cNvPr id="4" name="Shape 2"/>
          <p:cNvSpPr/>
          <p:nvPr/>
        </p:nvSpPr>
        <p:spPr>
          <a:xfrm>
            <a:off x="822960" y="3840480"/>
            <a:ext cx="2743200" cy="0"/>
          </a:xfrm>
          <a:prstGeom prst="line">
            <a:avLst/>
          </a:prstGeom>
          <a:noFill/>
          <a:ln w="38100">
            <a:solidFill>
              <a:srgbClr val="F2A93B"/>
            </a:solidFill>
            <a:prstDash val="solid"/>
          </a:ln>
        </p:spPr>
      </p:sp>
      <p:sp>
        <p:nvSpPr>
          <p:cNvPr id="5" name="Text 3"/>
          <p:cNvSpPr/>
          <p:nvPr/>
        </p:nvSpPr>
        <p:spPr>
          <a:xfrm>
            <a:off x="822960" y="4023360"/>
            <a:ext cx="10058400" cy="457200"/>
          </a:xfrm>
          <a:prstGeom prst="rect">
            <a:avLst/>
          </a:prstGeom>
          <a:noFill/>
          <a:ln/>
        </p:spPr>
        <p:txBody>
          <a:bodyPr wrap="square" lIns="0" tIns="0" rIns="0" bIns="0" rtlCol="0" anchor="ctr"/>
          <a:lstStyle/>
          <a:p>
            <a:pPr indent="0" marL="0">
              <a:buNone/>
            </a:pPr>
            <a:r>
              <a:rPr lang="en-US" sz="1800" i="1" dirty="0">
                <a:solidFill>
                  <a:srgbClr val="B8C7D6"/>
                </a:solidFill>
                <a:latin typeface="Calibri" pitchFamily="34" charset="0"/>
                <a:ea typeface="Calibri" pitchFamily="34" charset="-122"/>
                <a:cs typeface="Calibri" pitchFamily="34" charset="-120"/>
              </a:rPr>
              <a:t>Cierre del bloque de programación dinámica · Sesión 19</a:t>
            </a:r>
            <a:endParaRPr lang="en-US" sz="1800" dirty="0"/>
          </a:p>
        </p:txBody>
      </p:sp>
      <p:sp>
        <p:nvSpPr>
          <p:cNvPr id="6" name="Text 4"/>
          <p:cNvSpPr/>
          <p:nvPr/>
        </p:nvSpPr>
        <p:spPr>
          <a:xfrm>
            <a:off x="822960" y="5486400"/>
            <a:ext cx="1005840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Mg. Sergio Alejandro Burbano Mena</a:t>
            </a:r>
            <a:endParaRPr lang="en-US" sz="1400" dirty="0"/>
          </a:p>
          <a:p>
            <a:pPr indent="0" marL="0">
              <a:buNone/>
            </a:pPr>
            <a:r>
              <a:rPr lang="en-US" sz="1200" dirty="0">
                <a:solidFill>
                  <a:srgbClr val="B8C7D6"/>
                </a:solidFill>
                <a:latin typeface="Calibri" pitchFamily="34" charset="0"/>
                <a:ea typeface="Calibri" pitchFamily="34" charset="-122"/>
                <a:cs typeface="Calibri" pitchFamily="34" charset="-120"/>
              </a:rPr>
              <a:t>Pruebas de Software · Universitaria de Colombia</a:t>
            </a:r>
            <a:endParaRPr lang="en-US" sz="1400" dirty="0"/>
          </a:p>
        </p:txBody>
      </p:sp>
      <p:sp>
        <p:nvSpPr>
          <p:cNvPr id="7" name="Text 5"/>
          <p:cNvSpPr/>
          <p:nvPr/>
        </p:nvSpPr>
        <p:spPr>
          <a:xfrm>
            <a:off x="365760" y="6537960"/>
            <a:ext cx="9144000" cy="274320"/>
          </a:xfrm>
          <a:prstGeom prst="rect">
            <a:avLst/>
          </a:prstGeom>
          <a:noFill/>
          <a:ln/>
        </p:spPr>
        <p:txBody>
          <a:bodyPr wrap="square" lIns="0" tIns="0" rIns="0" bIns="0" rtlCol="0" anchor="ctr"/>
          <a:lstStyle/>
          <a:p>
            <a:pPr indent="0" marL="0">
              <a:buNone/>
            </a:pPr>
            <a:r>
              <a:rPr lang="en-US" sz="900" dirty="0">
                <a:solidFill>
                  <a:srgbClr val="5C6B7A"/>
                </a:solidFill>
                <a:latin typeface="Calibri" pitchFamily="34" charset="0"/>
                <a:ea typeface="Calibri" pitchFamily="34" charset="-122"/>
                <a:cs typeface="Calibri" pitchFamily="34" charset="-120"/>
              </a:rPr>
              <a:t>Pruebas de Software · VII Semestre · Universitaria de Colombia</a:t>
            </a:r>
            <a:endParaRPr lang="en-US" sz="900" dirty="0"/>
          </a:p>
        </p:txBody>
      </p:sp>
      <p:sp>
        <p:nvSpPr>
          <p:cNvPr id="8" name="Text 6"/>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900" b="1" dirty="0">
                <a:solidFill>
                  <a:srgbClr val="065A8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19 - Camino de mínimo costo y asignación de recursos</dc:title>
  <dc:subject>PptxGenJS Presentation</dc:subject>
  <dc:creator>Mg. Sergio Alejandro Burbano Mena</dc:creator>
  <cp:lastModifiedBy>Mg. Sergio Alejandro Burbano Mena</cp:lastModifiedBy>
  <cp:revision>1</cp:revision>
  <dcterms:created xsi:type="dcterms:W3CDTF">2026-04-27T19:05:46Z</dcterms:created>
  <dcterms:modified xsi:type="dcterms:W3CDTF">2026-04-27T19:05:46Z</dcterms:modified>
</cp:coreProperties>
</file>