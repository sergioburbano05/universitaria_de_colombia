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81800" cy="9296400"/>
  <p:embeddedFontLst>
    <p:embeddedFont>
      <p:font typeface="Garamond"/>
      <p:regular r:id="rId22"/>
      <p:bold r:id="rId23"/>
      <p:italic r:id="rId24"/>
      <p:boldItalic r:id="rId25"/>
    </p:embeddedFont>
    <p:embeddedFont>
      <p:font typeface="Helvetica Neue"/>
      <p:regular r:id="rId26"/>
      <p:bold r:id="rId27"/>
      <p:italic r:id="rId28"/>
      <p:boldItalic r:id="rId29"/>
    </p:embeddedFont>
    <p:embeddedFont>
      <p:font typeface="Gill Sans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cIebr0Oc8Le5dc0NqpJ1MYd9+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79" orient="horz"/>
        <p:guide pos="52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aramond-regular.fntdata"/><Relationship Id="rId21" Type="http://schemas.openxmlformats.org/officeDocument/2006/relationships/slide" Target="slides/slide16.xml"/><Relationship Id="rId24" Type="http://schemas.openxmlformats.org/officeDocument/2006/relationships/font" Target="fonts/Garamond-italic.fntdata"/><Relationship Id="rId23" Type="http://schemas.openxmlformats.org/officeDocument/2006/relationships/font" Target="fonts/Garamon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font" Target="fonts/Garamond-boldItalic.fntdata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illSans-bold.fntdata"/><Relationship Id="rId30" Type="http://schemas.openxmlformats.org/officeDocument/2006/relationships/font" Target="fonts/GillSans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829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98900" y="0"/>
            <a:ext cx="29829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31263"/>
            <a:ext cx="2982913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Módulo: &lt;modulo&gt; Autor: &lt;Autor&gt; . No.</a:t>
            </a: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24" name="Google Shape;24;p18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" name="Google Shape;25;p18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" name="Google Shape;26;p18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" name="Google Shape;27;p18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39" name="Google Shape;39;p2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ookman Old Style"/>
              <a:buNone/>
              <a:defRPr b="0"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46" name="Google Shape;46;p21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7" name="Google Shape;47;p21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53" name="Google Shape;53;p22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62" name="Google Shape;62;p23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68" name="Google Shape;68;p24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24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76" name="Google Shape;76;p25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25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2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9" name="Google Shape;79;p25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ookman Old Style"/>
              <a:buNone/>
              <a:defRPr b="0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rgbClr val="BABABA"/>
          </a:solidFill>
          <a:ln>
            <a:noFill/>
          </a:ln>
        </p:spPr>
      </p:sp>
      <p:sp>
        <p:nvSpPr>
          <p:cNvPr id="83" name="Google Shape;83;p26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indent="-276860" lvl="2" marL="137160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indent="-268605" lvl="3" marL="1828800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87" name="Google Shape;87;p26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2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9" name="Google Shape;89;p26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9" name="Google Shape;99;p2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102" name="Google Shape;102;p2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2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04" name="Google Shape;104;p28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/>
          </a:p>
        </p:txBody>
      </p:sp>
      <p:cxnSp>
        <p:nvCxnSpPr>
          <p:cNvPr id="15" name="Google Shape;15;p1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17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1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073893" y="3763927"/>
            <a:ext cx="7088372" cy="1112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None/>
            </a:pPr>
            <a:r>
              <a:rPr lang="es-CO" sz="2800"/>
              <a:t>Base de Datos</a:t>
            </a:r>
            <a:br>
              <a:rPr lang="es-CO" sz="2800"/>
            </a:br>
            <a:r>
              <a:rPr lang="es-CO" sz="2800"/>
              <a:t>Modelo Lógico desde Modelo Comceptual</a:t>
            </a:r>
            <a:endParaRPr sz="2800"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s-CO"/>
              <a:t>Ing. Julio Ernesto Carreño Vargas Msc.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Modelo Lógico</a:t>
            </a:r>
            <a:endParaRPr/>
          </a:p>
        </p:txBody>
      </p:sp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Una vez se cuenta con el modelo conceptual se selecciona el modelo lógico en el cual se quiere representar dicho modelo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lang="es-CO"/>
              <a:t>El modelo lógico puede ser obtenido automáticamente desde el modelo conceptual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Modelo Relacional</a:t>
            </a:r>
            <a:endParaRPr/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El modelo relacional  se estructura en tablas (relaciones)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lang="es-CO"/>
              <a:t>Una tabla es la representación de una entidad del modelo conceptual</a:t>
            </a:r>
            <a:endParaRPr/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pic>
        <p:nvPicPr>
          <p:cNvPr descr="2"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7561" y="2777830"/>
            <a:ext cx="4500562" cy="338116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849629" y="2783071"/>
            <a:ext cx="1640706" cy="369332"/>
          </a:xfrm>
          <a:prstGeom prst="rect">
            <a:avLst/>
          </a:prstGeom>
          <a:gradFill>
            <a:gsLst>
              <a:gs pos="0">
                <a:srgbClr val="F8FEC0"/>
              </a:gs>
              <a:gs pos="30000">
                <a:srgbClr val="F7FFA5"/>
              </a:gs>
              <a:gs pos="45000">
                <a:srgbClr val="F8FF9B"/>
              </a:gs>
              <a:gs pos="55000">
                <a:srgbClr val="F8FF9B"/>
              </a:gs>
              <a:gs pos="73000">
                <a:srgbClr val="F7FFA5"/>
              </a:gs>
              <a:gs pos="100000">
                <a:srgbClr val="F8FEC0"/>
              </a:gs>
            </a:gsLst>
            <a:lin ang="95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Tabla Instructor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" id="131" name="Google Shape;131;p4"/>
          <p:cNvPicPr preferRelativeResize="0"/>
          <p:nvPr/>
        </p:nvPicPr>
        <p:blipFill rotWithShape="1">
          <a:blip r:embed="rId3">
            <a:alphaModFix/>
          </a:blip>
          <a:srcRect b="52597" l="0" r="0" t="0"/>
          <a:stretch/>
        </p:blipFill>
        <p:spPr>
          <a:xfrm>
            <a:off x="2027829" y="2065447"/>
            <a:ext cx="4500562" cy="1602786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132" name="Google Shape;132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Tabla</a:t>
            </a:r>
            <a:endParaRPr/>
          </a:p>
        </p:txBody>
      </p:sp>
      <p:sp>
        <p:nvSpPr>
          <p:cNvPr id="133" name="Google Shape;133;p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Una tabla está compuesta de filas y columnas</a:t>
            </a:r>
            <a:endParaRPr/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4">
            <a:alphaModFix/>
          </a:blip>
          <a:srcRect b="0" l="0" r="2263" t="0"/>
          <a:stretch/>
        </p:blipFill>
        <p:spPr>
          <a:xfrm>
            <a:off x="2678629" y="4237075"/>
            <a:ext cx="3105483" cy="168526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7068362" y="1397293"/>
            <a:ext cx="1058303" cy="369332"/>
          </a:xfrm>
          <a:prstGeom prst="rect">
            <a:avLst/>
          </a:prstGeom>
          <a:gradFill>
            <a:gsLst>
              <a:gs pos="0">
                <a:srgbClr val="F8FEC0"/>
              </a:gs>
              <a:gs pos="30000">
                <a:srgbClr val="F7FFA5"/>
              </a:gs>
              <a:gs pos="45000">
                <a:srgbClr val="F8FF9B"/>
              </a:gs>
              <a:gs pos="55000">
                <a:srgbClr val="F8FF9B"/>
              </a:gs>
              <a:gs pos="73000">
                <a:srgbClr val="F7FFA5"/>
              </a:gs>
              <a:gs pos="100000">
                <a:srgbClr val="F8FEC0"/>
              </a:gs>
            </a:gsLst>
            <a:lin ang="95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columnas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36" name="Google Shape;136;p4"/>
          <p:cNvCxnSpPr/>
          <p:nvPr/>
        </p:nvCxnSpPr>
        <p:spPr>
          <a:xfrm flipH="1">
            <a:off x="3068377" y="1602081"/>
            <a:ext cx="3889375" cy="377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4"/>
          <p:cNvCxnSpPr/>
          <p:nvPr/>
        </p:nvCxnSpPr>
        <p:spPr>
          <a:xfrm flipH="1">
            <a:off x="4438390" y="1656056"/>
            <a:ext cx="2557462" cy="3238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4"/>
          <p:cNvCxnSpPr/>
          <p:nvPr/>
        </p:nvCxnSpPr>
        <p:spPr>
          <a:xfrm flipH="1">
            <a:off x="5649652" y="1629068"/>
            <a:ext cx="1320800" cy="3603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4"/>
          <p:cNvSpPr txBox="1"/>
          <p:nvPr/>
        </p:nvSpPr>
        <p:spPr>
          <a:xfrm>
            <a:off x="6934417" y="2586331"/>
            <a:ext cx="853119" cy="646331"/>
          </a:xfrm>
          <a:prstGeom prst="rect">
            <a:avLst/>
          </a:prstGeom>
          <a:gradFill>
            <a:gsLst>
              <a:gs pos="0">
                <a:srgbClr val="F8FEC0"/>
              </a:gs>
              <a:gs pos="30000">
                <a:srgbClr val="F7FFA5"/>
              </a:gs>
              <a:gs pos="45000">
                <a:srgbClr val="F8FF9B"/>
              </a:gs>
              <a:gs pos="55000">
                <a:srgbClr val="F8FF9B"/>
              </a:gs>
              <a:gs pos="73000">
                <a:srgbClr val="F7FFA5"/>
              </a:gs>
              <a:gs pos="100000">
                <a:srgbClr val="F8FEC0"/>
              </a:gs>
            </a:gsLst>
            <a:lin ang="95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tuplas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(ó filas)</a:t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 rot="10800000">
            <a:off x="6571990" y="2551406"/>
            <a:ext cx="369887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4"/>
          <p:cNvCxnSpPr/>
          <p:nvPr/>
        </p:nvCxnSpPr>
        <p:spPr>
          <a:xfrm flipH="1">
            <a:off x="6559290" y="2770481"/>
            <a:ext cx="369887" cy="111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4"/>
          <p:cNvCxnSpPr/>
          <p:nvPr/>
        </p:nvCxnSpPr>
        <p:spPr>
          <a:xfrm flipH="1">
            <a:off x="6548177" y="2781593"/>
            <a:ext cx="392113" cy="3127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4"/>
          <p:cNvCxnSpPr/>
          <p:nvPr/>
        </p:nvCxnSpPr>
        <p:spPr>
          <a:xfrm flipH="1">
            <a:off x="6559290" y="2791118"/>
            <a:ext cx="381000" cy="5556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4"/>
          <p:cNvSpPr txBox="1"/>
          <p:nvPr/>
        </p:nvSpPr>
        <p:spPr>
          <a:xfrm>
            <a:off x="201041" y="2049423"/>
            <a:ext cx="1640706" cy="369332"/>
          </a:xfrm>
          <a:prstGeom prst="rect">
            <a:avLst/>
          </a:prstGeom>
          <a:gradFill>
            <a:gsLst>
              <a:gs pos="0">
                <a:srgbClr val="F8FEC0"/>
              </a:gs>
              <a:gs pos="30000">
                <a:srgbClr val="F7FFA5"/>
              </a:gs>
              <a:gs pos="45000">
                <a:srgbClr val="F8FF9B"/>
              </a:gs>
              <a:gs pos="55000">
                <a:srgbClr val="F8FF9B"/>
              </a:gs>
              <a:gs pos="73000">
                <a:srgbClr val="F7FFA5"/>
              </a:gs>
              <a:gs pos="100000">
                <a:srgbClr val="F8FEC0"/>
              </a:gs>
            </a:gsLst>
            <a:lin ang="95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Tabla Instructor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6057499" y="4657944"/>
            <a:ext cx="1864614" cy="369332"/>
          </a:xfrm>
          <a:prstGeom prst="rect">
            <a:avLst/>
          </a:prstGeom>
          <a:gradFill>
            <a:gsLst>
              <a:gs pos="0">
                <a:srgbClr val="F8FEC0"/>
              </a:gs>
              <a:gs pos="30000">
                <a:srgbClr val="F7FFA5"/>
              </a:gs>
              <a:gs pos="45000">
                <a:srgbClr val="F8FF9B"/>
              </a:gs>
              <a:gs pos="55000">
                <a:srgbClr val="F8FF9B"/>
              </a:gs>
              <a:gs pos="73000">
                <a:srgbClr val="F7FFA5"/>
              </a:gs>
              <a:gs pos="100000">
                <a:srgbClr val="F8FEC0"/>
              </a:gs>
            </a:gsLst>
            <a:lin ang="950000" scaled="0"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Diagrama de tabla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/>
          <p:nvPr>
            <p:ph type="title"/>
          </p:nvPr>
        </p:nvSpPr>
        <p:spPr>
          <a:xfrm>
            <a:off x="457200" y="134938"/>
            <a:ext cx="8229600" cy="907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Una Base de Datos Relacional</a:t>
            </a:r>
            <a:endParaRPr/>
          </a:p>
        </p:txBody>
      </p:sp>
      <p:pic>
        <p:nvPicPr>
          <p:cNvPr id="151" name="Google Shape;151;p5"/>
          <p:cNvPicPr preferRelativeResize="0"/>
          <p:nvPr/>
        </p:nvPicPr>
        <p:blipFill rotWithShape="1">
          <a:blip r:embed="rId3">
            <a:alphaModFix/>
          </a:blip>
          <a:srcRect b="1329" l="20081" r="20081" t="787"/>
          <a:stretch/>
        </p:blipFill>
        <p:spPr>
          <a:xfrm>
            <a:off x="1935347" y="1343729"/>
            <a:ext cx="4146476" cy="5086814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52" name="Google Shape;152;p5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988981" y="2567763"/>
            <a:ext cx="2973572" cy="2270051"/>
          </a:xfrm>
          <a:custGeom>
            <a:rect b="b" l="l" r="r" t="t"/>
            <a:pathLst>
              <a:path extrusionOk="0" h="2491562" w="2973572">
                <a:moveTo>
                  <a:pt x="30126" y="409353"/>
                </a:moveTo>
                <a:cubicBezTo>
                  <a:pt x="15063" y="331381"/>
                  <a:pt x="0" y="253409"/>
                  <a:pt x="476693" y="239232"/>
                </a:cubicBezTo>
                <a:cubicBezTo>
                  <a:pt x="953386" y="225055"/>
                  <a:pt x="2806996" y="0"/>
                  <a:pt x="2890284" y="324293"/>
                </a:cubicBezTo>
                <a:cubicBezTo>
                  <a:pt x="2973572" y="648586"/>
                  <a:pt x="1295400" y="1878418"/>
                  <a:pt x="976424" y="2184990"/>
                </a:cubicBezTo>
                <a:cubicBezTo>
                  <a:pt x="657448" y="2491562"/>
                  <a:pt x="816936" y="2327643"/>
                  <a:pt x="976424" y="2163725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37707" y="1435395"/>
            <a:ext cx="2635102" cy="3338624"/>
          </a:xfrm>
          <a:custGeom>
            <a:rect b="b" l="l" r="r" t="t"/>
            <a:pathLst>
              <a:path extrusionOk="0" h="3338624" w="2635102">
                <a:moveTo>
                  <a:pt x="1561214" y="0"/>
                </a:moveTo>
                <a:cubicBezTo>
                  <a:pt x="780607" y="301256"/>
                  <a:pt x="0" y="602512"/>
                  <a:pt x="178981" y="1158949"/>
                </a:cubicBezTo>
                <a:cubicBezTo>
                  <a:pt x="357962" y="1715386"/>
                  <a:pt x="1496532" y="2527005"/>
                  <a:pt x="2635102" y="3338624"/>
                </a:cubicBezTo>
              </a:path>
            </a:pathLst>
          </a:cu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Columna</a:t>
            </a:r>
            <a:endParaRPr/>
          </a:p>
        </p:txBody>
      </p:sp>
      <p:sp>
        <p:nvSpPr>
          <p:cNvPr id="160" name="Google Shape;160;p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Atributo de una tabla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lang="es-CO"/>
              <a:t>Similar al atributo de una entidad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La columna tiene un tipo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El conjunto de valores permitidos sobre las columnas se llama “dominio”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Existe un valor especial “null”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pic>
        <p:nvPicPr>
          <p:cNvPr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2263" t="0"/>
          <a:stretch/>
        </p:blipFill>
        <p:spPr>
          <a:xfrm>
            <a:off x="3401644" y="4194543"/>
            <a:ext cx="3105483" cy="1685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2263" t="0"/>
          <a:stretch/>
        </p:blipFill>
        <p:spPr>
          <a:xfrm>
            <a:off x="1136908" y="2142459"/>
            <a:ext cx="3105483" cy="168526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Llave Primaria</a:t>
            </a:r>
            <a:endParaRPr/>
          </a:p>
        </p:txBody>
      </p:sp>
      <p:sp>
        <p:nvSpPr>
          <p:cNvPr id="169" name="Google Shape;169;p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Corresponde al identificador único de una entidad</a:t>
            </a:r>
            <a:endParaRPr/>
          </a:p>
        </p:txBody>
      </p:sp>
      <p:sp>
        <p:nvSpPr>
          <p:cNvPr id="170" name="Google Shape;170;p7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4941578" y="2664317"/>
            <a:ext cx="2082189" cy="707886"/>
          </a:xfrm>
          <a:prstGeom prst="rect">
            <a:avLst/>
          </a:prstGeom>
          <a:gradFill>
            <a:gsLst>
              <a:gs pos="0">
                <a:srgbClr val="D2E2F2"/>
              </a:gs>
              <a:gs pos="30000">
                <a:srgbClr val="BFD7ED"/>
              </a:gs>
              <a:gs pos="45000">
                <a:srgbClr val="B9D3ED"/>
              </a:gs>
              <a:gs pos="55000">
                <a:srgbClr val="B9D3ED"/>
              </a:gs>
              <a:gs pos="73000">
                <a:srgbClr val="BFD7ED"/>
              </a:gs>
              <a:gs pos="100000">
                <a:srgbClr val="D2E2F2"/>
              </a:gs>
            </a:gsLst>
            <a:lin ang="95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P: Llave Primaria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*: No nulo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Llaves Foráneas</a:t>
            </a:r>
            <a:endParaRPr/>
          </a:p>
        </p:txBody>
      </p:sp>
      <p:sp>
        <p:nvSpPr>
          <p:cNvPr id="177" name="Google Shape;177;p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Las llaves foráneas corresponden a las relaciones entre las tablas.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Una llave foránea es una llave en una tabla que es primaria ó única en otra tabla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3229737" y="5481945"/>
            <a:ext cx="2082189" cy="707886"/>
          </a:xfrm>
          <a:prstGeom prst="rect">
            <a:avLst/>
          </a:prstGeom>
          <a:gradFill>
            <a:gsLst>
              <a:gs pos="0">
                <a:srgbClr val="D2E2F2"/>
              </a:gs>
              <a:gs pos="30000">
                <a:srgbClr val="BFD7ED"/>
              </a:gs>
              <a:gs pos="45000">
                <a:srgbClr val="B9D3ED"/>
              </a:gs>
              <a:gs pos="55000">
                <a:srgbClr val="B9D3ED"/>
              </a:gs>
              <a:gs pos="73000">
                <a:srgbClr val="BFD7ED"/>
              </a:gs>
              <a:gs pos="100000">
                <a:srgbClr val="D2E2F2"/>
              </a:gs>
            </a:gsLst>
            <a:lin ang="950000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P: Llave Primaria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F: Llave Foránea</a:t>
            </a:r>
            <a:endParaRPr/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25" y="3214574"/>
            <a:ext cx="7550112" cy="2057451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180" name="Google Shape;180;p8"/>
          <p:cNvSpPr txBox="1"/>
          <p:nvPr/>
        </p:nvSpPr>
        <p:spPr>
          <a:xfrm>
            <a:off x="3891517" y="3710766"/>
            <a:ext cx="244548" cy="379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181" name="Google Shape;181;p8"/>
          <p:cNvSpPr txBox="1"/>
          <p:nvPr/>
        </p:nvSpPr>
        <p:spPr>
          <a:xfrm>
            <a:off x="4873258" y="3671775"/>
            <a:ext cx="244548" cy="379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</a:t>
            </a:r>
            <a:endParaRPr/>
          </a:p>
        </p:txBody>
      </p:sp>
      <p:sp>
        <p:nvSpPr>
          <p:cNvPr id="182" name="Google Shape;182;p8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Llaves Foráneas</a:t>
            </a:r>
            <a:endParaRPr/>
          </a:p>
        </p:txBody>
      </p:sp>
      <p:sp>
        <p:nvSpPr>
          <p:cNvPr id="188" name="Google Shape;188;p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Cuando se establece una relación entre tablas migran columnas de una tabla a otra de la siguiente manera: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b="1" lang="es-CO"/>
              <a:t>Si la relación es fuerte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s-CO"/>
              <a:t>La llave primaria del lado uno de la relación migra hacia el lado muchos como llave foránea</a:t>
            </a:r>
            <a:endParaRPr/>
          </a:p>
        </p:txBody>
      </p:sp>
      <p:pic>
        <p:nvPicPr>
          <p:cNvPr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454" y="3510850"/>
            <a:ext cx="7464462" cy="1805429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cxnSp>
        <p:nvCxnSpPr>
          <p:cNvPr id="190" name="Google Shape;190;p9"/>
          <p:cNvCxnSpPr/>
          <p:nvPr/>
        </p:nvCxnSpPr>
        <p:spPr>
          <a:xfrm>
            <a:off x="2052084" y="3965944"/>
            <a:ext cx="3413051" cy="72301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</p:cxnSp>
      <p:sp>
        <p:nvSpPr>
          <p:cNvPr id="191" name="Google Shape;191;p9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698" y="3735247"/>
            <a:ext cx="6821324" cy="1517243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197" name="Google Shape;197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Llaves Foráneas</a:t>
            </a:r>
            <a:endParaRPr/>
          </a:p>
        </p:txBody>
      </p:sp>
      <p:sp>
        <p:nvSpPr>
          <p:cNvPr id="198" name="Google Shape;198;p1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Cuando se establece una relación entre tablas migran columnas de una tabla a otra de la siguiente manera: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b="1" lang="es-CO"/>
              <a:t>Si la relación es débil</a:t>
            </a:r>
            <a:endParaRPr/>
          </a:p>
          <a:p>
            <a:pPr indent="-228600" lvl="2" marL="822960" rtl="0" algn="l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s-CO"/>
              <a:t>La llave primaria del lado uno de la relación migra hacia el lado muchos como llave foránea pero también como parte de la llave PRIMARIA</a:t>
            </a:r>
            <a:endParaRPr/>
          </a:p>
        </p:txBody>
      </p:sp>
      <p:cxnSp>
        <p:nvCxnSpPr>
          <p:cNvPr id="199" name="Google Shape;199;p10"/>
          <p:cNvCxnSpPr/>
          <p:nvPr/>
        </p:nvCxnSpPr>
        <p:spPr>
          <a:xfrm>
            <a:off x="2052084" y="4125439"/>
            <a:ext cx="2562446" cy="42530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</p:cxnSp>
      <p:sp>
        <p:nvSpPr>
          <p:cNvPr id="200" name="Google Shape;200;p10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Llaves Foráneas</a:t>
            </a:r>
            <a:endParaRPr/>
          </a:p>
        </p:txBody>
      </p:sp>
      <p:sp>
        <p:nvSpPr>
          <p:cNvPr id="206" name="Google Shape;206;p1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Tablas Photo y Member, cada una tiene su PK (ID)</a:t>
            </a:r>
            <a:endParaRPr/>
          </a:p>
        </p:txBody>
      </p:sp>
      <p:pic>
        <p:nvPicPr>
          <p:cNvPr id="207" name="Google Shape;2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968" y="1894436"/>
            <a:ext cx="5638800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454" y="4543338"/>
            <a:ext cx="7277100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Llaves Foráneas</a:t>
            </a:r>
            <a:endParaRPr/>
          </a:p>
        </p:txBody>
      </p:sp>
      <p:sp>
        <p:nvSpPr>
          <p:cNvPr id="214" name="Google Shape;214;p1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Tablas Photo y Member, cada una tiene su PK (ID)</a:t>
            </a:r>
            <a:endParaRPr/>
          </a:p>
        </p:txBody>
      </p:sp>
      <p:pic>
        <p:nvPicPr>
          <p:cNvPr id="215" name="Google Shape;2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647" y="2263660"/>
            <a:ext cx="2600325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477" y="2263660"/>
            <a:ext cx="4333875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Llaves Foráneas</a:t>
            </a:r>
            <a:endParaRPr/>
          </a:p>
        </p:txBody>
      </p:sp>
      <p:sp>
        <p:nvSpPr>
          <p:cNvPr id="222" name="Google Shape;222;p1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Llave primaria de Member migra hacia Photo como MemberID </a:t>
            </a:r>
            <a:endParaRPr/>
          </a:p>
        </p:txBody>
      </p:sp>
      <p:pic>
        <p:nvPicPr>
          <p:cNvPr id="223" name="Google Shape;2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595" y="2209973"/>
            <a:ext cx="697230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Llaves Foráneas</a:t>
            </a:r>
            <a:endParaRPr/>
          </a:p>
        </p:txBody>
      </p:sp>
      <p:sp>
        <p:nvSpPr>
          <p:cNvPr id="229" name="Google Shape;229;p1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Llave primaria de Member migra hacia Photo como MemberID </a:t>
            </a:r>
            <a:endParaRPr/>
          </a:p>
        </p:txBody>
      </p:sp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570" y="2270153"/>
            <a:ext cx="6943725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4"/>
          <p:cNvSpPr txBox="1"/>
          <p:nvPr/>
        </p:nvSpPr>
        <p:spPr>
          <a:xfrm>
            <a:off x="3599411" y="4027514"/>
            <a:ext cx="2934393" cy="923330"/>
          </a:xfrm>
          <a:prstGeom prst="rect">
            <a:avLst/>
          </a:prstGeom>
          <a:gradFill>
            <a:gsLst>
              <a:gs pos="0">
                <a:srgbClr val="A7B231"/>
              </a:gs>
              <a:gs pos="48000">
                <a:srgbClr val="D3DA7D"/>
              </a:gs>
              <a:gs pos="100000">
                <a:srgbClr val="E4E8AE"/>
              </a:gs>
            </a:gsLst>
            <a:lin ang="162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El miembro de id 1 tiene asociadas varias foros en la tabla Photo</a:t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Relaciones muchos a muchos</a:t>
            </a:r>
            <a:endParaRPr/>
          </a:p>
        </p:txBody>
      </p:sp>
      <p:sp>
        <p:nvSpPr>
          <p:cNvPr id="237" name="Google Shape;237;p1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Las relaciones muchos a muchos se representan mediante una tabla “puente” que tiene las llaves de las tablas que participan en la relación.</a:t>
            </a:r>
            <a:endParaRPr/>
          </a:p>
        </p:txBody>
      </p:sp>
      <p:pic>
        <p:nvPicPr>
          <p:cNvPr id="238" name="Google Shape;2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1609" y="2747851"/>
            <a:ext cx="5610384" cy="318511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CO"/>
              <a:t>Bibliografía</a:t>
            </a:r>
            <a:endParaRPr/>
          </a:p>
        </p:txBody>
      </p:sp>
      <p:sp>
        <p:nvSpPr>
          <p:cNvPr id="245" name="Google Shape;245;p1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Modern Database Management.10th Edition.Jeffrey A. Hoffer, V. Ramesh, Heikki Topi.2021 Pearson Education, Inc.  Publishing as Prentice Hall.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Database System Concepts.Avi Silberschatz , Henry F. Korth , S. Sudarshan.McGraw-Hill.  2019.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s-CO"/>
              <a:t>Sistemas de Bases de Datos. Thomas M. Conolly, Carolyn E. Begg. Addison Wesley. 4 edición. 2018 </a:t>
            </a:r>
            <a:endParaRPr/>
          </a:p>
        </p:txBody>
      </p:sp>
      <p:sp>
        <p:nvSpPr>
          <p:cNvPr id="246" name="Google Shape;246;p16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igen">
  <a:themeElements>
    <a:clrScheme name="Orige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1999-11-04T20:50:09Z</dcterms:created>
  <dc:creator>Julio Carreño</dc:creator>
</cp:coreProperties>
</file>