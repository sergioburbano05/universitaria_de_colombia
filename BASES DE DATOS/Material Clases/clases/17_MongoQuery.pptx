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xwVD4BmqN4H/IhqGXagXhOY1l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cs.mongodb.com/manual/tutorial/insert-documents/" TargetMode="External"/><Relationship Id="rId4" Type="http://schemas.openxmlformats.org/officeDocument/2006/relationships/hyperlink" Target="https://www.mycompiler.io/es/online-mongodb-editor" TargetMode="External"/><Relationship Id="rId5" Type="http://schemas.openxmlformats.org/officeDocument/2006/relationships/hyperlink" Target="https://mongoplayground.net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ocs.mongodb.com/stitch/tutorials/guides/blog-web/" TargetMode="External"/><Relationship Id="rId4" Type="http://schemas.openxmlformats.org/officeDocument/2006/relationships/hyperlink" Target="https://docs.mongodb.com/stitch/tutorials/guides/blog-web/" TargetMode="External"/><Relationship Id="rId5" Type="http://schemas.openxmlformats.org/officeDocument/2006/relationships/hyperlink" Target="https://docs.mongodb.com/stitch/tutorials/guides/blog-web/" TargetMode="External"/><Relationship Id="rId6" Type="http://schemas.openxmlformats.org/officeDocument/2006/relationships/hyperlink" Target="https://stitch.mongodb.com/groups/5cd5d6f1c56c98c292c16d24/apps/5cd7a78fbd1443956361beeb/clusters/5cd7a7918e232ac4f9f1e64d/rules/5cd7aa92bd14439563620895" TargetMode="External"/><Relationship Id="rId7" Type="http://schemas.openxmlformats.org/officeDocument/2006/relationships/hyperlink" Target="https://www.guru99.com/mongodb-query-document-using-find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O"/>
              <a:t>Mongo DB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/>
              <a:t>Consultas  y Manipulación de 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Crear una base de datos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s-CO"/>
              <a:t>use</a:t>
            </a:r>
            <a:r>
              <a:rPr lang="es-CO"/>
              <a:t> Users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Si no existe se crea una nueva base de datos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Si existe se cambia a dicha base de datos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Queda apuntada con un alias </a:t>
            </a:r>
            <a:r>
              <a:rPr b="1" i="1" lang="es-CO"/>
              <a:t>db</a:t>
            </a:r>
            <a:endParaRPr b="1"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Al ejecutar db: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Users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1988" y="2593253"/>
            <a:ext cx="2495468" cy="1671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Crear colección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db.&lt;nombre colección&gt;.&lt;operación&gt;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Si la colección no existe se crea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db.createCollection("results")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Operaciones MongoDB</a:t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838200" y="1546492"/>
            <a:ext cx="10033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Las consultas y sentencias de manipulación de colecciones se escriben usando lenguaje json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18160"/>
          <a:stretch/>
        </p:blipFill>
        <p:spPr>
          <a:xfrm>
            <a:off x="2022764" y="2669309"/>
            <a:ext cx="7970982" cy="350953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Agregar un documento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db.estudiantes.insertOne({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   "nombre":"Pedro",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   "apellido":"Perez",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   "promedio":43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})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db-&gt; manejador de la base de datos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estudiantes -&gt; colección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Agregar varios documento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https://www.mycompiler.io/new/mongodb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db.inventory.insertMany([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item: "journal", qty: 25, size: { h: 14, w: 21, uom: "cm" }, status: "A"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item: "notebook", qty: 50, size: { h: 8.5, w: 11, uom: "in" }, status: "A"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item: "paper", qty: 100, size: { h: 8.5, w: 11, uom: "in" }, status: "D"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item: "planner", qty: 75, size: { h: 22.85, w: 30, uom: "cm" }, status: "D"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item: "postcard", qty: 45, size: { h: 10, w: 15.25, uom: "cm" }, status: "A"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]);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Query</a:t>
            </a:r>
            <a:endParaRPr b="1"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838200" y="1546492"/>
            <a:ext cx="10033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inician y terminan con { 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Use operador </a:t>
            </a:r>
            <a:r>
              <a:rPr b="1" lang="es-CO"/>
              <a:t>find</a:t>
            </a:r>
            <a:r>
              <a:rPr lang="es-CO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Criterios: { &lt;field1&gt;: &lt;value1&gt;, ...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5700" y="3722161"/>
            <a:ext cx="6858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Consultar todos los documentos</a:t>
            </a:r>
            <a:endParaRPr/>
          </a:p>
        </p:txBody>
      </p:sp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db.inventory.find( {}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Proyección (algunas columnas)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db.inventory.find(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{status : "A"},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{item : 1, _id : 0}   //boolean 1 o 0 para seleccionar o no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Query con predicados</a:t>
            </a:r>
            <a:endParaRPr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838200" y="1620383"/>
            <a:ext cx="1038398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Items con estado ‘D’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db.inventory.find( { status: "D" } 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Libros con rating &gt; 0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CO"/>
              <a:t>db.inventory.find({qty: {$gt: 50}})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s-CO" u="sng"/>
              <a:t>gt</a:t>
            </a:r>
            <a:r>
              <a:rPr lang="es-CO"/>
              <a:t> es greather than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Query Like</a:t>
            </a:r>
            <a:endParaRPr b="1"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Los siguientes son ejemplos similares a LIKE de SQL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like ‘%l%’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{EmployeeName:/l/}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like 'pa%’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{name: /^pa/}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like '%ro'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{name: /ro$/}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CO"/>
              <a:t>db.inventory.find({item:/p/})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Query IN</a:t>
            </a:r>
            <a:endParaRPr/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db.inventory.find( { status: { $in: [ "A", "D" ] } } 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Query AND</a:t>
            </a:r>
            <a:endParaRPr/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db.inventory.find({  status: "A",  qty: {    $lt: 30  }})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{ status: {$ne: null}</a:t>
            </a:r>
            <a:r>
              <a:rPr lang="es-CO">
                <a:solidFill>
                  <a:srgbClr val="FF0000"/>
                </a:solidFill>
              </a:rPr>
              <a:t>,</a:t>
            </a:r>
            <a:r>
              <a:rPr lang="es-CO"/>
              <a:t> qty: { $lt: 30 } }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400"/>
              <a:buChar char="•"/>
            </a:pPr>
            <a:r>
              <a:rPr lang="es-CO">
                <a:solidFill>
                  <a:srgbClr val="00B050"/>
                </a:solidFill>
              </a:rPr>
              <a:t>‘ne’: es not equal</a:t>
            </a:r>
            <a:endParaRPr>
              <a:solidFill>
                <a:srgbClr val="00B050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400"/>
              <a:buNone/>
            </a:pPr>
            <a:r>
              <a:t/>
            </a:r>
            <a:endParaRPr>
              <a:solidFill>
                <a:srgbClr val="00B050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400"/>
              <a:buNone/>
            </a:pPr>
            <a:r>
              <a:t/>
            </a:r>
            <a:endParaRPr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Query OR</a:t>
            </a:r>
            <a:endParaRPr/>
          </a:p>
        </p:txBody>
      </p:sp>
      <p:sp>
        <p:nvSpPr>
          <p:cNvPr id="160" name="Google Shape;160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db.inventory.find({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"$or":[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   "status":"A"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   "qty":{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      "$lt":30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})</a:t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-6001275" y="-910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/>
              <a:t>Datos anidados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6188364" y="1974268"/>
            <a:ext cx="2530763" cy="923330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este caso se anida una colección de ‘score’ utilizando el tipo ‘Array’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1865" y="2025329"/>
            <a:ext cx="3456998" cy="3406531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Datos anidados consultas</a:t>
            </a:r>
            <a:endParaRPr/>
          </a:p>
        </p:txBody>
      </p:sp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2800"/>
              <a:buChar char="•"/>
            </a:pPr>
            <a:r>
              <a:rPr b="1" lang="es-CO">
                <a:solidFill>
                  <a:srgbClr val="92D050"/>
                </a:solidFill>
              </a:rPr>
              <a:t>Qué hacen las siguientes consultas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{"scores.score":{$lte:100}}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{ 'scores.1.score': { $lte: 20 } }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6119" y="2905369"/>
            <a:ext cx="3456998" cy="3406531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Eliminar documentos</a:t>
            </a:r>
            <a:endParaRPr/>
          </a:p>
        </p:txBody>
      </p:sp>
      <p:sp>
        <p:nvSpPr>
          <p:cNvPr id="180" name="Google Shape;18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sz="2800"/>
              <a:t>db.estudiantes.deleteOne({apellido:"Perez"})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db.estudiantes.deleteMany ( {apellido: "Perez"})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Actualizar documentos</a:t>
            </a:r>
            <a:endParaRPr/>
          </a:p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db.estudiantes.updateOne({apellido: "Perez"},{$set: {promedio: 50}})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O"/>
              <a:t>db.estudiantes.updateMany ({},{$set: {estado: "activo"}})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Ordenar documentos</a:t>
            </a:r>
            <a:endParaRPr/>
          </a:p>
        </p:txBody>
      </p:sp>
      <p:sp>
        <p:nvSpPr>
          <p:cNvPr id="192" name="Google Shape;192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ascending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db.results.find({}).</a:t>
            </a:r>
            <a:r>
              <a:rPr b="1" lang="es-CO"/>
              <a:t>sort</a:t>
            </a:r>
            <a:r>
              <a:rPr lang="es-CO"/>
              <a:t>({marks : 1})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descending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/>
              <a:t>db.results.find({}).</a:t>
            </a:r>
            <a:r>
              <a:rPr b="1" lang="es-CO"/>
              <a:t>sort</a:t>
            </a:r>
            <a:r>
              <a:rPr lang="es-CO"/>
              <a:t>({marks : -1})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Agregados</a:t>
            </a:r>
            <a:endParaRPr/>
          </a:p>
        </p:txBody>
      </p:sp>
      <p:sp>
        <p:nvSpPr>
          <p:cNvPr id="198" name="Google Shape;198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Las operaciones de agregación agrupan valores de varios documentos y pueden realizar diversas operaciones en los datos agrupados para devolver un único resultado.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Agregados</a:t>
            </a:r>
            <a:endParaRPr/>
          </a:p>
        </p:txBody>
      </p: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741948" y="1459865"/>
            <a:ext cx="10515600" cy="476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db.orders.insertMany([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cust_id: "C100", amount: 5000, status: "A"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cust_id: "C100", amount: 200, status: "A"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cust_id: "C200", amount: 500, status: "D"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cust_id: "C200", amount: 50, status: "D"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cust_id: "C500", amount: 900, status: "A"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]);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db.orders.aggregate([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$match: { status: "A" } },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{ $group: { _id: "</a:t>
            </a:r>
            <a:r>
              <a:rPr b="1" lang="es-CO"/>
              <a:t>$cust_id</a:t>
            </a:r>
            <a:r>
              <a:rPr lang="es-CO"/>
              <a:t>", total: { $</a:t>
            </a:r>
            <a:r>
              <a:rPr b="1" lang="es-CO"/>
              <a:t>sum</a:t>
            </a:r>
            <a:r>
              <a:rPr lang="es-CO"/>
              <a:t>: "</a:t>
            </a:r>
            <a:r>
              <a:rPr b="1" lang="es-CO"/>
              <a:t>$amount</a:t>
            </a:r>
            <a:r>
              <a:rPr lang="es-CO"/>
              <a:t>" } }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Agregados</a:t>
            </a:r>
            <a:endParaRPr/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606146" y="1582068"/>
            <a:ext cx="10515600" cy="4366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db.inventory.aggregate(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$group: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 _id: null,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 count: { $sum: 1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]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db.orders.aggregate(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$group: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 _id: "$cust_id",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   count: { $sum: 1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CO"/>
              <a:t>]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Querys Especiales</a:t>
            </a:r>
            <a:endParaRPr/>
          </a:p>
        </p:txBody>
      </p:sp>
      <p:sp>
        <p:nvSpPr>
          <p:cNvPr id="216" name="Google Shape;216;p22"/>
          <p:cNvSpPr txBox="1"/>
          <p:nvPr>
            <p:ph idx="1" type="body"/>
          </p:nvPr>
        </p:nvSpPr>
        <p:spPr>
          <a:xfrm>
            <a:off x="838200" y="140998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Text queries - full text search, using AND, OR, NOT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geo-spatial queries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MapReduce queries - get executed via MapReduce</a:t>
            </a:r>
            <a:endParaRPr/>
          </a:p>
        </p:txBody>
      </p:sp>
      <p:pic>
        <p:nvPicPr>
          <p:cNvPr descr="A drawing shows a schematic representation of Map Reduce. The drawing shows input data divided into multiple subsets, each of which is assigned to a map, M. The results from each of the maps are shuffled and passed on to the next component, Reduce, consisting of multiple subcomponents, R which integrate the results of all subsets to give one final result.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9252" y="3300053"/>
            <a:ext cx="5233496" cy="3022849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Recursos</a:t>
            </a:r>
            <a:endParaRPr/>
          </a:p>
        </p:txBody>
      </p:sp>
      <p:sp>
        <p:nvSpPr>
          <p:cNvPr id="223" name="Google Shape;2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/>
              <a:t>Shell para mongo db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 u="sng">
                <a:solidFill>
                  <a:schemeClr val="hlink"/>
                </a:solidFill>
                <a:hlinkClick r:id="rId3"/>
              </a:rPr>
              <a:t>https://docs.mongodb.com/manual/tutorial/insert-documents/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 u="sng">
                <a:solidFill>
                  <a:schemeClr val="hlink"/>
                </a:solidFill>
                <a:hlinkClick r:id="rId4"/>
              </a:rPr>
              <a:t>https://www.mycompiler.io/es/online-mongodb-editor</a:t>
            </a:r>
            <a:endParaRPr u="sng">
              <a:solidFill>
                <a:schemeClr val="hlink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CO" u="sng">
                <a:solidFill>
                  <a:schemeClr val="hlink"/>
                </a:solidFill>
                <a:hlinkClick r:id="rId5"/>
              </a:rPr>
              <a:t>https://mongoplayground.net/</a:t>
            </a:r>
            <a:endParaRPr u="sng">
              <a:solidFill>
                <a:schemeClr val="hlink"/>
              </a:solidFill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O"/>
              <a:t>Referencias</a:t>
            </a:r>
            <a:endParaRPr/>
          </a:p>
        </p:txBody>
      </p:sp>
      <p:sp>
        <p:nvSpPr>
          <p:cNvPr id="229" name="Google Shape;229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u="sng">
                <a:solidFill>
                  <a:schemeClr val="hlink"/>
                </a:solidFill>
                <a:hlinkClick r:id="rId3"/>
              </a:rPr>
              <a:t>https://docs.mongodb.com/manual/tutorial/query-documents/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u="sng">
                <a:solidFill>
                  <a:schemeClr val="hlink"/>
                </a:solidFill>
                <a:hlinkClick r:id="rId4"/>
              </a:rPr>
              <a:t>https://docs.mongodb.com/compass/current/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u="sng">
                <a:solidFill>
                  <a:schemeClr val="hlink"/>
                </a:solidFill>
                <a:hlinkClick r:id="rId5"/>
              </a:rPr>
              <a:t>https://docs.mongodb.com/stitch/tutorials/guides/blog-web/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u="sng">
                <a:solidFill>
                  <a:schemeClr val="hlink"/>
                </a:solidFill>
                <a:hlinkClick r:id="rId6"/>
              </a:rPr>
              <a:t>https://stitch.mongodb.com/groups/5cd5d6f1c56c98c292c16d24/apps/5cd7a78fbd1443956361beeb/clusters/5cd7a7918e232ac4f9f1e64d/rules/5cd7aa92bd14439563620895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O" u="sng">
                <a:solidFill>
                  <a:schemeClr val="hlink"/>
                </a:solidFill>
                <a:hlinkClick r:id="rId7"/>
              </a:rPr>
              <a:t>https://www.guru99.com/mongodb-query-document-using-find.html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O"/>
              <a:t>https://mongoplayground.net/</a:t>
            </a:r>
            <a:endParaRPr/>
          </a:p>
        </p:txBody>
      </p:sp>
      <p:sp>
        <p:nvSpPr>
          <p:cNvPr id="235" name="Google Shape;235;p37"/>
          <p:cNvSpPr txBox="1"/>
          <p:nvPr/>
        </p:nvSpPr>
        <p:spPr>
          <a:xfrm>
            <a:off x="633743" y="2415601"/>
            <a:ext cx="1061971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db={  "orders": [       { cust_id: "C100", amount: 5000, status: "A" },   { cust_id: "C100", amount: 200, status: "A" },   { cust_id: "C200", amount: 500, status: "D" },   { cust_id: "C200", amount: 50, status: "D" },   { cust_id: "C500", amount: 900, status: "A" }  ],  "inventory": [       { item: "journal", qty: 25, size: { h: 14, w: 21, uom: "cm" }, status: "A" },   { item: "notebook", qty: 50, size: { h: 8.5, w: 11, uom: "in" }, status: "A" },   { item: "paper", qty: 100, size: { h: 8.5, w: 11, uom: "in" }, status: "D" },   { item: "planner", qty: 75, size: { h: 22.85, w: 30, uom: "cm" }, status: "D" },   { item: "postcard", qty: 45, size: { h: 10, w: 15.25, uom: "cm" }, status: "A" }  ]}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2019-05-10T15:18:05Z</dcterms:created>
  <dc:creator>Julio Ernesto Carreno Vargas</dc:creator>
</cp:coreProperties>
</file>