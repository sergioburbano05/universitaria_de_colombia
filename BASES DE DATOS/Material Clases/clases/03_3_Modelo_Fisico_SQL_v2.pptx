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42" r:id="rId1"/>
  </p:sldMasterIdLst>
  <p:notesMasterIdLst>
    <p:notesMasterId r:id="rId13"/>
  </p:notesMasterIdLst>
  <p:handoutMasterIdLst>
    <p:handoutMasterId r:id="rId14"/>
  </p:handoutMasterIdLst>
  <p:sldIdLst>
    <p:sldId id="348" r:id="rId2"/>
    <p:sldId id="360" r:id="rId3"/>
    <p:sldId id="370" r:id="rId4"/>
    <p:sldId id="371" r:id="rId5"/>
    <p:sldId id="372" r:id="rId6"/>
    <p:sldId id="374" r:id="rId7"/>
    <p:sldId id="376" r:id="rId8"/>
    <p:sldId id="378" r:id="rId9"/>
    <p:sldId id="379" r:id="rId10"/>
    <p:sldId id="380" r:id="rId11"/>
    <p:sldId id="373" r:id="rId12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9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FFCC"/>
    <a:srgbClr val="00FFFF"/>
    <a:srgbClr val="CC33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86" autoAdjust="0"/>
    <p:restoredTop sz="94660" autoAdjust="0"/>
  </p:normalViewPr>
  <p:slideViewPr>
    <p:cSldViewPr snapToGrid="0">
      <p:cViewPr varScale="1">
        <p:scale>
          <a:sx n="115" d="100"/>
          <a:sy n="115" d="100"/>
        </p:scale>
        <p:origin x="1710" y="108"/>
      </p:cViewPr>
      <p:guideLst>
        <p:guide orient="horz" pos="679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5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890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619EDD29-622F-43A5-A6FA-4DE80D166C9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346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0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2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6013" y="696913"/>
            <a:ext cx="4649787" cy="34877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4838"/>
            <a:ext cx="5046663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546ED518-9D40-4674-9FDB-9EDD6828418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254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0C9E32-697E-489A-B64D-FE4953CC062F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4800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57A01C-1044-4195-A3E2-2CD774BF6255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7787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F20BED2-5EAE-4848-8443-B0063BF5F6F2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0533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819F5B-7A32-4D84-A65B-6246CABB1E02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106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C5AA873-0E0F-4E9D-B9D0-F99186FE665C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843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ACDF6120-F1F0-4C60-9FE9-39AC71A9C79D}" type="datetimeFigureOut">
              <a:rPr lang="en-US" smtClean="0"/>
              <a:pPr/>
              <a:t>9/5/2023</a:t>
            </a:fld>
            <a:endParaRPr lang="en-US" sz="1600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pPr>
              <a:defRPr/>
            </a:pPr>
            <a:r>
              <a:rPr lang="es-ES"/>
              <a:t>Módulo: &lt;modulo&gt; Autor: &lt;Autor&gt; . No.</a:t>
            </a:r>
            <a:fld id="{A44E33E1-B22B-49F7-B763-F53C4F8A1B9D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  <p:sp>
        <p:nvSpPr>
          <p:cNvPr id="21" name="20 Rectángulo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32 Rectángulo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Rectángulo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Rectángulo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9/5/2023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Diplomado en Desarrollo de Aplicaciones para Internet 2008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‹Nº›</a:t>
            </a:fld>
            <a:endParaRPr kumimoji="0" lang="en-US" dirty="0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ACDF6120-F1F0-4C60-9FE9-39AC71A9C79D}" type="datetimeFigureOut">
              <a:rPr lang="en-US" smtClean="0"/>
              <a:pPr/>
              <a:t>9/5/2023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‹Nº›</a:t>
            </a:fld>
            <a:endParaRPr kumimoji="0" lang="en-US" dirty="0"/>
          </a:p>
        </p:txBody>
      </p:sp>
      <p:sp>
        <p:nvSpPr>
          <p:cNvPr id="7" name="6 Rectángulo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5" name="4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CDF6120-F1F0-4C60-9FE9-39AC71A9C79D}" type="datetimeFigureOut">
              <a:rPr lang="en-US" smtClean="0"/>
              <a:pPr/>
              <a:t>9/5/2023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‹Nº›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2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Conector recto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73893" y="3763927"/>
            <a:ext cx="7088372" cy="1112874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Base de </a:t>
            </a:r>
            <a:r>
              <a:rPr lang="en-US" sz="2800" dirty="0" err="1"/>
              <a:t>Datos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err="1"/>
              <a:t>Modelo</a:t>
            </a:r>
            <a:r>
              <a:rPr lang="en-US" sz="2800" dirty="0"/>
              <a:t> </a:t>
            </a:r>
            <a:r>
              <a:rPr lang="en-US" sz="2800" dirty="0" err="1"/>
              <a:t>Físico</a:t>
            </a:r>
            <a:endParaRPr lang="en-US" sz="2800" dirty="0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/>
              <a:t>Ing. Julio Ernesto Carreño Vargas Msc.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Modelo Físico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s-CO"/>
              <a:t>Una vez se cuenta con el modelo lógico se selecciona el modelo físico en el cual se quiere representar dicho modelo</a:t>
            </a:r>
          </a:p>
          <a:p>
            <a:pPr lvl="1"/>
            <a:r>
              <a:rPr lang="es-CO"/>
              <a:t>El modelo físico puede ser obtenido automáticamente desde el modelo lógico</a:t>
            </a:r>
          </a:p>
          <a:p>
            <a:r>
              <a:rPr lang="es-CO"/>
              <a:t>El modelo relacional puede ser implementado físicamente a través de muchos RDBMS(Relational DataBase Management Systems), entre los cuales tenemos:</a:t>
            </a:r>
          </a:p>
          <a:p>
            <a:pPr lvl="1"/>
            <a:r>
              <a:rPr lang="es-CO"/>
              <a:t>Oracle</a:t>
            </a:r>
          </a:p>
          <a:p>
            <a:pPr lvl="1"/>
            <a:r>
              <a:rPr lang="es-CO"/>
              <a:t>SQL Sever</a:t>
            </a:r>
          </a:p>
          <a:p>
            <a:pPr lvl="1"/>
            <a:r>
              <a:rPr lang="es-CO"/>
              <a:t>DB-2</a:t>
            </a:r>
          </a:p>
          <a:p>
            <a:pPr lvl="1"/>
            <a:r>
              <a:rPr lang="es-CO"/>
              <a:t>MySQL</a:t>
            </a:r>
          </a:p>
          <a:p>
            <a:pPr lvl="1"/>
            <a:r>
              <a:rPr lang="es-CO"/>
              <a:t>…</a:t>
            </a:r>
          </a:p>
          <a:p>
            <a:pPr>
              <a:buNone/>
            </a:pPr>
            <a:endParaRPr lang="es-C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Modelo Físico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Los DBMS manejan lenguajes para expresar las estructuras físicas de las tabla:</a:t>
            </a:r>
          </a:p>
          <a:p>
            <a:pPr lvl="1"/>
            <a:r>
              <a:rPr lang="es-CO"/>
              <a:t>DDL: (Data Definition Language)</a:t>
            </a:r>
          </a:p>
          <a:p>
            <a:pPr lvl="2"/>
            <a:r>
              <a:rPr lang="es-CO"/>
              <a:t>Lenguaje de definición de datos</a:t>
            </a:r>
          </a:p>
          <a:p>
            <a:pPr lvl="1"/>
            <a:r>
              <a:rPr lang="es-CO"/>
              <a:t>DML: (Data Manipulation Language)</a:t>
            </a:r>
          </a:p>
          <a:p>
            <a:pPr lvl="2"/>
            <a:r>
              <a:rPr lang="es-CO"/>
              <a:t>Lenguaje de manipulación de datos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DDL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Para crear una tabla se utiliza la sentencia CREATE TABLE</a:t>
            </a:r>
          </a:p>
          <a:p>
            <a:r>
              <a:rPr lang="es-CO"/>
              <a:t>La sentencia ALTER TABLE permite modificar la estructura una vez ésta ha sido creada</a:t>
            </a:r>
          </a:p>
          <a:p>
            <a:r>
              <a:rPr lang="es-CO"/>
              <a:t>La sentencia PRIMARY KEY permite especificar la llave primaria de una tabla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39594" y="3663249"/>
            <a:ext cx="5172431" cy="22271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DDL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Las llaves foráneas se definen con la sentencia FOREIGN KEY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9797" y="2079662"/>
            <a:ext cx="4102656" cy="37363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Domain Types in SQL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55256"/>
            <a:ext cx="8004049" cy="463594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char(n).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length character string, with user-specified length </a:t>
            </a:r>
            <a:r>
              <a:rPr lang="en-US" altLang="en-US" sz="1700" i="1" dirty="0"/>
              <a:t>n.</a:t>
            </a:r>
            <a:endParaRPr lang="en-US" altLang="en-US" sz="1700" dirty="0"/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varchar(n). 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Variable length character strings, with user-specified maximum length </a:t>
            </a:r>
            <a:r>
              <a:rPr lang="en-US" altLang="en-US" sz="1700" i="1" dirty="0"/>
              <a:t>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int.</a:t>
            </a:r>
            <a:r>
              <a:rPr lang="en-US" altLang="en-US" sz="1700" b="1" dirty="0"/>
              <a:t>  </a:t>
            </a:r>
            <a:r>
              <a:rPr lang="en-US" altLang="en-US" sz="1700" dirty="0"/>
              <a:t>Integer (a finite subset of the integers that is machine-dependent).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 err="1">
                <a:solidFill>
                  <a:srgbClr val="002060"/>
                </a:solidFill>
              </a:rPr>
              <a:t>smallint</a:t>
            </a:r>
            <a:r>
              <a:rPr lang="en-US" altLang="en-US" sz="1700" b="1" dirty="0">
                <a:solidFill>
                  <a:srgbClr val="002060"/>
                </a:solidFill>
              </a:rPr>
              <a:t>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Small integer (a machine-dependent subset of the integer domain type).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numeric(</a:t>
            </a:r>
            <a:r>
              <a:rPr lang="en-US" altLang="en-US" sz="1700" b="1" dirty="0" err="1">
                <a:solidFill>
                  <a:srgbClr val="002060"/>
                </a:solidFill>
              </a:rPr>
              <a:t>p,d</a:t>
            </a:r>
            <a:r>
              <a:rPr lang="en-US" altLang="en-US" sz="1700" b="1" dirty="0">
                <a:solidFill>
                  <a:srgbClr val="002060"/>
                </a:solidFill>
              </a:rPr>
              <a:t>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point number, with user-specified precision of </a:t>
            </a:r>
            <a:r>
              <a:rPr lang="en-US" altLang="en-US" sz="1700" i="1" dirty="0"/>
              <a:t>p</a:t>
            </a:r>
            <a:r>
              <a:rPr lang="en-US" altLang="en-US" sz="1700" dirty="0"/>
              <a:t> digits, with </a:t>
            </a:r>
            <a:r>
              <a:rPr lang="en-US" altLang="en-US" sz="1700" i="1" dirty="0"/>
              <a:t>d</a:t>
            </a:r>
            <a:r>
              <a:rPr lang="en-US" altLang="en-US" sz="1700" dirty="0"/>
              <a:t> digits to the right of decimal point.  (ex.,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(3,1), allows 44.5 to be stores exactly, but not 444.5 or 0.32)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real, double precision.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and double-precision floating point numbers, with machine-dependent precision.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float(n).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number, with user-specified precision of at least </a:t>
            </a:r>
            <a:r>
              <a:rPr lang="en-US" altLang="en-US" sz="1700" i="1" dirty="0"/>
              <a:t>n</a:t>
            </a:r>
            <a:r>
              <a:rPr lang="en-US" altLang="en-US" sz="1700" dirty="0"/>
              <a:t> digits.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2400500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555308" y="370914"/>
            <a:ext cx="8077200" cy="609600"/>
          </a:xfrm>
        </p:spPr>
        <p:txBody>
          <a:bodyPr/>
          <a:lstStyle/>
          <a:p>
            <a:r>
              <a:rPr lang="en-US" altLang="en-US" sz="2800" dirty="0" err="1" smtClean="0"/>
              <a:t>Restricciones</a:t>
            </a:r>
            <a:r>
              <a:rPr lang="en-US" altLang="en-US" sz="2800" dirty="0" smtClean="0"/>
              <a:t> de </a:t>
            </a:r>
            <a:r>
              <a:rPr lang="en-US" altLang="en-US" sz="2800" dirty="0" err="1" smtClean="0"/>
              <a:t>Integridad</a:t>
            </a:r>
            <a:endParaRPr lang="en-US" altLang="en-US" sz="2800" dirty="0"/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109709"/>
            <a:ext cx="7515796" cy="4781004"/>
          </a:xfrm>
        </p:spPr>
        <p:txBody>
          <a:bodyPr>
            <a:normAutofit/>
          </a:bodyPr>
          <a:lstStyle/>
          <a:p>
            <a:r>
              <a:rPr lang="en-US" altLang="en-US" sz="1700" dirty="0" err="1" smtClean="0"/>
              <a:t>Tipos</a:t>
            </a:r>
            <a:r>
              <a:rPr lang="en-US" altLang="en-US" sz="1700" dirty="0" smtClean="0"/>
              <a:t> de </a:t>
            </a:r>
            <a:r>
              <a:rPr lang="en-US" altLang="en-US" sz="1700" dirty="0" err="1" smtClean="0"/>
              <a:t>Restricciones</a:t>
            </a:r>
            <a:r>
              <a:rPr lang="en-US" altLang="en-US" sz="1700" dirty="0" smtClean="0"/>
              <a:t> de </a:t>
            </a:r>
            <a:r>
              <a:rPr lang="en-US" altLang="en-US" sz="1700" dirty="0" err="1" smtClean="0"/>
              <a:t>Integridad</a:t>
            </a:r>
            <a:endParaRPr lang="en-US" altLang="en-US" sz="1700" dirty="0"/>
          </a:p>
          <a:p>
            <a:pPr lvl="1"/>
            <a:r>
              <a:rPr lang="en-US" altLang="en-US" sz="1700" b="1" dirty="0"/>
              <a:t>primary key</a:t>
            </a:r>
            <a:r>
              <a:rPr lang="en-US" altLang="en-US" sz="1700" dirty="0"/>
              <a:t> 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 </a:t>
            </a:r>
            <a:r>
              <a:rPr lang="en-US" altLang="en-US" sz="1700" dirty="0"/>
              <a:t>)</a:t>
            </a:r>
          </a:p>
          <a:p>
            <a:pPr lvl="1"/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m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 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r</a:t>
            </a:r>
            <a:endParaRPr lang="en-US" altLang="en-US" sz="1700" b="1" dirty="0"/>
          </a:p>
          <a:p>
            <a:pPr lvl="1"/>
            <a:r>
              <a:rPr lang="en-US" altLang="en-US" sz="1700" b="1" dirty="0"/>
              <a:t>not </a:t>
            </a:r>
            <a:r>
              <a:rPr lang="en-US" altLang="en-US" sz="1700" b="1" dirty="0" smtClean="0"/>
              <a:t>null</a:t>
            </a:r>
          </a:p>
          <a:p>
            <a:pPr lvl="1"/>
            <a:r>
              <a:rPr lang="es-ES" altLang="en-US" sz="1700" b="1" dirty="0" err="1" smtClean="0"/>
              <a:t>unique</a:t>
            </a:r>
            <a:r>
              <a:rPr lang="es-ES" altLang="en-US" sz="1700" b="1" dirty="0" smtClean="0"/>
              <a:t> (Llaves naturales o de negocio)</a:t>
            </a:r>
          </a:p>
          <a:p>
            <a:pPr lvl="2"/>
            <a:r>
              <a:rPr lang="es-ES" altLang="en-US" sz="1400" b="1" dirty="0" err="1" smtClean="0"/>
              <a:t>unique</a:t>
            </a:r>
            <a:r>
              <a:rPr lang="es-ES" altLang="en-US" sz="1400" b="1" dirty="0" smtClean="0"/>
              <a:t> (cedula)</a:t>
            </a:r>
          </a:p>
          <a:p>
            <a:pPr lvl="1"/>
            <a:r>
              <a:rPr lang="es-ES" altLang="en-US" sz="1700" b="1" dirty="0" smtClean="0"/>
              <a:t>Default</a:t>
            </a:r>
          </a:p>
          <a:p>
            <a:pPr lvl="2"/>
            <a:r>
              <a:rPr lang="es-ES" altLang="en-US" sz="1400" b="1" dirty="0" smtClean="0"/>
              <a:t>salario </a:t>
            </a:r>
            <a:r>
              <a:rPr lang="es-ES" altLang="en-US" sz="1400" b="1" dirty="0" err="1" smtClean="0"/>
              <a:t>number</a:t>
            </a:r>
            <a:r>
              <a:rPr lang="es-ES" altLang="en-US" sz="1400" b="1" dirty="0" smtClean="0"/>
              <a:t> default 0</a:t>
            </a:r>
          </a:p>
          <a:p>
            <a:pPr lvl="1"/>
            <a:r>
              <a:rPr lang="es-ES" altLang="en-US" sz="1700" b="1" dirty="0" err="1" smtClean="0"/>
              <a:t>Check</a:t>
            </a:r>
            <a:endParaRPr lang="es-ES" altLang="en-US" sz="1700" b="1" dirty="0" smtClean="0"/>
          </a:p>
          <a:p>
            <a:pPr lvl="2"/>
            <a:r>
              <a:rPr lang="es-ES" altLang="en-US" sz="1400" b="1" dirty="0" err="1" smtClean="0"/>
              <a:t>check</a:t>
            </a:r>
            <a:r>
              <a:rPr lang="es-ES" altLang="en-US" sz="1400" b="1" dirty="0" smtClean="0"/>
              <a:t> (edad </a:t>
            </a:r>
            <a:r>
              <a:rPr lang="es-ES" altLang="en-US" sz="1400" b="1" dirty="0" err="1" smtClean="0"/>
              <a:t>betwwen</a:t>
            </a:r>
            <a:r>
              <a:rPr lang="es-ES" altLang="en-US" sz="1400" b="1" dirty="0" smtClean="0"/>
              <a:t> (0, 100))</a:t>
            </a:r>
          </a:p>
          <a:p>
            <a:pPr lvl="2"/>
            <a:r>
              <a:rPr lang="es-ES" altLang="en-US" sz="1400" b="1" dirty="0" err="1" smtClean="0"/>
              <a:t>Check</a:t>
            </a:r>
            <a:r>
              <a:rPr lang="es-ES" altLang="en-US" sz="1400" b="1" dirty="0" smtClean="0"/>
              <a:t> (genero in (‘M’,’F’))</a:t>
            </a:r>
            <a:endParaRPr lang="en-US" altLang="en-US" sz="1400" b="1" dirty="0"/>
          </a:p>
          <a:p>
            <a:endParaRPr lang="en-US" altLang="en-US" sz="1700" i="1" dirty="0"/>
          </a:p>
          <a:p>
            <a:pPr>
              <a:buNone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874773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 err="1" smtClean="0"/>
              <a:t>Ejemplo</a:t>
            </a:r>
            <a:endParaRPr lang="en-US" altLang="en-US" sz="2800" dirty="0"/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8173"/>
            <a:ext cx="7107682" cy="3709860"/>
          </a:xfrm>
        </p:spPr>
        <p:txBody>
          <a:bodyPr/>
          <a:lstStyle/>
          <a:p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    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                  </a:t>
            </a:r>
            <a:r>
              <a:rPr lang="en-US" altLang="en-US" sz="1700" b="1" dirty="0"/>
              <a:t>varchar(</a:t>
            </a:r>
            <a:r>
              <a:rPr lang="en-US" altLang="en-US" sz="1700" dirty="0"/>
              <a:t>50),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   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</a:t>
            </a:r>
            <a:r>
              <a:rPr lang="en-US" altLang="en-US" sz="1700" dirty="0" smtClean="0"/>
              <a:t>) NOT NULL,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  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(2,0</a:t>
            </a:r>
            <a:r>
              <a:rPr lang="en-US" altLang="en-US" sz="1700" dirty="0" smtClean="0"/>
              <a:t>) DEFAULT 0,</a:t>
            </a:r>
            <a:endParaRPr lang="en-US" altLang="en-US" sz="1700" dirty="0"/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dirty="0"/>
              <a:t>             </a:t>
            </a:r>
            <a:r>
              <a:rPr lang="en-US" altLang="en-US" sz="1700" b="1" dirty="0"/>
              <a:t>primary key </a:t>
            </a:r>
            <a:r>
              <a:rPr lang="en-US" altLang="en-US" sz="1700" i="1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 smtClean="0"/>
              <a:t>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s-ES" altLang="en-US" sz="1700" i="1" dirty="0"/>
              <a:t>	</a:t>
            </a:r>
            <a:r>
              <a:rPr lang="es-ES" altLang="en-US" sz="1700" i="1" dirty="0" smtClean="0"/>
              <a:t>         </a:t>
            </a:r>
            <a:r>
              <a:rPr lang="es-ES" altLang="en-US" sz="1700" i="1" dirty="0" err="1" smtClean="0"/>
              <a:t>check</a:t>
            </a:r>
            <a:r>
              <a:rPr lang="es-ES" altLang="en-US" sz="1700" i="1" dirty="0" smtClean="0"/>
              <a:t> (</a:t>
            </a:r>
            <a:r>
              <a:rPr lang="es-ES" altLang="en-US" sz="1700" i="1" dirty="0" err="1" smtClean="0"/>
              <a:t>credits</a:t>
            </a:r>
            <a:r>
              <a:rPr lang="es-ES" altLang="en-US" sz="1700" i="1" dirty="0" smtClean="0"/>
              <a:t>&gt;0)	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s-ES" altLang="en-US" sz="1700" i="1" dirty="0"/>
              <a:t>	 </a:t>
            </a:r>
            <a:r>
              <a:rPr lang="es-ES" altLang="en-US" sz="1700" i="1" dirty="0" smtClean="0"/>
              <a:t>        </a:t>
            </a:r>
            <a:r>
              <a:rPr lang="es-ES" altLang="en-US" sz="1700" i="1" dirty="0" err="1" smtClean="0"/>
              <a:t>unique</a:t>
            </a:r>
            <a:r>
              <a:rPr lang="es-ES" altLang="en-US" sz="1700" i="1" dirty="0" smtClean="0"/>
              <a:t>(</a:t>
            </a:r>
            <a:r>
              <a:rPr lang="es-ES" altLang="en-US" sz="1700" i="1" dirty="0" err="1" smtClean="0"/>
              <a:t>title</a:t>
            </a:r>
            <a:r>
              <a:rPr lang="es-ES" altLang="en-US" sz="1700" i="1" dirty="0" smtClean="0"/>
              <a:t>)</a:t>
            </a:r>
            <a:endParaRPr lang="en-US" altLang="en-US" sz="1700" i="1" dirty="0"/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</a:t>
            </a: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 smtClean="0"/>
              <a:t>department(</a:t>
            </a:r>
            <a:r>
              <a:rPr lang="en-US" altLang="en-US" sz="1700" i="1" dirty="0" err="1" smtClean="0"/>
              <a:t>dept_name</a:t>
            </a:r>
            <a:r>
              <a:rPr lang="en-US" altLang="en-US" sz="1700" dirty="0" smtClean="0"/>
              <a:t>)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dirty="0"/>
              <a:t>)</a:t>
            </a:r>
            <a:r>
              <a:rPr lang="en-US" altLang="en-US" sz="1700" dirty="0" smtClean="0"/>
              <a:t>;</a:t>
            </a:r>
            <a:endParaRPr lang="en-US" altLang="en-US" sz="1700" dirty="0"/>
          </a:p>
          <a:p>
            <a:endParaRPr lang="en-US" altLang="en-US" sz="1700" dirty="0"/>
          </a:p>
        </p:txBody>
      </p:sp>
    </p:spTree>
    <p:extLst>
      <p:ext uri="{BB962C8B-B14F-4D97-AF65-F5344CB8AC3E}">
        <p14:creationId xmlns:p14="http://schemas.microsoft.com/office/powerpoint/2010/main" val="1100173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326275" y="544484"/>
            <a:ext cx="8539163" cy="42703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800" dirty="0" err="1" smtClean="0">
                <a:ea typeface="+mj-ea"/>
              </a:rPr>
              <a:t>Acciones</a:t>
            </a:r>
            <a:r>
              <a:rPr lang="en-US" sz="2800" dirty="0" smtClean="0">
                <a:ea typeface="+mj-ea"/>
              </a:rPr>
              <a:t> para </a:t>
            </a:r>
            <a:r>
              <a:rPr lang="en-US" sz="2800" dirty="0" err="1" smtClean="0">
                <a:ea typeface="+mj-ea"/>
              </a:rPr>
              <a:t>integridad</a:t>
            </a:r>
            <a:r>
              <a:rPr lang="en-US" sz="2800" dirty="0" smtClean="0">
                <a:ea typeface="+mj-ea"/>
              </a:rPr>
              <a:t> </a:t>
            </a:r>
            <a:r>
              <a:rPr lang="en-US" sz="2800" dirty="0" err="1" smtClean="0">
                <a:ea typeface="+mj-ea"/>
              </a:rPr>
              <a:t>referencial</a:t>
            </a:r>
            <a:endParaRPr lang="en-US" sz="2800" dirty="0">
              <a:ea typeface="+mj-ea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1290" y="1272908"/>
            <a:ext cx="7806431" cy="4447401"/>
          </a:xfrm>
        </p:spPr>
        <p:txBody>
          <a:bodyPr/>
          <a:lstStyle/>
          <a:p>
            <a:pPr>
              <a:tabLst>
                <a:tab pos="2173288" algn="l"/>
              </a:tabLst>
            </a:pPr>
            <a:r>
              <a:rPr lang="es-ES" altLang="en-US" sz="1700" dirty="0" smtClean="0"/>
              <a:t>Alternativas a errores al borrar un registro padre</a:t>
            </a:r>
            <a:endParaRPr lang="en-US" altLang="en-US" sz="1700" dirty="0" smtClean="0"/>
          </a:p>
          <a:p>
            <a:pPr>
              <a:tabLst>
                <a:tab pos="2173288" algn="l"/>
              </a:tabLst>
            </a:pPr>
            <a:r>
              <a:rPr lang="en-US" altLang="en-US" sz="1700" b="1" dirty="0" smtClean="0"/>
              <a:t>create </a:t>
            </a:r>
            <a:r>
              <a:rPr lang="en-US" altLang="en-US" sz="1700" b="1" dirty="0"/>
              <a:t>table </a:t>
            </a:r>
            <a:r>
              <a:rPr lang="en-US" altLang="en-US" sz="1700" i="1" dirty="0"/>
              <a:t>course </a:t>
            </a:r>
            <a:r>
              <a:rPr lang="en-US" altLang="en-US" sz="1700" dirty="0"/>
              <a:t>(</a:t>
            </a:r>
            <a:br>
              <a:rPr lang="en-US" altLang="en-US" sz="1700" dirty="0"/>
            </a:br>
            <a:r>
              <a:rPr lang="en-US" altLang="en-US" sz="1700" dirty="0"/>
              <a:t>             (…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i="1" dirty="0"/>
              <a:t>dept_name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            </a:t>
            </a:r>
            <a:r>
              <a:rPr lang="en-US" altLang="en-US" sz="1700" b="1" dirty="0"/>
              <a:t>on delete cascade</a:t>
            </a:r>
            <a:br>
              <a:rPr lang="en-US" altLang="en-US" sz="1700" b="1" dirty="0"/>
            </a:br>
            <a:r>
              <a:rPr lang="en-US" altLang="en-US" sz="1700" b="1" dirty="0"/>
              <a:t>                   on update cascade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dirty="0"/>
              <a:t>                . . .) </a:t>
            </a:r>
          </a:p>
          <a:p>
            <a:pPr>
              <a:tabLst>
                <a:tab pos="2173288" algn="l"/>
              </a:tabLst>
            </a:pPr>
            <a:r>
              <a:rPr lang="en-US" altLang="en-US" sz="1700" dirty="0" err="1" smtClean="0"/>
              <a:t>En</a:t>
            </a:r>
            <a:r>
              <a:rPr lang="en-US" altLang="en-US" sz="1700" dirty="0" smtClean="0"/>
              <a:t> </a:t>
            </a:r>
            <a:r>
              <a:rPr lang="en-US" altLang="en-US" sz="1700" dirty="0" err="1" smtClean="0"/>
              <a:t>lugar</a:t>
            </a:r>
            <a:r>
              <a:rPr lang="en-US" altLang="en-US" sz="1700" dirty="0" smtClean="0"/>
              <a:t> de cascade  se </a:t>
            </a:r>
            <a:r>
              <a:rPr lang="en-US" altLang="en-US" sz="1700" dirty="0" err="1" smtClean="0"/>
              <a:t>puede</a:t>
            </a:r>
            <a:r>
              <a:rPr lang="en-US" altLang="en-US" sz="1700" dirty="0" smtClean="0"/>
              <a:t> </a:t>
            </a:r>
            <a:r>
              <a:rPr lang="en-US" altLang="en-US" sz="1700" dirty="0" err="1" smtClean="0"/>
              <a:t>usar</a:t>
            </a:r>
            <a:r>
              <a:rPr lang="en-US" altLang="en-US" sz="1700" dirty="0" smtClean="0"/>
              <a:t> </a:t>
            </a:r>
            <a:r>
              <a:rPr lang="en-US" altLang="en-US" sz="1700" dirty="0"/>
              <a:t>:  </a:t>
            </a:r>
          </a:p>
          <a:p>
            <a:pPr lvl="1">
              <a:tabLst>
                <a:tab pos="2173288" algn="l"/>
              </a:tabLst>
            </a:pPr>
            <a:r>
              <a:rPr lang="en-US" altLang="en-US" sz="1700" b="1" dirty="0"/>
              <a:t>set null</a:t>
            </a:r>
            <a:r>
              <a:rPr lang="en-US" altLang="en-US" sz="1700" dirty="0"/>
              <a:t>,</a:t>
            </a:r>
          </a:p>
          <a:p>
            <a:pPr lvl="1">
              <a:tabLst>
                <a:tab pos="2173288" algn="l"/>
              </a:tabLst>
            </a:pPr>
            <a:r>
              <a:rPr lang="en-US" altLang="en-US" sz="1700" b="1" dirty="0"/>
              <a:t>set default</a:t>
            </a:r>
            <a:endParaRPr lang="en-US" altLang="en-US" sz="1700" dirty="0"/>
          </a:p>
          <a:p>
            <a:pPr>
              <a:buFont typeface="Monotype Sorts" charset="2"/>
              <a:buNone/>
              <a:tabLst>
                <a:tab pos="2173288" algn="l"/>
              </a:tabLst>
            </a:pPr>
            <a:endParaRPr lang="en-US" altLang="en-US" i="1" dirty="0"/>
          </a:p>
        </p:txBody>
      </p:sp>
    </p:spTree>
    <p:extLst>
      <p:ext uri="{BB962C8B-B14F-4D97-AF65-F5344CB8AC3E}">
        <p14:creationId xmlns:p14="http://schemas.microsoft.com/office/powerpoint/2010/main" val="2775939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Large-Object Types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29926" cy="3868356"/>
          </a:xfrm>
        </p:spPr>
        <p:txBody>
          <a:bodyPr/>
          <a:lstStyle/>
          <a:p>
            <a:r>
              <a:rPr lang="en-US" altLang="en-US" sz="1700" dirty="0" smtClean="0"/>
              <a:t>Se </a:t>
            </a:r>
            <a:r>
              <a:rPr lang="en-US" altLang="en-US" sz="1700" dirty="0" err="1" smtClean="0"/>
              <a:t>pueden</a:t>
            </a:r>
            <a:r>
              <a:rPr lang="en-US" altLang="en-US" sz="1700" dirty="0" smtClean="0"/>
              <a:t> </a:t>
            </a:r>
            <a:r>
              <a:rPr lang="en-US" altLang="en-US" sz="1700" dirty="0" err="1" smtClean="0"/>
              <a:t>almacenar</a:t>
            </a:r>
            <a:r>
              <a:rPr lang="en-US" altLang="en-US" sz="1700" dirty="0" smtClean="0"/>
              <a:t> </a:t>
            </a:r>
            <a:r>
              <a:rPr lang="en-US" altLang="en-US" sz="1700" dirty="0" err="1" smtClean="0"/>
              <a:t>objetos</a:t>
            </a:r>
            <a:r>
              <a:rPr lang="en-US" altLang="en-US" sz="1700" dirty="0" smtClean="0"/>
              <a:t> </a:t>
            </a:r>
            <a:r>
              <a:rPr lang="en-US" altLang="en-US" sz="1700" dirty="0" err="1" smtClean="0"/>
              <a:t>grandes</a:t>
            </a:r>
            <a:r>
              <a:rPr lang="en-US" altLang="en-US" sz="1700" dirty="0" smtClean="0"/>
              <a:t> no </a:t>
            </a:r>
            <a:r>
              <a:rPr lang="en-US" altLang="en-US" sz="1700" dirty="0" err="1" smtClean="0"/>
              <a:t>estructurados</a:t>
            </a:r>
            <a:r>
              <a:rPr lang="en-US" altLang="en-US" sz="1700" dirty="0" smtClean="0"/>
              <a:t> </a:t>
            </a:r>
            <a:r>
              <a:rPr lang="en-US" altLang="en-US" sz="1700" dirty="0" err="1" smtClean="0"/>
              <a:t>usando</a:t>
            </a:r>
            <a:r>
              <a:rPr lang="en-US" altLang="en-US" sz="1700" dirty="0" smtClean="0"/>
              <a:t> LOB:</a:t>
            </a:r>
            <a:endParaRPr lang="en-US" altLang="en-US" sz="1700" dirty="0"/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blob</a:t>
            </a:r>
            <a:r>
              <a:rPr lang="en-US" altLang="en-US" sz="1700" dirty="0"/>
              <a:t>: binary large object -- object is a large collection of uninterpreted binary data (whose interpretation is left to an application outside of the database system)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clob</a:t>
            </a:r>
            <a:r>
              <a:rPr lang="en-US" altLang="en-US" sz="1700" dirty="0"/>
              <a:t>: character large object -- object is a large collection of character data</a:t>
            </a:r>
          </a:p>
          <a:p>
            <a:pPr marL="0" indent="0">
              <a:buNone/>
            </a:pPr>
            <a:endParaRPr lang="en-US" altLang="en-US" sz="1700" dirty="0"/>
          </a:p>
        </p:txBody>
      </p:sp>
    </p:spTree>
    <p:extLst>
      <p:ext uri="{BB962C8B-B14F-4D97-AF65-F5344CB8AC3E}">
        <p14:creationId xmlns:p14="http://schemas.microsoft.com/office/powerpoint/2010/main" val="3466076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/>
              <a:t>Bibliografía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Modern Database Management.10th </a:t>
            </a:r>
            <a:r>
              <a:rPr lang="en-US" dirty="0" err="1"/>
              <a:t>Edition.Jeffrey</a:t>
            </a:r>
            <a:r>
              <a:rPr lang="en-US" dirty="0"/>
              <a:t> A. Hoffer, V. Ramesh, </a:t>
            </a:r>
            <a:r>
              <a:rPr lang="en-US" dirty="0" err="1"/>
              <a:t>Heikki</a:t>
            </a:r>
            <a:r>
              <a:rPr lang="en-US" dirty="0"/>
              <a:t> Topi.2021 Pearson Education, Inc.  Publishing as Prentice Hall.</a:t>
            </a:r>
          </a:p>
          <a:p>
            <a:pPr eaLnBrk="1" hangingPunct="1">
              <a:defRPr/>
            </a:pPr>
            <a:r>
              <a:rPr lang="en-US" dirty="0"/>
              <a:t>Database System Concepts.</a:t>
            </a:r>
            <a:r>
              <a:rPr lang="en-GB" dirty="0" err="1"/>
              <a:t>Avi</a:t>
            </a:r>
            <a:r>
              <a:rPr lang="en-GB" dirty="0"/>
              <a:t> </a:t>
            </a:r>
            <a:r>
              <a:rPr lang="en-GB" dirty="0" err="1"/>
              <a:t>Silberschatz</a:t>
            </a:r>
            <a:r>
              <a:rPr lang="en-GB" dirty="0"/>
              <a:t> , Henry F. </a:t>
            </a:r>
            <a:r>
              <a:rPr lang="en-GB" dirty="0" err="1"/>
              <a:t>Korth</a:t>
            </a:r>
            <a:r>
              <a:rPr lang="en-GB" dirty="0"/>
              <a:t> , S. </a:t>
            </a:r>
            <a:r>
              <a:rPr lang="en-GB" dirty="0" err="1"/>
              <a:t>Sudarshan.McGraw</a:t>
            </a:r>
            <a:r>
              <a:rPr lang="en-GB" dirty="0"/>
              <a:t>-Hill.  2019</a:t>
            </a:r>
            <a:r>
              <a:rPr lang="es-ES" dirty="0"/>
              <a:t>.</a:t>
            </a:r>
          </a:p>
          <a:p>
            <a:pPr eaLnBrk="1" hangingPunct="1">
              <a:defRPr/>
            </a:pPr>
            <a:r>
              <a:rPr lang="es-ES" dirty="0"/>
              <a:t>Sistemas de Bases de Datos. Thomas M. </a:t>
            </a:r>
            <a:r>
              <a:rPr lang="es-ES" dirty="0" err="1"/>
              <a:t>Conolly</a:t>
            </a:r>
            <a:r>
              <a:rPr lang="es-ES" dirty="0"/>
              <a:t>, </a:t>
            </a:r>
            <a:r>
              <a:rPr lang="es-ES" dirty="0" err="1"/>
              <a:t>Carolyn</a:t>
            </a:r>
            <a:r>
              <a:rPr lang="es-ES" dirty="0"/>
              <a:t> E. </a:t>
            </a:r>
            <a:r>
              <a:rPr lang="es-ES" dirty="0" err="1"/>
              <a:t>Begg</a:t>
            </a:r>
            <a:r>
              <a:rPr lang="es-ES" dirty="0"/>
              <a:t>. </a:t>
            </a:r>
            <a:r>
              <a:rPr lang="es-ES" dirty="0" err="1"/>
              <a:t>Addison</a:t>
            </a:r>
            <a:r>
              <a:rPr lang="es-ES" dirty="0"/>
              <a:t> </a:t>
            </a:r>
            <a:r>
              <a:rPr lang="es-ES" dirty="0" err="1"/>
              <a:t>Wesley</a:t>
            </a:r>
            <a:r>
              <a:rPr lang="es-ES" dirty="0"/>
              <a:t>. 4 edición. </a:t>
            </a:r>
            <a:r>
              <a:rPr lang="en-GB" dirty="0"/>
              <a:t>2018</a:t>
            </a:r>
            <a:r>
              <a:rPr lang="es-ES" dirty="0"/>
              <a:t> 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en">
  <a:themeElements>
    <a:clrScheme name="Orige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e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e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10530</TotalTime>
  <Words>607</Words>
  <Application>Microsoft Office PowerPoint</Application>
  <PresentationFormat>Presentación en pantalla (4:3)</PresentationFormat>
  <Paragraphs>74</Paragraphs>
  <Slides>11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1" baseType="lpstr">
      <vt:lpstr>MS PGothic</vt:lpstr>
      <vt:lpstr>Bookman Old Style</vt:lpstr>
      <vt:lpstr>Garamond</vt:lpstr>
      <vt:lpstr>Gill Sans MT</vt:lpstr>
      <vt:lpstr>Helvetica</vt:lpstr>
      <vt:lpstr>Monotype Sorts</vt:lpstr>
      <vt:lpstr>Times New Roman</vt:lpstr>
      <vt:lpstr>Wingdings</vt:lpstr>
      <vt:lpstr>Wingdings 3</vt:lpstr>
      <vt:lpstr>Origen</vt:lpstr>
      <vt:lpstr>Base de Datos Modelo Físico</vt:lpstr>
      <vt:lpstr>Modelo Físico</vt:lpstr>
      <vt:lpstr>Modelo Físico</vt:lpstr>
      <vt:lpstr>DDL</vt:lpstr>
      <vt:lpstr>DDL</vt:lpstr>
      <vt:lpstr>Domain Types in SQL</vt:lpstr>
      <vt:lpstr>Restricciones de Integridad</vt:lpstr>
      <vt:lpstr>Ejemplo</vt:lpstr>
      <vt:lpstr>Acciones para integridad referencial</vt:lpstr>
      <vt:lpstr>Large-Object Types</vt:lpstr>
      <vt:lpstr>Bibliografía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Julio Carreño</dc:creator>
  <cp:lastModifiedBy>Julio Ernesto Carreno Vargas</cp:lastModifiedBy>
  <cp:revision>423</cp:revision>
  <cp:lastPrinted>2005-01-10T21:51:57Z</cp:lastPrinted>
  <dcterms:created xsi:type="dcterms:W3CDTF">1999-11-04T20:50:09Z</dcterms:created>
  <dcterms:modified xsi:type="dcterms:W3CDTF">2023-09-05T20:17:29Z</dcterms:modified>
</cp:coreProperties>
</file>