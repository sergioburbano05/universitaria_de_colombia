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j8MeSIoVn9DOHK0iNJBYP0oYvw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O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1"/>
          <p:cNvSpPr txBox="1"/>
          <p:nvPr>
            <p:ph type="ctrTitle"/>
          </p:nvPr>
        </p:nvSpPr>
        <p:spPr>
          <a:xfrm>
            <a:off x="603504" y="770467"/>
            <a:ext cx="10782300" cy="3352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0"/>
              <a:buFont typeface="Calibri"/>
              <a:buNone/>
              <a:defRPr sz="88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1"/>
          <p:cNvSpPr txBox="1"/>
          <p:nvPr>
            <p:ph idx="1" type="subTitle"/>
          </p:nvPr>
        </p:nvSpPr>
        <p:spPr>
          <a:xfrm>
            <a:off x="667512" y="4206876"/>
            <a:ext cx="9228201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800"/>
              <a:buNone/>
              <a:defRPr sz="2800"/>
            </a:lvl2pPr>
            <a:lvl3pPr lvl="2" algn="ctr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  <a:defRPr sz="2400"/>
            </a:lvl3pPr>
            <a:lvl4pPr lvl="3" algn="ctr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  <a:defRPr sz="2000"/>
            </a:lvl4pPr>
            <a:lvl5pPr lvl="4" algn="ctr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  <a:defRPr sz="2000"/>
            </a:lvl5pPr>
            <a:lvl6pPr lvl="5" algn="ctr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  <a:defRPr sz="2000"/>
            </a:lvl6pPr>
            <a:lvl7pPr lvl="6" algn="ctr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  <a:defRPr sz="2000"/>
            </a:lvl7pPr>
            <a:lvl8pPr lvl="7" algn="ctr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  <a:defRPr sz="2000"/>
            </a:lvl8pPr>
            <a:lvl9pPr lvl="8" algn="ctr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  <a:defRPr sz="2000"/>
            </a:lvl9pPr>
          </a:lstStyle>
          <a:p/>
        </p:txBody>
      </p:sp>
      <p:sp>
        <p:nvSpPr>
          <p:cNvPr id="19" name="Google Shape;19;p11"/>
          <p:cNvSpPr txBox="1"/>
          <p:nvPr>
            <p:ph idx="10" type="dt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1" type="ftr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2" type="sldNum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2"/>
          <p:cNvSpPr txBox="1"/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" type="body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1pPr>
            <a:lvl2pPr indent="-342900" lvl="1" marL="914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2pPr>
            <a:lvl3pPr indent="-342900" lvl="2" marL="1371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3pPr>
            <a:lvl4pPr indent="-342900" lvl="3" marL="1828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4pPr>
            <a:lvl5pPr indent="-342900" lvl="4" marL="22860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5pPr>
            <a:lvl6pPr indent="-342900" lvl="5" marL="27432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6pPr>
            <a:lvl7pPr indent="-342900" lvl="6" marL="3200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7pPr>
            <a:lvl8pPr indent="-342900" lvl="7" marL="3657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8pPr>
            <a:lvl9pPr indent="-342900" lvl="8" marL="4114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0" type="dt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1" type="ftr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2" type="sldNum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3"/>
          <p:cNvSpPr txBox="1"/>
          <p:nvPr>
            <p:ph type="title"/>
          </p:nvPr>
        </p:nvSpPr>
        <p:spPr>
          <a:xfrm>
            <a:off x="603504" y="767419"/>
            <a:ext cx="10780776" cy="33558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800"/>
              <a:buFont typeface="Calibri"/>
              <a:buNone/>
              <a:defRPr b="0" sz="8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3"/>
          <p:cNvSpPr txBox="1"/>
          <p:nvPr>
            <p:ph idx="1" type="body"/>
          </p:nvPr>
        </p:nvSpPr>
        <p:spPr>
          <a:xfrm>
            <a:off x="667512" y="4204209"/>
            <a:ext cx="9226296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3"/>
          <p:cNvSpPr txBox="1"/>
          <p:nvPr>
            <p:ph idx="10" type="dt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1" type="ftr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2" type="sldNum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4"/>
          <p:cNvSpPr txBox="1"/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1" type="body"/>
          </p:nvPr>
        </p:nvSpPr>
        <p:spPr>
          <a:xfrm>
            <a:off x="676656" y="1998134"/>
            <a:ext cx="4663440" cy="376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  <a:defRPr sz="2400"/>
            </a:lvl1pPr>
            <a:lvl2pPr indent="-355600" lvl="1" marL="914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000"/>
              <a:buChar char=" "/>
              <a:defRPr sz="2000"/>
            </a:lvl2pPr>
            <a:lvl3pPr indent="-342900" lvl="2" marL="1371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 sz="1800"/>
            </a:lvl3pPr>
            <a:lvl4pPr indent="-330200" lvl="3" marL="1828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4pPr>
            <a:lvl5pPr indent="-330200" lvl="4" marL="22860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5pPr>
            <a:lvl6pPr indent="-330200" lvl="5" marL="27432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6pPr>
            <a:lvl7pPr indent="-330200" lvl="6" marL="3200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7pPr>
            <a:lvl8pPr indent="-330200" lvl="7" marL="3657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8pPr>
            <a:lvl9pPr indent="-330200" lvl="8" marL="4114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9pPr>
          </a:lstStyle>
          <a:p/>
        </p:txBody>
      </p:sp>
      <p:sp>
        <p:nvSpPr>
          <p:cNvPr id="37" name="Google Shape;37;p14"/>
          <p:cNvSpPr txBox="1"/>
          <p:nvPr>
            <p:ph idx="2" type="body"/>
          </p:nvPr>
        </p:nvSpPr>
        <p:spPr>
          <a:xfrm>
            <a:off x="6011330" y="1998134"/>
            <a:ext cx="4663440" cy="376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  <a:defRPr sz="2400"/>
            </a:lvl1pPr>
            <a:lvl2pPr indent="-355600" lvl="1" marL="914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000"/>
              <a:buChar char=" "/>
              <a:defRPr sz="2000"/>
            </a:lvl2pPr>
            <a:lvl3pPr indent="-342900" lvl="2" marL="1371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 sz="1800"/>
            </a:lvl3pPr>
            <a:lvl4pPr indent="-330200" lvl="3" marL="1828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4pPr>
            <a:lvl5pPr indent="-330200" lvl="4" marL="22860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5pPr>
            <a:lvl6pPr indent="-330200" lvl="5" marL="27432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6pPr>
            <a:lvl7pPr indent="-330200" lvl="6" marL="3200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7pPr>
            <a:lvl8pPr indent="-330200" lvl="7" marL="3657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8pPr>
            <a:lvl9pPr indent="-330200" lvl="8" marL="4114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9pPr>
          </a:lstStyle>
          <a:p/>
        </p:txBody>
      </p:sp>
      <p:sp>
        <p:nvSpPr>
          <p:cNvPr id="38" name="Google Shape;38;p14"/>
          <p:cNvSpPr txBox="1"/>
          <p:nvPr>
            <p:ph idx="10" type="dt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1" type="ftr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12" type="sldNum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5"/>
          <p:cNvSpPr txBox="1"/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" type="body"/>
          </p:nvPr>
        </p:nvSpPr>
        <p:spPr>
          <a:xfrm>
            <a:off x="676656" y="2040467"/>
            <a:ext cx="4663440" cy="7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2200"/>
              <a:buNone/>
              <a:defRPr b="0" sz="2200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5"/>
          <p:cNvSpPr txBox="1"/>
          <p:nvPr>
            <p:ph idx="2" type="body"/>
          </p:nvPr>
        </p:nvSpPr>
        <p:spPr>
          <a:xfrm>
            <a:off x="676656" y="2753084"/>
            <a:ext cx="46634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  <a:defRPr sz="2400"/>
            </a:lvl1pPr>
            <a:lvl2pPr indent="-355600" lvl="1" marL="914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000"/>
              <a:buChar char=" "/>
              <a:defRPr sz="2000"/>
            </a:lvl2pPr>
            <a:lvl3pPr indent="-342900" lvl="2" marL="1371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 sz="1800"/>
            </a:lvl3pPr>
            <a:lvl4pPr indent="-330200" lvl="3" marL="1828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4pPr>
            <a:lvl5pPr indent="-330200" lvl="4" marL="22860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5pPr>
            <a:lvl6pPr indent="-330200" lvl="5" marL="27432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6pPr>
            <a:lvl7pPr indent="-330200" lvl="6" marL="3200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7pPr>
            <a:lvl8pPr indent="-330200" lvl="7" marL="3657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8pPr>
            <a:lvl9pPr indent="-330200" lvl="8" marL="4114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9pPr>
          </a:lstStyle>
          <a:p/>
        </p:txBody>
      </p:sp>
      <p:sp>
        <p:nvSpPr>
          <p:cNvPr id="45" name="Google Shape;45;p15"/>
          <p:cNvSpPr txBox="1"/>
          <p:nvPr>
            <p:ph idx="3" type="body"/>
          </p:nvPr>
        </p:nvSpPr>
        <p:spPr>
          <a:xfrm>
            <a:off x="6007608" y="2038435"/>
            <a:ext cx="4663440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2200"/>
              <a:buNone/>
              <a:defRPr b="0" sz="2200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5"/>
          <p:cNvSpPr txBox="1"/>
          <p:nvPr>
            <p:ph idx="4" type="body"/>
          </p:nvPr>
        </p:nvSpPr>
        <p:spPr>
          <a:xfrm>
            <a:off x="6007608" y="2750990"/>
            <a:ext cx="46634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  <a:defRPr sz="2400"/>
            </a:lvl1pPr>
            <a:lvl2pPr indent="-355600" lvl="1" marL="914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000"/>
              <a:buChar char=" "/>
              <a:defRPr sz="2000"/>
            </a:lvl2pPr>
            <a:lvl3pPr indent="-342900" lvl="2" marL="1371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 sz="1800"/>
            </a:lvl3pPr>
            <a:lvl4pPr indent="-330200" lvl="3" marL="1828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4pPr>
            <a:lvl5pPr indent="-330200" lvl="4" marL="22860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5pPr>
            <a:lvl6pPr indent="-330200" lvl="5" marL="27432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6pPr>
            <a:lvl7pPr indent="-330200" lvl="6" marL="3200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7pPr>
            <a:lvl8pPr indent="-330200" lvl="7" marL="3657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8pPr>
            <a:lvl9pPr indent="-330200" lvl="8" marL="4114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0" type="dt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1" type="ftr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6"/>
          <p:cNvSpPr txBox="1"/>
          <p:nvPr>
            <p:ph idx="12" type="sldNum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7"/>
          <p:cNvSpPr txBox="1"/>
          <p:nvPr>
            <p:ph idx="10" type="dt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7"/>
          <p:cNvSpPr txBox="1"/>
          <p:nvPr>
            <p:ph idx="11" type="ftr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7"/>
          <p:cNvSpPr txBox="1"/>
          <p:nvPr>
            <p:ph idx="12" type="sldNum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8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8"/>
          <p:cNvSpPr txBox="1"/>
          <p:nvPr>
            <p:ph type="title"/>
          </p:nvPr>
        </p:nvSpPr>
        <p:spPr>
          <a:xfrm>
            <a:off x="8261404" y="542282"/>
            <a:ext cx="338328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  <a:defRPr sz="4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8"/>
          <p:cNvSpPr txBox="1"/>
          <p:nvPr>
            <p:ph idx="1" type="body"/>
          </p:nvPr>
        </p:nvSpPr>
        <p:spPr>
          <a:xfrm>
            <a:off x="762000" y="762000"/>
            <a:ext cx="60960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3200"/>
              <a:buChar char=" "/>
              <a:defRPr sz="3200"/>
            </a:lvl1pPr>
            <a:lvl2pPr indent="-406400" lvl="1" marL="914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800"/>
              <a:buChar char=" "/>
              <a:defRPr sz="2800"/>
            </a:lvl2pPr>
            <a:lvl3pPr indent="-381000" lvl="2" marL="1371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  <a:defRPr sz="2400"/>
            </a:lvl3pPr>
            <a:lvl4pPr indent="-355600" lvl="3" marL="1828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000"/>
              <a:buChar char=" "/>
              <a:defRPr sz="2000"/>
            </a:lvl4pPr>
            <a:lvl5pPr indent="-355600" lvl="4" marL="22860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000"/>
              <a:buChar char=" "/>
              <a:defRPr sz="2000"/>
            </a:lvl5pPr>
            <a:lvl6pPr indent="-355600" lvl="5" marL="27432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000"/>
              <a:buChar char=" "/>
              <a:defRPr sz="2000"/>
            </a:lvl6pPr>
            <a:lvl7pPr indent="-355600" lvl="6" marL="3200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000"/>
              <a:buChar char=" "/>
              <a:defRPr sz="2000"/>
            </a:lvl7pPr>
            <a:lvl8pPr indent="-355600" lvl="7" marL="3657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000"/>
              <a:buChar char=" "/>
              <a:defRPr sz="2000"/>
            </a:lvl8pPr>
            <a:lvl9pPr indent="-355600" lvl="8" marL="4114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000"/>
              <a:buChar char=" "/>
              <a:defRPr sz="2000"/>
            </a:lvl9pPr>
          </a:lstStyle>
          <a:p/>
        </p:txBody>
      </p:sp>
      <p:sp>
        <p:nvSpPr>
          <p:cNvPr id="63" name="Google Shape;63;p18"/>
          <p:cNvSpPr txBox="1"/>
          <p:nvPr>
            <p:ph idx="2" type="body"/>
          </p:nvPr>
        </p:nvSpPr>
        <p:spPr>
          <a:xfrm>
            <a:off x="8275982" y="2511813"/>
            <a:ext cx="3398520" cy="3126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Calibri"/>
              <a:buNone/>
              <a:defRPr sz="1800">
                <a:solidFill>
                  <a:srgbClr val="262626"/>
                </a:solidFill>
              </a:defRPr>
            </a:lvl1pPr>
            <a:lvl2pPr indent="-228600" lvl="1" marL="914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4" name="Google Shape;64;p18"/>
          <p:cNvSpPr txBox="1"/>
          <p:nvPr>
            <p:ph idx="10" type="dt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8"/>
          <p:cNvSpPr txBox="1"/>
          <p:nvPr>
            <p:ph idx="11" type="ftr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2" type="sldNum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bg>
      <p:bgPr>
        <a:solidFill>
          <a:schemeClr val="accent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9"/>
          <p:cNvSpPr txBox="1"/>
          <p:nvPr>
            <p:ph type="title"/>
          </p:nvPr>
        </p:nvSpPr>
        <p:spPr>
          <a:xfrm>
            <a:off x="649224" y="5418667"/>
            <a:ext cx="10780776" cy="61328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  <a:defRPr b="0" sz="32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9"/>
          <p:cNvSpPr/>
          <p:nvPr>
            <p:ph idx="2" type="pic"/>
          </p:nvPr>
        </p:nvSpPr>
        <p:spPr>
          <a:xfrm>
            <a:off x="0" y="0"/>
            <a:ext cx="12192000" cy="5330952"/>
          </a:xfrm>
          <a:prstGeom prst="rect">
            <a:avLst/>
          </a:prstGeom>
          <a:solidFill>
            <a:srgbClr val="B7E0E9"/>
          </a:solidFill>
          <a:ln>
            <a:noFill/>
          </a:ln>
        </p:spPr>
      </p:sp>
      <p:sp>
        <p:nvSpPr>
          <p:cNvPr id="70" name="Google Shape;70;p19"/>
          <p:cNvSpPr txBox="1"/>
          <p:nvPr>
            <p:ph idx="1" type="body"/>
          </p:nvPr>
        </p:nvSpPr>
        <p:spPr>
          <a:xfrm>
            <a:off x="676656" y="5909735"/>
            <a:ext cx="9229344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 sz="1400">
                <a:solidFill>
                  <a:srgbClr val="262626"/>
                </a:solidFill>
              </a:defRPr>
            </a:lvl1pPr>
            <a:lvl2pPr indent="-228600" lvl="1" marL="914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0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4170426" y="-1482090"/>
            <a:ext cx="3766185" cy="10753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1pPr>
            <a:lvl2pPr indent="-342900" lvl="1" marL="914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2pPr>
            <a:lvl3pPr indent="-342900" lvl="2" marL="1371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3pPr>
            <a:lvl4pPr indent="-342900" lvl="3" marL="1828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4pPr>
            <a:lvl5pPr indent="-342900" lvl="4" marL="22860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5pPr>
            <a:lvl6pPr indent="-342900" lvl="5" marL="27432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6pPr>
            <a:lvl7pPr indent="-342900" lvl="6" marL="3200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7pPr>
            <a:lvl8pPr indent="-342900" lvl="7" marL="3657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8pPr>
            <a:lvl9pPr indent="-342900" lvl="8" marL="4114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 txBox="1"/>
          <p:nvPr>
            <p:ph type="title"/>
          </p:nvPr>
        </p:nvSpPr>
        <p:spPr>
          <a:xfrm rot="5400000">
            <a:off x="7658100" y="1781175"/>
            <a:ext cx="48006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" type="body"/>
          </p:nvPr>
        </p:nvSpPr>
        <p:spPr>
          <a:xfrm rot="5400000">
            <a:off x="1938338" y="-452437"/>
            <a:ext cx="5400675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1pPr>
            <a:lvl2pPr indent="-342900" lvl="1" marL="914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2pPr>
            <a:lvl3pPr indent="-342900" lvl="2" marL="1371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3pPr>
            <a:lvl4pPr indent="-342900" lvl="3" marL="1828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4pPr>
            <a:lvl5pPr indent="-342900" lvl="4" marL="22860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5pPr>
            <a:lvl6pPr indent="-342900" lvl="5" marL="27432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6pPr>
            <a:lvl7pPr indent="-342900" lvl="6" marL="32004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7pPr>
            <a:lvl8pPr indent="-342900" lvl="7" marL="36576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8pPr>
            <a:lvl9pPr indent="-342900" lvl="8" marL="41148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10" type="dt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1"/>
          <p:cNvSpPr txBox="1"/>
          <p:nvPr>
            <p:ph idx="11" type="ftr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Calibri"/>
              <a:buNone/>
              <a:defRPr b="0" i="0" sz="5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0"/>
          <p:cNvSpPr txBox="1"/>
          <p:nvPr>
            <p:ph idx="1" type="body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Char char=" "/>
              <a:defRPr b="0" i="0" sz="2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Char char=" "/>
              <a:defRPr b="0" i="0" sz="2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Arial"/>
              <a:buChar char=" "/>
              <a:defRPr b="0" i="1" sz="20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Char char=" 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Char char=" 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Char char=" 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Char char=" 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Char char=" 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Char char=" 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0" type="dt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>
            <p:ph type="ctrTitle"/>
          </p:nvPr>
        </p:nvSpPr>
        <p:spPr>
          <a:xfrm>
            <a:off x="603504" y="770467"/>
            <a:ext cx="10782300" cy="3352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0"/>
              <a:buFont typeface="Calibri"/>
              <a:buNone/>
            </a:pPr>
            <a:r>
              <a:rPr lang="es-CO"/>
              <a:t>JSON</a:t>
            </a:r>
            <a:endParaRPr/>
          </a:p>
        </p:txBody>
      </p:sp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667512" y="4206876"/>
            <a:ext cx="9228201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rPr lang="es-CO"/>
              <a:t>Julio Carreño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Calibri"/>
              <a:buNone/>
            </a:pPr>
            <a:r>
              <a:rPr lang="es-CO"/>
              <a:t>JSON</a:t>
            </a:r>
            <a:endParaRPr/>
          </a:p>
        </p:txBody>
      </p:sp>
      <p:sp>
        <p:nvSpPr>
          <p:cNvPr id="97" name="Google Shape;97;p2"/>
          <p:cNvSpPr txBox="1"/>
          <p:nvPr>
            <p:ph idx="1" type="body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alibri"/>
              <a:buAutoNum type="arabicPeriod"/>
            </a:pPr>
            <a:r>
              <a:rPr lang="es-CO" sz="2800"/>
              <a:t>JSON significa Notación de objetos JavaScript.</a:t>
            </a:r>
            <a:endParaRPr/>
          </a:p>
          <a:p>
            <a:pPr indent="-514350" lvl="0" marL="51435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alibri"/>
              <a:buAutoNum type="arabicPeriod"/>
            </a:pPr>
            <a:r>
              <a:rPr lang="es-CO" sz="2800"/>
              <a:t>Es un formato de archivo estándar abierto que se utiliza para las comunicaciones navegador-servidor. </a:t>
            </a:r>
            <a:br>
              <a:rPr lang="es-CO" sz="2800"/>
            </a:br>
            <a:r>
              <a:rPr lang="es-CO" sz="2800"/>
              <a:t>Es un formato de datos independiente del idioma.</a:t>
            </a:r>
            <a:br>
              <a:rPr lang="es-CO" sz="2800"/>
            </a:br>
            <a:r>
              <a:rPr lang="es-CO" sz="2800"/>
              <a:t>Semi - UnStructured</a:t>
            </a:r>
            <a:endParaRPr sz="2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Calibri"/>
              <a:buNone/>
            </a:pPr>
            <a:r>
              <a:rPr lang="es-CO"/>
              <a:t>JSON</a:t>
            </a:r>
            <a:endParaRPr/>
          </a:p>
        </p:txBody>
      </p:sp>
      <p:sp>
        <p:nvSpPr>
          <p:cNvPr id="103" name="Google Shape;103;p3"/>
          <p:cNvSpPr txBox="1"/>
          <p:nvPr>
            <p:ph idx="1" type="body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Calibri"/>
              <a:buAutoNum type="arabicPeriod"/>
            </a:pPr>
            <a:r>
              <a:rPr lang="es-CO" sz="3200"/>
              <a:t>JSON tiene una extensión de archivo de .json</a:t>
            </a:r>
            <a:br>
              <a:rPr lang="es-CO" sz="3200"/>
            </a:br>
            <a:r>
              <a:rPr lang="es-CO" sz="2800"/>
              <a:t>JSON está orientado a datos</a:t>
            </a:r>
            <a:endParaRPr/>
          </a:p>
          <a:p>
            <a:pPr indent="-514350" lvl="0" marL="51435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alibri"/>
              <a:buAutoNum type="arabicPeriod"/>
            </a:pPr>
            <a:r>
              <a:rPr lang="es-CO" sz="2800"/>
              <a:t>XML está orientado a documentos.</a:t>
            </a:r>
            <a:br>
              <a:rPr lang="es-CO" sz="2800"/>
            </a:br>
            <a:r>
              <a:rPr lang="es-CO" sz="2800"/>
              <a:t>Los archivos JSON son más legibles por humanos</a:t>
            </a:r>
            <a:br>
              <a:rPr lang="es-CO" sz="2800"/>
            </a:br>
            <a:r>
              <a:rPr lang="es-CO" sz="2800"/>
              <a:t>JSON key - value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/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Calibri"/>
              <a:buNone/>
            </a:pPr>
            <a:r>
              <a:rPr lang="es-CO"/>
              <a:t>JSON Typical Example</a:t>
            </a:r>
            <a:endParaRPr/>
          </a:p>
        </p:txBody>
      </p:sp>
      <p:sp>
        <p:nvSpPr>
          <p:cNvPr id="109" name="Google Shape;109;p4"/>
          <p:cNvSpPr txBox="1"/>
          <p:nvPr>
            <p:ph idx="1" type="body"/>
          </p:nvPr>
        </p:nvSpPr>
        <p:spPr>
          <a:xfrm>
            <a:off x="609600" y="1925053"/>
            <a:ext cx="2724727" cy="42011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3200" lvl="0" marL="9144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Char char=" "/>
            </a:pPr>
            <a:r>
              <a:rPr lang="es-CO" sz="3200"/>
              <a:t>Object: {}</a:t>
            </a:r>
            <a:endParaRPr/>
          </a:p>
          <a:p>
            <a:pPr indent="-203200" lvl="0" marL="9144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3200"/>
              <a:buChar char=" "/>
            </a:pPr>
            <a:r>
              <a:rPr lang="es-CO" sz="3200"/>
              <a:t>Key: red</a:t>
            </a:r>
            <a:endParaRPr/>
          </a:p>
          <a:p>
            <a:pPr indent="-203200" lvl="0" marL="9144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3200"/>
              <a:buChar char=" "/>
            </a:pPr>
            <a:r>
              <a:rPr lang="es-CO" sz="3200"/>
              <a:t>Value: green</a:t>
            </a:r>
            <a:endParaRPr sz="3200"/>
          </a:p>
        </p:txBody>
      </p:sp>
      <p:pic>
        <p:nvPicPr>
          <p:cNvPr id="110" name="Google Shape;11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99903" y="2143413"/>
            <a:ext cx="2930890" cy="10972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 txBox="1"/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Calibri"/>
              <a:buNone/>
            </a:pPr>
            <a:r>
              <a:rPr lang="es-CO"/>
              <a:t>JSON Nested Objects</a:t>
            </a:r>
            <a:endParaRPr/>
          </a:p>
        </p:txBody>
      </p:sp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68683" y="2564442"/>
            <a:ext cx="4355891" cy="199880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>
            <p:ph idx="1" type="body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7800" lvl="0" marL="9144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Char char=" "/>
            </a:pPr>
            <a:r>
              <a:rPr lang="es-CO" sz="2800"/>
              <a:t>Jerarquía</a:t>
            </a:r>
            <a:endParaRPr/>
          </a:p>
          <a:p>
            <a:pPr indent="-177800" lvl="0" marL="9144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2800"/>
              <a:buChar char=" "/>
            </a:pPr>
            <a:r>
              <a:rPr lang="es-CO" sz="2800"/>
              <a:t>Anidamiento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 txBox="1"/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Calibri"/>
              <a:buNone/>
            </a:pPr>
            <a:r>
              <a:rPr b="1" lang="es-CO"/>
              <a:t>An array of objects</a:t>
            </a:r>
            <a:endParaRPr/>
          </a:p>
        </p:txBody>
      </p:sp>
      <p:sp>
        <p:nvSpPr>
          <p:cNvPr id="123" name="Google Shape;123;p6"/>
          <p:cNvSpPr txBox="1"/>
          <p:nvPr>
            <p:ph idx="1" type="body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7800" lvl="0" marL="9144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Char char=" "/>
            </a:pPr>
            <a:r>
              <a:rPr lang="es-CO" sz="2800"/>
              <a:t>Array:[]</a:t>
            </a:r>
            <a:endParaRPr/>
          </a:p>
        </p:txBody>
      </p:sp>
      <p:pic>
        <p:nvPicPr>
          <p:cNvPr id="124" name="Google Shape;124;p6"/>
          <p:cNvPicPr preferRelativeResize="0"/>
          <p:nvPr/>
        </p:nvPicPr>
        <p:blipFill rotWithShape="1">
          <a:blip r:embed="rId3">
            <a:alphaModFix/>
          </a:blip>
          <a:srcRect b="0" l="0" r="0" t="3009"/>
          <a:stretch/>
        </p:blipFill>
        <p:spPr>
          <a:xfrm>
            <a:off x="3413138" y="1671782"/>
            <a:ext cx="4225334" cy="2531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"/>
          <p:cNvSpPr txBox="1"/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Calibri"/>
              <a:buNone/>
            </a:pPr>
            <a:r>
              <a:rPr b="1" lang="es-CO"/>
              <a:t>Datatypes</a:t>
            </a:r>
            <a:endParaRPr/>
          </a:p>
        </p:txBody>
      </p:sp>
      <p:sp>
        <p:nvSpPr>
          <p:cNvPr id="130" name="Google Shape;130;p7"/>
          <p:cNvSpPr txBox="1"/>
          <p:nvPr>
            <p:ph idx="1" type="body"/>
          </p:nvPr>
        </p:nvSpPr>
        <p:spPr>
          <a:xfrm>
            <a:off x="676654" y="2011676"/>
            <a:ext cx="4013100" cy="28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411480" lvl="0" marL="4572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Calibri"/>
              <a:buAutoNum type="arabicPeriod"/>
            </a:pPr>
            <a:r>
              <a:rPr lang="es-CO"/>
              <a:t>Strings:</a:t>
            </a:r>
            <a:endParaRPr/>
          </a:p>
          <a:p>
            <a:pPr indent="-297180" lvl="1" marL="347472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ct val="100000"/>
              <a:buChar char=" "/>
            </a:pPr>
            <a:r>
              <a:rPr lang="es-CO"/>
              <a:t>{“name”: “Johnny”}</a:t>
            </a:r>
            <a:endParaRPr/>
          </a:p>
          <a:p>
            <a:pPr indent="-411480" lvl="0" marL="45720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Calibri"/>
              <a:buAutoNum type="arabicPeriod"/>
            </a:pPr>
            <a:r>
              <a:rPr lang="es-CO"/>
              <a:t>Number:</a:t>
            </a:r>
            <a:endParaRPr/>
          </a:p>
          <a:p>
            <a:pPr indent="-297180" lvl="1" marL="347472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ct val="100000"/>
              <a:buChar char=" "/>
            </a:pPr>
            <a:r>
              <a:rPr lang="es-CO"/>
              <a:t>{“age”: 21}</a:t>
            </a:r>
            <a:endParaRPr/>
          </a:p>
          <a:p>
            <a:pPr indent="-411480" lvl="0" marL="45720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Calibri"/>
              <a:buAutoNum type="arabicPeriod"/>
            </a:pPr>
            <a:r>
              <a:rPr lang="es-CO"/>
              <a:t>Object:</a:t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ct val="100000"/>
              <a:buNone/>
            </a:pPr>
            <a:r>
              <a:rPr lang="es-CO"/>
              <a:t>{</a:t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ct val="100000"/>
              <a:buNone/>
            </a:pPr>
            <a:r>
              <a:rPr lang="es-CO"/>
              <a:t>“employee”: {“name”: “John”, “age”: 221}</a:t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ct val="100000"/>
              <a:buNone/>
            </a:pPr>
            <a:r>
              <a:rPr lang="es-CO"/>
              <a:t>}</a:t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ct val="100000"/>
              <a:buNone/>
            </a:pPr>
            <a:r>
              <a:rPr lang="es-CO" sz="2000"/>
              <a:t>4. </a:t>
            </a:r>
            <a:r>
              <a:rPr lang="es-CO"/>
              <a:t>Boolean:</a:t>
            </a:r>
            <a:endParaRPr/>
          </a:p>
          <a:p>
            <a:pPr indent="-297180" lvl="1" marL="347472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ct val="100000"/>
              <a:buChar char=" "/>
            </a:pPr>
            <a:r>
              <a:rPr lang="es-CO"/>
              <a:t>{“sale”: true}</a:t>
            </a:r>
            <a:endParaRPr/>
          </a:p>
          <a:p>
            <a:pPr indent="0" lvl="1" marL="4572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ct val="100000"/>
              <a:buNone/>
            </a:pPr>
            <a:r>
              <a:rPr lang="es-CO"/>
              <a:t>5. null value</a:t>
            </a:r>
            <a:endParaRPr/>
          </a:p>
        </p:txBody>
      </p:sp>
      <p:pic>
        <p:nvPicPr>
          <p:cNvPr descr="Text&#10;&#10;Description automatically generated with low confidence" id="131" name="Google Shape;13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5800" y="203096"/>
            <a:ext cx="6520763" cy="2986690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745"/>
              </a:srgbClr>
            </a:outerShdw>
          </a:effectLst>
        </p:spPr>
      </p:pic>
      <p:sp>
        <p:nvSpPr>
          <p:cNvPr id="132" name="Google Shape;132;p7"/>
          <p:cNvSpPr txBox="1"/>
          <p:nvPr/>
        </p:nvSpPr>
        <p:spPr>
          <a:xfrm>
            <a:off x="4926375" y="3189775"/>
            <a:ext cx="6315000" cy="35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52400" lvl="0" marL="9144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s-CO" sz="2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-nombre completo: cadena</a:t>
            </a:r>
            <a:endParaRPr sz="24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9144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s-CO" sz="2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-correo: cadena</a:t>
            </a:r>
            <a:endParaRPr sz="24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9144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s-CO" sz="2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-identificación: numérico</a:t>
            </a:r>
            <a:endParaRPr sz="24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9144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s-CO" sz="2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-becado: (si/no)</a:t>
            </a:r>
            <a:endParaRPr sz="24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9144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s-CO" sz="2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-materias del semestre anterior</a:t>
            </a:r>
            <a:endParaRPr sz="24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347472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s-CO" sz="2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*Nombre de la materia: cadena</a:t>
            </a:r>
            <a:endParaRPr sz="24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347472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s-CO" sz="2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*créditos: numérico</a:t>
            </a:r>
            <a:endParaRPr sz="24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347472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s-CO" sz="2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*aprobó?: si/no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/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Calibri"/>
              <a:buNone/>
            </a:pPr>
            <a:r>
              <a:rPr lang="es-CO"/>
              <a:t>Ejercicio 1</a:t>
            </a:r>
            <a:endParaRPr/>
          </a:p>
        </p:txBody>
      </p:sp>
      <p:sp>
        <p:nvSpPr>
          <p:cNvPr id="138" name="Google Shape;138;p8"/>
          <p:cNvSpPr txBox="1"/>
          <p:nvPr>
            <p:ph idx="1" type="body"/>
          </p:nvPr>
        </p:nvSpPr>
        <p:spPr>
          <a:xfrm>
            <a:off x="676274" y="1684421"/>
            <a:ext cx="10753725" cy="44661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52400" lvl="0" marL="9144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s-CO"/>
              <a:t>https://mongoplayground.net/</a:t>
            </a:r>
            <a:endParaRPr/>
          </a:p>
          <a:p>
            <a:pPr indent="-152400" lvl="0" marL="9144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s-CO"/>
              <a:t>Cree un documento json que contenga los siguientes datos:</a:t>
            </a:r>
            <a:endParaRPr/>
          </a:p>
          <a:p>
            <a:pPr indent="-152400" lvl="0" marL="9144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s-CO"/>
              <a:t>-nombre completo: cadena</a:t>
            </a:r>
            <a:endParaRPr/>
          </a:p>
          <a:p>
            <a:pPr indent="-152400" lvl="0" marL="9144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s-CO"/>
              <a:t>-correo: cadena</a:t>
            </a:r>
            <a:endParaRPr/>
          </a:p>
          <a:p>
            <a:pPr indent="-152400" lvl="0" marL="9144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s-CO"/>
              <a:t>-identificación: numérico</a:t>
            </a:r>
            <a:endParaRPr/>
          </a:p>
          <a:p>
            <a:pPr indent="-152400" lvl="0" marL="9144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s-CO"/>
              <a:t>-becado: (si/no)</a:t>
            </a:r>
            <a:endParaRPr/>
          </a:p>
          <a:p>
            <a:pPr indent="-152400" lvl="0" marL="9144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s-CO"/>
              <a:t>-materias del semestre anterior</a:t>
            </a:r>
            <a:endParaRPr/>
          </a:p>
          <a:p>
            <a:pPr indent="-342900" lvl="1" marL="347472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s-CO"/>
              <a:t>*Nombre de la materia: cadena</a:t>
            </a:r>
            <a:endParaRPr/>
          </a:p>
          <a:p>
            <a:pPr indent="-342900" lvl="1" marL="347472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s-CO"/>
              <a:t>*créditos: numérico</a:t>
            </a:r>
            <a:endParaRPr/>
          </a:p>
          <a:p>
            <a:pPr indent="-342900" lvl="1" marL="347472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s-CO"/>
              <a:t>*aprobó?: si/no</a:t>
            </a:r>
            <a:endParaRPr/>
          </a:p>
          <a:p>
            <a:pPr indent="-190500" lvl="1" marL="347472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/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Calibri"/>
              <a:buNone/>
            </a:pPr>
            <a:r>
              <a:rPr lang="es-CO"/>
              <a:t>Referencias</a:t>
            </a:r>
            <a:endParaRPr/>
          </a:p>
        </p:txBody>
      </p:sp>
      <p:sp>
        <p:nvSpPr>
          <p:cNvPr id="144" name="Google Shape;144;p9"/>
          <p:cNvSpPr txBox="1"/>
          <p:nvPr>
            <p:ph idx="1" type="body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52400" lvl="0" marL="9144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s-CO"/>
              <a:t>Modern Database Management.10th Edition. Jeffrey A. Hoffer, V. Ramesh, Heikki Topi. 2018 Pearson Education, Inc.  Publishing as Prentice Hall.</a:t>
            </a:r>
            <a:endParaRPr/>
          </a:p>
          <a:p>
            <a:pPr indent="-177800" lvl="0" marL="9144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2800"/>
              <a:buChar char=" "/>
            </a:pPr>
            <a:r>
              <a:rPr lang="es-CO" sz="2800"/>
              <a:t>https://www.educba.com/what-is-nosql-database/?source=leftnav</a:t>
            </a:r>
            <a:endParaRPr/>
          </a:p>
          <a:p>
            <a:pPr indent="0" lvl="0" marL="9144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etropolitan">
  <a:themeElements>
    <a:clrScheme name="Metropolitan">
      <a:dk1>
        <a:srgbClr val="000000"/>
      </a:dk1>
      <a:lt1>
        <a:srgbClr val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2019-05-10T15:18:05Z</dcterms:created>
  <dc:creator>Julio Ernesto Carreno Vargas</dc:creator>
</cp:coreProperties>
</file>