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1"/>
    <p:sldMasterId id="2147483850" r:id="rId2"/>
    <p:sldMasterId id="2147484123" r:id="rId3"/>
    <p:sldMasterId id="2147484217" r:id="rId4"/>
    <p:sldMasterId id="2147484229" r:id="rId5"/>
    <p:sldMasterId id="2147484241" r:id="rId6"/>
    <p:sldMasterId id="2147484253" r:id="rId7"/>
  </p:sldMasterIdLst>
  <p:notesMasterIdLst>
    <p:notesMasterId r:id="rId32"/>
  </p:notesMasterIdLst>
  <p:sldIdLst>
    <p:sldId id="348" r:id="rId8"/>
    <p:sldId id="257" r:id="rId9"/>
    <p:sldId id="258" r:id="rId10"/>
    <p:sldId id="259" r:id="rId11"/>
    <p:sldId id="276" r:id="rId12"/>
    <p:sldId id="261" r:id="rId13"/>
    <p:sldId id="268" r:id="rId14"/>
    <p:sldId id="299" r:id="rId15"/>
    <p:sldId id="293" r:id="rId16"/>
    <p:sldId id="271" r:id="rId17"/>
    <p:sldId id="294" r:id="rId18"/>
    <p:sldId id="262" r:id="rId19"/>
    <p:sldId id="269" r:id="rId20"/>
    <p:sldId id="265" r:id="rId21"/>
    <p:sldId id="266" r:id="rId22"/>
    <p:sldId id="264" r:id="rId23"/>
    <p:sldId id="277" r:id="rId24"/>
    <p:sldId id="300" r:id="rId25"/>
    <p:sldId id="301" r:id="rId26"/>
    <p:sldId id="263" r:id="rId27"/>
    <p:sldId id="274" r:id="rId28"/>
    <p:sldId id="272" r:id="rId29"/>
    <p:sldId id="278" r:id="rId30"/>
    <p:sldId id="275" r:id="rId3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65C721-850A-4EFA-8851-AFE5030C6677}" type="datetimeFigureOut">
              <a:rPr lang="es-CO" smtClean="0"/>
              <a:t>20/03/2023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081DD6-E821-4580-9C63-064C1CF48841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12618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3D9C1-3067-4E8C-B47A-A5C897D2AA4A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4507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F7AA7-948B-4AC6-AD09-9F57D9BA29CF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44258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42579-7CD2-477D-B04A-D001115463C6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9974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233E1-FBA2-41ED-945E-2030F44F9AE3}" type="datetime1">
              <a:rPr lang="es-CO" smtClean="0"/>
              <a:t>20/03/2023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35889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DAB9-A1B5-4582-851F-61D2FD631887}" type="datetime1">
              <a:rPr lang="es-CO" smtClean="0"/>
              <a:t>20/03/2023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696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B2DC-A029-4040-99FD-61625897339A}" type="datetime1">
              <a:rPr lang="es-CO" smtClean="0"/>
              <a:t>20/03/2023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300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4FC54-AD56-44EB-89B4-B65AC6A9997B}" type="datetime1">
              <a:rPr lang="es-CO" smtClean="0"/>
              <a:t>20/03/2023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6063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6B91B-5360-405A-8FAF-1694E71DDC27}" type="datetime1">
              <a:rPr lang="es-CO" smtClean="0"/>
              <a:t>20/03/2023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8625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BFE65-A217-4C25-94F5-3E4F1D239F05}" type="datetime1">
              <a:rPr lang="es-CO" smtClean="0"/>
              <a:t>20/03/2023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785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81B52-4BAD-42EA-8B8B-E413B3BE19A3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44350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CD6D7-473A-4E17-9FDD-9D654B7D1B07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4240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3D9C1-3067-4E8C-B47A-A5C897D2AA4A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8811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F7AA7-948B-4AC6-AD09-9F57D9BA29CF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335573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42579-7CD2-477D-B04A-D001115463C6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90289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233E1-FBA2-41ED-945E-2030F44F9AE3}" type="datetime1">
              <a:rPr lang="es-CO" smtClean="0"/>
              <a:t>20/03/2023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131362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DAB9-A1B5-4582-851F-61D2FD631887}" type="datetime1">
              <a:rPr lang="es-CO" smtClean="0"/>
              <a:t>20/03/2023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1881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B2DC-A029-4040-99FD-61625897339A}" type="datetime1">
              <a:rPr lang="es-CO" smtClean="0"/>
              <a:t>20/03/2023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6282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4FC54-AD56-44EB-89B4-B65AC6A9997B}" type="datetime1">
              <a:rPr lang="es-CO" smtClean="0"/>
              <a:t>20/03/2023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85339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6B91B-5360-405A-8FAF-1694E71DDC27}" type="datetime1">
              <a:rPr lang="es-CO" smtClean="0"/>
              <a:t>20/03/2023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54612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BFE65-A217-4C25-94F5-3E4F1D239F05}" type="datetime1">
              <a:rPr lang="es-CO" smtClean="0"/>
              <a:t>20/03/2023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71332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81B52-4BAD-42EA-8B8B-E413B3BE19A3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85237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CD6D7-473A-4E17-9FDD-9D654B7D1B07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17050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3D9C1-3067-4E8C-B47A-A5C897D2AA4A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55151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F7AA7-948B-4AC6-AD09-9F57D9BA29CF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53508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42579-7CD2-477D-B04A-D001115463C6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90237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233E1-FBA2-41ED-945E-2030F44F9AE3}" type="datetime1">
              <a:rPr lang="es-CO" smtClean="0"/>
              <a:t>20/03/2023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697334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DAB9-A1B5-4582-851F-61D2FD631887}" type="datetime1">
              <a:rPr lang="es-CO" smtClean="0"/>
              <a:t>20/03/2023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6181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B2DC-A029-4040-99FD-61625897339A}" type="datetime1">
              <a:rPr lang="es-CO" smtClean="0"/>
              <a:t>20/03/2023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4804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4FC54-AD56-44EB-89B4-B65AC6A9997B}" type="datetime1">
              <a:rPr lang="es-CO" smtClean="0"/>
              <a:t>20/03/2023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895687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6B91B-5360-405A-8FAF-1694E71DDC27}" type="datetime1">
              <a:rPr lang="es-CO" smtClean="0"/>
              <a:t>20/03/2023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673081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BFE65-A217-4C25-94F5-3E4F1D239F05}" type="datetime1">
              <a:rPr lang="es-CO" smtClean="0"/>
              <a:t>20/03/2023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979814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81B52-4BAD-42EA-8B8B-E413B3BE19A3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800620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CD6D7-473A-4E17-9FDD-9D654B7D1B07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2142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3D9C1-3067-4E8C-B47A-A5C897D2AA4A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18723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F7AA7-948B-4AC6-AD09-9F57D9BA29CF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419722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42579-7CD2-477D-B04A-D001115463C6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413833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233E1-FBA2-41ED-945E-2030F44F9AE3}" type="datetime1">
              <a:rPr lang="es-CO" smtClean="0"/>
              <a:t>20/03/2023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178411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DAB9-A1B5-4582-851F-61D2FD631887}" type="datetime1">
              <a:rPr lang="es-CO" smtClean="0"/>
              <a:t>20/03/2023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26445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B2DC-A029-4040-99FD-61625897339A}" type="datetime1">
              <a:rPr lang="es-CO" smtClean="0"/>
              <a:t>20/03/2023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25122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4FC54-AD56-44EB-89B4-B65AC6A9997B}" type="datetime1">
              <a:rPr lang="es-CO" smtClean="0"/>
              <a:t>20/03/2023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2933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6B91B-5360-405A-8FAF-1694E71DDC27}" type="datetime1">
              <a:rPr lang="es-CO" smtClean="0"/>
              <a:t>20/03/2023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52349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BFE65-A217-4C25-94F5-3E4F1D239F05}" type="datetime1">
              <a:rPr lang="es-CO" smtClean="0"/>
              <a:t>20/03/2023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936464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81B52-4BAD-42EA-8B8B-E413B3BE19A3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7962833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CD6D7-473A-4E17-9FDD-9D654B7D1B07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9926498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3D9C1-3067-4E8C-B47A-A5C897D2AA4A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036648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F7AA7-948B-4AC6-AD09-9F57D9BA29CF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314239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42579-7CD2-477D-B04A-D001115463C6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669552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233E1-FBA2-41ED-945E-2030F44F9AE3}" type="datetime1">
              <a:rPr lang="es-CO" smtClean="0"/>
              <a:t>20/03/2023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2822432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DAB9-A1B5-4582-851F-61D2FD631887}" type="datetime1">
              <a:rPr lang="es-CO" smtClean="0"/>
              <a:t>20/03/2023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76655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B2DC-A029-4040-99FD-61625897339A}" type="datetime1">
              <a:rPr lang="es-CO" smtClean="0"/>
              <a:t>20/03/2023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91490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4FC54-AD56-44EB-89B4-B65AC6A9997B}" type="datetime1">
              <a:rPr lang="es-CO" smtClean="0"/>
              <a:t>20/03/2023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649885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6B91B-5360-405A-8FAF-1694E71DDC27}" type="datetime1">
              <a:rPr lang="es-CO" smtClean="0"/>
              <a:t>20/03/2023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270752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BFE65-A217-4C25-94F5-3E4F1D239F05}" type="datetime1">
              <a:rPr lang="es-CO" smtClean="0"/>
              <a:t>20/03/2023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138474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81B52-4BAD-42EA-8B8B-E413B3BE19A3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1012526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CD6D7-473A-4E17-9FDD-9D654B7D1B07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059438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BCA3D9C1-3067-4E8C-B47A-A5C897D2AA4A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788547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F7AA7-948B-4AC6-AD09-9F57D9BA29CF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002592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42579-7CD2-477D-B04A-D001115463C6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7068118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233E1-FBA2-41ED-945E-2030F44F9AE3}" type="datetime1">
              <a:rPr lang="es-CO" smtClean="0"/>
              <a:t>20/03/2023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76105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DAB9-A1B5-4582-851F-61D2FD631887}" type="datetime1">
              <a:rPr lang="es-CO" smtClean="0"/>
              <a:t>20/03/2023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615739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B2DC-A029-4040-99FD-61625897339A}" type="datetime1">
              <a:rPr lang="es-CO" smtClean="0"/>
              <a:t>20/03/2023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50700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4FC54-AD56-44EB-89B4-B65AC6A9997B}" type="datetime1">
              <a:rPr lang="es-CO" smtClean="0"/>
              <a:t>20/03/2023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9634954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6B91B-5360-405A-8FAF-1694E71DDC27}" type="datetime1">
              <a:rPr lang="es-CO" smtClean="0"/>
              <a:t>20/03/2023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85988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BFE65-A217-4C25-94F5-3E4F1D239F05}" type="datetime1">
              <a:rPr lang="es-CO" smtClean="0"/>
              <a:t>20/03/2023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860792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81B52-4BAD-42EA-8B8B-E413B3BE19A3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5072489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CD6D7-473A-4E17-9FDD-9D654B7D1B07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589461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fld id="{ACDF6120-F1F0-4C60-9FE9-39AC71A9C79D}" type="datetimeFigureOut">
              <a:rPr lang="en-US" smtClean="0"/>
              <a:pPr/>
              <a:t>3/20/2023</a:t>
            </a:fld>
            <a:endParaRPr lang="en-US" sz="1600" dirty="0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pPr>
              <a:defRPr/>
            </a:pPr>
            <a:r>
              <a:rPr lang="es-ES"/>
              <a:t>Módulo: &lt;modulo&gt; Autor: &lt;Autor&gt; . No.</a:t>
            </a:r>
            <a:fld id="{A44E33E1-B22B-49F7-B763-F53C4F8A1B9D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  <p:sp>
        <p:nvSpPr>
          <p:cNvPr id="21" name="20 Rectángulo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32 Rectángulo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21 Rectángulo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31 Rectángulo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  <p:extLst>
      <p:ext uri="{BB962C8B-B14F-4D97-AF65-F5344CB8AC3E}">
        <p14:creationId xmlns:p14="http://schemas.microsoft.com/office/powerpoint/2010/main" val="217607801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3/20/2023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Diplomado en Desarrollo de Aplicaciones para Internet 2008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90531710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fld id="{ACDF6120-F1F0-4C60-9FE9-39AC71A9C79D}" type="datetimeFigureOut">
              <a:rPr lang="en-US" smtClean="0"/>
              <a:pPr/>
              <a:t>3/20/2023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6 Rectángulo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7 Rectángulo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  <p:extLst>
      <p:ext uri="{BB962C8B-B14F-4D97-AF65-F5344CB8AC3E}">
        <p14:creationId xmlns:p14="http://schemas.microsoft.com/office/powerpoint/2010/main" val="18667005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3/20/2023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071758992"/>
      </p:ext>
    </p:extLst>
  </p:cSld>
  <p:clrMapOvr>
    <a:masterClrMapping/>
  </p:clrMapOvr>
  <p:hf sldNum="0" hd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3/20/2023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341498486"/>
      </p:ext>
    </p:extLst>
  </p:cSld>
  <p:clrMapOvr>
    <a:masterClrMapping/>
  </p:clrMapOvr>
  <p:hf sldNum="0" hd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3/20/2023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5 Triángulo isósceles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  <p:extLst>
      <p:ext uri="{BB962C8B-B14F-4D97-AF65-F5344CB8AC3E}">
        <p14:creationId xmlns:p14="http://schemas.microsoft.com/office/powerpoint/2010/main" val="391645045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3/20/2023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4 Conector recto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5 Triángulo isósceles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  <p:extLst>
      <p:ext uri="{BB962C8B-B14F-4D97-AF65-F5344CB8AC3E}">
        <p14:creationId xmlns:p14="http://schemas.microsoft.com/office/powerpoint/2010/main" val="2995678404"/>
      </p:ext>
    </p:extLst>
  </p:cSld>
  <p:clrMapOvr>
    <a:masterClrMapping/>
  </p:clrMapOvr>
  <p:hf sldNum="0" hdr="0" dt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3/20/2023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8 Triángulo isósceles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11 Marcador de contenido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458954794"/>
      </p:ext>
    </p:extLst>
  </p:cSld>
  <p:clrMapOvr>
    <a:masterClrMapping/>
  </p:clrMapOvr>
  <p:hf sldNum="0" hdr="0" dt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3/20/2023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8 Triángulo isósceles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9 Rectángulo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  <p:extLst>
      <p:ext uri="{BB962C8B-B14F-4D97-AF65-F5344CB8AC3E}">
        <p14:creationId xmlns:p14="http://schemas.microsoft.com/office/powerpoint/2010/main" val="1615371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dt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3/20/2023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771594326"/>
      </p:ext>
    </p:extLst>
  </p:cSld>
  <p:clrMapOvr>
    <a:masterClrMapping/>
  </p:clrMapOvr>
  <p:hf sldNum="0" hdr="0" dt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3/20/2023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7 Triángulo isósceles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  <p:extLst>
      <p:ext uri="{BB962C8B-B14F-4D97-AF65-F5344CB8AC3E}">
        <p14:creationId xmlns:p14="http://schemas.microsoft.com/office/powerpoint/2010/main" val="962376181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85304B4-E2E6-409B-BA5A-632304FBFBEB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6402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85304B4-E2E6-409B-BA5A-632304FBFBEB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9083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85304B4-E2E6-409B-BA5A-632304FBFBEB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96867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4" r:id="rId1"/>
    <p:sldLayoutId id="2147484125" r:id="rId2"/>
    <p:sldLayoutId id="2147484126" r:id="rId3"/>
    <p:sldLayoutId id="2147484127" r:id="rId4"/>
    <p:sldLayoutId id="2147484128" r:id="rId5"/>
    <p:sldLayoutId id="2147484129" r:id="rId6"/>
    <p:sldLayoutId id="2147484130" r:id="rId7"/>
    <p:sldLayoutId id="2147484131" r:id="rId8"/>
    <p:sldLayoutId id="2147484132" r:id="rId9"/>
    <p:sldLayoutId id="2147484133" r:id="rId10"/>
    <p:sldLayoutId id="214748413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85304B4-E2E6-409B-BA5A-632304FBFBEB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60214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8" r:id="rId1"/>
    <p:sldLayoutId id="2147484219" r:id="rId2"/>
    <p:sldLayoutId id="2147484220" r:id="rId3"/>
    <p:sldLayoutId id="2147484221" r:id="rId4"/>
    <p:sldLayoutId id="2147484222" r:id="rId5"/>
    <p:sldLayoutId id="2147484223" r:id="rId6"/>
    <p:sldLayoutId id="2147484224" r:id="rId7"/>
    <p:sldLayoutId id="2147484225" r:id="rId8"/>
    <p:sldLayoutId id="2147484226" r:id="rId9"/>
    <p:sldLayoutId id="2147484227" r:id="rId10"/>
    <p:sldLayoutId id="214748422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85304B4-E2E6-409B-BA5A-632304FBFBEB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3634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0" r:id="rId1"/>
    <p:sldLayoutId id="2147484231" r:id="rId2"/>
    <p:sldLayoutId id="2147484232" r:id="rId3"/>
    <p:sldLayoutId id="2147484233" r:id="rId4"/>
    <p:sldLayoutId id="2147484234" r:id="rId5"/>
    <p:sldLayoutId id="2147484235" r:id="rId6"/>
    <p:sldLayoutId id="2147484236" r:id="rId7"/>
    <p:sldLayoutId id="2147484237" r:id="rId8"/>
    <p:sldLayoutId id="2147484238" r:id="rId9"/>
    <p:sldLayoutId id="2147484239" r:id="rId10"/>
    <p:sldLayoutId id="2147484240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285304B4-E2E6-409B-BA5A-632304FBFBEB}" type="datetime1">
              <a:rPr lang="es-CO" smtClean="0"/>
              <a:t>20/03/2023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2E3B657C-F2CB-4A30-BD03-C9A283B71B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38876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2" r:id="rId1"/>
    <p:sldLayoutId id="2147484243" r:id="rId2"/>
    <p:sldLayoutId id="2147484244" r:id="rId3"/>
    <p:sldLayoutId id="2147484245" r:id="rId4"/>
    <p:sldLayoutId id="2147484246" r:id="rId5"/>
    <p:sldLayoutId id="2147484247" r:id="rId6"/>
    <p:sldLayoutId id="2147484248" r:id="rId7"/>
    <p:sldLayoutId id="2147484249" r:id="rId8"/>
    <p:sldLayoutId id="2147484250" r:id="rId9"/>
    <p:sldLayoutId id="2147484251" r:id="rId10"/>
    <p:sldLayoutId id="214748425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CDF6120-F1F0-4C60-9FE9-39AC71A9C79D}" type="datetimeFigureOut">
              <a:rPr lang="en-US" smtClean="0"/>
              <a:pPr/>
              <a:t>3/20/2023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27 Conector recto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28 Conector recto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9 Triángulo isósceles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  <p:extLst>
      <p:ext uri="{BB962C8B-B14F-4D97-AF65-F5344CB8AC3E}">
        <p14:creationId xmlns:p14="http://schemas.microsoft.com/office/powerpoint/2010/main" val="333613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4" r:id="rId1"/>
    <p:sldLayoutId id="2147484255" r:id="rId2"/>
    <p:sldLayoutId id="2147484256" r:id="rId3"/>
    <p:sldLayoutId id="2147484257" r:id="rId4"/>
    <p:sldLayoutId id="2147484258" r:id="rId5"/>
    <p:sldLayoutId id="2147484259" r:id="rId6"/>
    <p:sldLayoutId id="2147484260" r:id="rId7"/>
    <p:sldLayoutId id="2147484261" r:id="rId8"/>
    <p:sldLayoutId id="2147484262" r:id="rId9"/>
    <p:sldLayoutId id="2147484263" r:id="rId10"/>
    <p:sldLayoutId id="2147484264" r:id="rId11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7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s-es/sql/t-sql/functions/analytic-functions-transact-sql" TargetMode="External"/><Relationship Id="rId2" Type="http://schemas.openxmlformats.org/officeDocument/2006/relationships/hyperlink" Target="https://technet.microsoft.com/es-es/library/bb522495(v=sql.105).aspx" TargetMode="External"/><Relationship Id="rId1" Type="http://schemas.openxmlformats.org/officeDocument/2006/relationships/slideLayout" Target="../slideLayouts/slideLayout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97893" y="3763927"/>
            <a:ext cx="7088372" cy="111287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800" dirty="0"/>
              <a:t>Bases de </a:t>
            </a:r>
            <a:r>
              <a:rPr lang="en-US" sz="2800" dirty="0" err="1"/>
              <a:t>Datos</a:t>
            </a:r>
            <a:br>
              <a:rPr lang="en-US" sz="2800" dirty="0"/>
            </a:br>
            <a:r>
              <a:rPr lang="en-US" sz="2800" dirty="0"/>
              <a:t>SQL para </a:t>
            </a:r>
            <a:r>
              <a:rPr lang="en-US" sz="2800" dirty="0" err="1"/>
              <a:t>Análisis</a:t>
            </a:r>
            <a:r>
              <a:rPr lang="en-US" sz="2800" dirty="0"/>
              <a:t> I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Ing. Julio Ernesto Carreño Vargas Msc.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Consultas Analíticas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SQL tiene la posibilidad de responder consultas de análisis de datos</a:t>
            </a:r>
          </a:p>
          <a:p>
            <a:pPr marL="0" indent="0">
              <a:buNone/>
            </a:pP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E3B657C-F2CB-4A30-BD03-C9A283B71B67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6900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Consultas Analíticas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Las consultas de análisis de datos o consultas de negocio se utilizan en ambientes OLAP (procesamiento analítico de datos)</a:t>
            </a:r>
          </a:p>
          <a:p>
            <a:pPr lvl="1"/>
            <a:r>
              <a:rPr lang="es-CO" dirty="0"/>
              <a:t>Tablas de resúmenes</a:t>
            </a:r>
          </a:p>
          <a:p>
            <a:pPr lvl="1"/>
            <a:r>
              <a:rPr lang="es-CO" dirty="0"/>
              <a:t>Promedios móviles</a:t>
            </a:r>
          </a:p>
          <a:p>
            <a:pPr lvl="1"/>
            <a:r>
              <a:rPr lang="es-CO" dirty="0"/>
              <a:t>Porcentaje de participación</a:t>
            </a:r>
          </a:p>
          <a:p>
            <a:pPr lvl="1"/>
            <a:r>
              <a:rPr lang="es-CO" dirty="0"/>
              <a:t>Sumas acumuladas</a:t>
            </a:r>
          </a:p>
          <a:p>
            <a:pPr lvl="1"/>
            <a:r>
              <a:rPr lang="es-CO" dirty="0"/>
              <a:t>Otras funciones estadísticas</a:t>
            </a:r>
          </a:p>
          <a:p>
            <a:pPr lvl="1"/>
            <a:r>
              <a:rPr lang="es-CO" dirty="0"/>
              <a:t>Porcentajes o resultados de N valores superiores dentro de un grupo.</a:t>
            </a:r>
          </a:p>
          <a:p>
            <a:pPr marL="0" indent="0">
              <a:buNone/>
            </a:pP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E3B657C-F2CB-4A30-BD03-C9A283B71B67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58000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Funciones Analíticas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Las funciones analíticas calculan un valor agregado basándose en un grupo de filas. </a:t>
            </a:r>
          </a:p>
          <a:p>
            <a:r>
              <a:rPr lang="es-ES" dirty="0"/>
              <a:t>Sin embargo, a diferencia de las funciones de agregado, pueden devolver varias filas para cada grupo.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E3B657C-F2CB-4A30-BD03-C9A283B71B67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89650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Funciones Analíticas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El SQL estándar tiene unas extensiones que permiten realizar cálculos para responder a las consultas de análisis de datos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E3B657C-F2CB-4A30-BD03-C9A283B71B67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07305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8421" y="365760"/>
            <a:ext cx="11496906" cy="1325562"/>
          </a:xfrm>
        </p:spPr>
        <p:txBody>
          <a:bodyPr>
            <a:normAutofit/>
          </a:bodyPr>
          <a:lstStyle/>
          <a:p>
            <a:r>
              <a:rPr lang="es-CO" dirty="0"/>
              <a:t>Capacidades Extendidas de Agrupamiento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La agregación es una parte fundamental de las consultas analíticas</a:t>
            </a:r>
          </a:p>
          <a:p>
            <a:r>
              <a:rPr lang="es-CO" dirty="0"/>
              <a:t>Para mejorar las capacidades de agregación SQL provee extensiones a la cláusula GROUP BY como son:</a:t>
            </a:r>
          </a:p>
          <a:p>
            <a:pPr lvl="1"/>
            <a:r>
              <a:rPr lang="es-CO" dirty="0"/>
              <a:t>ROLLUP</a:t>
            </a:r>
          </a:p>
          <a:p>
            <a:pPr lvl="1"/>
            <a:r>
              <a:rPr lang="es-CO" dirty="0"/>
              <a:t>CUBE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E3B657C-F2CB-4A30-BD03-C9A283B71B67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3620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Datos Ejemplo: tabla Empleado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E3B657C-F2CB-4A30-BD03-C9A283B71B67}" type="slidenum">
              <a:rPr lang="es-CO" smtClean="0"/>
              <a:t>7</a:t>
            </a:fld>
            <a:endParaRPr lang="es-CO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409" y="1989563"/>
            <a:ext cx="5180322" cy="18018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408" y="4089655"/>
            <a:ext cx="5264505" cy="20825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77505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Tabla Sales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E3B657C-F2CB-4A30-BD03-C9A283B71B67}" type="slidenum">
              <a:rPr lang="es-CO" smtClean="0"/>
              <a:t>8</a:t>
            </a:fld>
            <a:endParaRPr lang="es-CO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056" y="1917196"/>
            <a:ext cx="5893823" cy="15173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535" y="4193903"/>
            <a:ext cx="3135316" cy="14263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10808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GROUP BY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Una cláusula de la instrucción SELECT que divide el resultado de la consulta en grupos de filas, normalmente con el fin de realizar una o varias agregaciones en cada grupo. </a:t>
            </a:r>
          </a:p>
          <a:p>
            <a:r>
              <a:rPr lang="es-ES" dirty="0"/>
              <a:t>La instrucción SELECT devuelve una fila por cada grupo.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E3B657C-F2CB-4A30-BD03-C9A283B71B67}" type="slidenum">
              <a:rPr lang="es-CO" smtClean="0"/>
              <a:t>9</a:t>
            </a:fld>
            <a:endParaRPr lang="es-CO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689" y="3526359"/>
            <a:ext cx="5419725" cy="8001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4264" y="4901463"/>
            <a:ext cx="3311537" cy="11225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944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70115" y="103868"/>
            <a:ext cx="10515600" cy="799647"/>
          </a:xfrm>
        </p:spPr>
        <p:txBody>
          <a:bodyPr>
            <a:normAutofit/>
          </a:bodyPr>
          <a:lstStyle/>
          <a:p>
            <a:r>
              <a:rPr lang="es-CO" dirty="0" err="1"/>
              <a:t>Group</a:t>
            </a:r>
            <a:r>
              <a:rPr lang="es-CO" dirty="0"/>
              <a:t> </a:t>
            </a:r>
            <a:r>
              <a:rPr lang="es-CO" dirty="0" err="1"/>
              <a:t>by</a:t>
            </a:r>
            <a:r>
              <a:rPr lang="es-CO" dirty="0"/>
              <a:t> con varias Columnas</a:t>
            </a:r>
          </a:p>
        </p:txBody>
      </p:sp>
      <p:sp>
        <p:nvSpPr>
          <p:cNvPr id="16" name="Marcador de número de diapositiva 1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E3B657C-F2CB-4A30-BD03-C9A283B71B67}" type="slidenum">
              <a:rPr lang="es-CO" smtClean="0"/>
              <a:t>10</a:t>
            </a:fld>
            <a:endParaRPr lang="es-CO"/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942" y="1673381"/>
            <a:ext cx="5391150" cy="8572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250" y="3572106"/>
            <a:ext cx="3206534" cy="10556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4204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GROUP BY HAVING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SQL utiliza el HAVING cláusula para filtrar los grupos del conjunto de resultados.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E3B657C-F2CB-4A30-BD03-C9A283B71B67}" type="slidenum">
              <a:rPr lang="es-CO" smtClean="0"/>
              <a:t>11</a:t>
            </a:fld>
            <a:endParaRPr lang="es-CO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264" y="4901463"/>
            <a:ext cx="3311537" cy="11225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5145" y="2690115"/>
            <a:ext cx="5400675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944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70115" y="495753"/>
            <a:ext cx="10515600" cy="799647"/>
          </a:xfrm>
        </p:spPr>
        <p:txBody>
          <a:bodyPr>
            <a:normAutofit/>
          </a:bodyPr>
          <a:lstStyle/>
          <a:p>
            <a:r>
              <a:rPr lang="es-CO" dirty="0"/>
              <a:t>ROLLUP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4106" y="1542596"/>
            <a:ext cx="10241865" cy="4351338"/>
          </a:xfrm>
        </p:spPr>
        <p:txBody>
          <a:bodyPr/>
          <a:lstStyle/>
          <a:p>
            <a:r>
              <a:rPr lang="es-CO" dirty="0"/>
              <a:t>Permite una instrucción SELECT para calcular múltiples niveles de subtotales a través de un grupo especificado de dimensiones. </a:t>
            </a:r>
          </a:p>
          <a:p>
            <a:pPr marL="0" indent="0">
              <a:buNone/>
            </a:pPr>
            <a:endParaRPr lang="es-CO" dirty="0"/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E3B657C-F2CB-4A30-BD03-C9A283B71B67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07289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ROLLUP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ROLLUP aparece en la cláusula GROUP BY en una instrucción SELECT con el siguiente formato:</a:t>
            </a:r>
          </a:p>
          <a:p>
            <a:pPr lvl="1"/>
            <a:r>
              <a:rPr lang="es-CO" dirty="0"/>
              <a:t>GROUP BY lista columnas WITH ROLLUP o GROUP BY ROLLUP(lista de columnas)</a:t>
            </a:r>
          </a:p>
          <a:p>
            <a:pPr marL="0" indent="0">
              <a:buNone/>
            </a:pPr>
            <a:endParaRPr lang="es-CO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E3B657C-F2CB-4A30-BD03-C9A283B71B67}" type="slidenum">
              <a:rPr lang="es-CO" smtClean="0"/>
              <a:t>13</a:t>
            </a:fld>
            <a:endParaRPr lang="es-CO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73" y="3396591"/>
            <a:ext cx="5645314" cy="9680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CuadroTexto 6"/>
          <p:cNvSpPr txBox="1"/>
          <p:nvPr/>
        </p:nvSpPr>
        <p:spPr>
          <a:xfrm>
            <a:off x="3434185" y="4973743"/>
            <a:ext cx="7858655" cy="147732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O" dirty="0" err="1"/>
              <a:t>Group</a:t>
            </a:r>
            <a:r>
              <a:rPr lang="es-CO" dirty="0"/>
              <a:t> </a:t>
            </a:r>
            <a:r>
              <a:rPr lang="es-CO" dirty="0" err="1"/>
              <a:t>by</a:t>
            </a:r>
            <a:r>
              <a:rPr lang="es-CO" dirty="0"/>
              <a:t>: Totalice por departamento</a:t>
            </a:r>
          </a:p>
          <a:p>
            <a:r>
              <a:rPr lang="es-CO" dirty="0" err="1"/>
              <a:t>Rollup</a:t>
            </a:r>
            <a:r>
              <a:rPr lang="es-CO" dirty="0"/>
              <a:t>:      Totalice  departamentos</a:t>
            </a:r>
          </a:p>
          <a:p>
            <a:endParaRPr lang="es-CO" dirty="0"/>
          </a:p>
          <a:p>
            <a:r>
              <a:rPr lang="es-CO" dirty="0"/>
              <a:t>Filas extras marcadas con </a:t>
            </a:r>
            <a:r>
              <a:rPr lang="es-CO" dirty="0" err="1"/>
              <a:t>null</a:t>
            </a:r>
            <a:r>
              <a:rPr lang="es-CO" dirty="0"/>
              <a:t>, aquí indica que es el total de todos los departamentos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73" y="4906537"/>
            <a:ext cx="2556859" cy="15625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370" y="3307395"/>
            <a:ext cx="4972050" cy="10572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53296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ROLLUP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ROLLUP crea subtotales que van desde el nivel más detallado hacia un gran total, siguiendo una lista de columnas especificada en la cláusula ROLLUP.</a:t>
            </a:r>
          </a:p>
          <a:p>
            <a:r>
              <a:rPr lang="es-ES" dirty="0"/>
              <a:t>ROLLUP calcula primero los valores para los agregados estándares especificados en la cláusula GROUP BY y luego crea subtotales en cada nivel, moviéndose de derecha a izquierda a través de la lista de columnas de la lista del GROUP BY y hasta que finalmente termina con un total general.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E3B657C-F2CB-4A30-BD03-C9A283B71B67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99910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8262" y="165038"/>
            <a:ext cx="9692640" cy="844667"/>
          </a:xfrm>
        </p:spPr>
        <p:txBody>
          <a:bodyPr/>
          <a:lstStyle/>
          <a:p>
            <a:r>
              <a:rPr lang="es-CO" dirty="0"/>
              <a:t>ROLLUP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E3B657C-F2CB-4A30-BD03-C9A283B71B67}" type="slidenum">
              <a:rPr lang="es-CO" smtClean="0"/>
              <a:t>15</a:t>
            </a:fld>
            <a:endParaRPr lang="es-CO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02" y="1320904"/>
            <a:ext cx="6567363" cy="12205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377" y="2896489"/>
            <a:ext cx="3034061" cy="28961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7" name="Conector recto de flecha 16"/>
          <p:cNvCxnSpPr/>
          <p:nvPr/>
        </p:nvCxnSpPr>
        <p:spPr>
          <a:xfrm flipH="1">
            <a:off x="3702205" y="2249105"/>
            <a:ext cx="535258" cy="647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/>
          <p:cNvSpPr txBox="1"/>
          <p:nvPr/>
        </p:nvSpPr>
        <p:spPr>
          <a:xfrm>
            <a:off x="4387204" y="3864027"/>
            <a:ext cx="598343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O" dirty="0"/>
              <a:t>El </a:t>
            </a:r>
            <a:r>
              <a:rPr lang="es-CO" dirty="0" err="1"/>
              <a:t>null</a:t>
            </a:r>
            <a:r>
              <a:rPr lang="es-CO" dirty="0"/>
              <a:t> indica que el total aplica para el departamento</a:t>
            </a:r>
          </a:p>
        </p:txBody>
      </p:sp>
      <p:sp>
        <p:nvSpPr>
          <p:cNvPr id="19" name="CuadroTexto 18"/>
          <p:cNvSpPr txBox="1"/>
          <p:nvPr/>
        </p:nvSpPr>
        <p:spPr>
          <a:xfrm>
            <a:off x="4237463" y="5423306"/>
            <a:ext cx="603281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O" dirty="0"/>
              <a:t>Los dos valores </a:t>
            </a:r>
            <a:r>
              <a:rPr lang="es-CO" dirty="0" err="1"/>
              <a:t>null</a:t>
            </a:r>
            <a:r>
              <a:rPr lang="es-CO" dirty="0"/>
              <a:t> indican que el total es general</a:t>
            </a:r>
          </a:p>
        </p:txBody>
      </p:sp>
    </p:spTree>
    <p:extLst>
      <p:ext uri="{BB962C8B-B14F-4D97-AF65-F5344CB8AC3E}">
        <p14:creationId xmlns:p14="http://schemas.microsoft.com/office/powerpoint/2010/main" val="4269693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8576" y="168593"/>
            <a:ext cx="8711332" cy="890773"/>
          </a:xfrm>
        </p:spPr>
        <p:txBody>
          <a:bodyPr/>
          <a:lstStyle/>
          <a:p>
            <a:r>
              <a:rPr lang="es-CO" dirty="0"/>
              <a:t>ROLLUP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48576" y="1159726"/>
            <a:ext cx="8708656" cy="4351337"/>
          </a:xfrm>
        </p:spPr>
        <p:txBody>
          <a:bodyPr/>
          <a:lstStyle/>
          <a:p>
            <a:r>
              <a:rPr lang="es-ES" dirty="0"/>
              <a:t>ROLLUP soporta cálculos usando agregaciones como SUM, COUNT, MAX, MIN y AVG a aumentar los niveles de agregación, desde las más detalladas hasta un total general.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E3B657C-F2CB-4A30-BD03-C9A283B71B67}" type="slidenum">
              <a:rPr lang="es-CO" smtClean="0"/>
              <a:t>16</a:t>
            </a:fld>
            <a:endParaRPr lang="es-CO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04" y="2268594"/>
            <a:ext cx="5818369" cy="9267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643" y="2145930"/>
            <a:ext cx="3630419" cy="44656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1376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90314" y="168593"/>
            <a:ext cx="9069594" cy="890773"/>
          </a:xfrm>
        </p:spPr>
        <p:txBody>
          <a:bodyPr/>
          <a:lstStyle/>
          <a:p>
            <a:r>
              <a:rPr lang="es-CO" dirty="0"/>
              <a:t>ROLLUP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90314" y="1159726"/>
            <a:ext cx="6569491" cy="4351337"/>
          </a:xfrm>
        </p:spPr>
        <p:txBody>
          <a:bodyPr/>
          <a:lstStyle/>
          <a:p>
            <a:r>
              <a:rPr lang="es-ES" dirty="0"/>
              <a:t>En ROLLUP es importante el orden de aparición de las columnas en el GROUP BY.</a:t>
            </a:r>
          </a:p>
          <a:p>
            <a:r>
              <a:rPr lang="es-ES" dirty="0"/>
              <a:t>Un ejemplo de uso de ROLLUP es el de subtotales en jerarquías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E3B657C-F2CB-4A30-BD03-C9A283B71B67}" type="slidenum">
              <a:rPr lang="es-CO" smtClean="0"/>
              <a:t>17</a:t>
            </a:fld>
            <a:endParaRPr lang="es-CO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14" y="3335394"/>
            <a:ext cx="5922719" cy="9238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4637" y="1225854"/>
            <a:ext cx="3070088" cy="51429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0334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79141" y="171460"/>
            <a:ext cx="9692640" cy="1325562"/>
          </a:xfrm>
        </p:spPr>
        <p:txBody>
          <a:bodyPr/>
          <a:lstStyle/>
          <a:p>
            <a:r>
              <a:rPr lang="es-CO" dirty="0"/>
              <a:t>Manejo de NULL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79141" y="1828800"/>
            <a:ext cx="9478091" cy="4351337"/>
          </a:xfrm>
        </p:spPr>
        <p:txBody>
          <a:bodyPr/>
          <a:lstStyle/>
          <a:p>
            <a:r>
              <a:rPr lang="es-ES" dirty="0"/>
              <a:t>Se puede utilizar la función ISNULL para reemplazar a NULL en filas en donde los valores nulos en una columna han sido agrupados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E3B657C-F2CB-4A30-BD03-C9A283B71B67}" type="slidenum">
              <a:rPr lang="es-CO" smtClean="0"/>
              <a:t>18</a:t>
            </a:fld>
            <a:endParaRPr lang="es-CO"/>
          </a:p>
        </p:txBody>
      </p:sp>
      <p:sp>
        <p:nvSpPr>
          <p:cNvPr id="6" name="CuadroTexto 5"/>
          <p:cNvSpPr txBox="1"/>
          <p:nvPr/>
        </p:nvSpPr>
        <p:spPr>
          <a:xfrm>
            <a:off x="5701874" y="2806141"/>
            <a:ext cx="5433321" cy="923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O" dirty="0"/>
              <a:t>La función </a:t>
            </a:r>
            <a:r>
              <a:rPr lang="es-CO" i="1" u="sng" dirty="0" err="1"/>
              <a:t>isnull</a:t>
            </a:r>
            <a:r>
              <a:rPr lang="es-CO" dirty="0"/>
              <a:t> determina si el valor devuelto es nulo en cuyo caso para country retornamos ‘Gran Total’ y ‘’ para la </a:t>
            </a:r>
            <a:r>
              <a:rPr lang="es-CO" dirty="0" err="1"/>
              <a:t>Region</a:t>
            </a:r>
            <a:endParaRPr lang="es-CO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18" y="2802549"/>
            <a:ext cx="4943475" cy="15430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035" y="4706812"/>
            <a:ext cx="3039393" cy="17240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35528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79141" y="171460"/>
            <a:ext cx="9692640" cy="1325562"/>
          </a:xfrm>
        </p:spPr>
        <p:txBody>
          <a:bodyPr/>
          <a:lstStyle/>
          <a:p>
            <a:r>
              <a:rPr lang="es-CO" dirty="0"/>
              <a:t>Manejo de NULL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79141" y="1828800"/>
            <a:ext cx="9478091" cy="4351337"/>
          </a:xfrm>
        </p:spPr>
        <p:txBody>
          <a:bodyPr/>
          <a:lstStyle/>
          <a:p>
            <a:r>
              <a:rPr lang="es-ES" dirty="0"/>
              <a:t>Se puede utilizar la función GROUPING para detectar el cambio de nivel de agrupamiento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E3B657C-F2CB-4A30-BD03-C9A283B71B67}" type="slidenum">
              <a:rPr lang="es-CO" smtClean="0"/>
              <a:t>19</a:t>
            </a:fld>
            <a:endParaRPr lang="es-CO"/>
          </a:p>
        </p:txBody>
      </p:sp>
      <p:sp>
        <p:nvSpPr>
          <p:cNvPr id="7" name="CuadroTexto 6"/>
          <p:cNvSpPr txBox="1"/>
          <p:nvPr/>
        </p:nvSpPr>
        <p:spPr>
          <a:xfrm>
            <a:off x="5848368" y="4944442"/>
            <a:ext cx="4533418" cy="147732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O" dirty="0"/>
              <a:t>GROUPING retorna 0 o 1</a:t>
            </a:r>
          </a:p>
          <a:p>
            <a:r>
              <a:rPr lang="es-CO" dirty="0"/>
              <a:t>1 si hay una agrupación </a:t>
            </a:r>
          </a:p>
          <a:p>
            <a:r>
              <a:rPr lang="es-CO" dirty="0"/>
              <a:t>0 si no hay agrupación</a:t>
            </a:r>
          </a:p>
          <a:p>
            <a:endParaRPr lang="es-CO" dirty="0"/>
          </a:p>
          <a:p>
            <a:r>
              <a:rPr lang="es-CO" dirty="0"/>
              <a:t>Un valor 1 Sería equivalente a NULL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41" y="2573098"/>
            <a:ext cx="5019675" cy="21240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141" y="4944442"/>
            <a:ext cx="5174328" cy="146750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946596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CUBE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CUBE es similar a ROLLUP, permitiendo en una sola declaración calcular </a:t>
            </a:r>
            <a:r>
              <a:rPr lang="es-ES" b="1" i="1" u="sng" dirty="0"/>
              <a:t>todas las combinaciones posibles de las agregaciones</a:t>
            </a:r>
            <a:r>
              <a:rPr lang="es-ES" dirty="0"/>
              <a:t>. </a:t>
            </a:r>
          </a:p>
          <a:p>
            <a:r>
              <a:rPr lang="es-ES" dirty="0"/>
              <a:t>CUBE puede generar la información necesaria en los informes de tabulación cruzada con una sola consulta.</a:t>
            </a:r>
            <a:br>
              <a:rPr lang="es-ES" dirty="0"/>
            </a:b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E3B657C-F2CB-4A30-BD03-C9A283B71B67}" type="slidenum">
              <a:rPr lang="es-CO" smtClean="0"/>
              <a:t>20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5769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CUBE</a:t>
            </a:r>
          </a:p>
        </p:txBody>
      </p:sp>
      <p:sp>
        <p:nvSpPr>
          <p:cNvPr id="4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CUBE aparece en la cláusula GROUP BY en una instrucción SELECT con el siguiente formato:</a:t>
            </a:r>
          </a:p>
          <a:p>
            <a:pPr lvl="1"/>
            <a:r>
              <a:rPr lang="es-CO" dirty="0"/>
              <a:t>GROUP BY lista columnas WITH CUBE</a:t>
            </a:r>
          </a:p>
          <a:p>
            <a:pPr marL="0" indent="0">
              <a:buNone/>
            </a:pPr>
            <a:endParaRPr lang="es-CO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E3B657C-F2CB-4A30-BD03-C9A283B71B67}" type="slidenum">
              <a:rPr lang="es-CO" smtClean="0"/>
              <a:t>21</a:t>
            </a:fld>
            <a:endParaRPr lang="es-CO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367" y="2987043"/>
            <a:ext cx="5753100" cy="1066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367" y="4631241"/>
            <a:ext cx="5743575" cy="10763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243399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7112" y="236379"/>
            <a:ext cx="9692640" cy="1325562"/>
          </a:xfrm>
        </p:spPr>
        <p:txBody>
          <a:bodyPr/>
          <a:lstStyle/>
          <a:p>
            <a:r>
              <a:rPr lang="es-CO" dirty="0"/>
              <a:t>CUBE</a:t>
            </a:r>
          </a:p>
        </p:txBody>
      </p:sp>
      <p:sp>
        <p:nvSpPr>
          <p:cNvPr id="11" name="Marcador de número de diapositiva 10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E3B657C-F2CB-4A30-BD03-C9A283B71B67}" type="slidenum">
              <a:rPr lang="es-CO" smtClean="0"/>
              <a:t>22</a:t>
            </a:fld>
            <a:endParaRPr lang="es-CO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63" y="1642460"/>
            <a:ext cx="3472211" cy="43803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168" y="1820703"/>
            <a:ext cx="3034061" cy="28961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CuadroTexto 12"/>
          <p:cNvSpPr txBox="1"/>
          <p:nvPr/>
        </p:nvSpPr>
        <p:spPr>
          <a:xfrm>
            <a:off x="940184" y="6103307"/>
            <a:ext cx="2430967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O" dirty="0">
                <a:sym typeface="Wingdings" panose="05000000000000000000" pitchFamily="2" charset="2"/>
              </a:rPr>
              <a:t>CUBE: Totaliza también Cargo</a:t>
            </a:r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8" y="495141"/>
            <a:ext cx="5753100" cy="1066800"/>
          </a:xfrm>
          <a:prstGeom prst="rect">
            <a:avLst/>
          </a:prstGeom>
        </p:spPr>
      </p:pic>
      <p:sp>
        <p:nvSpPr>
          <p:cNvPr id="15" name="CuadroTexto 14"/>
          <p:cNvSpPr txBox="1"/>
          <p:nvPr/>
        </p:nvSpPr>
        <p:spPr>
          <a:xfrm>
            <a:off x="7041714" y="5064952"/>
            <a:ext cx="2430967" cy="923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O" dirty="0">
                <a:sym typeface="Wingdings" panose="05000000000000000000" pitchFamily="2" charset="2"/>
              </a:rPr>
              <a:t>ROLLUP: Totaliza departamento pero no cargo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068763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2867" y="527032"/>
            <a:ext cx="9692640" cy="393734"/>
          </a:xfrm>
        </p:spPr>
        <p:txBody>
          <a:bodyPr>
            <a:normAutofit fontScale="90000"/>
          </a:bodyPr>
          <a:lstStyle/>
          <a:p>
            <a:r>
              <a:rPr lang="es-CO" dirty="0"/>
              <a:t>CUBE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02867" y="920766"/>
            <a:ext cx="8595360" cy="4351337"/>
          </a:xfrm>
        </p:spPr>
        <p:txBody>
          <a:bodyPr/>
          <a:lstStyle/>
          <a:p>
            <a:r>
              <a:rPr lang="es-ES" dirty="0"/>
              <a:t>En CUBE NO es importante el orden de aparición de las columnas en el GROUP BY.</a:t>
            </a:r>
            <a:endParaRPr lang="es-CO" dirty="0"/>
          </a:p>
          <a:p>
            <a:pPr marL="0" indent="0">
              <a:buNone/>
            </a:pP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E3B657C-F2CB-4A30-BD03-C9A283B71B67}" type="slidenum">
              <a:rPr lang="es-CO" smtClean="0"/>
              <a:t>23</a:t>
            </a:fld>
            <a:endParaRPr lang="es-CO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84" y="1683233"/>
            <a:ext cx="6838950" cy="11049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8420" y="2993387"/>
            <a:ext cx="6924675" cy="1114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CuadroTexto 7"/>
          <p:cNvSpPr txBox="1"/>
          <p:nvPr/>
        </p:nvSpPr>
        <p:spPr>
          <a:xfrm>
            <a:off x="3215033" y="5867756"/>
            <a:ext cx="2430967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O" dirty="0">
                <a:sym typeface="Wingdings" panose="05000000000000000000" pitchFamily="2" charset="2"/>
              </a:rPr>
              <a:t>46 filas en ambos casos</a:t>
            </a: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493" y="4313066"/>
            <a:ext cx="3038475" cy="2019300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526" y="3533006"/>
            <a:ext cx="3338052" cy="22463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25384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" dirty="0"/>
              <a:t>Bibliografía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idx="1"/>
          </p:nvPr>
        </p:nvSpPr>
        <p:spPr>
          <a:xfrm>
            <a:off x="699729" y="1787110"/>
            <a:ext cx="10419896" cy="41449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err="1"/>
              <a:t>Datawarehousing</a:t>
            </a:r>
            <a:r>
              <a:rPr lang="en-US" dirty="0"/>
              <a:t> fundamentals for IT professionals.2010. </a:t>
            </a:r>
            <a:r>
              <a:rPr lang="es-CO" dirty="0"/>
              <a:t>PAULRAJ PONNIAH. </a:t>
            </a:r>
            <a:r>
              <a:rPr lang="es-CO" dirty="0" err="1"/>
              <a:t>Ed.Wiley</a:t>
            </a:r>
            <a:r>
              <a:rPr lang="es-CO" dirty="0"/>
              <a:t>.</a:t>
            </a:r>
            <a:endParaRPr lang="en-US" dirty="0"/>
          </a:p>
          <a:p>
            <a:pPr>
              <a:defRPr/>
            </a:pPr>
            <a:r>
              <a:rPr lang="en-US" dirty="0"/>
              <a:t>Decision Support Systems and Business Intelligence. Turban </a:t>
            </a:r>
            <a:r>
              <a:rPr lang="en-US" dirty="0" err="1"/>
              <a:t>Efraim</a:t>
            </a:r>
            <a:r>
              <a:rPr lang="en-US" dirty="0"/>
              <a:t>. Pearson. 2009.</a:t>
            </a:r>
          </a:p>
          <a:p>
            <a:pPr>
              <a:defRPr/>
            </a:pPr>
            <a:r>
              <a:rPr lang="en-US" dirty="0"/>
              <a:t>Modern Data Warehousing, Mining, and Visualization:  Core </a:t>
            </a:r>
            <a:r>
              <a:rPr lang="en-US" dirty="0" err="1"/>
              <a:t>Concepts.George</a:t>
            </a:r>
            <a:r>
              <a:rPr lang="en-US" dirty="0"/>
              <a:t> M. </a:t>
            </a:r>
            <a:r>
              <a:rPr lang="en-US" dirty="0" err="1"/>
              <a:t>Marakas</a:t>
            </a:r>
            <a:r>
              <a:rPr lang="en-US" dirty="0"/>
              <a:t>. Prentice Hall.2005.</a:t>
            </a:r>
          </a:p>
          <a:p>
            <a:pPr>
              <a:defRPr/>
            </a:pPr>
            <a:r>
              <a:rPr lang="en-US" dirty="0"/>
              <a:t>Modern Database Management.10th </a:t>
            </a:r>
            <a:r>
              <a:rPr lang="en-US" dirty="0" err="1"/>
              <a:t>Edition.Jeffrey</a:t>
            </a:r>
            <a:r>
              <a:rPr lang="en-US" dirty="0"/>
              <a:t> A. Hoffer, V. Ramesh, </a:t>
            </a:r>
            <a:r>
              <a:rPr lang="en-US" dirty="0" err="1"/>
              <a:t>Heikki</a:t>
            </a:r>
            <a:r>
              <a:rPr lang="en-US" dirty="0"/>
              <a:t> Topi.2011 Pearson Education, Inc.  Publishing as Prentice Hall.</a:t>
            </a:r>
          </a:p>
          <a:p>
            <a:pPr eaLnBrk="1" hangingPunct="1">
              <a:defRPr/>
            </a:pPr>
            <a:r>
              <a:rPr lang="en-US" dirty="0"/>
              <a:t>Database System Concepts.</a:t>
            </a:r>
            <a:r>
              <a:rPr lang="en-GB" dirty="0" err="1"/>
              <a:t>Avi</a:t>
            </a:r>
            <a:r>
              <a:rPr lang="en-GB" dirty="0"/>
              <a:t> </a:t>
            </a:r>
            <a:r>
              <a:rPr lang="en-GB" dirty="0" err="1"/>
              <a:t>Silberschatz</a:t>
            </a:r>
            <a:r>
              <a:rPr lang="en-GB" dirty="0"/>
              <a:t> , Henry F. </a:t>
            </a:r>
            <a:r>
              <a:rPr lang="en-GB" dirty="0" err="1"/>
              <a:t>Korth</a:t>
            </a:r>
            <a:r>
              <a:rPr lang="en-GB" dirty="0"/>
              <a:t> , S. </a:t>
            </a:r>
            <a:r>
              <a:rPr lang="en-GB" dirty="0" err="1"/>
              <a:t>Sudarshan.McGraw</a:t>
            </a:r>
            <a:r>
              <a:rPr lang="en-GB" dirty="0"/>
              <a:t>-Hill. Fifth Edition. 2010</a:t>
            </a:r>
            <a:r>
              <a:rPr lang="es-ES" dirty="0"/>
              <a:t>.</a:t>
            </a:r>
          </a:p>
          <a:p>
            <a:pPr>
              <a:defRPr/>
            </a:pPr>
            <a:r>
              <a:rPr lang="es-ES" dirty="0">
                <a:hlinkClick r:id="rId2"/>
              </a:rPr>
              <a:t>https://technet.microsoft.com/es-es/library/bb522495(v=sql.105).aspx</a:t>
            </a:r>
            <a:endParaRPr lang="es-ES" dirty="0"/>
          </a:p>
          <a:p>
            <a:pPr>
              <a:defRPr/>
            </a:pPr>
            <a:r>
              <a:rPr lang="es-ES" dirty="0">
                <a:hlinkClick r:id="rId3"/>
              </a:rPr>
              <a:t>https://docs.microsoft.com/es-es/sql/t-sql/functions/analytic-functions-transact-sql</a:t>
            </a:r>
            <a:endParaRPr lang="es-ES" dirty="0"/>
          </a:p>
        </p:txBody>
      </p:sp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E3B657C-F2CB-4A30-BD03-C9A283B71B67}" type="slidenum">
              <a:rPr lang="es-CO" smtClean="0"/>
              <a:t>24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3323577"/>
      </p:ext>
    </p:extLst>
  </p:cSld>
  <p:clrMapOvr>
    <a:masterClrMapping/>
  </p:clrMapOvr>
</p:sld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View">
  <a:themeElements>
    <a:clrScheme name="Transmisión de listas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7.xml><?xml version="1.0" encoding="utf-8"?>
<a:theme xmlns:a="http://schemas.openxmlformats.org/drawingml/2006/main" name="Origen">
  <a:themeElements>
    <a:clrScheme name="Orige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e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e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Sala de juntas (ion)</Template>
  <TotalTime>1926</TotalTime>
  <Words>831</Words>
  <Application>Microsoft Office PowerPoint</Application>
  <PresentationFormat>Widescreen</PresentationFormat>
  <Paragraphs>103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24</vt:i4>
      </vt:variant>
    </vt:vector>
  </HeadingPairs>
  <TitlesOfParts>
    <vt:vector size="40" baseType="lpstr">
      <vt:lpstr>Arial</vt:lpstr>
      <vt:lpstr>Bookman Old Style</vt:lpstr>
      <vt:lpstr>Calibri</vt:lpstr>
      <vt:lpstr>Calibri Light</vt:lpstr>
      <vt:lpstr>Century Schoolbook</vt:lpstr>
      <vt:lpstr>Gill Sans MT</vt:lpstr>
      <vt:lpstr>Wingdings</vt:lpstr>
      <vt:lpstr>Wingdings 2</vt:lpstr>
      <vt:lpstr>Wingdings 3</vt:lpstr>
      <vt:lpstr>HDOfficeLightV0</vt:lpstr>
      <vt:lpstr>1_HDOfficeLightV0</vt:lpstr>
      <vt:lpstr>2_HDOfficeLightV0</vt:lpstr>
      <vt:lpstr>3_HDOfficeLightV0</vt:lpstr>
      <vt:lpstr>4_HDOfficeLightV0</vt:lpstr>
      <vt:lpstr>View</vt:lpstr>
      <vt:lpstr>Origen</vt:lpstr>
      <vt:lpstr>Bases de Datos SQL para Análisis I</vt:lpstr>
      <vt:lpstr>Consultas Analíticas</vt:lpstr>
      <vt:lpstr>Consultas Analíticas</vt:lpstr>
      <vt:lpstr>Funciones Analíticas</vt:lpstr>
      <vt:lpstr>Funciones Analíticas</vt:lpstr>
      <vt:lpstr>Capacidades Extendidas de Agrupamiento</vt:lpstr>
      <vt:lpstr>Datos Ejemplo: tabla Empleado</vt:lpstr>
      <vt:lpstr>Tabla Sales</vt:lpstr>
      <vt:lpstr>GROUP BY</vt:lpstr>
      <vt:lpstr>Group by con varias Columnas</vt:lpstr>
      <vt:lpstr>GROUP BY HAVING</vt:lpstr>
      <vt:lpstr>ROLLUP</vt:lpstr>
      <vt:lpstr>ROLLUP</vt:lpstr>
      <vt:lpstr>ROLLUP</vt:lpstr>
      <vt:lpstr>ROLLUP</vt:lpstr>
      <vt:lpstr>ROLLUP</vt:lpstr>
      <vt:lpstr>ROLLUP</vt:lpstr>
      <vt:lpstr>Manejo de NULL</vt:lpstr>
      <vt:lpstr>Manejo de NULL</vt:lpstr>
      <vt:lpstr>CUBE</vt:lpstr>
      <vt:lpstr>CUBE</vt:lpstr>
      <vt:lpstr>CUBE</vt:lpstr>
      <vt:lpstr>CUBE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carreno-j</dc:creator>
  <cp:lastModifiedBy>Julio Ernesto Carreno Vargas</cp:lastModifiedBy>
  <cp:revision>126</cp:revision>
  <dcterms:created xsi:type="dcterms:W3CDTF">2015-12-02T16:58:07Z</dcterms:created>
  <dcterms:modified xsi:type="dcterms:W3CDTF">2023-03-20T17:29:51Z</dcterms:modified>
</cp:coreProperties>
</file>