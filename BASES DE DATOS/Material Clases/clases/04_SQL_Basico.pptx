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handoutMasterIdLst>
    <p:handoutMasterId r:id="rId21"/>
  </p:handoutMasterIdLst>
  <p:sldIdLst>
    <p:sldId id="335" r:id="rId2"/>
    <p:sldId id="336" r:id="rId3"/>
    <p:sldId id="337" r:id="rId4"/>
    <p:sldId id="338" r:id="rId5"/>
    <p:sldId id="339" r:id="rId6"/>
    <p:sldId id="345" r:id="rId7"/>
    <p:sldId id="346" r:id="rId8"/>
    <p:sldId id="347" r:id="rId9"/>
    <p:sldId id="348" r:id="rId10"/>
    <p:sldId id="349" r:id="rId11"/>
    <p:sldId id="350" r:id="rId12"/>
    <p:sldId id="351" r:id="rId13"/>
    <p:sldId id="356" r:id="rId14"/>
    <p:sldId id="357" r:id="rId15"/>
    <p:sldId id="358" r:id="rId16"/>
    <p:sldId id="359" r:id="rId17"/>
    <p:sldId id="362" r:id="rId18"/>
    <p:sldId id="363" r:id="rId19"/>
  </p:sldIdLst>
  <p:sldSz cx="9144000" cy="6858000" type="screen4x3"/>
  <p:notesSz cx="6997700" cy="9283700"/>
  <p:custShowLst>
    <p:custShow name="Custom Show 1" id="0">
      <p:sldLst>
        <p:sld r:id="rId2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2" autoAdjust="0"/>
    <p:restoredTop sz="94737" autoAdjust="0"/>
  </p:normalViewPr>
  <p:slideViewPr>
    <p:cSldViewPr snapToGrid="0">
      <p:cViewPr varScale="1">
        <p:scale>
          <a:sx n="109" d="100"/>
          <a:sy n="109" d="100"/>
        </p:scale>
        <p:origin x="1482" y="108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  <a:pPr/>
              <a:t>2</a:t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3C87EDE-116A-4691-A4DF-061EA00B6C18}" type="slidenum">
              <a:rPr lang="en-US" altLang="en-US" sz="1200"/>
              <a:pPr/>
              <a:t>3</a:t>
            </a:fld>
            <a:endParaRPr lang="en-US" altLang="en-US" sz="1200" dirty="0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9A28225-7E5D-4105-AF50-B66487E7EB00}" type="slidenum">
              <a:rPr lang="en-US" altLang="en-US" sz="1200"/>
              <a:pPr/>
              <a:t>4</a:t>
            </a:fld>
            <a:endParaRPr lang="en-US" altLang="en-US" sz="1200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9A28225-7E5D-4105-AF50-B66487E7EB00}" type="slidenum">
              <a:rPr lang="en-US" altLang="en-US" sz="1200"/>
              <a:pPr/>
              <a:t>5</a:t>
            </a:fld>
            <a:endParaRPr lang="en-US" altLang="en-US" sz="1200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3B0D9D7-5294-4E39-8BC0-4C255919E226}" type="slidenum">
              <a:rPr lang="en-US" altLang="en-US" sz="1200"/>
              <a:pPr/>
              <a:t>6</a:t>
            </a:fld>
            <a:endParaRPr lang="en-US" altLang="en-US" sz="1200" dirty="0"/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BF508FA-5199-4AA3-8922-94158B684B67}" type="slidenum">
              <a:rPr lang="en-US" altLang="en-US" sz="1200"/>
              <a:pPr/>
              <a:t>7</a:t>
            </a:fld>
            <a:endParaRPr lang="en-US" altLang="en-US" sz="1200" dirty="0"/>
          </a:p>
        </p:txBody>
      </p:sp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192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0D8CA25-AE75-4191-8B01-FE9755FBC192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4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5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295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41C928F-F266-4AE9-9955-5DF263458FBB}" type="slidenum">
              <a:rPr lang="en-US" altLang="en-US" sz="1200"/>
              <a:pPr/>
              <a:t>9</a:t>
            </a:fld>
            <a:endParaRPr lang="en-US" altLang="en-US" sz="1200" dirty="0"/>
          </a:p>
        </p:txBody>
      </p:sp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397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FB4B8FB-1017-465D-AFBF-5BF5BCE81005}" type="slidenum">
              <a:rPr lang="en-US" altLang="en-US" sz="1200"/>
              <a:pPr/>
              <a:t>10</a:t>
            </a:fld>
            <a:endParaRPr lang="en-US" altLang="en-US" sz="1200" dirty="0"/>
          </a:p>
        </p:txBody>
      </p:sp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7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499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E7B9E48-CE28-477B-AF14-CB4F875872B7}" type="slidenum">
              <a:rPr lang="en-US" altLang="en-US" sz="1200"/>
              <a:pPr/>
              <a:t>11</a:t>
            </a:fld>
            <a:endParaRPr lang="en-US" altLang="en-US" sz="1200" dirty="0"/>
          </a:p>
        </p:txBody>
      </p:sp>
      <p:sp>
        <p:nvSpPr>
          <p:cNvPr id="8601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8602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2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2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602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E067567-7C0E-4623-97F7-3AB1CFA84628}" type="slidenum">
              <a:rPr lang="en-US" altLang="en-US" sz="1200"/>
              <a:pPr/>
              <a:t>12</a:t>
            </a:fld>
            <a:endParaRPr lang="en-US" altLang="en-US" sz="1200" dirty="0"/>
          </a:p>
        </p:txBody>
      </p:sp>
      <p:sp>
        <p:nvSpPr>
          <p:cNvPr id="87042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704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5B1299F-03B5-4909-AEBA-DE9BE8116957}" type="slidenum">
              <a:rPr lang="en-US" altLang="en-US" sz="1200"/>
              <a:pPr/>
              <a:t>13</a:t>
            </a:fld>
            <a:endParaRPr lang="en-US" altLang="en-US" sz="1200" dirty="0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27041A6-355E-4FC9-8067-194DB47AE9FB}" type="slidenum">
              <a:rPr lang="en-US" altLang="en-US" sz="1200"/>
              <a:pPr/>
              <a:t>14</a:t>
            </a:fld>
            <a:endParaRPr lang="en-US" altLang="en-US" sz="1200" dirty="0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364CC0D-9515-4095-81D0-8024523D9047}" type="slidenum">
              <a:rPr lang="en-US" altLang="en-US" sz="1200"/>
              <a:pPr/>
              <a:t>15</a:t>
            </a:fld>
            <a:endParaRPr lang="en-US" altLang="en-US" sz="1200" dirty="0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8E32C01-92A2-42F0-A723-C22E35C9436D}" type="slidenum">
              <a:rPr lang="en-US" altLang="en-US" sz="1200"/>
              <a:pPr/>
              <a:t>16</a:t>
            </a:fld>
            <a:endParaRPr lang="en-US" altLang="en-US" sz="1200" dirty="0"/>
          </a:p>
        </p:txBody>
      </p:sp>
      <p:sp>
        <p:nvSpPr>
          <p:cNvPr id="9625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5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6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6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626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6591C42-4AD5-4528-9EC3-61D5E9BDFCDD}" type="slidenum">
              <a:rPr lang="en-US" altLang="en-US" sz="1200"/>
              <a:pPr/>
              <a:t>17</a:t>
            </a:fld>
            <a:endParaRPr lang="en-US" altLang="en-US" sz="1200" dirty="0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9DCB16A-F829-4527-A43B-C46817CDE356}" type="slidenum">
              <a:rPr lang="en-US" altLang="en-US" sz="1200"/>
              <a:pPr/>
              <a:t>18</a:t>
            </a:fld>
            <a:endParaRPr lang="en-US" altLang="en-US" sz="1200" dirty="0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8350" y="1093788"/>
            <a:ext cx="7707313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‹Nº›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3" y="6613525"/>
            <a:ext cx="44755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3.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‹Nº›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3: Introduction to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Outline</a:t>
            </a:r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7464"/>
            <a:ext cx="7205218" cy="3542072"/>
          </a:xfrm>
        </p:spPr>
        <p:txBody>
          <a:bodyPr lIns="90488" tIns="44450" rIns="90488" bIns="44450"/>
          <a:lstStyle/>
          <a:p>
            <a:r>
              <a:rPr lang="en-US" altLang="en-US" sz="1700" dirty="0"/>
              <a:t>Overview of The SQL Query Language</a:t>
            </a:r>
          </a:p>
          <a:p>
            <a:r>
              <a:rPr lang="en-US" altLang="en-US" sz="1700" dirty="0"/>
              <a:t>SQL Data Definition</a:t>
            </a:r>
          </a:p>
          <a:p>
            <a:r>
              <a:rPr lang="en-US" altLang="en-US" sz="1700" dirty="0"/>
              <a:t>Basic Query Structure of SQL Queries</a:t>
            </a:r>
          </a:p>
          <a:p>
            <a:r>
              <a:rPr lang="en-US" altLang="en-US" sz="1700" dirty="0"/>
              <a:t>Additional Basic Operations</a:t>
            </a:r>
          </a:p>
          <a:p>
            <a:r>
              <a:rPr lang="en-US" altLang="en-US" sz="1700" dirty="0"/>
              <a:t>Set Operations</a:t>
            </a:r>
          </a:p>
          <a:p>
            <a:r>
              <a:rPr lang="en-US" altLang="en-US" sz="1700" dirty="0"/>
              <a:t>Null Values</a:t>
            </a:r>
          </a:p>
          <a:p>
            <a:r>
              <a:rPr lang="en-US" altLang="en-US" sz="1700" dirty="0"/>
              <a:t>Aggregate Functions</a:t>
            </a:r>
          </a:p>
          <a:p>
            <a:r>
              <a:rPr lang="en-US" altLang="en-US" sz="1700" dirty="0"/>
              <a:t>Nested Subqueries</a:t>
            </a:r>
          </a:p>
          <a:p>
            <a:r>
              <a:rPr lang="en-US" altLang="en-US" sz="1700" dirty="0"/>
              <a:t>Modification of the Database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History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2556"/>
            <a:ext cx="7656323" cy="4903787"/>
          </a:xfrm>
        </p:spPr>
        <p:txBody>
          <a:bodyPr/>
          <a:lstStyle/>
          <a:p>
            <a:r>
              <a:rPr lang="en-US" altLang="en-US" sz="1700" dirty="0"/>
              <a:t>IBM Sequel language developed as part of System R project at the IBM San Jose Research Laboratory</a:t>
            </a:r>
          </a:p>
          <a:p>
            <a:r>
              <a:rPr lang="en-US" altLang="en-US" sz="1700" dirty="0"/>
              <a:t>Renamed Structured Query Language (SQL)</a:t>
            </a:r>
          </a:p>
          <a:p>
            <a:r>
              <a:rPr lang="en-US" altLang="en-US" sz="1700" dirty="0"/>
              <a:t>ANSI and ISO standard SQL:</a:t>
            </a:r>
          </a:p>
          <a:p>
            <a:pPr lvl="1"/>
            <a:r>
              <a:rPr lang="en-US" altLang="en-US" sz="1700" dirty="0"/>
              <a:t>SQL-86</a:t>
            </a:r>
          </a:p>
          <a:p>
            <a:pPr lvl="1"/>
            <a:r>
              <a:rPr lang="en-US" altLang="en-US" sz="1700" dirty="0"/>
              <a:t>SQL-89</a:t>
            </a:r>
          </a:p>
          <a:p>
            <a:pPr lvl="1"/>
            <a:r>
              <a:rPr lang="en-US" altLang="en-US" sz="1700" dirty="0"/>
              <a:t>SQL-92 </a:t>
            </a:r>
          </a:p>
          <a:p>
            <a:pPr lvl="1"/>
            <a:r>
              <a:rPr lang="en-US" altLang="en-US" sz="1700" dirty="0"/>
              <a:t>SQL:1999 (language name became Y2K compliant!)</a:t>
            </a:r>
          </a:p>
          <a:p>
            <a:pPr lvl="1"/>
            <a:r>
              <a:rPr lang="en-US" altLang="en-US" sz="1700" dirty="0"/>
              <a:t>SQL:2003</a:t>
            </a:r>
          </a:p>
          <a:p>
            <a:r>
              <a:rPr lang="en-US" altLang="en-US" sz="1700" dirty="0"/>
              <a:t>Commercial systems offer most, if not all, SQL-92 features, plus varying feature sets from later standards and special proprietary features.  </a:t>
            </a:r>
          </a:p>
          <a:p>
            <a:pPr lvl="1"/>
            <a:r>
              <a:rPr lang="en-US" altLang="en-US" sz="1700" dirty="0"/>
              <a:t>Not all examples here may work on your particular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SQL Parts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27933"/>
            <a:ext cx="7584043" cy="4920168"/>
          </a:xfrm>
        </p:spPr>
        <p:txBody>
          <a:bodyPr/>
          <a:lstStyle/>
          <a:p>
            <a:r>
              <a:rPr lang="en-US" altLang="en-US" sz="1700" dirty="0"/>
              <a:t>DML -- provides the ability to query information from the database and to insert tuples into, delete tuples from, and modify tuples in the database.</a:t>
            </a:r>
          </a:p>
          <a:p>
            <a:r>
              <a:rPr lang="en-US" altLang="en-US" sz="1700" dirty="0"/>
              <a:t>integrity – the  DDL includes commands for specifying integrity constraints.</a:t>
            </a:r>
          </a:p>
          <a:p>
            <a:r>
              <a:rPr lang="en-US" altLang="en-US" sz="1700" dirty="0"/>
              <a:t>View definition -- The DDL  includes commands for defining views.</a:t>
            </a:r>
          </a:p>
          <a:p>
            <a:r>
              <a:rPr lang="en-US" altLang="en-US" sz="1700" dirty="0"/>
              <a:t>Transaction control –includes commands for specifying the beginning and ending of transactions.</a:t>
            </a:r>
          </a:p>
          <a:p>
            <a:r>
              <a:rPr lang="en-US" altLang="en-US" sz="1700" dirty="0"/>
              <a:t>Embedded  SQL  and dynamic SQL -- define how SQL statements can be embedded within general-purpose programming languages.</a:t>
            </a:r>
          </a:p>
          <a:p>
            <a:r>
              <a:rPr lang="en-US" altLang="en-US" sz="1700" dirty="0"/>
              <a:t>Authorization – includes commands for specifying access rights to relations and views.</a:t>
            </a:r>
          </a:p>
          <a:p>
            <a:pPr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Data Definition Language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5320" y="1801115"/>
            <a:ext cx="7042361" cy="2563622"/>
          </a:xfrm>
        </p:spPr>
        <p:txBody>
          <a:bodyPr/>
          <a:lstStyle/>
          <a:p>
            <a:r>
              <a:rPr lang="en-US" altLang="en-US" sz="1700" dirty="0"/>
              <a:t>The schema for each relation.</a:t>
            </a:r>
          </a:p>
          <a:p>
            <a:r>
              <a:rPr lang="en-US" altLang="en-US" sz="1700" dirty="0"/>
              <a:t>The type of values associated with each attribute.</a:t>
            </a:r>
          </a:p>
          <a:p>
            <a:r>
              <a:rPr lang="en-US" altLang="en-US" sz="1700" dirty="0"/>
              <a:t>The Integrity constraints</a:t>
            </a:r>
          </a:p>
          <a:p>
            <a:r>
              <a:rPr lang="en-US" altLang="en-US" sz="1700" dirty="0"/>
              <a:t>The set of indices to be maintained for each relation.</a:t>
            </a:r>
          </a:p>
          <a:p>
            <a:r>
              <a:rPr lang="en-US" altLang="en-US" sz="1700" dirty="0"/>
              <a:t>Security and authorization information for each relation.</a:t>
            </a:r>
          </a:p>
          <a:p>
            <a:r>
              <a:rPr lang="en-US" altLang="en-US" sz="1700" dirty="0"/>
              <a:t>The physical storage structure of each relation on disk.</a:t>
            </a:r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768350" y="1115365"/>
            <a:ext cx="761217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700" dirty="0"/>
              <a:t>The SQL data-definition language (DDL) allows the specification of information about relations, including: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Updates to tables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83310"/>
            <a:ext cx="7709825" cy="5159375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Insert 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endParaRPr lang="en-US" altLang="en-US" sz="1700" dirty="0"/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insert into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</a:t>
            </a:r>
            <a:r>
              <a:rPr lang="en-US" altLang="ja-JP" sz="1700" dirty="0"/>
              <a:t>'</a:t>
            </a:r>
            <a:r>
              <a:rPr lang="en-US" altLang="en-US" sz="1700" dirty="0"/>
              <a:t>10211</a:t>
            </a:r>
            <a:r>
              <a:rPr lang="en-US" altLang="ja-JP" sz="1700" dirty="0"/>
              <a:t>'</a:t>
            </a:r>
            <a:r>
              <a:rPr lang="en-US" altLang="en-US" sz="1700" dirty="0"/>
              <a:t>, </a:t>
            </a:r>
            <a:r>
              <a:rPr lang="en-US" altLang="ja-JP" sz="1700" dirty="0"/>
              <a:t>'</a:t>
            </a:r>
            <a:r>
              <a:rPr lang="en-US" altLang="en-US" sz="1700" dirty="0"/>
              <a:t>Smith</a:t>
            </a:r>
            <a:r>
              <a:rPr lang="en-US" altLang="ja-JP" sz="1700" dirty="0"/>
              <a:t>'</a:t>
            </a:r>
            <a:r>
              <a:rPr lang="en-US" altLang="en-US" sz="1700" dirty="0"/>
              <a:t>, </a:t>
            </a:r>
            <a:r>
              <a:rPr lang="en-US" altLang="ja-JP" sz="1700" dirty="0"/>
              <a:t>'</a:t>
            </a:r>
            <a:r>
              <a:rPr lang="en-US" altLang="en-US" sz="1700" dirty="0"/>
              <a:t>Biology</a:t>
            </a:r>
            <a:r>
              <a:rPr lang="en-US" altLang="ja-JP" sz="1700" dirty="0"/>
              <a:t>'</a:t>
            </a:r>
            <a:r>
              <a:rPr lang="en-US" altLang="en-US" sz="1700" dirty="0"/>
              <a:t>, 66000);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Delete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dirty="0"/>
              <a:t>Remove all tuples from the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 relation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delete from </a:t>
            </a:r>
            <a:r>
              <a:rPr lang="en-US" altLang="en-US" sz="1700" i="1" dirty="0"/>
              <a:t>student  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Drop Table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drop table </a:t>
            </a:r>
            <a:r>
              <a:rPr lang="en-US" altLang="en-US" sz="1700" i="1" dirty="0"/>
              <a:t>r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Alter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dirty="0"/>
              <a:t> 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alter table </a:t>
            </a:r>
            <a:r>
              <a:rPr lang="en-US" altLang="en-US" sz="1700" i="1" dirty="0"/>
              <a:t>r </a:t>
            </a:r>
            <a:r>
              <a:rPr lang="en-US" altLang="en-US" sz="1700" b="1" dirty="0"/>
              <a:t>add </a:t>
            </a:r>
            <a:r>
              <a:rPr lang="en-US" altLang="en-US" sz="1700" i="1" dirty="0"/>
              <a:t>A D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i="1" dirty="0"/>
              <a:t> </a:t>
            </a:r>
            <a:r>
              <a:rPr lang="en-US" altLang="en-US" sz="1700" dirty="0"/>
              <a:t>where </a:t>
            </a:r>
            <a:r>
              <a:rPr lang="en-US" altLang="en-US" sz="1700" i="1" dirty="0"/>
              <a:t>A</a:t>
            </a:r>
            <a:r>
              <a:rPr lang="en-US" altLang="en-US" sz="1700" dirty="0"/>
              <a:t> is the name of the attribute to be added to relation </a:t>
            </a:r>
            <a:r>
              <a:rPr lang="en-US" altLang="en-US" sz="1700" i="1" dirty="0"/>
              <a:t>r 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D</a:t>
            </a:r>
            <a:r>
              <a:rPr lang="en-US" altLang="en-US" sz="1700" dirty="0"/>
              <a:t> is the domain of </a:t>
            </a:r>
            <a:r>
              <a:rPr lang="en-US" altLang="en-US" sz="1700" i="1" dirty="0"/>
              <a:t>A.</a:t>
            </a:r>
            <a:endParaRPr lang="en-US" altLang="en-US" sz="1700" dirty="0"/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dirty="0"/>
              <a:t>All exiting tuples in the relation are assigned </a:t>
            </a:r>
            <a:r>
              <a:rPr lang="en-US" altLang="en-US" sz="1700" i="1" dirty="0"/>
              <a:t>null</a:t>
            </a:r>
            <a:r>
              <a:rPr lang="en-US" altLang="en-US" sz="1700" dirty="0"/>
              <a:t> as the value for the new attribute.  </a:t>
            </a:r>
          </a:p>
          <a:p>
            <a:pPr lvl="1">
              <a:lnSpc>
                <a:spcPct val="110000"/>
              </a:lnSpc>
              <a:tabLst>
                <a:tab pos="2232025" algn="l"/>
              </a:tabLst>
            </a:pPr>
            <a:r>
              <a:rPr lang="en-US" altLang="en-US" sz="1700" b="1" dirty="0"/>
              <a:t>alter table </a:t>
            </a:r>
            <a:r>
              <a:rPr lang="en-US" altLang="en-US" sz="1700" i="1" dirty="0"/>
              <a:t>r</a:t>
            </a:r>
            <a:r>
              <a:rPr lang="en-US" altLang="en-US" sz="1700" b="1" dirty="0"/>
              <a:t> drop</a:t>
            </a:r>
            <a:r>
              <a:rPr lang="en-US" altLang="en-US" sz="1700" i="1" dirty="0"/>
              <a:t> A     </a:t>
            </a:r>
          </a:p>
          <a:p>
            <a:pPr lvl="2">
              <a:lnSpc>
                <a:spcPct val="110000"/>
              </a:lnSpc>
              <a:tabLst>
                <a:tab pos="2232025" algn="l"/>
              </a:tabLst>
            </a:pPr>
            <a:r>
              <a:rPr lang="en-US" altLang="en-US" sz="1700" dirty="0"/>
              <a:t>where </a:t>
            </a:r>
            <a:r>
              <a:rPr lang="en-US" altLang="en-US" sz="1700" i="1" dirty="0"/>
              <a:t>A</a:t>
            </a:r>
            <a:r>
              <a:rPr lang="en-US" altLang="en-US" sz="1700" dirty="0"/>
              <a:t> is the name of an attribute of relation</a:t>
            </a:r>
            <a:r>
              <a:rPr lang="en-US" altLang="en-US" sz="1700" i="1" dirty="0"/>
              <a:t> r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dirty="0"/>
              <a:t>Dropping of attributes not supported by many databases.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Basic Query Structure 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133810" cy="462810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A typical SQL query has the form:</a:t>
            </a:r>
            <a:br>
              <a:rPr lang="en-US" altLang="en-US" sz="1700" dirty="0"/>
            </a:b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from</a:t>
            </a:r>
            <a:r>
              <a:rPr lang="en-US" altLang="en-US" sz="1700" dirty="0"/>
              <a:t>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m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P</a:t>
            </a:r>
            <a:br>
              <a:rPr lang="en-US" altLang="en-US" sz="1700" i="1" dirty="0"/>
            </a:b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i="1" dirty="0"/>
              <a:t>A</a:t>
            </a:r>
            <a:r>
              <a:rPr lang="en-US" altLang="en-US" sz="1700" i="1" baseline="-25000" dirty="0"/>
              <a:t>i </a:t>
            </a:r>
            <a:r>
              <a:rPr lang="en-US" altLang="en-US" sz="1700" dirty="0"/>
              <a:t>represents an attribute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i</a:t>
            </a:r>
            <a:r>
              <a:rPr lang="en-US" altLang="en-US" sz="1700" i="1" baseline="-25000" dirty="0"/>
              <a:t> </a:t>
            </a:r>
            <a:r>
              <a:rPr lang="en-US" altLang="en-US" sz="1700" dirty="0"/>
              <a:t>represents a relation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i="1" dirty="0"/>
              <a:t>P</a:t>
            </a:r>
            <a:r>
              <a:rPr lang="en-US" altLang="en-US" sz="1700" dirty="0"/>
              <a:t> is a predicate.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The result of an SQL query is a relation.</a:t>
            </a: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594414" cy="452621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/>
              <a:t>select</a:t>
            </a:r>
            <a:r>
              <a:rPr lang="en-US" altLang="en-US" sz="1700" dirty="0"/>
              <a:t> clause lists the attributes desired in the result of a query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corresponds to the projection operation of the relational algebra</a:t>
            </a:r>
          </a:p>
          <a:p>
            <a:pPr>
              <a:lnSpc>
                <a:spcPct val="110000"/>
              </a:lnSpc>
              <a:tabLst>
                <a:tab pos="2055813" algn="l"/>
              </a:tabLst>
            </a:pPr>
            <a:r>
              <a:rPr lang="en-US" altLang="en-US" sz="1700" dirty="0"/>
              <a:t>Example: find the names of all instructors: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NOTE:  SQL names are case insensitive (i.e., you may use upper- or lower-case letters.)  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E.g., 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≡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≡ </a:t>
            </a:r>
            <a:r>
              <a:rPr lang="en-US" altLang="en-US" sz="1700" i="1" dirty="0"/>
              <a:t>name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Some people use upper case wherever we use bold font.</a:t>
            </a: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106488"/>
            <a:ext cx="7585537" cy="4876800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SQL allows duplicates in relations as well as in query results.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To force the elimination of duplicates, insert the keyword </a:t>
            </a:r>
            <a:r>
              <a:rPr lang="en-US" altLang="en-US" sz="1700" b="1" dirty="0">
                <a:solidFill>
                  <a:srgbClr val="002060"/>
                </a:solidFill>
              </a:rPr>
              <a:t>distinct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after select</a:t>
            </a:r>
            <a:r>
              <a:rPr lang="en-US" altLang="en-US" sz="1700" b="1" dirty="0"/>
              <a:t>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department names of all instructors, and remove duplicates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The keyword </a:t>
            </a:r>
            <a:r>
              <a:rPr lang="en-US" altLang="en-US" sz="1700" b="1" dirty="0"/>
              <a:t>all </a:t>
            </a:r>
            <a:r>
              <a:rPr lang="en-US" altLang="en-US" sz="1700" dirty="0"/>
              <a:t>specifies that duplicates should not be removed.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select all</a:t>
            </a:r>
            <a:r>
              <a:rPr lang="en-US" altLang="en-US" sz="1700" dirty="0"/>
              <a:t> </a:t>
            </a:r>
            <a:r>
              <a:rPr lang="en-US" altLang="en-US" sz="1700" i="1" dirty="0"/>
              <a:t>dept_name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D9960E4-FF8C-45DD-9C24-C644DF7941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l="34967" r="32712" b="12784"/>
          <a:stretch/>
        </p:blipFill>
        <p:spPr>
          <a:xfrm>
            <a:off x="6216445" y="3429000"/>
            <a:ext cx="1143000" cy="2844764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9"/>
            <a:ext cx="7523393" cy="5001704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An asterisk in the select clause denotes “all attributes”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b="1" dirty="0"/>
              <a:t>			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An attribute can be a literal  with  no </a:t>
            </a:r>
            <a:r>
              <a:rPr lang="en-US" altLang="en-US" sz="1700" b="1" dirty="0"/>
              <a:t>from  </a:t>
            </a:r>
            <a:r>
              <a:rPr lang="en-US" altLang="en-US" sz="1700" dirty="0"/>
              <a:t>clause</a:t>
            </a:r>
          </a:p>
          <a:p>
            <a:pPr>
              <a:buNone/>
              <a:tabLst>
                <a:tab pos="2055813" algn="l"/>
              </a:tabLst>
            </a:pPr>
            <a:r>
              <a:rPr lang="en-US" altLang="en-US" sz="1700" b="1" dirty="0"/>
              <a:t>			select  </a:t>
            </a:r>
            <a:r>
              <a:rPr lang="en-US" altLang="ja-JP" sz="1700" dirty="0"/>
              <a:t>'</a:t>
            </a:r>
            <a:r>
              <a:rPr lang="en-US" altLang="en-US" sz="1700" dirty="0"/>
              <a:t>437</a:t>
            </a:r>
            <a:r>
              <a:rPr lang="en-US" altLang="ja-JP" sz="1700" dirty="0"/>
              <a:t>'</a:t>
            </a: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Results is a table with one column and a single row with value “437”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Can give the column a name using: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dirty="0"/>
              <a:t>                    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'437'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FOO</a:t>
            </a:r>
            <a:r>
              <a:rPr lang="en-US" altLang="en-US" sz="1700" dirty="0"/>
              <a:t>	</a:t>
            </a:r>
            <a:endParaRPr lang="en-US" altLang="en-US" sz="1700" i="1" dirty="0"/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An attribute can be a literal with </a:t>
            </a:r>
            <a:r>
              <a:rPr lang="en-US" altLang="en-US" sz="1700" b="1" dirty="0"/>
              <a:t>from  </a:t>
            </a:r>
            <a:r>
              <a:rPr lang="en-US" altLang="en-US" sz="1700" dirty="0"/>
              <a:t>clause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b="1" dirty="0"/>
              <a:t>			select  </a:t>
            </a:r>
            <a:r>
              <a:rPr lang="en-US" altLang="en-US" sz="1700" dirty="0"/>
              <a:t>'A'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Result is a table with one column and </a:t>
            </a:r>
            <a:r>
              <a:rPr lang="en-US" altLang="en-US" sz="1700" i="1" dirty="0"/>
              <a:t>N</a:t>
            </a:r>
            <a:r>
              <a:rPr lang="en-US" altLang="en-US" sz="1700" dirty="0"/>
              <a:t> rows (number of tuples in the </a:t>
            </a:r>
            <a:r>
              <a:rPr lang="en-US" altLang="en-US" sz="1700" i="1" dirty="0"/>
              <a:t>instructors</a:t>
            </a:r>
            <a:r>
              <a:rPr lang="en-US" altLang="en-US" sz="1700" dirty="0"/>
              <a:t> table), each row with value “A”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01699"/>
            <a:ext cx="8077200" cy="609600"/>
          </a:xfrm>
        </p:spPr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585536" cy="4514024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select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clause can contain arithmetic expressions involving the operation, +, –, </a:t>
            </a:r>
            <a:r>
              <a:rPr lang="en-US" altLang="en-US" sz="1700" dirty="0">
                <a:latin typeface="Symbol" panose="05050102010706020507" pitchFamily="18" charset="2"/>
              </a:rPr>
              <a:t></a:t>
            </a:r>
            <a:r>
              <a:rPr lang="en-US" altLang="en-US" sz="1700" dirty="0"/>
              <a:t>, and /, and operating on constants or attributes of tuples.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The query: 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b="1" dirty="0"/>
              <a:t>	                  select</a:t>
            </a:r>
            <a:r>
              <a:rPr lang="en-US" altLang="en-US" sz="1700" dirty="0"/>
              <a:t> </a:t>
            </a:r>
            <a:r>
              <a:rPr lang="en-US" altLang="en-US" sz="1700" i="1" dirty="0"/>
              <a:t>ID, name, salary/12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i="1" dirty="0"/>
              <a:t>	</a:t>
            </a:r>
            <a:r>
              <a:rPr lang="en-US" altLang="en-US" sz="1700" dirty="0"/>
              <a:t>would return a relation that is the same as the </a:t>
            </a:r>
            <a:r>
              <a:rPr lang="en-US" altLang="en-US" sz="1700" i="1" dirty="0"/>
              <a:t>instructor </a:t>
            </a:r>
            <a:r>
              <a:rPr lang="en-US" altLang="en-US" sz="1700" dirty="0"/>
              <a:t>relation, except that the value of the attribute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is divided by 12.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Can rename “s</a:t>
            </a:r>
            <a:r>
              <a:rPr lang="en-US" altLang="en-US" sz="1700" i="1" dirty="0"/>
              <a:t>alary/12” </a:t>
            </a:r>
            <a:r>
              <a:rPr lang="en-US" altLang="en-US" sz="1700" dirty="0"/>
              <a:t>using the </a:t>
            </a:r>
            <a:r>
              <a:rPr lang="en-US" altLang="en-US" sz="1700" b="1" dirty="0"/>
              <a:t>as </a:t>
            </a:r>
            <a:r>
              <a:rPr lang="en-US" altLang="en-US" sz="1700" dirty="0"/>
              <a:t>clause: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i="1" dirty="0"/>
              <a:t>	       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ID, name, salary/12 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monthly_salary</a:t>
            </a:r>
            <a:r>
              <a:rPr lang="en-US" altLang="en-US" sz="1700" i="1" dirty="0"/>
              <a:t/>
            </a:r>
            <a:br>
              <a:rPr lang="en-US" altLang="en-US" sz="1700" i="1" dirty="0"/>
            </a:br>
            <a:endParaRPr lang="en-US" altLang="en-US" sz="1700" dirty="0"/>
          </a:p>
          <a:p>
            <a:pPr lvl="1">
              <a:tabLst>
                <a:tab pos="2055813" algn="l"/>
              </a:tabLst>
            </a:pPr>
            <a:endParaRPr lang="en-US" altLang="en-US" dirty="0"/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endParaRPr lang="en-US" altLang="en-US" dirty="0"/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where Clause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692898" cy="4876800"/>
          </a:xfrm>
        </p:spPr>
        <p:txBody>
          <a:bodyPr lIns="90488" tIns="44450" rIns="90488" bIns="44450"/>
          <a:lstStyle/>
          <a:p>
            <a:pPr>
              <a:tabLst>
                <a:tab pos="1311275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where</a:t>
            </a:r>
            <a:r>
              <a:rPr lang="en-US" altLang="en-US" sz="1700" b="1" dirty="0"/>
              <a:t> </a:t>
            </a:r>
            <a:r>
              <a:rPr lang="en-US" altLang="en-US" sz="1700" dirty="0"/>
              <a:t>clause specifies conditions that the result must satisfy</a:t>
            </a:r>
          </a:p>
          <a:p>
            <a:pPr lvl="1">
              <a:tabLst>
                <a:tab pos="1311275" algn="l"/>
              </a:tabLst>
            </a:pPr>
            <a:r>
              <a:rPr lang="en-US" altLang="en-US" sz="1700" dirty="0"/>
              <a:t>Corresponds to the selection predicate of the relational algebra.  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To find all instructors in Comp. Sci. dept</a:t>
            </a:r>
          </a:p>
          <a:p>
            <a:pPr>
              <a:buFont typeface="Monotype Sorts" charset="2"/>
              <a:buNone/>
              <a:tabLst>
                <a:tab pos="1311275" algn="l"/>
              </a:tabLst>
            </a:pPr>
            <a:r>
              <a:rPr lang="en-US" altLang="en-US" sz="1700" b="1" dirty="0"/>
              <a:t>		select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dept_name =</a:t>
            </a:r>
            <a:r>
              <a:rPr lang="en-US" altLang="en-US" sz="1700" dirty="0"/>
              <a:t> </a:t>
            </a:r>
            <a:r>
              <a:rPr lang="en-US" altLang="en-US" sz="1700" i="1" dirty="0"/>
              <a:t>'</a:t>
            </a:r>
            <a:r>
              <a:rPr lang="en-US" altLang="ja-JP" sz="1700" dirty="0"/>
              <a:t>Comp. Sci.'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SQL allows the use of the logical connectives </a:t>
            </a:r>
            <a:r>
              <a:rPr lang="en-US" altLang="en-US" sz="1700" b="1" dirty="0"/>
              <a:t> and, or, </a:t>
            </a:r>
            <a:r>
              <a:rPr lang="en-US" altLang="en-US" sz="1700" dirty="0"/>
              <a:t>and </a:t>
            </a:r>
            <a:r>
              <a:rPr lang="en-US" altLang="en-US" sz="1700" b="1" dirty="0"/>
              <a:t>not </a:t>
            </a:r>
            <a:endParaRPr lang="en-US" altLang="en-US" sz="1700" dirty="0"/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The operands of the logical connectives can be expressions involving the comparison operators &lt;, &lt;=, &gt;, &gt;=, =, and &lt;&gt;.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Comparisons can be applied to results of arithmetic expressions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To find all instructors in Comp. Sci. dept with salary &gt; 70000</a:t>
            </a:r>
          </a:p>
          <a:p>
            <a:pPr lvl="1">
              <a:buFont typeface="Monotype Sorts" charset="2"/>
              <a:buNone/>
              <a:tabLst>
                <a:tab pos="1311275" algn="l"/>
              </a:tabLst>
            </a:pPr>
            <a:r>
              <a:rPr lang="en-US" altLang="en-US" sz="1700" b="1" dirty="0"/>
              <a:t>	select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dept_name =</a:t>
            </a:r>
            <a:r>
              <a:rPr lang="en-US" altLang="en-US" sz="1700" dirty="0"/>
              <a:t> </a:t>
            </a:r>
            <a:r>
              <a:rPr lang="en-US" altLang="en-US" sz="1700" i="1" dirty="0"/>
              <a:t>'</a:t>
            </a:r>
            <a:r>
              <a:rPr lang="en-US" altLang="ja-JP" sz="1700" dirty="0"/>
              <a:t>Comp. Sci.'</a:t>
            </a:r>
            <a:r>
              <a:rPr lang="en-US" altLang="ja-JP" sz="1700" i="1" dirty="0"/>
              <a:t>  </a:t>
            </a:r>
            <a:r>
              <a:rPr lang="en-US" altLang="ja-JP" sz="1700" b="1" dirty="0"/>
              <a:t>and </a:t>
            </a:r>
            <a:r>
              <a:rPr lang="en-US" altLang="ja-JP" sz="1700" i="1" dirty="0"/>
              <a:t>salary </a:t>
            </a:r>
            <a:r>
              <a:rPr lang="en-US" altLang="ja-JP" sz="1700" dirty="0"/>
              <a:t>&gt; 70000</a:t>
            </a:r>
          </a:p>
          <a:p>
            <a:pPr>
              <a:buFont typeface="Monotype Sorts" charset="2"/>
              <a:buNone/>
              <a:tabLst>
                <a:tab pos="1311275" algn="l"/>
              </a:tabLst>
            </a:pPr>
            <a:endParaRPr lang="en-US" altLang="en-US" sz="17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B4B9C5-28CB-44C6-BCAD-BA8A2C1916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l="42307" t="787" r="41816" b="37397"/>
          <a:stretch/>
        </p:blipFill>
        <p:spPr>
          <a:xfrm>
            <a:off x="7109157" y="4682613"/>
            <a:ext cx="1090307" cy="1157748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String Operations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04024"/>
            <a:ext cx="7638802" cy="4648136"/>
          </a:xfrm>
        </p:spPr>
        <p:txBody>
          <a:bodyPr/>
          <a:lstStyle/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SQL includes a string-matching operator for comparisons on character strings.  The operator </a:t>
            </a:r>
            <a:r>
              <a:rPr lang="en-US" altLang="en-US" sz="1700" b="1" dirty="0"/>
              <a:t>like</a:t>
            </a:r>
            <a:r>
              <a:rPr lang="en-US" altLang="en-US" sz="1700" dirty="0"/>
              <a:t> uses patterns that are described using two special characters: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percent ( % ).  The % character matches any substring.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underscore ( _ ).  The _ character matches any character.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Find the names of all instructors whose name includes the substring “</a:t>
            </a:r>
            <a:r>
              <a:rPr lang="en-US" altLang="en-US" sz="1700" dirty="0" err="1"/>
              <a:t>dar</a:t>
            </a:r>
            <a:r>
              <a:rPr lang="en-US" altLang="en-US" sz="1700" dirty="0"/>
              <a:t>”.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b="1" dirty="0"/>
              <a:t>		se</a:t>
            </a:r>
            <a:r>
              <a:rPr lang="en-US" altLang="en-US" sz="1700" dirty="0"/>
              <a:t>le</a:t>
            </a:r>
            <a:r>
              <a:rPr lang="en-US" altLang="en-US" sz="1700" b="1" dirty="0"/>
              <a:t>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</a:t>
            </a:r>
            <a:r>
              <a:rPr lang="en-US" altLang="en-US" sz="1700" b="1" i="1" dirty="0"/>
              <a:t> </a:t>
            </a:r>
            <a:r>
              <a:rPr lang="en-US" altLang="en-US" sz="1700" i="1" dirty="0"/>
              <a:t>name </a:t>
            </a:r>
            <a:r>
              <a:rPr lang="en-US" altLang="en-US" sz="1700" b="1" dirty="0"/>
              <a:t>like </a:t>
            </a:r>
            <a:r>
              <a:rPr lang="en-US" altLang="en-US" sz="1700" b="1" dirty="0">
                <a:latin typeface="Century Gothic" panose="020B0502020202020204" pitchFamily="34" charset="0"/>
              </a:rPr>
              <a:t>'</a:t>
            </a:r>
            <a:r>
              <a:rPr lang="en-US" altLang="en-US" sz="1700" dirty="0"/>
              <a:t>%</a:t>
            </a:r>
            <a:r>
              <a:rPr lang="en-US" altLang="en-US" sz="1700" dirty="0" err="1"/>
              <a:t>dar</a:t>
            </a:r>
            <a:r>
              <a:rPr lang="en-US" altLang="en-US" sz="1700" dirty="0"/>
              <a:t>%</a:t>
            </a:r>
            <a:r>
              <a:rPr lang="en-US" altLang="en-US" sz="1700" dirty="0">
                <a:latin typeface="Century Gothic" panose="020B0502020202020204" pitchFamily="34" charset="0"/>
              </a:rPr>
              <a:t>'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Match the string “100%”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dirty="0"/>
              <a:t>			</a:t>
            </a:r>
            <a:r>
              <a:rPr lang="en-US" altLang="en-US" sz="1700" b="1" dirty="0"/>
              <a:t>like </a:t>
            </a:r>
            <a:r>
              <a:rPr lang="en-US" altLang="en-US" sz="1700" b="1" dirty="0">
                <a:latin typeface="Century Gothic" panose="020B0502020202020204" pitchFamily="34" charset="0"/>
              </a:rPr>
              <a:t>'</a:t>
            </a:r>
            <a:r>
              <a:rPr lang="en-US" altLang="ja-JP" sz="1700" dirty="0"/>
              <a:t>100 \%</a:t>
            </a:r>
            <a:r>
              <a:rPr lang="en-US" altLang="ja-JP" sz="1700" dirty="0">
                <a:latin typeface="Century Gothic" panose="020B0502020202020204" pitchFamily="34" charset="0"/>
              </a:rPr>
              <a:t>' </a:t>
            </a:r>
            <a:r>
              <a:rPr lang="en-US" altLang="ja-JP" sz="1700" dirty="0"/>
              <a:t> </a:t>
            </a:r>
            <a:r>
              <a:rPr lang="en-US" altLang="ja-JP" sz="1700" b="1" dirty="0"/>
              <a:t>escape  </a:t>
            </a:r>
            <a:r>
              <a:rPr lang="en-US" altLang="ja-JP" sz="1700" b="1" dirty="0">
                <a:latin typeface="Century Gothic" panose="020B0502020202020204" pitchFamily="34" charset="0"/>
              </a:rPr>
              <a:t>'</a:t>
            </a:r>
            <a:r>
              <a:rPr lang="en-US" altLang="ja-JP" sz="1700" dirty="0"/>
              <a:t>\</a:t>
            </a:r>
            <a:r>
              <a:rPr lang="en-US" altLang="ja-JP" sz="1700" dirty="0">
                <a:latin typeface="Century Gothic" panose="020B0502020202020204" pitchFamily="34" charset="0"/>
              </a:rPr>
              <a:t>' </a:t>
            </a:r>
            <a:endParaRPr lang="en-US" altLang="ja-JP" sz="1700" dirty="0"/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dirty="0"/>
              <a:t>      in that above we use backslash (\) as the escape character.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String Operations (Cont.)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434616" cy="4379912"/>
          </a:xfrm>
        </p:spPr>
        <p:txBody>
          <a:bodyPr/>
          <a:lstStyle/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Patterns are case sensitive.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Pattern matching examples: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'Intro%' matches any string beginning with “Intro”.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'%Comp%' matches any string containing “Comp” as a substring.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'_ _ _' matches any string of exactly three characters.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'_ _ _ %' matches any string of at least three characters.</a:t>
            </a:r>
          </a:p>
          <a:p>
            <a:pPr lvl="1"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SQL supports a variety of string operations such as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concatenation (using “||”)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converting from upper to lower case (and vice versa)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finding string length, extracting substrings, etc.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Ordering the Display of Tuples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522211" cy="4085717"/>
          </a:xfrm>
        </p:spPr>
        <p:txBody>
          <a:bodyPr/>
          <a:lstStyle/>
          <a:p>
            <a:pPr>
              <a:tabLst>
                <a:tab pos="906463" algn="l"/>
              </a:tabLst>
            </a:pPr>
            <a:r>
              <a:rPr lang="en-US" altLang="en-US" sz="1700" dirty="0"/>
              <a:t>List in alphabetic order the names of all instructors </a:t>
            </a:r>
          </a:p>
          <a:p>
            <a:pPr>
              <a:buFont typeface="Monotype Sorts" charset="2"/>
              <a:buNone/>
              <a:tabLst>
                <a:tab pos="906463" algn="l"/>
              </a:tabLst>
            </a:pPr>
            <a:r>
              <a:rPr lang="en-US" altLang="en-US" sz="1700" dirty="0"/>
              <a:t>              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  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dirty="0"/>
              <a:t>	</a:t>
            </a:r>
            <a:r>
              <a:rPr lang="en-US" altLang="en-US" sz="1700" b="1" dirty="0"/>
              <a:t>order by </a:t>
            </a:r>
            <a:r>
              <a:rPr lang="en-US" altLang="en-US" sz="1700" i="1" dirty="0"/>
              <a:t>name</a:t>
            </a:r>
            <a:endParaRPr lang="en-US" altLang="en-US" sz="1700" dirty="0"/>
          </a:p>
          <a:p>
            <a:pPr>
              <a:tabLst>
                <a:tab pos="906463" algn="l"/>
              </a:tabLst>
            </a:pPr>
            <a:r>
              <a:rPr lang="en-US" altLang="en-US" sz="1700" dirty="0"/>
              <a:t>We may specify </a:t>
            </a:r>
            <a:r>
              <a:rPr lang="en-US" altLang="en-US" sz="1700" b="1" dirty="0" err="1">
                <a:solidFill>
                  <a:srgbClr val="002060"/>
                </a:solidFill>
              </a:rPr>
              <a:t>desc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for descending order or </a:t>
            </a:r>
            <a:r>
              <a:rPr lang="en-US" altLang="en-US" sz="1700" b="1" dirty="0" err="1">
                <a:solidFill>
                  <a:srgbClr val="002060"/>
                </a:solidFill>
              </a:rPr>
              <a:t>asc</a:t>
            </a:r>
            <a:r>
              <a:rPr lang="en-US" altLang="en-US" sz="1700" dirty="0"/>
              <a:t> for ascending order, for each attribute; ascending order is the default.</a:t>
            </a:r>
          </a:p>
          <a:p>
            <a:pPr lvl="1">
              <a:tabLst>
                <a:tab pos="906463" algn="l"/>
              </a:tabLst>
            </a:pPr>
            <a:r>
              <a:rPr lang="en-US" altLang="en-US" sz="1700" dirty="0"/>
              <a:t>Example:  </a:t>
            </a:r>
            <a:r>
              <a:rPr lang="en-US" altLang="en-US" sz="1700" b="1" dirty="0"/>
              <a:t>order by</a:t>
            </a:r>
            <a:r>
              <a:rPr lang="en-US" altLang="en-US" sz="1700" dirty="0"/>
              <a:t>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</a:t>
            </a:r>
            <a:r>
              <a:rPr lang="en-US" altLang="en-US" sz="1700" b="1" dirty="0" err="1"/>
              <a:t>desc</a:t>
            </a:r>
            <a:endParaRPr lang="en-US" altLang="en-US" sz="1700" b="1" dirty="0"/>
          </a:p>
          <a:p>
            <a:pPr>
              <a:tabLst>
                <a:tab pos="906463" algn="l"/>
              </a:tabLst>
            </a:pPr>
            <a:r>
              <a:rPr lang="en-US" altLang="en-US" sz="1700" dirty="0"/>
              <a:t>Can sort on multiple attributes</a:t>
            </a:r>
          </a:p>
          <a:p>
            <a:pPr lvl="1">
              <a:tabLst>
                <a:tab pos="906463" algn="l"/>
              </a:tabLst>
            </a:pPr>
            <a:r>
              <a:rPr lang="en-US" altLang="en-US" sz="1700" dirty="0"/>
              <a:t>Example: </a:t>
            </a:r>
            <a:r>
              <a:rPr lang="en-US" altLang="en-US" sz="1700" b="1" dirty="0"/>
              <a:t>order by 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, name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Where Clause Predicates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436866" cy="3624007"/>
          </a:xfrm>
        </p:spPr>
        <p:txBody>
          <a:bodyPr lIns="90488" tIns="44450" rIns="90488" bIns="44450"/>
          <a:lstStyle/>
          <a:p>
            <a:r>
              <a:rPr lang="en-US" altLang="en-US" sz="1700" dirty="0"/>
              <a:t>SQL includes a </a:t>
            </a:r>
            <a:r>
              <a:rPr lang="en-US" altLang="en-US" sz="1700" b="1" dirty="0">
                <a:solidFill>
                  <a:srgbClr val="002060"/>
                </a:solidFill>
              </a:rPr>
              <a:t>between</a:t>
            </a:r>
            <a:r>
              <a:rPr lang="en-US" altLang="en-US" sz="1700" dirty="0"/>
              <a:t> comparison operator</a:t>
            </a:r>
          </a:p>
          <a:p>
            <a:r>
              <a:rPr lang="en-US" altLang="en-US" sz="1700" dirty="0"/>
              <a:t>Example:  Find the names of all instructors with salary between $90,000 and $100,000 (that is, </a:t>
            </a:r>
            <a:r>
              <a:rPr lang="en-US" altLang="en-US" sz="1700" dirty="0">
                <a:latin typeface="Symbol" panose="05050102010706020507" pitchFamily="18" charset="2"/>
              </a:rPr>
              <a:t> </a:t>
            </a:r>
            <a:r>
              <a:rPr lang="en-US" altLang="en-US" sz="1700" dirty="0"/>
              <a:t>$90,000 and </a:t>
            </a:r>
            <a:r>
              <a:rPr lang="en-US" altLang="en-US" sz="1700" dirty="0">
                <a:latin typeface="Symbol" panose="05050102010706020507" pitchFamily="18" charset="2"/>
              </a:rPr>
              <a:t> </a:t>
            </a:r>
            <a:r>
              <a:rPr lang="en-US" altLang="en-US" sz="1700" dirty="0"/>
              <a:t>$100,000)</a:t>
            </a:r>
          </a:p>
          <a:p>
            <a:pPr lvl="1"/>
            <a:r>
              <a:rPr lang="en-US" altLang="en-US" sz="1700" b="1" dirty="0"/>
              <a:t>select</a:t>
            </a:r>
            <a:r>
              <a:rPr lang="en-US" altLang="en-US" sz="1700" i="1" dirty="0"/>
              <a:t> name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b="1" dirty="0"/>
              <a:t>between </a:t>
            </a:r>
            <a:r>
              <a:rPr lang="en-US" altLang="en-US" sz="1700" dirty="0"/>
              <a:t>90000 </a:t>
            </a:r>
            <a:r>
              <a:rPr lang="en-US" altLang="en-US" sz="1700" b="1" dirty="0"/>
              <a:t>and </a:t>
            </a:r>
            <a:r>
              <a:rPr lang="en-US" altLang="en-US" sz="1700" dirty="0"/>
              <a:t>100000</a:t>
            </a:r>
          </a:p>
          <a:p>
            <a:r>
              <a:rPr lang="en-US" altLang="en-US" sz="1700" dirty="0"/>
              <a:t>Tuple comparison</a:t>
            </a:r>
          </a:p>
          <a:p>
            <a:pPr lvl="1"/>
            <a:r>
              <a:rPr kumimoji="0" lang="en-US" altLang="en-US" sz="1700" b="1" dirty="0"/>
              <a:t>select </a:t>
            </a:r>
            <a:r>
              <a:rPr kumimoji="0" lang="en-US" altLang="en-US" sz="1700" i="1" dirty="0"/>
              <a:t>name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 err="1"/>
              <a:t>course_id</a:t>
            </a:r>
            <a:r>
              <a:rPr kumimoji="0" lang="en-US" altLang="en-US" sz="1700" i="1" dirty="0"/>
              <a:t/>
            </a:r>
            <a:br>
              <a:rPr kumimoji="0" lang="en-US" altLang="en-US" sz="1700" i="1" dirty="0"/>
            </a:b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instructor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teaches</a:t>
            </a:r>
            <a:br>
              <a:rPr kumimoji="0" lang="en-US" altLang="en-US" sz="1700" i="1" dirty="0"/>
            </a:br>
            <a:r>
              <a:rPr kumimoji="0" lang="en-US" altLang="en-US" sz="1700" b="1" dirty="0"/>
              <a:t>where </a:t>
            </a:r>
            <a:r>
              <a:rPr kumimoji="0" lang="en-US" altLang="en-US" sz="1700" dirty="0"/>
              <a:t>(</a:t>
            </a:r>
            <a:r>
              <a:rPr kumimoji="0" lang="en-US" altLang="en-US" sz="1700" i="1" dirty="0"/>
              <a:t>instructor</a:t>
            </a:r>
            <a:r>
              <a:rPr kumimoji="0" lang="en-US" altLang="en-US" sz="1700" dirty="0"/>
              <a:t>.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dept_name</a:t>
            </a:r>
            <a:r>
              <a:rPr kumimoji="0" lang="en-US" altLang="en-US" sz="1700" dirty="0"/>
              <a:t>) = (</a:t>
            </a:r>
            <a:r>
              <a:rPr kumimoji="0" lang="en-US" altLang="en-US" sz="1700" i="1" dirty="0"/>
              <a:t>teaches</a:t>
            </a:r>
            <a:r>
              <a:rPr kumimoji="0" lang="en-US" altLang="en-US" sz="1700" dirty="0"/>
              <a:t>.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, 'Biology');</a:t>
            </a:r>
          </a:p>
          <a:p>
            <a:pPr lvl="1"/>
            <a:endParaRPr kumimoji="0" lang="en-US" altLang="en-US" sz="1700" dirty="0">
              <a:latin typeface="Times New Roman" panose="02020603050405020304" pitchFamily="18" charset="0"/>
            </a:endParaRPr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Null Values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612169" cy="4648136"/>
          </a:xfrm>
        </p:spPr>
        <p:txBody>
          <a:bodyPr/>
          <a:lstStyle/>
          <a:p>
            <a:r>
              <a:rPr lang="en-US" altLang="en-US" sz="1700" dirty="0"/>
              <a:t>It is possible for tuples to have a null value, denoted by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, for some of their attributes</a:t>
            </a:r>
          </a:p>
          <a:p>
            <a:r>
              <a:rPr lang="en-US" altLang="en-US" sz="1700" b="1" dirty="0"/>
              <a:t>null</a:t>
            </a:r>
            <a:r>
              <a:rPr lang="en-US" altLang="en-US" sz="1700" dirty="0"/>
              <a:t> signifies an unknown value or that a value does not exist.</a:t>
            </a:r>
          </a:p>
          <a:p>
            <a:r>
              <a:rPr lang="en-US" altLang="en-US" sz="1700" dirty="0"/>
              <a:t>The result of any arithmetic expression involving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 is </a:t>
            </a:r>
            <a:r>
              <a:rPr lang="en-US" altLang="en-US" sz="1700" b="1" dirty="0"/>
              <a:t>null</a:t>
            </a:r>
          </a:p>
          <a:p>
            <a:pPr lvl="1"/>
            <a:r>
              <a:rPr lang="en-US" altLang="en-US" sz="1700" dirty="0"/>
              <a:t>Example:  5 +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  returns </a:t>
            </a:r>
            <a:r>
              <a:rPr lang="en-US" altLang="en-US" sz="1700" b="1" dirty="0"/>
              <a:t>null</a:t>
            </a:r>
          </a:p>
          <a:p>
            <a:r>
              <a:rPr lang="en-US" altLang="en-US" sz="1700" dirty="0"/>
              <a:t>The predicate  </a:t>
            </a:r>
            <a:r>
              <a:rPr lang="en-US" altLang="en-US" sz="1700" b="1" dirty="0"/>
              <a:t>is null</a:t>
            </a:r>
            <a:r>
              <a:rPr lang="en-US" altLang="en-US" sz="1700" dirty="0"/>
              <a:t> can be used to check for null values.</a:t>
            </a:r>
          </a:p>
          <a:p>
            <a:pPr lvl="1"/>
            <a:r>
              <a:rPr lang="en-US" altLang="en-US" sz="1700" dirty="0"/>
              <a:t>Example: Find all instructors whose salary is null</a:t>
            </a:r>
            <a:r>
              <a:rPr lang="en-US" altLang="en-US" sz="1700" i="1" dirty="0"/>
              <a:t>.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	select</a:t>
            </a:r>
            <a:r>
              <a:rPr lang="en-US" altLang="en-US" sz="1700" i="1" dirty="0"/>
              <a:t> 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</a:t>
            </a:r>
            <a:r>
              <a:rPr lang="en-US" altLang="en-US" sz="1700" i="1" dirty="0"/>
              <a:t> 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b="1" dirty="0"/>
              <a:t>is null</a:t>
            </a:r>
            <a:endParaRPr lang="en-US" altLang="en-US" sz="1700" dirty="0"/>
          </a:p>
          <a:p>
            <a:r>
              <a:rPr lang="en-US" altLang="en-US" sz="1700" dirty="0"/>
              <a:t>The predicate </a:t>
            </a:r>
            <a:r>
              <a:rPr lang="en-US" altLang="en-US" sz="1700" b="1" dirty="0"/>
              <a:t>is not null </a:t>
            </a:r>
            <a:r>
              <a:rPr lang="en-US" altLang="en-US" sz="1700" dirty="0"/>
              <a:t>succeeds if the value on which it is applied is not null.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120650"/>
            <a:ext cx="8077200" cy="609600"/>
          </a:xfrm>
        </p:spPr>
        <p:txBody>
          <a:bodyPr/>
          <a:lstStyle/>
          <a:p>
            <a:r>
              <a:rPr lang="en-US" altLang="en-US" sz="2800" dirty="0"/>
              <a:t>Null Values (Cont.)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06489"/>
            <a:ext cx="7563776" cy="4818824"/>
          </a:xfrm>
        </p:spPr>
        <p:txBody>
          <a:bodyPr/>
          <a:lstStyle/>
          <a:p>
            <a:r>
              <a:rPr lang="en-US" altLang="en-US" sz="1700" dirty="0"/>
              <a:t>SQL treats as </a:t>
            </a:r>
            <a:r>
              <a:rPr lang="en-US" altLang="en-US" sz="1700" b="1" dirty="0"/>
              <a:t>unknown</a:t>
            </a:r>
            <a:r>
              <a:rPr lang="en-US" altLang="en-US" sz="1700" dirty="0"/>
              <a:t> the result of any comparison involving a null value (other than predicates </a:t>
            </a:r>
            <a:r>
              <a:rPr lang="en-US" altLang="en-US" sz="1700" b="1" dirty="0"/>
              <a:t>is null </a:t>
            </a:r>
            <a:r>
              <a:rPr lang="en-US" altLang="en-US" sz="1700" dirty="0"/>
              <a:t>and  </a:t>
            </a:r>
            <a:r>
              <a:rPr lang="en-US" altLang="en-US" sz="1700" b="1" dirty="0"/>
              <a:t>is not null</a:t>
            </a:r>
            <a:r>
              <a:rPr lang="en-US" altLang="en-US" sz="1700" dirty="0"/>
              <a:t>).</a:t>
            </a:r>
          </a:p>
          <a:p>
            <a:pPr lvl="1"/>
            <a:r>
              <a:rPr lang="en-US" altLang="en-US" sz="1700" dirty="0"/>
              <a:t>Example</a:t>
            </a:r>
            <a:r>
              <a:rPr lang="en-US" altLang="en-US" sz="1700" i="1" dirty="0"/>
              <a:t>: 5 &lt;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  </a:t>
            </a:r>
            <a:r>
              <a:rPr lang="en-US" altLang="en-US" sz="1700" dirty="0"/>
              <a:t>or</a:t>
            </a:r>
            <a:r>
              <a:rPr lang="en-US" altLang="en-US" sz="1700" i="1" dirty="0"/>
              <a:t>  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&lt;&gt;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   </a:t>
            </a:r>
            <a:r>
              <a:rPr lang="en-US" altLang="en-US" sz="1700" dirty="0"/>
              <a:t>or</a:t>
            </a:r>
            <a:r>
              <a:rPr lang="en-US" altLang="en-US" sz="1700" i="1" dirty="0"/>
              <a:t>   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= </a:t>
            </a:r>
            <a:r>
              <a:rPr lang="en-US" altLang="en-US" sz="1700" b="1" dirty="0"/>
              <a:t>null</a:t>
            </a:r>
            <a:endParaRPr lang="en-US" altLang="en-US" sz="1700" dirty="0"/>
          </a:p>
          <a:p>
            <a:r>
              <a:rPr lang="en-US" altLang="en-US" sz="1700" dirty="0"/>
              <a:t>The predicate in a </a:t>
            </a:r>
            <a:r>
              <a:rPr lang="en-US" altLang="en-US" sz="1700" b="1" dirty="0"/>
              <a:t>where</a:t>
            </a:r>
            <a:r>
              <a:rPr lang="en-US" altLang="en-US" sz="1700" dirty="0"/>
              <a:t> clause can involve Boolean operations (</a:t>
            </a:r>
            <a:r>
              <a:rPr lang="en-US" altLang="en-US" sz="1700" b="1" dirty="0"/>
              <a:t>and</a:t>
            </a:r>
            <a:r>
              <a:rPr lang="en-US" altLang="en-US" sz="1700" dirty="0"/>
              <a:t>, </a:t>
            </a:r>
            <a:r>
              <a:rPr lang="en-US" altLang="en-US" sz="1700" b="1" dirty="0"/>
              <a:t>or</a:t>
            </a:r>
            <a:r>
              <a:rPr lang="en-US" altLang="en-US" sz="1700" dirty="0"/>
              <a:t>, </a:t>
            </a:r>
            <a:r>
              <a:rPr lang="en-US" altLang="en-US" sz="1700" b="1" dirty="0"/>
              <a:t>not</a:t>
            </a:r>
            <a:r>
              <a:rPr lang="en-US" altLang="en-US" sz="1700" dirty="0"/>
              <a:t>); thus the definitions of the Boolean operations need to be  extended to deal with the value </a:t>
            </a:r>
            <a:r>
              <a:rPr lang="en-US" altLang="en-US" sz="1700" b="1" dirty="0"/>
              <a:t>unknown</a:t>
            </a:r>
            <a:r>
              <a:rPr lang="en-US" altLang="en-US" sz="1700" dirty="0"/>
              <a:t>.</a:t>
            </a:r>
          </a:p>
          <a:p>
            <a:pPr lvl="1"/>
            <a:r>
              <a:rPr lang="en-US" altLang="en-US" sz="1700" b="1" dirty="0"/>
              <a:t>and </a:t>
            </a:r>
            <a:r>
              <a:rPr lang="en-US" altLang="en-US" sz="1700" dirty="0"/>
              <a:t>:</a:t>
            </a:r>
            <a:r>
              <a:rPr lang="en-US" altLang="en-US" sz="1700" i="1" dirty="0"/>
              <a:t> (true</a:t>
            </a:r>
            <a:r>
              <a:rPr lang="en-US" altLang="en-US" sz="1700" b="1" dirty="0"/>
              <a:t> and </a:t>
            </a:r>
            <a:r>
              <a:rPr lang="en-US" altLang="en-US" sz="1700" i="1" dirty="0"/>
              <a:t>unknown)  = unknown,    </a:t>
            </a:r>
            <a:br>
              <a:rPr lang="en-US" altLang="en-US" sz="1700" i="1" dirty="0"/>
            </a:br>
            <a:r>
              <a:rPr lang="en-US" altLang="en-US" sz="1700" i="1" dirty="0"/>
              <a:t>          (false</a:t>
            </a:r>
            <a:r>
              <a:rPr lang="en-US" altLang="en-US" sz="1700" b="1" dirty="0"/>
              <a:t> and </a:t>
            </a:r>
            <a:r>
              <a:rPr lang="en-US" altLang="en-US" sz="1700" i="1" dirty="0"/>
              <a:t>unknown) = false,</a:t>
            </a:r>
            <a:br>
              <a:rPr lang="en-US" altLang="en-US" sz="1700" i="1" dirty="0"/>
            </a:br>
            <a:r>
              <a:rPr lang="en-US" altLang="en-US" sz="1700" i="1" dirty="0"/>
              <a:t>          (unknown </a:t>
            </a:r>
            <a:r>
              <a:rPr lang="en-US" altLang="en-US" sz="1700" b="1" dirty="0"/>
              <a:t>and</a:t>
            </a:r>
            <a:r>
              <a:rPr lang="en-US" altLang="en-US" sz="1700" i="1" dirty="0"/>
              <a:t> unknown) = unknown</a:t>
            </a:r>
            <a:endParaRPr lang="en-US" altLang="en-US" sz="1700" dirty="0"/>
          </a:p>
          <a:p>
            <a:pPr lvl="1"/>
            <a:r>
              <a:rPr lang="en-US" altLang="en-US" sz="1700" b="1" dirty="0"/>
              <a:t>or:    </a:t>
            </a:r>
            <a:r>
              <a:rPr lang="en-US" altLang="en-US" sz="1700" dirty="0"/>
              <a:t> (</a:t>
            </a:r>
            <a:r>
              <a:rPr lang="en-US" altLang="en-US" sz="1700" i="1" dirty="0"/>
              <a:t>unknown</a:t>
            </a:r>
            <a:r>
              <a:rPr lang="en-US" altLang="en-US" sz="1700" dirty="0"/>
              <a:t> </a:t>
            </a:r>
            <a:r>
              <a:rPr lang="en-US" altLang="en-US" sz="1700" b="1" dirty="0"/>
              <a:t>or</a:t>
            </a:r>
            <a:r>
              <a:rPr lang="en-US" altLang="en-US" sz="1700" dirty="0"/>
              <a:t> </a:t>
            </a:r>
            <a:r>
              <a:rPr lang="en-US" altLang="en-US" sz="1700" i="1" dirty="0"/>
              <a:t>true</a:t>
            </a:r>
            <a:r>
              <a:rPr lang="en-US" altLang="en-US" sz="1700" dirty="0"/>
              <a:t>)   = </a:t>
            </a:r>
            <a:r>
              <a:rPr lang="en-US" altLang="en-US" sz="1700" i="1" dirty="0"/>
              <a:t>true</a:t>
            </a:r>
            <a:r>
              <a:rPr lang="en-US" altLang="en-US" sz="1700" dirty="0"/>
              <a:t>,</a:t>
            </a:r>
            <a:br>
              <a:rPr lang="en-US" altLang="en-US" sz="1700" dirty="0"/>
            </a:br>
            <a:r>
              <a:rPr lang="en-US" altLang="en-US" sz="1700" dirty="0"/>
              <a:t>          (</a:t>
            </a:r>
            <a:r>
              <a:rPr lang="en-US" altLang="en-US" sz="1700" i="1" dirty="0"/>
              <a:t>unknown</a:t>
            </a:r>
            <a:r>
              <a:rPr lang="en-US" altLang="en-US" sz="1700" dirty="0"/>
              <a:t> </a:t>
            </a:r>
            <a:r>
              <a:rPr lang="en-US" altLang="en-US" sz="1700" b="1" dirty="0"/>
              <a:t>or</a:t>
            </a:r>
            <a:r>
              <a:rPr lang="en-US" altLang="en-US" sz="1700" dirty="0"/>
              <a:t> </a:t>
            </a:r>
            <a:r>
              <a:rPr lang="en-US" altLang="en-US" sz="1700" i="1" dirty="0"/>
              <a:t>false</a:t>
            </a:r>
            <a:r>
              <a:rPr lang="en-US" altLang="en-US" sz="1700" dirty="0"/>
              <a:t>)  = </a:t>
            </a:r>
            <a:r>
              <a:rPr lang="en-US" altLang="en-US" sz="1700" i="1" dirty="0"/>
              <a:t>unknown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          (</a:t>
            </a:r>
            <a:r>
              <a:rPr lang="en-US" altLang="en-US" sz="1700" i="1" dirty="0"/>
              <a:t>unknown </a:t>
            </a:r>
            <a:r>
              <a:rPr lang="en-US" altLang="en-US" sz="1700" b="1" dirty="0"/>
              <a:t>or</a:t>
            </a:r>
            <a:r>
              <a:rPr lang="en-US" altLang="en-US" sz="1700" i="1" dirty="0"/>
              <a:t> unknown) = unknown</a:t>
            </a:r>
          </a:p>
          <a:p>
            <a:r>
              <a:rPr lang="en-US" altLang="en-US" sz="1700" dirty="0"/>
              <a:t>Result of </a:t>
            </a:r>
            <a:r>
              <a:rPr lang="en-US" altLang="en-US" sz="1700" b="1" dirty="0"/>
              <a:t>where </a:t>
            </a:r>
            <a:r>
              <a:rPr lang="en-US" altLang="en-US" sz="1700" dirty="0"/>
              <a:t>clause predicate is treated as </a:t>
            </a:r>
            <a:r>
              <a:rPr lang="en-US" altLang="en-US" sz="1700" i="1" dirty="0"/>
              <a:t>false </a:t>
            </a:r>
            <a:r>
              <a:rPr lang="en-US" altLang="en-US" sz="1700" dirty="0"/>
              <a:t>if it evaluates to </a:t>
            </a:r>
            <a:r>
              <a:rPr lang="en-US" altLang="en-US" sz="1700" i="1" dirty="0"/>
              <a:t>unknown</a:t>
            </a:r>
            <a:endParaRPr lang="en-US" alt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92683</TotalTime>
  <Words>1561</Words>
  <Application>Microsoft Office PowerPoint</Application>
  <PresentationFormat>Presentación en pantalla (4:3)</PresentationFormat>
  <Paragraphs>177</Paragraphs>
  <Slides>18</Slides>
  <Notes>18</Notes>
  <HiddenSlides>0</HiddenSlides>
  <MMClips>0</MMClips>
  <ScaleCrop>false</ScaleCrop>
  <HeadingPairs>
    <vt:vector size="8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  <vt:variant>
        <vt:lpstr>Presentaciones personalizadas</vt:lpstr>
      </vt:variant>
      <vt:variant>
        <vt:i4>1</vt:i4>
      </vt:variant>
    </vt:vector>
  </HeadingPairs>
  <TitlesOfParts>
    <vt:vector size="30" baseType="lpstr">
      <vt:lpstr>MS PGothic</vt:lpstr>
      <vt:lpstr>MS PGothic</vt:lpstr>
      <vt:lpstr>Arial</vt:lpstr>
      <vt:lpstr>Century Gothic</vt:lpstr>
      <vt:lpstr>Helvetica</vt:lpstr>
      <vt:lpstr>Monotype Sorts</vt:lpstr>
      <vt:lpstr>Symbol</vt:lpstr>
      <vt:lpstr>Times New Roman</vt:lpstr>
      <vt:lpstr>Webdings</vt:lpstr>
      <vt:lpstr>Wingdings</vt:lpstr>
      <vt:lpstr>2_db-5-grey</vt:lpstr>
      <vt:lpstr>Chapter 3: Introduction to SQL</vt:lpstr>
      <vt:lpstr>Outline</vt:lpstr>
      <vt:lpstr>History</vt:lpstr>
      <vt:lpstr>SQL Parts</vt:lpstr>
      <vt:lpstr>Data Definition Language</vt:lpstr>
      <vt:lpstr>Updates to tables</vt:lpstr>
      <vt:lpstr>Basic Query Structure </vt:lpstr>
      <vt:lpstr>The select Clause</vt:lpstr>
      <vt:lpstr>The select Clause (Cont.)</vt:lpstr>
      <vt:lpstr>The select Clause (Cont.)</vt:lpstr>
      <vt:lpstr>The select Clause (Cont.)</vt:lpstr>
      <vt:lpstr>The where Clause</vt:lpstr>
      <vt:lpstr>String Operations</vt:lpstr>
      <vt:lpstr>String Operations (Cont.)</vt:lpstr>
      <vt:lpstr>Ordering the Display of Tuples</vt:lpstr>
      <vt:lpstr>Where Clause Predicates</vt:lpstr>
      <vt:lpstr>Null Values</vt:lpstr>
      <vt:lpstr>Null Values (Cont.)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Julio Ernesto Carreno Vargas</cp:lastModifiedBy>
  <cp:revision>476</cp:revision>
  <cp:lastPrinted>1999-06-28T19:27:31Z</cp:lastPrinted>
  <dcterms:created xsi:type="dcterms:W3CDTF">2009-12-21T15:40:22Z</dcterms:created>
  <dcterms:modified xsi:type="dcterms:W3CDTF">2023-09-05T20:28:31Z</dcterms:modified>
</cp:coreProperties>
</file>