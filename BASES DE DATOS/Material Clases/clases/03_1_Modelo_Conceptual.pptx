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0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9144000"/>
  <p:notesSz cx="6881800" cy="9296400"/>
  <p:embeddedFontLst>
    <p:embeddedFont>
      <p:font typeface="Garamond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Gill Sans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GNEDORTCM85WdQw60NNCFXdpI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9" orient="horz"/>
        <p:guide pos="52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Garamond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Garamon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Garamond-boldItalic.fntdata"/><Relationship Id="rId30" Type="http://schemas.openxmlformats.org/officeDocument/2006/relationships/font" Target="fonts/Garamond-italic.fntdata"/><Relationship Id="rId11" Type="http://schemas.openxmlformats.org/officeDocument/2006/relationships/slide" Target="slides/slide4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3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6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5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8.xml"/><Relationship Id="rId37" Type="http://schemas.openxmlformats.org/officeDocument/2006/relationships/font" Target="fonts/GillSans-bold.fntdata"/><Relationship Id="rId14" Type="http://schemas.openxmlformats.org/officeDocument/2006/relationships/slide" Target="slides/slide7.xml"/><Relationship Id="rId36" Type="http://schemas.openxmlformats.org/officeDocument/2006/relationships/font" Target="fonts/GillSans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29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98900" y="0"/>
            <a:ext cx="29829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2982913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98900" y="8831263"/>
            <a:ext cx="2982913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8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8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9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1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1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2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2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3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5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6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7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7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8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8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0:notes"/>
          <p:cNvSpPr txBox="1"/>
          <p:nvPr>
            <p:ph idx="1" type="body"/>
          </p:nvPr>
        </p:nvSpPr>
        <p:spPr>
          <a:xfrm>
            <a:off x="917575" y="4414838"/>
            <a:ext cx="5046663" cy="4184650"/>
          </a:xfrm>
          <a:prstGeom prst="rect">
            <a:avLst/>
          </a:prstGeom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:notes"/>
          <p:cNvSpPr/>
          <p:nvPr>
            <p:ph idx="2" type="sldImg"/>
          </p:nvPr>
        </p:nvSpPr>
        <p:spPr>
          <a:xfrm>
            <a:off x="1116013" y="696913"/>
            <a:ext cx="4649787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Módulo: &lt;modulo&gt; Autor: &lt;Autor&gt; . No.</a:t>
            </a: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" name="Google Shape;25;p2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" name="Google Shape;26;p22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8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7" name="Google Shape;37;p68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8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8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0" name="Google Shape;40;p68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" name="Google Shape;41;p68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7" name="Google Shape;47;p69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8" name="Google Shape;48;p69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0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7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56" name="Google Shape;56;p70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7" name="Google Shape;57;p70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1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3" name="Google Shape;63;p7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68" name="Google Shape;68;p7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7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3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3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7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76" name="Google Shape;76;p7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73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7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9" name="Google Shape;79;p73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4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4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3" name="Google Shape;83;p74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87" name="Google Shape;87;p7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7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74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5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7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7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102" name="Google Shape;102;p7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7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04" name="Google Shape;104;p76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7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7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47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7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3" name="Google Shape;123;p4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4" name="Google Shape;124;p47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5" name="Google Shape;125;p47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26" name="Google Shape;126;p47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7" name="Google Shape;127;p47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8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0" name="Google Shape;130;p48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8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2" name="Google Shape;132;p48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8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135" name="Google Shape;135;p4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36" name="Google Shape;136;p48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, Alt.">
  <p:cSld name="Title and Content, Alt.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9" name="Google Shape;139;p49"/>
          <p:cNvSpPr txBox="1"/>
          <p:nvPr>
            <p:ph type="title"/>
          </p:nvPr>
        </p:nvSpPr>
        <p:spPr>
          <a:xfrm>
            <a:off x="498474" y="134471"/>
            <a:ext cx="7556313" cy="9950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9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41" name="Google Shape;141;p49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9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9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144" name="Google Shape;144;p4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45" name="Google Shape;145;p49"/>
          <p:cNvSpPr txBox="1"/>
          <p:nvPr>
            <p:ph idx="2" type="body"/>
          </p:nvPr>
        </p:nvSpPr>
        <p:spPr>
          <a:xfrm>
            <a:off x="498518" y="1129553"/>
            <a:ext cx="7558960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800"/>
              <a:buNone/>
              <a:defRPr b="0" i="0" sz="2400" u="none" cap="none" strike="noStrike">
                <a:solidFill>
                  <a:schemeClr val="accent3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2 Pictures">
  <p:cSld name="Title Slide with 2 Picture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0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0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50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0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0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2" name="Google Shape;152;p50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3" name="Google Shape;153;p50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4" name="Google Shape;154;p50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50"/>
          <p:cNvSpPr/>
          <p:nvPr>
            <p:ph idx="3" type="pic"/>
          </p:nvPr>
        </p:nvSpPr>
        <p:spPr>
          <a:xfrm>
            <a:off x="6802438" y="23774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50"/>
          <p:cNvSpPr txBox="1"/>
          <p:nvPr>
            <p:ph idx="4" type="body"/>
          </p:nvPr>
        </p:nvSpPr>
        <p:spPr>
          <a:xfrm>
            <a:off x="857250" y="1779494"/>
            <a:ext cx="3086100" cy="204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4600">
                <a:solidFill>
                  <a:schemeClr val="lt1"/>
                </a:solidFill>
              </a:defRPr>
            </a:lvl1pPr>
            <a:lvl2pPr indent="-285750" lvl="1" marL="914400" algn="l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1200"/>
            </a:lvl2pPr>
            <a:lvl3pPr indent="-276225" lvl="2" marL="1371600" algn="l">
              <a:spcBef>
                <a:spcPts val="600"/>
              </a:spcBef>
              <a:spcAft>
                <a:spcPts val="0"/>
              </a:spcAft>
              <a:buSzPts val="750"/>
              <a:buChar char="■"/>
              <a:defRPr sz="1000"/>
            </a:lvl3pPr>
            <a:lvl4pPr indent="-271462" lvl="3" marL="18288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4pPr>
            <a:lvl5pPr indent="-271462" lvl="4" marL="22860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57" name="Google Shape;157;p50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1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0" name="Google Shape;160;p51"/>
          <p:cNvSpPr txBox="1"/>
          <p:nvPr>
            <p:ph type="title"/>
          </p:nvPr>
        </p:nvSpPr>
        <p:spPr>
          <a:xfrm>
            <a:off x="2286000" y="3124200"/>
            <a:ext cx="56388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 b="0" sz="3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1"/>
          <p:cNvSpPr txBox="1"/>
          <p:nvPr>
            <p:ph idx="1" type="body"/>
          </p:nvPr>
        </p:nvSpPr>
        <p:spPr>
          <a:xfrm>
            <a:off x="2286000" y="4495800"/>
            <a:ext cx="56388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2" name="Google Shape;162;p51"/>
          <p:cNvSpPr txBox="1"/>
          <p:nvPr>
            <p:ph idx="10" type="dt"/>
          </p:nvPr>
        </p:nvSpPr>
        <p:spPr>
          <a:xfrm>
            <a:off x="658906" y="6248774"/>
            <a:ext cx="1474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1"/>
          <p:cNvSpPr txBox="1"/>
          <p:nvPr>
            <p:ph idx="11" type="ftr"/>
          </p:nvPr>
        </p:nvSpPr>
        <p:spPr>
          <a:xfrm>
            <a:off x="2286000" y="6248774"/>
            <a:ext cx="563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1"/>
          <p:cNvSpPr txBox="1"/>
          <p:nvPr>
            <p:ph idx="12" type="sldNum"/>
          </p:nvPr>
        </p:nvSpPr>
        <p:spPr>
          <a:xfrm>
            <a:off x="8305800" y="624877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165" name="Google Shape;165;p51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66" name="Google Shape;166;p51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2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9" name="Google Shape;169;p52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0" name="Google Shape;170;p52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71" name="Google Shape;171;p52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2"/>
          <p:cNvSpPr txBox="1"/>
          <p:nvPr>
            <p:ph idx="1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173" name="Google Shape;173;p52"/>
          <p:cNvSpPr txBox="1"/>
          <p:nvPr>
            <p:ph idx="2" type="body"/>
          </p:nvPr>
        </p:nvSpPr>
        <p:spPr>
          <a:xfrm>
            <a:off x="439987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174" name="Google Shape;174;p52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2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9" name="Google Shape;179;p53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80" name="Google Shape;180;p53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3"/>
          <p:cNvSpPr txBox="1"/>
          <p:nvPr>
            <p:ph idx="1" type="body"/>
          </p:nvPr>
        </p:nvSpPr>
        <p:spPr>
          <a:xfrm>
            <a:off x="497541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82" name="Google Shape;182;p53"/>
          <p:cNvSpPr txBox="1"/>
          <p:nvPr>
            <p:ph idx="2" type="body"/>
          </p:nvPr>
        </p:nvSpPr>
        <p:spPr>
          <a:xfrm>
            <a:off x="4399878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83" name="Google Shape;183;p53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3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186" name="Google Shape;186;p53"/>
          <p:cNvSpPr txBox="1"/>
          <p:nvPr>
            <p:ph idx="3" type="body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187" name="Google Shape;187;p53"/>
          <p:cNvSpPr txBox="1"/>
          <p:nvPr>
            <p:ph idx="4" type="body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rgbClr val="A2A2C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, Top and Bottom">
  <p:cSld name="2 Content, Top and Bottom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4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190" name="Google Shape;190;p54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4"/>
          <p:cNvSpPr txBox="1"/>
          <p:nvPr>
            <p:ph idx="1" type="body"/>
          </p:nvPr>
        </p:nvSpPr>
        <p:spPr>
          <a:xfrm>
            <a:off x="498517" y="1985963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192" name="Google Shape;192;p54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4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4"/>
          <p:cNvSpPr txBox="1"/>
          <p:nvPr>
            <p:ph idx="2" type="body"/>
          </p:nvPr>
        </p:nvSpPr>
        <p:spPr>
          <a:xfrm>
            <a:off x="498517" y="4164965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195" name="Google Shape;195;p54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6" name="Google Shape;196;p5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9" name="Google Shape;199;p55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00" name="Google Shape;200;p5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5"/>
          <p:cNvSpPr txBox="1"/>
          <p:nvPr>
            <p:ph idx="1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202" name="Google Shape;202;p5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05" name="Google Shape;205;p55"/>
          <p:cNvSpPr txBox="1"/>
          <p:nvPr>
            <p:ph idx="2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206" name="Google Shape;206;p55"/>
          <p:cNvSpPr txBox="1"/>
          <p:nvPr>
            <p:ph idx="3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">
  <p:cSld name="4 Conten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9" name="Google Shape;209;p56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10" name="Google Shape;210;p5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14" name="Google Shape;214;p56"/>
          <p:cNvSpPr txBox="1"/>
          <p:nvPr>
            <p:ph idx="1" type="body"/>
          </p:nvPr>
        </p:nvSpPr>
        <p:spPr>
          <a:xfrm>
            <a:off x="502920" y="1985963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215" name="Google Shape;215;p56"/>
          <p:cNvSpPr txBox="1"/>
          <p:nvPr>
            <p:ph idx="2" type="body"/>
          </p:nvPr>
        </p:nvSpPr>
        <p:spPr>
          <a:xfrm>
            <a:off x="502920" y="4164965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216" name="Google Shape;216;p56"/>
          <p:cNvSpPr txBox="1"/>
          <p:nvPr>
            <p:ph idx="3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217" name="Google Shape;217;p56"/>
          <p:cNvSpPr txBox="1"/>
          <p:nvPr>
            <p:ph idx="4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0" name="Google Shape;220;p5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21" name="Google Shape;221;p57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7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7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7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8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7" name="Google Shape;227;p58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8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8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9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2" name="Google Shape;232;p59"/>
          <p:cNvSpPr txBox="1"/>
          <p:nvPr>
            <p:ph type="title"/>
          </p:nvPr>
        </p:nvSpPr>
        <p:spPr>
          <a:xfrm>
            <a:off x="380555" y="2571750"/>
            <a:ext cx="325526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9"/>
          <p:cNvSpPr txBox="1"/>
          <p:nvPr>
            <p:ph idx="1" type="body"/>
          </p:nvPr>
        </p:nvSpPr>
        <p:spPr>
          <a:xfrm>
            <a:off x="4168775" y="273050"/>
            <a:ext cx="459739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9pPr>
          </a:lstStyle>
          <a:p/>
        </p:txBody>
      </p:sp>
      <p:sp>
        <p:nvSpPr>
          <p:cNvPr id="234" name="Google Shape;234;p59"/>
          <p:cNvSpPr txBox="1"/>
          <p:nvPr>
            <p:ph idx="2" type="body"/>
          </p:nvPr>
        </p:nvSpPr>
        <p:spPr>
          <a:xfrm>
            <a:off x="381093" y="3733800"/>
            <a:ext cx="325526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35" name="Google Shape;235;p59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9"/>
          <p:cNvSpPr txBox="1"/>
          <p:nvPr>
            <p:ph idx="11" type="ftr"/>
          </p:nvPr>
        </p:nvSpPr>
        <p:spPr>
          <a:xfrm>
            <a:off x="3859305" y="6423585"/>
            <a:ext cx="33169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9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0" name="Google Shape;240;p60"/>
          <p:cNvSpPr txBox="1"/>
          <p:nvPr>
            <p:ph type="title"/>
          </p:nvPr>
        </p:nvSpPr>
        <p:spPr>
          <a:xfrm>
            <a:off x="4169404" y="3124200"/>
            <a:ext cx="3898272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0"/>
          <p:cNvSpPr/>
          <p:nvPr>
            <p:ph idx="2" type="pic"/>
          </p:nvPr>
        </p:nvSpPr>
        <p:spPr>
          <a:xfrm>
            <a:off x="277906" y="228600"/>
            <a:ext cx="3460658" cy="6345238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60"/>
          <p:cNvSpPr txBox="1"/>
          <p:nvPr>
            <p:ph idx="1" type="body"/>
          </p:nvPr>
        </p:nvSpPr>
        <p:spPr>
          <a:xfrm>
            <a:off x="4169404" y="3995737"/>
            <a:ext cx="3898272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43" name="Google Shape;243;p60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0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0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46" name="Google Shape;246;p60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>
  <p:cSld name="Picture above Caption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1"/>
          <p:cNvSpPr txBox="1"/>
          <p:nvPr>
            <p:ph type="title"/>
          </p:nvPr>
        </p:nvSpPr>
        <p:spPr>
          <a:xfrm>
            <a:off x="506505" y="4424082"/>
            <a:ext cx="6191157" cy="8337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61"/>
          <p:cNvSpPr/>
          <p:nvPr>
            <p:ph idx="2" type="pic"/>
          </p:nvPr>
        </p:nvSpPr>
        <p:spPr>
          <a:xfrm>
            <a:off x="277905" y="228600"/>
            <a:ext cx="637838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61"/>
          <p:cNvSpPr txBox="1"/>
          <p:nvPr>
            <p:ph idx="1" type="body"/>
          </p:nvPr>
        </p:nvSpPr>
        <p:spPr>
          <a:xfrm>
            <a:off x="506505" y="5257799"/>
            <a:ext cx="619115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51" name="Google Shape;251;p61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1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1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54" name="Google Shape;254;p61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5" name="Google Shape;255;p6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6" name="Google Shape;256;p61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with Caption">
  <p:cSld name="2 Pictures with Caption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2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9" name="Google Shape;259;p62"/>
          <p:cNvSpPr txBox="1"/>
          <p:nvPr>
            <p:ph type="title"/>
          </p:nvPr>
        </p:nvSpPr>
        <p:spPr>
          <a:xfrm>
            <a:off x="380554" y="2571750"/>
            <a:ext cx="6181611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2"/>
          <p:cNvSpPr txBox="1"/>
          <p:nvPr>
            <p:ph idx="1" type="body"/>
          </p:nvPr>
        </p:nvSpPr>
        <p:spPr>
          <a:xfrm>
            <a:off x="381094" y="3733800"/>
            <a:ext cx="6179566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61" name="Google Shape;261;p62"/>
          <p:cNvSpPr txBox="1"/>
          <p:nvPr>
            <p:ph idx="10" type="dt"/>
          </p:nvPr>
        </p:nvSpPr>
        <p:spPr>
          <a:xfrm>
            <a:off x="5212262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2"/>
          <p:cNvSpPr txBox="1"/>
          <p:nvPr>
            <p:ph idx="11" type="ftr"/>
          </p:nvPr>
        </p:nvSpPr>
        <p:spPr>
          <a:xfrm>
            <a:off x="381095" y="6235607"/>
            <a:ext cx="46481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64" name="Google Shape;264;p62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65" name="Google Shape;265;p62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6" name="Google Shape;266;p62"/>
          <p:cNvSpPr/>
          <p:nvPr>
            <p:ph idx="2" type="pic"/>
          </p:nvPr>
        </p:nvSpPr>
        <p:spPr>
          <a:xfrm>
            <a:off x="6802438" y="23749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62"/>
          <p:cNvSpPr/>
          <p:nvPr>
            <p:ph idx="3" type="pic"/>
          </p:nvPr>
        </p:nvSpPr>
        <p:spPr>
          <a:xfrm>
            <a:off x="6802438" y="4535424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3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0" name="Google Shape;270;p63"/>
          <p:cNvSpPr txBox="1"/>
          <p:nvPr>
            <p:ph type="title"/>
          </p:nvPr>
        </p:nvSpPr>
        <p:spPr>
          <a:xfrm>
            <a:off x="380554" y="2571750"/>
            <a:ext cx="40166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3"/>
          <p:cNvSpPr txBox="1"/>
          <p:nvPr>
            <p:ph idx="1" type="body"/>
          </p:nvPr>
        </p:nvSpPr>
        <p:spPr>
          <a:xfrm>
            <a:off x="381094" y="3733800"/>
            <a:ext cx="401530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72" name="Google Shape;272;p63"/>
          <p:cNvSpPr txBox="1"/>
          <p:nvPr>
            <p:ph idx="10" type="dt"/>
          </p:nvPr>
        </p:nvSpPr>
        <p:spPr>
          <a:xfrm>
            <a:off x="3048000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3"/>
          <p:cNvSpPr txBox="1"/>
          <p:nvPr>
            <p:ph idx="11" type="ftr"/>
          </p:nvPr>
        </p:nvSpPr>
        <p:spPr>
          <a:xfrm>
            <a:off x="381095" y="6235607"/>
            <a:ext cx="25907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75" name="Google Shape;275;p63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76" name="Google Shape;276;p63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7" name="Google Shape;277;p63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8" name="Google Shape;278;p63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63"/>
          <p:cNvSpPr/>
          <p:nvPr>
            <p:ph idx="3" type="pic"/>
          </p:nvPr>
        </p:nvSpPr>
        <p:spPr>
          <a:xfrm>
            <a:off x="4624388" y="2381663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63"/>
          <p:cNvSpPr/>
          <p:nvPr>
            <p:ph idx="4" type="pic"/>
          </p:nvPr>
        </p:nvSpPr>
        <p:spPr>
          <a:xfrm>
            <a:off x="6803136" y="2381662"/>
            <a:ext cx="2057400" cy="41879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, Alt.">
  <p:cSld name="3 Pictures with Caption, Alt.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3" name="Google Shape;283;p64"/>
          <p:cNvSpPr txBox="1"/>
          <p:nvPr>
            <p:ph type="title"/>
          </p:nvPr>
        </p:nvSpPr>
        <p:spPr>
          <a:xfrm>
            <a:off x="4953000" y="3124200"/>
            <a:ext cx="310896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64"/>
          <p:cNvSpPr/>
          <p:nvPr>
            <p:ph idx="2" type="pic"/>
          </p:nvPr>
        </p:nvSpPr>
        <p:spPr>
          <a:xfrm>
            <a:off x="277905" y="2365248"/>
            <a:ext cx="424011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64"/>
          <p:cNvSpPr txBox="1"/>
          <p:nvPr>
            <p:ph idx="1" type="body"/>
          </p:nvPr>
        </p:nvSpPr>
        <p:spPr>
          <a:xfrm>
            <a:off x="4953000" y="3995737"/>
            <a:ext cx="3108960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286" name="Google Shape;286;p64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64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6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289" name="Google Shape;289;p64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  <p:sp>
        <p:nvSpPr>
          <p:cNvPr id="290" name="Google Shape;290;p64"/>
          <p:cNvSpPr/>
          <p:nvPr>
            <p:ph idx="3" type="pic"/>
          </p:nvPr>
        </p:nvSpPr>
        <p:spPr>
          <a:xfrm>
            <a:off x="27790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64"/>
          <p:cNvSpPr/>
          <p:nvPr>
            <p:ph idx="4" type="pic"/>
          </p:nvPr>
        </p:nvSpPr>
        <p:spPr>
          <a:xfrm>
            <a:off x="246062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4" name="Google Shape;294;p65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295" name="Google Shape;295;p6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65"/>
          <p:cNvSpPr txBox="1"/>
          <p:nvPr>
            <p:ph idx="1" type="body"/>
          </p:nvPr>
        </p:nvSpPr>
        <p:spPr>
          <a:xfrm rot="5400000">
            <a:off x="2204149" y="275525"/>
            <a:ext cx="4144963" cy="75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97" name="Google Shape;297;p6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6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6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2" name="Google Shape;302;p66"/>
          <p:cNvSpPr txBox="1"/>
          <p:nvPr>
            <p:ph type="title"/>
          </p:nvPr>
        </p:nvSpPr>
        <p:spPr>
          <a:xfrm rot="5400000">
            <a:off x="5750720" y="3199794"/>
            <a:ext cx="5171422" cy="681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66"/>
          <p:cNvSpPr txBox="1"/>
          <p:nvPr>
            <p:ph idx="1" type="body"/>
          </p:nvPr>
        </p:nvSpPr>
        <p:spPr>
          <a:xfrm rot="5400000">
            <a:off x="1293765" y="122190"/>
            <a:ext cx="518486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304" name="Google Shape;304;p6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6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6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307" name="Google Shape;307;p66"/>
          <p:cNvSpPr txBox="1"/>
          <p:nvPr/>
        </p:nvSpPr>
        <p:spPr>
          <a:xfrm rot="-5400000">
            <a:off x="8593111" y="561668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6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317" name="Google Shape;317;p2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7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3" name="Google Shape;323;p27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7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29" name="Google Shape;329;p27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3" name="Google Shape;333;p28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8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28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, Alt.">
  <p:cSld name="Title and Content, Alt.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42" name="Google Shape;342;p29"/>
          <p:cNvSpPr txBox="1"/>
          <p:nvPr>
            <p:ph type="title"/>
          </p:nvPr>
        </p:nvSpPr>
        <p:spPr>
          <a:xfrm>
            <a:off x="498474" y="134471"/>
            <a:ext cx="7556313" cy="9950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29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344" name="Google Shape;344;p29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29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29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48" name="Google Shape;348;p29"/>
          <p:cNvSpPr txBox="1"/>
          <p:nvPr>
            <p:ph idx="2" type="body"/>
          </p:nvPr>
        </p:nvSpPr>
        <p:spPr>
          <a:xfrm>
            <a:off x="498518" y="1129553"/>
            <a:ext cx="7558960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800"/>
              <a:buNone/>
              <a:defRPr b="0" i="0" sz="2400" u="none" cap="none" strike="noStrike">
                <a:solidFill>
                  <a:schemeClr val="accent3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2 Pictures">
  <p:cSld name="Title Slide with 2 Picture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30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0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30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57" name="Google Shape;357;p30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30"/>
          <p:cNvSpPr/>
          <p:nvPr>
            <p:ph idx="3" type="pic"/>
          </p:nvPr>
        </p:nvSpPr>
        <p:spPr>
          <a:xfrm>
            <a:off x="6802438" y="23774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30"/>
          <p:cNvSpPr txBox="1"/>
          <p:nvPr>
            <p:ph idx="4" type="body"/>
          </p:nvPr>
        </p:nvSpPr>
        <p:spPr>
          <a:xfrm>
            <a:off x="857250" y="1779494"/>
            <a:ext cx="3086100" cy="204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3450"/>
              <a:buNone/>
              <a:defRPr sz="4600">
                <a:solidFill>
                  <a:schemeClr val="lt1"/>
                </a:solidFill>
              </a:defRPr>
            </a:lvl1pPr>
            <a:lvl2pPr indent="-285750" lvl="1" marL="914400" algn="l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1200"/>
            </a:lvl2pPr>
            <a:lvl3pPr indent="-276225" lvl="2" marL="1371600" algn="l">
              <a:spcBef>
                <a:spcPts val="600"/>
              </a:spcBef>
              <a:spcAft>
                <a:spcPts val="0"/>
              </a:spcAft>
              <a:buSzPts val="750"/>
              <a:buChar char="■"/>
              <a:defRPr sz="1000"/>
            </a:lvl3pPr>
            <a:lvl4pPr indent="-271462" lvl="3" marL="18288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4pPr>
            <a:lvl5pPr indent="-271462" lvl="4" marL="22860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360" name="Google Shape;360;p30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2286000" y="3124200"/>
            <a:ext cx="56388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 b="0" sz="3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2286000" y="4495800"/>
            <a:ext cx="56388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5" name="Google Shape;365;p31"/>
          <p:cNvSpPr txBox="1"/>
          <p:nvPr>
            <p:ph idx="10" type="dt"/>
          </p:nvPr>
        </p:nvSpPr>
        <p:spPr>
          <a:xfrm>
            <a:off x="658906" y="6248774"/>
            <a:ext cx="1474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11" type="ftr"/>
          </p:nvPr>
        </p:nvSpPr>
        <p:spPr>
          <a:xfrm>
            <a:off x="2286000" y="6248774"/>
            <a:ext cx="563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31"/>
          <p:cNvSpPr txBox="1"/>
          <p:nvPr>
            <p:ph idx="12" type="sldNum"/>
          </p:nvPr>
        </p:nvSpPr>
        <p:spPr>
          <a:xfrm>
            <a:off x="8305800" y="624877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74" name="Google Shape;374;p32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32"/>
          <p:cNvSpPr txBox="1"/>
          <p:nvPr>
            <p:ph idx="1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376" name="Google Shape;376;p32"/>
          <p:cNvSpPr txBox="1"/>
          <p:nvPr>
            <p:ph idx="2" type="body"/>
          </p:nvPr>
        </p:nvSpPr>
        <p:spPr>
          <a:xfrm>
            <a:off x="439987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377" name="Google Shape;377;p32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32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3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83" name="Google Shape;383;p33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33"/>
          <p:cNvSpPr txBox="1"/>
          <p:nvPr>
            <p:ph idx="1" type="body"/>
          </p:nvPr>
        </p:nvSpPr>
        <p:spPr>
          <a:xfrm>
            <a:off x="497541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85" name="Google Shape;385;p33"/>
          <p:cNvSpPr txBox="1"/>
          <p:nvPr>
            <p:ph idx="2" type="body"/>
          </p:nvPr>
        </p:nvSpPr>
        <p:spPr>
          <a:xfrm>
            <a:off x="4399878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86" name="Google Shape;386;p33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33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3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389" name="Google Shape;389;p33"/>
          <p:cNvSpPr txBox="1"/>
          <p:nvPr>
            <p:ph idx="3" type="body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390" name="Google Shape;390;p33"/>
          <p:cNvSpPr txBox="1"/>
          <p:nvPr>
            <p:ph idx="4" type="body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rgbClr val="A2A2C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, Top and Bottom">
  <p:cSld name="2 Content, Top and Bottom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393" name="Google Shape;393;p34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34"/>
          <p:cNvSpPr txBox="1"/>
          <p:nvPr>
            <p:ph idx="1" type="body"/>
          </p:nvPr>
        </p:nvSpPr>
        <p:spPr>
          <a:xfrm>
            <a:off x="498517" y="1985963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395" name="Google Shape;395;p34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4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34"/>
          <p:cNvSpPr txBox="1"/>
          <p:nvPr>
            <p:ph idx="2" type="body"/>
          </p:nvPr>
        </p:nvSpPr>
        <p:spPr>
          <a:xfrm>
            <a:off x="498517" y="4164965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398" name="Google Shape;398;p34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9" name="Google Shape;399;p3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2" name="Google Shape;402;p35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03" name="Google Shape;403;p3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35"/>
          <p:cNvSpPr txBox="1"/>
          <p:nvPr>
            <p:ph idx="1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405" name="Google Shape;405;p3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409" name="Google Shape;409;p35"/>
          <p:cNvSpPr txBox="1"/>
          <p:nvPr>
            <p:ph idx="3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">
  <p:cSld name="4 Content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2" name="Google Shape;412;p36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13" name="Google Shape;413;p3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3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3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3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502920" y="1985963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418" name="Google Shape;418;p36"/>
          <p:cNvSpPr txBox="1"/>
          <p:nvPr>
            <p:ph idx="2" type="body"/>
          </p:nvPr>
        </p:nvSpPr>
        <p:spPr>
          <a:xfrm>
            <a:off x="502920" y="4164965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419" name="Google Shape;419;p36"/>
          <p:cNvSpPr txBox="1"/>
          <p:nvPr>
            <p:ph idx="3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  <p:sp>
        <p:nvSpPr>
          <p:cNvPr id="420" name="Google Shape;420;p36"/>
          <p:cNvSpPr txBox="1"/>
          <p:nvPr>
            <p:ph idx="4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3" name="Google Shape;423;p3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24" name="Google Shape;424;p37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37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37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0" name="Google Shape;430;p38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38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38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9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5" name="Google Shape;435;p39"/>
          <p:cNvSpPr txBox="1"/>
          <p:nvPr>
            <p:ph type="title"/>
          </p:nvPr>
        </p:nvSpPr>
        <p:spPr>
          <a:xfrm>
            <a:off x="380555" y="2571750"/>
            <a:ext cx="325526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9"/>
          <p:cNvSpPr txBox="1"/>
          <p:nvPr>
            <p:ph idx="1" type="body"/>
          </p:nvPr>
        </p:nvSpPr>
        <p:spPr>
          <a:xfrm>
            <a:off x="4168775" y="273050"/>
            <a:ext cx="459739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9pPr>
          </a:lstStyle>
          <a:p/>
        </p:txBody>
      </p:sp>
      <p:sp>
        <p:nvSpPr>
          <p:cNvPr id="437" name="Google Shape;437;p39"/>
          <p:cNvSpPr txBox="1"/>
          <p:nvPr>
            <p:ph idx="2" type="body"/>
          </p:nvPr>
        </p:nvSpPr>
        <p:spPr>
          <a:xfrm>
            <a:off x="381093" y="3733800"/>
            <a:ext cx="325526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38" name="Google Shape;438;p39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39"/>
          <p:cNvSpPr txBox="1"/>
          <p:nvPr>
            <p:ph idx="11" type="ftr"/>
          </p:nvPr>
        </p:nvSpPr>
        <p:spPr>
          <a:xfrm>
            <a:off x="3859305" y="6423585"/>
            <a:ext cx="33169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9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3" name="Google Shape;443;p40"/>
          <p:cNvSpPr txBox="1"/>
          <p:nvPr>
            <p:ph type="title"/>
          </p:nvPr>
        </p:nvSpPr>
        <p:spPr>
          <a:xfrm>
            <a:off x="4169404" y="3124200"/>
            <a:ext cx="3898272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0"/>
          <p:cNvSpPr/>
          <p:nvPr>
            <p:ph idx="2" type="pic"/>
          </p:nvPr>
        </p:nvSpPr>
        <p:spPr>
          <a:xfrm>
            <a:off x="277906" y="228600"/>
            <a:ext cx="3460658" cy="6345238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 txBox="1"/>
          <p:nvPr>
            <p:ph idx="1" type="body"/>
          </p:nvPr>
        </p:nvSpPr>
        <p:spPr>
          <a:xfrm>
            <a:off x="4169404" y="3995737"/>
            <a:ext cx="3898272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46" name="Google Shape;446;p40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>
  <p:cSld name="Picture above Caption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>
            <p:ph type="title"/>
          </p:nvPr>
        </p:nvSpPr>
        <p:spPr>
          <a:xfrm>
            <a:off x="506505" y="4424082"/>
            <a:ext cx="6191157" cy="8337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41"/>
          <p:cNvSpPr/>
          <p:nvPr>
            <p:ph idx="2" type="pic"/>
          </p:nvPr>
        </p:nvSpPr>
        <p:spPr>
          <a:xfrm>
            <a:off x="277905" y="228600"/>
            <a:ext cx="637838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506505" y="5257799"/>
            <a:ext cx="619115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54" name="Google Shape;454;p41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41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with Caption">
  <p:cSld name="2 Pictures with Caption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2" name="Google Shape;462;p42"/>
          <p:cNvSpPr txBox="1"/>
          <p:nvPr>
            <p:ph type="title"/>
          </p:nvPr>
        </p:nvSpPr>
        <p:spPr>
          <a:xfrm>
            <a:off x="380554" y="2571750"/>
            <a:ext cx="6181611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42"/>
          <p:cNvSpPr txBox="1"/>
          <p:nvPr>
            <p:ph idx="1" type="body"/>
          </p:nvPr>
        </p:nvSpPr>
        <p:spPr>
          <a:xfrm>
            <a:off x="381094" y="3733800"/>
            <a:ext cx="6179566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64" name="Google Shape;464;p42"/>
          <p:cNvSpPr txBox="1"/>
          <p:nvPr>
            <p:ph idx="10" type="dt"/>
          </p:nvPr>
        </p:nvSpPr>
        <p:spPr>
          <a:xfrm>
            <a:off x="5212262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42"/>
          <p:cNvSpPr txBox="1"/>
          <p:nvPr>
            <p:ph idx="11" type="ftr"/>
          </p:nvPr>
        </p:nvSpPr>
        <p:spPr>
          <a:xfrm>
            <a:off x="381095" y="6235607"/>
            <a:ext cx="46481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4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68" name="Google Shape;468;p42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9" name="Google Shape;469;p42"/>
          <p:cNvSpPr/>
          <p:nvPr>
            <p:ph idx="2" type="pic"/>
          </p:nvPr>
        </p:nvSpPr>
        <p:spPr>
          <a:xfrm>
            <a:off x="6802438" y="23749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2"/>
          <p:cNvSpPr/>
          <p:nvPr>
            <p:ph idx="3" type="pic"/>
          </p:nvPr>
        </p:nvSpPr>
        <p:spPr>
          <a:xfrm>
            <a:off x="6802438" y="4535424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3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3" name="Google Shape;473;p43"/>
          <p:cNvSpPr txBox="1"/>
          <p:nvPr>
            <p:ph type="title"/>
          </p:nvPr>
        </p:nvSpPr>
        <p:spPr>
          <a:xfrm>
            <a:off x="380554" y="2571750"/>
            <a:ext cx="40166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1" type="body"/>
          </p:nvPr>
        </p:nvSpPr>
        <p:spPr>
          <a:xfrm>
            <a:off x="381094" y="3733800"/>
            <a:ext cx="401530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75" name="Google Shape;475;p43"/>
          <p:cNvSpPr txBox="1"/>
          <p:nvPr>
            <p:ph idx="10" type="dt"/>
          </p:nvPr>
        </p:nvSpPr>
        <p:spPr>
          <a:xfrm>
            <a:off x="3048000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43"/>
          <p:cNvSpPr txBox="1"/>
          <p:nvPr>
            <p:ph idx="11" type="ftr"/>
          </p:nvPr>
        </p:nvSpPr>
        <p:spPr>
          <a:xfrm>
            <a:off x="381095" y="6235607"/>
            <a:ext cx="25907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4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79" name="Google Shape;479;p43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1" name="Google Shape;481;p43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43"/>
          <p:cNvSpPr/>
          <p:nvPr>
            <p:ph idx="3" type="pic"/>
          </p:nvPr>
        </p:nvSpPr>
        <p:spPr>
          <a:xfrm>
            <a:off x="4624388" y="2381663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43"/>
          <p:cNvSpPr/>
          <p:nvPr>
            <p:ph idx="4" type="pic"/>
          </p:nvPr>
        </p:nvSpPr>
        <p:spPr>
          <a:xfrm>
            <a:off x="6803136" y="2381662"/>
            <a:ext cx="2057400" cy="41879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, Alt.">
  <p:cSld name="3 Pictures with Caption, Alt.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6" name="Google Shape;486;p44"/>
          <p:cNvSpPr txBox="1"/>
          <p:nvPr>
            <p:ph type="title"/>
          </p:nvPr>
        </p:nvSpPr>
        <p:spPr>
          <a:xfrm>
            <a:off x="4953000" y="3124200"/>
            <a:ext cx="310896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44"/>
          <p:cNvSpPr/>
          <p:nvPr>
            <p:ph idx="2" type="pic"/>
          </p:nvPr>
        </p:nvSpPr>
        <p:spPr>
          <a:xfrm>
            <a:off x="277905" y="2365248"/>
            <a:ext cx="424011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44"/>
          <p:cNvSpPr txBox="1"/>
          <p:nvPr>
            <p:ph idx="1" type="body"/>
          </p:nvPr>
        </p:nvSpPr>
        <p:spPr>
          <a:xfrm>
            <a:off x="4953000" y="3995737"/>
            <a:ext cx="3108960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489" name="Google Shape;489;p44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44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492" name="Google Shape;492;p44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 </a:t>
            </a:r>
            <a:endParaRPr/>
          </a:p>
        </p:txBody>
      </p:sp>
      <p:sp>
        <p:nvSpPr>
          <p:cNvPr id="493" name="Google Shape;493;p44"/>
          <p:cNvSpPr/>
          <p:nvPr>
            <p:ph idx="3" type="pic"/>
          </p:nvPr>
        </p:nvSpPr>
        <p:spPr>
          <a:xfrm>
            <a:off x="27790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44"/>
          <p:cNvSpPr/>
          <p:nvPr>
            <p:ph idx="4" type="pic"/>
          </p:nvPr>
        </p:nvSpPr>
        <p:spPr>
          <a:xfrm>
            <a:off x="246062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  <p:sp>
        <p:nvSpPr>
          <p:cNvPr id="498" name="Google Shape;498;p4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45"/>
          <p:cNvSpPr txBox="1"/>
          <p:nvPr>
            <p:ph idx="1" type="body"/>
          </p:nvPr>
        </p:nvSpPr>
        <p:spPr>
          <a:xfrm rot="5400000">
            <a:off x="2204149" y="275525"/>
            <a:ext cx="4144963" cy="75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500" name="Google Shape;500;p4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4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5" name="Google Shape;505;p46"/>
          <p:cNvSpPr txBox="1"/>
          <p:nvPr>
            <p:ph type="title"/>
          </p:nvPr>
        </p:nvSpPr>
        <p:spPr>
          <a:xfrm rot="5400000">
            <a:off x="5750720" y="3199794"/>
            <a:ext cx="5171422" cy="681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46"/>
          <p:cNvSpPr txBox="1"/>
          <p:nvPr>
            <p:ph idx="1" type="body"/>
          </p:nvPr>
        </p:nvSpPr>
        <p:spPr>
          <a:xfrm rot="5400000">
            <a:off x="1293765" y="122190"/>
            <a:ext cx="518486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507" name="Google Shape;507;p4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4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4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  <p:sp>
        <p:nvSpPr>
          <p:cNvPr id="510" name="Google Shape;510;p46"/>
          <p:cNvSpPr txBox="1"/>
          <p:nvPr/>
        </p:nvSpPr>
        <p:spPr>
          <a:xfrm rot="-5400000">
            <a:off x="8593111" y="561668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B86EB8"/>
                </a:solidFill>
                <a:latin typeface="Garamond"/>
                <a:ea typeface="Garamond"/>
                <a:cs typeface="Garamond"/>
                <a:sym typeface="Garamond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43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51.xml"/><Relationship Id="rId6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/>
          </a:p>
        </p:txBody>
      </p:sp>
      <p:cxnSp>
        <p:nvCxnSpPr>
          <p:cNvPr id="15" name="Google Shape;15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2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14325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325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325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32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325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325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325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325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8" name="Google Shape;108;p23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0" name="Google Shape;310;p25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14325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325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325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32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325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325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325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325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 sz="1600"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"/>
          <p:cNvSpPr txBox="1"/>
          <p:nvPr>
            <p:ph type="ctrTitle"/>
          </p:nvPr>
        </p:nvSpPr>
        <p:spPr>
          <a:xfrm>
            <a:off x="1073893" y="3763927"/>
            <a:ext cx="7088372" cy="1112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man Old Style"/>
              <a:buNone/>
            </a:pPr>
            <a:r>
              <a:rPr lang="es-CO" sz="2800"/>
              <a:t>Bases de Datos</a:t>
            </a:r>
            <a:br>
              <a:rPr lang="es-CO" sz="2800"/>
            </a:br>
            <a:r>
              <a:rPr lang="es-CO" sz="2800"/>
              <a:t>Modelo Conceptual</a:t>
            </a:r>
            <a:endParaRPr/>
          </a:p>
        </p:txBody>
      </p:sp>
      <p:sp>
        <p:nvSpPr>
          <p:cNvPr id="516" name="Google Shape;516;p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s-CO"/>
              <a:t>Ing. Julio Ernesto Carreño Vargas Msc.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Plan</a:t>
            </a:r>
            <a:endParaRPr/>
          </a:p>
        </p:txBody>
      </p:sp>
      <p:sp>
        <p:nvSpPr>
          <p:cNvPr id="522" name="Google Shape;522;p2"/>
          <p:cNvSpPr txBox="1"/>
          <p:nvPr>
            <p:ph idx="1" type="body"/>
          </p:nvPr>
        </p:nvSpPr>
        <p:spPr>
          <a:xfrm>
            <a:off x="498474" y="2057400"/>
            <a:ext cx="75564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Modelos Conceptual de datos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23" name="Google Shape;523;p2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Entidad</a:t>
            </a:r>
            <a:endParaRPr/>
          </a:p>
        </p:txBody>
      </p:sp>
      <p:sp>
        <p:nvSpPr>
          <p:cNvPr id="529" name="Google Shape;529;p3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Sustantivo que describe persona, lugar, objeto, evento ó concepto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Una “cosa” u “objeto” que es distinguible de otros objetos</a:t>
            </a:r>
            <a:endParaRPr/>
          </a:p>
        </p:txBody>
      </p:sp>
      <p:sp>
        <p:nvSpPr>
          <p:cNvPr id="530" name="Google Shape;530;p3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id="531" name="Google Shape;5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8199" y="3546772"/>
            <a:ext cx="4412843" cy="2457214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Entidad</a:t>
            </a:r>
            <a:endParaRPr/>
          </a:p>
        </p:txBody>
      </p:sp>
      <p:sp>
        <p:nvSpPr>
          <p:cNvPr id="537" name="Google Shape;537;p4"/>
          <p:cNvSpPr txBox="1"/>
          <p:nvPr>
            <p:ph idx="1" type="body"/>
          </p:nvPr>
        </p:nvSpPr>
        <p:spPr>
          <a:xfrm>
            <a:off x="538157" y="1300716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Está compuesta de atributos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Un atributo es una propiedad ó característica que presenta la entidad</a:t>
            </a:r>
            <a:endParaRPr/>
          </a:p>
          <a:p>
            <a:pPr indent="-133350" lvl="0" marL="228600" rtl="0" algn="l">
              <a:spcBef>
                <a:spcPts val="2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38" name="Google Shape;538;p4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539" name="Google Shape;539;p4"/>
          <p:cNvGrpSpPr/>
          <p:nvPr/>
        </p:nvGrpSpPr>
        <p:grpSpPr>
          <a:xfrm>
            <a:off x="1041991" y="2633521"/>
            <a:ext cx="7187610" cy="3522730"/>
            <a:chOff x="1102369" y="1899875"/>
            <a:chExt cx="7471719" cy="3898900"/>
          </a:xfrm>
        </p:grpSpPr>
        <p:sp>
          <p:nvSpPr>
            <p:cNvPr id="540" name="Google Shape;540;p4"/>
            <p:cNvSpPr txBox="1"/>
            <p:nvPr/>
          </p:nvSpPr>
          <p:spPr>
            <a:xfrm>
              <a:off x="1102369" y="1899875"/>
              <a:ext cx="7471719" cy="340643"/>
            </a:xfrm>
            <a:prstGeom prst="rect">
              <a:avLst/>
            </a:prstGeom>
            <a:solidFill>
              <a:schemeClr val="accent6"/>
            </a:solidFill>
            <a:ln cap="flat" cmpd="sng" w="25400">
              <a:solidFill>
                <a:srgbClr val="7675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instructor_ID  instructor_name                             student-ID   student_name</a:t>
              </a:r>
              <a:endParaRPr/>
            </a:p>
          </p:txBody>
        </p:sp>
        <p:pic>
          <p:nvPicPr>
            <p:cNvPr id="541" name="Google Shape;54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8738" y="2260237"/>
              <a:ext cx="6354762" cy="35385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Relaciones</a:t>
            </a:r>
            <a:endParaRPr/>
          </a:p>
        </p:txBody>
      </p:sp>
      <p:sp>
        <p:nvSpPr>
          <p:cNvPr id="547" name="Google Shape;547;p5"/>
          <p:cNvSpPr txBox="1"/>
          <p:nvPr>
            <p:ph idx="1" type="body"/>
          </p:nvPr>
        </p:nvSpPr>
        <p:spPr>
          <a:xfrm>
            <a:off x="446105" y="1396409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Expresan asociaciones entre entidades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En el ejemplo se muestra la relación “consejero” entre las entidades </a:t>
            </a:r>
            <a:r>
              <a:rPr i="1" lang="es-CO" u="sng"/>
              <a:t>instructor</a:t>
            </a:r>
            <a:r>
              <a:rPr lang="es-CO"/>
              <a:t> y </a:t>
            </a:r>
            <a:r>
              <a:rPr i="1" lang="es-CO" u="sng"/>
              <a:t>student</a:t>
            </a:r>
            <a:endParaRPr i="1" u="sng"/>
          </a:p>
        </p:txBody>
      </p:sp>
      <p:sp>
        <p:nvSpPr>
          <p:cNvPr id="548" name="Google Shape;548;p5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id="549" name="Google Shape;5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996" y="3130270"/>
            <a:ext cx="5352533" cy="29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Atributos</a:t>
            </a:r>
            <a:endParaRPr/>
          </a:p>
        </p:txBody>
      </p:sp>
      <p:sp>
        <p:nvSpPr>
          <p:cNvPr id="555" name="Google Shape;555;p6"/>
          <p:cNvSpPr txBox="1"/>
          <p:nvPr>
            <p:ph idx="1" type="body"/>
          </p:nvPr>
        </p:nvSpPr>
        <p:spPr>
          <a:xfrm>
            <a:off x="509106" y="1258186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Propiedad ó característica de una entidad ó relación</a:t>
            </a:r>
            <a:endParaRPr/>
          </a:p>
        </p:txBody>
      </p:sp>
      <p:pic>
        <p:nvPicPr>
          <p:cNvPr id="556" name="Google Shape;5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589" y="2063750"/>
            <a:ext cx="7751762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"/>
          <p:cNvSpPr txBox="1"/>
          <p:nvPr/>
        </p:nvSpPr>
        <p:spPr>
          <a:xfrm>
            <a:off x="2923953" y="6018028"/>
            <a:ext cx="4561368" cy="369332"/>
          </a:xfrm>
          <a:prstGeom prst="rect">
            <a:avLst/>
          </a:prstGeom>
          <a:gradFill>
            <a:gsLst>
              <a:gs pos="0">
                <a:srgbClr val="858400"/>
              </a:gs>
              <a:gs pos="100000">
                <a:srgbClr val="DAD87C"/>
              </a:gs>
            </a:gsLst>
            <a:lin ang="6000000" scaled="0"/>
          </a:gradFill>
          <a:ln cap="flat" cmpd="sng" w="12700">
            <a:solidFill>
              <a:srgbClr val="A2A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Advisor</a:t>
            </a: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con la fecha de consejería</a:t>
            </a:r>
            <a:endParaRPr/>
          </a:p>
        </p:txBody>
      </p:sp>
      <p:cxnSp>
        <p:nvCxnSpPr>
          <p:cNvPr id="558" name="Google Shape;558;p6"/>
          <p:cNvCxnSpPr>
            <a:stCxn id="557" idx="0"/>
          </p:cNvCxnSpPr>
          <p:nvPr/>
        </p:nvCxnSpPr>
        <p:spPr>
          <a:xfrm rot="10800000">
            <a:off x="5135637" y="5093128"/>
            <a:ext cx="69000" cy="92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63500" rotWithShape="0" dir="5400000" dist="25400">
              <a:srgbClr val="808080">
                <a:alpha val="74901"/>
              </a:srgbClr>
            </a:outerShdw>
          </a:effectLst>
        </p:spPr>
      </p:cxnSp>
      <p:sp>
        <p:nvSpPr>
          <p:cNvPr id="559" name="Google Shape;559;p6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Diagrama de Entidades</a:t>
            </a:r>
            <a:endParaRPr/>
          </a:p>
        </p:txBody>
      </p:sp>
      <p:sp>
        <p:nvSpPr>
          <p:cNvPr id="565" name="Google Shape;565;p7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Rectángulos son entidades</a:t>
            </a:r>
            <a:endParaRPr/>
          </a:p>
        </p:txBody>
      </p:sp>
      <p:pic>
        <p:nvPicPr>
          <p:cNvPr id="566" name="Google Shape;5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761" y="2663456"/>
            <a:ext cx="180975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Atributos</a:t>
            </a:r>
            <a:endParaRPr/>
          </a:p>
        </p:txBody>
      </p:sp>
      <p:sp>
        <p:nvSpPr>
          <p:cNvPr id="572" name="Google Shape;572;p8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Clasificación de atributos: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Requerido/opcional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Simple/compuesto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Una dirección es compuesto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Simple valor/multivaluado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Una persona puede tener múltiples teléfonos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Derivado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Se puede obtener a partir de otro atributo: fecha de nacimiento, edad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Identificador único</a:t>
            </a:r>
            <a:endParaRPr/>
          </a:p>
        </p:txBody>
      </p:sp>
      <p:sp>
        <p:nvSpPr>
          <p:cNvPr id="573" name="Google Shape;573;p8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Identificadores</a:t>
            </a:r>
            <a:endParaRPr/>
          </a:p>
        </p:txBody>
      </p:sp>
      <p:sp>
        <p:nvSpPr>
          <p:cNvPr id="579" name="Google Shape;579;p9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Atributo ó combinación de atributos que identifican de manera única una entidad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También se conoce con el nombre de llave (key)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Identificador candidato: un atributo que puede ser identificador de una entidad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El identificador de un estudiante podría escogerse de: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Tipo y número de identificación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Código único asignado por la universidad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Correo electrónico dentro de la universidad</a:t>
            </a:r>
            <a:endParaRPr/>
          </a:p>
        </p:txBody>
      </p:sp>
      <p:sp>
        <p:nvSpPr>
          <p:cNvPr id="580" name="Google Shape;580;p9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Diagrama de Entidades</a:t>
            </a:r>
            <a:endParaRPr/>
          </a:p>
        </p:txBody>
      </p:sp>
      <p:sp>
        <p:nvSpPr>
          <p:cNvPr id="586" name="Google Shape;586;p10"/>
          <p:cNvSpPr txBox="1"/>
          <p:nvPr/>
        </p:nvSpPr>
        <p:spPr>
          <a:xfrm>
            <a:off x="3979333" y="2951656"/>
            <a:ext cx="4622407" cy="76944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El signo </a:t>
            </a:r>
            <a:r>
              <a:rPr b="1" lang="es-CO" sz="24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*</a:t>
            </a: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indica que el atributo no permite valores nulos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7" name="Google Shape;587;p10"/>
          <p:cNvSpPr txBox="1"/>
          <p:nvPr/>
        </p:nvSpPr>
        <p:spPr>
          <a:xfrm>
            <a:off x="3957302" y="1949119"/>
            <a:ext cx="4644438" cy="769441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El signo </a:t>
            </a:r>
            <a:r>
              <a:rPr b="1" lang="es-CO" sz="2400">
                <a:solidFill>
                  <a:srgbClr val="C86C07"/>
                </a:solidFill>
                <a:latin typeface="Garamond"/>
                <a:ea typeface="Garamond"/>
                <a:cs typeface="Garamond"/>
                <a:sym typeface="Garamond"/>
              </a:rPr>
              <a:t>#</a:t>
            </a:r>
            <a:r>
              <a:rPr lang="es-CO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indica que el atributo forma parte de la PK</a:t>
            </a:r>
            <a:endParaRPr/>
          </a:p>
        </p:txBody>
      </p:sp>
      <p:sp>
        <p:nvSpPr>
          <p:cNvPr id="588" name="Google Shape;588;p10"/>
          <p:cNvSpPr txBox="1"/>
          <p:nvPr/>
        </p:nvSpPr>
        <p:spPr>
          <a:xfrm>
            <a:off x="3988514" y="4139642"/>
            <a:ext cx="4613226" cy="1077218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El signo </a:t>
            </a:r>
            <a:r>
              <a:rPr b="1" lang="es-CO" sz="2400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o</a:t>
            </a: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indica que el atributo es opcional, esto es, permite valores nulos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89" name="Google Shape;5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784" y="1850399"/>
            <a:ext cx="2421453" cy="2193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1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Rockwell"/>
              <a:buNone/>
            </a:pPr>
            <a:r>
              <a:rPr lang="es-CO"/>
              <a:t>Relaciones en Diagrama de Entidades</a:t>
            </a:r>
            <a:endParaRPr/>
          </a:p>
        </p:txBody>
      </p:sp>
      <p:pic>
        <p:nvPicPr>
          <p:cNvPr id="595" name="Google Shape;5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4203" y="2227854"/>
            <a:ext cx="5705475" cy="17430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596" name="Google Shape;596;p11"/>
          <p:cNvSpPr txBox="1"/>
          <p:nvPr/>
        </p:nvSpPr>
        <p:spPr>
          <a:xfrm>
            <a:off x="1594884" y="4511566"/>
            <a:ext cx="5805375" cy="707886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La figura muestra una relación “advisor” entre “student” e “instructor”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Cardinalidad de relaciones</a:t>
            </a:r>
            <a:endParaRPr/>
          </a:p>
        </p:txBody>
      </p:sp>
      <p:sp>
        <p:nvSpPr>
          <p:cNvPr id="602" name="Google Shape;602;p12"/>
          <p:cNvSpPr txBox="1"/>
          <p:nvPr>
            <p:ph idx="1" type="body"/>
          </p:nvPr>
        </p:nvSpPr>
        <p:spPr>
          <a:xfrm>
            <a:off x="519739" y="1211152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La cardinalidad se refiere al número de entidades relacionadas a una entidad específica.</a:t>
            </a:r>
            <a:endParaRPr/>
          </a:p>
        </p:txBody>
      </p:sp>
      <p:sp>
        <p:nvSpPr>
          <p:cNvPr id="603" name="Google Shape;603;p12"/>
          <p:cNvSpPr txBox="1"/>
          <p:nvPr/>
        </p:nvSpPr>
        <p:spPr>
          <a:xfrm>
            <a:off x="784967" y="2916921"/>
            <a:ext cx="1416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Uno a Uno</a:t>
            </a:r>
            <a:endParaRPr/>
          </a:p>
        </p:txBody>
      </p:sp>
      <p:sp>
        <p:nvSpPr>
          <p:cNvPr id="604" name="Google Shape;604;p12"/>
          <p:cNvSpPr txBox="1"/>
          <p:nvPr/>
        </p:nvSpPr>
        <p:spPr>
          <a:xfrm>
            <a:off x="746441" y="4975189"/>
            <a:ext cx="1493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Uno a muchos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05" name="Google Shape;605;p12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descr="http://docs.oracle.com/html/E24270_01/Content/Resources/Images/Diagrams/Relationship%20one%20to%20one.png" id="606" name="Google Shape;6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1683" y="2147778"/>
            <a:ext cx="4953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docs.oracle.com/html/E24270_01/Content/Resources/Images/Diagrams/Relationship%20one%20to%20many.png" id="607" name="Google Shape;60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1683" y="4197829"/>
            <a:ext cx="4876800" cy="192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Cardinalidad de relaciones</a:t>
            </a:r>
            <a:endParaRPr/>
          </a:p>
        </p:txBody>
      </p:sp>
      <p:sp>
        <p:nvSpPr>
          <p:cNvPr id="613" name="Google Shape;613;p13"/>
          <p:cNvSpPr txBox="1"/>
          <p:nvPr>
            <p:ph idx="1" type="body"/>
          </p:nvPr>
        </p:nvSpPr>
        <p:spPr>
          <a:xfrm>
            <a:off x="498474" y="125981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La cardinalidad se refiere al número de entidades relacionadas a una entidad específica.</a:t>
            </a:r>
            <a:endParaRPr/>
          </a:p>
        </p:txBody>
      </p:sp>
      <p:sp>
        <p:nvSpPr>
          <p:cNvPr id="614" name="Google Shape;614;p13"/>
          <p:cNvSpPr txBox="1"/>
          <p:nvPr/>
        </p:nvSpPr>
        <p:spPr>
          <a:xfrm>
            <a:off x="795756" y="2650203"/>
            <a:ext cx="14608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Muchos a uno</a:t>
            </a:r>
            <a:endParaRPr/>
          </a:p>
        </p:txBody>
      </p:sp>
      <p:sp>
        <p:nvSpPr>
          <p:cNvPr id="615" name="Google Shape;615;p13"/>
          <p:cNvSpPr txBox="1"/>
          <p:nvPr/>
        </p:nvSpPr>
        <p:spPr>
          <a:xfrm>
            <a:off x="697206" y="5035441"/>
            <a:ext cx="1813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Muchos a muchos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16" name="Google Shape;616;p13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descr="http://docs.oracle.com/html/E24270_01/Content/Resources/Images/Diagrams/Relationship%20many%20to%20many.png" id="617" name="Google Shape;6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1547" y="4258081"/>
            <a:ext cx="4905375" cy="1924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docs.oracle.com/html/E24270_01/Content/Resources/Images/Diagrams/Relationship%20many%20to%20one.png" id="618" name="Google Shape;6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0597" y="1977656"/>
            <a:ext cx="48863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4"/>
          <p:cNvSpPr txBox="1"/>
          <p:nvPr>
            <p:ph type="title"/>
          </p:nvPr>
        </p:nvSpPr>
        <p:spPr>
          <a:xfrm>
            <a:off x="253924" y="239879"/>
            <a:ext cx="8475405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Rockwell"/>
              <a:buNone/>
            </a:pPr>
            <a:r>
              <a:rPr lang="es-CO"/>
              <a:t>Cardinalidad uno a muchos en Diagrama de Entidades</a:t>
            </a:r>
            <a:endParaRPr/>
          </a:p>
        </p:txBody>
      </p:sp>
      <p:pic>
        <p:nvPicPr>
          <p:cNvPr id="624" name="Google Shape;6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878" y="1355985"/>
            <a:ext cx="5705475" cy="174307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625" name="Google Shape;625;p14"/>
          <p:cNvSpPr txBox="1"/>
          <p:nvPr/>
        </p:nvSpPr>
        <p:spPr>
          <a:xfrm>
            <a:off x="1169582" y="3494202"/>
            <a:ext cx="6613451" cy="707886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El símbolo “pata de gallina” indica “muchos”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la línea sin terminación indica “uno”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26" name="Google Shape;626;p14"/>
          <p:cNvSpPr txBox="1"/>
          <p:nvPr/>
        </p:nvSpPr>
        <p:spPr>
          <a:xfrm>
            <a:off x="1119963" y="4380248"/>
            <a:ext cx="6663070" cy="1015663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UN estudiante tiene muchos instructores como consejeros</a:t>
            </a:r>
            <a:endParaRPr/>
          </a:p>
          <a:p>
            <a:pPr indent="-12700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UN instructor tiene UN estudiante como aconsejado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27" name="Google Shape;627;p14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Rockwell"/>
              <a:buNone/>
            </a:pPr>
            <a:r>
              <a:rPr lang="es-CO"/>
              <a:t>Cardinalidades en Diagrama de Entidades</a:t>
            </a:r>
            <a:endParaRPr/>
          </a:p>
        </p:txBody>
      </p:sp>
      <p:pic>
        <p:nvPicPr>
          <p:cNvPr id="633" name="Google Shape;6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13" y="1617367"/>
            <a:ext cx="5409314" cy="1577717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5"/>
          <p:cNvSpPr txBox="1"/>
          <p:nvPr/>
        </p:nvSpPr>
        <p:spPr>
          <a:xfrm>
            <a:off x="6507126" y="1885325"/>
            <a:ext cx="1616149" cy="40011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uno a uno</a:t>
            </a:r>
            <a:endParaRPr/>
          </a:p>
        </p:txBody>
      </p:sp>
      <p:sp>
        <p:nvSpPr>
          <p:cNvPr id="635" name="Google Shape;635;p15"/>
          <p:cNvSpPr txBox="1"/>
          <p:nvPr/>
        </p:nvSpPr>
        <p:spPr>
          <a:xfrm>
            <a:off x="6156251" y="4557641"/>
            <a:ext cx="2658140" cy="40011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muchos a muchos</a:t>
            </a:r>
            <a:endParaRPr/>
          </a:p>
        </p:txBody>
      </p:sp>
      <p:pic>
        <p:nvPicPr>
          <p:cNvPr id="636" name="Google Shape;6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80" y="4016670"/>
            <a:ext cx="5195223" cy="1559443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5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Tipos de Entidades</a:t>
            </a:r>
            <a:endParaRPr/>
          </a:p>
        </p:txBody>
      </p:sp>
      <p:sp>
        <p:nvSpPr>
          <p:cNvPr id="643" name="Google Shape;643;p16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Fuerte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Tiene identificador único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Puede existir por sí sola</a:t>
            </a:r>
            <a:endParaRPr/>
          </a:p>
        </p:txBody>
      </p:sp>
      <p:sp>
        <p:nvSpPr>
          <p:cNvPr id="644" name="Google Shape;644;p16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Tipos de Entidades</a:t>
            </a:r>
            <a:endParaRPr/>
          </a:p>
        </p:txBody>
      </p:sp>
      <p:sp>
        <p:nvSpPr>
          <p:cNvPr id="650" name="Google Shape;650;p17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Débil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No tiene un identificador único por sí misma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No puede tener existencia propia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Depende de una entidad fuerte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Tiene un identificador parcial</a:t>
            </a:r>
            <a:endParaRPr/>
          </a:p>
          <a:p>
            <a:pPr indent="-228600" lvl="2" marL="6858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El identificador de la entidad fuerte y el identificador parcial forman el identificador único de la entidad</a:t>
            </a:r>
            <a:endParaRPr/>
          </a:p>
        </p:txBody>
      </p:sp>
      <p:sp>
        <p:nvSpPr>
          <p:cNvPr id="651" name="Google Shape;651;p17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8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Tipos de Relaciones</a:t>
            </a:r>
            <a:endParaRPr/>
          </a:p>
        </p:txBody>
      </p:sp>
      <p:sp>
        <p:nvSpPr>
          <p:cNvPr id="657" name="Google Shape;657;p18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Identificantes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Vincula entidades fuertes a débiles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No identificantes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s-CO"/>
              <a:t>Vincula entidades fuertes entre sí</a:t>
            </a:r>
            <a:endParaRPr/>
          </a:p>
        </p:txBody>
      </p:sp>
      <p:sp>
        <p:nvSpPr>
          <p:cNvPr id="658" name="Google Shape;658;p18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9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Relación Identificante</a:t>
            </a:r>
            <a:endParaRPr/>
          </a:p>
        </p:txBody>
      </p:sp>
      <p:pic>
        <p:nvPicPr>
          <p:cNvPr id="664" name="Google Shape;6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6640" y="1750053"/>
            <a:ext cx="5381625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9"/>
          <p:cNvSpPr txBox="1"/>
          <p:nvPr/>
        </p:nvSpPr>
        <p:spPr>
          <a:xfrm>
            <a:off x="1268478" y="3644149"/>
            <a:ext cx="7195038" cy="286232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767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En la relación la línea vertical que acompaña a la “pata de gallina” indica que dicha relación es IDENTIFICANTE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Aunque no se muestra explícitamente el atributo “course_id” es parte del identificador único de la entidad “section”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 u="sng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Observe que la entidad “section” siempre deberá pertenecer a una entidad  “course”</a:t>
            </a:r>
            <a:endParaRPr sz="2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s-CO"/>
              <a:t>Bibliografía</a:t>
            </a:r>
            <a:endParaRPr/>
          </a:p>
        </p:txBody>
      </p:sp>
      <p:sp>
        <p:nvSpPr>
          <p:cNvPr id="671" name="Google Shape;671;p20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Modern Database Management.10th Edition.Jeffrey A. Hoffer, V. Ramesh, Heikki Topi.2021 Pearson Education, Inc.  Publishing as Prentice Hall.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Database System Concepts.Avi Silberschatz , Henry F. Korth , S. Sudarshan.McGraw-Hill.  2019.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500"/>
              <a:buChar char="■"/>
            </a:pPr>
            <a:r>
              <a:rPr lang="es-CO"/>
              <a:t>Sistemas de Bases de Datos. Thomas M. Conolly, Carolyn E. Begg. Addison Wesley. 4 edición. 2018 </a:t>
            </a:r>
            <a:endParaRPr/>
          </a:p>
        </p:txBody>
      </p:sp>
      <p:sp>
        <p:nvSpPr>
          <p:cNvPr id="672" name="Google Shape;672;p20"/>
          <p:cNvSpPr txBox="1"/>
          <p:nvPr>
            <p:ph idx="12" type="sldNum"/>
          </p:nvPr>
        </p:nvSpPr>
        <p:spPr>
          <a:xfrm>
            <a:off x="535640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rigen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1999-11-04T20:50:09Z</dcterms:created>
  <dc:creator>Julio Carreño</dc:creator>
</cp:coreProperties>
</file>