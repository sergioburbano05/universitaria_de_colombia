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7"/>
  </p:notesMasterIdLst>
  <p:handoutMasterIdLst>
    <p:handoutMasterId r:id="rId18"/>
  </p:handoutMasterIdLst>
  <p:sldIdLst>
    <p:sldId id="335" r:id="rId2"/>
    <p:sldId id="370" r:id="rId3"/>
    <p:sldId id="409" r:id="rId4"/>
    <p:sldId id="408" r:id="rId5"/>
    <p:sldId id="387" r:id="rId6"/>
    <p:sldId id="411" r:id="rId7"/>
    <p:sldId id="383" r:id="rId8"/>
    <p:sldId id="384" r:id="rId9"/>
    <p:sldId id="385" r:id="rId10"/>
    <p:sldId id="386" r:id="rId11"/>
    <p:sldId id="412" r:id="rId12"/>
    <p:sldId id="413" r:id="rId13"/>
    <p:sldId id="414" r:id="rId14"/>
    <p:sldId id="415" r:id="rId15"/>
    <p:sldId id="416" r:id="rId16"/>
  </p:sldIdLst>
  <p:sldSz cx="9144000" cy="6858000" type="screen4x3"/>
  <p:notesSz cx="6997700" cy="9283700"/>
  <p:custShowLst>
    <p:custShow name="Custom Show 1" id="0">
      <p:sldLst>
        <p:sld r:id="rId2"/>
      </p:sldLst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22" autoAdjust="0"/>
    <p:restoredTop sz="70803" autoAdjust="0"/>
  </p:normalViewPr>
  <p:slideViewPr>
    <p:cSldViewPr snapToGrid="0">
      <p:cViewPr varScale="1">
        <p:scale>
          <a:sx n="79" d="100"/>
          <a:sy n="79" d="100"/>
        </p:scale>
        <p:origin x="2352" y="84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C6EF5354-BFFB-44DF-8FA7-1A088153BD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5BBF6CF9-ADFE-4F6E-89A0-8CB582D8FF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id="{8C120FC7-7BCE-4696-BB5D-C087861E4B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>
            <a:extLst>
              <a:ext uri="{FF2B5EF4-FFF2-40B4-BE49-F238E27FC236}">
                <a16:creationId xmlns:a16="http://schemas.microsoft.com/office/drawing/2014/main" id="{6735A123-7D3E-455E-AB82-1C3749BB05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2E8AF117-EF14-4BF3-AB7D-D75C4F934C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D7D2DA5C-BED3-45D1-AFD2-94AF29863A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2936E5F-4C9B-4144-9261-C3F188AA67D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>
            <a:extLst>
              <a:ext uri="{FF2B5EF4-FFF2-40B4-BE49-F238E27FC236}">
                <a16:creationId xmlns:a16="http://schemas.microsoft.com/office/drawing/2014/main" id="{D73F14C5-05F8-4300-9D01-F3633C8547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0646" name="Rectangle 6">
            <a:extLst>
              <a:ext uri="{FF2B5EF4-FFF2-40B4-BE49-F238E27FC236}">
                <a16:creationId xmlns:a16="http://schemas.microsoft.com/office/drawing/2014/main" id="{BCB6CAD9-A006-4455-8054-9CACB29028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>
            <a:extLst>
              <a:ext uri="{FF2B5EF4-FFF2-40B4-BE49-F238E27FC236}">
                <a16:creationId xmlns:a16="http://schemas.microsoft.com/office/drawing/2014/main" id="{63060AD7-0C3D-477B-BD60-55C8EBDB9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1DE2DCE1-2EFC-4C42-8DFC-CBA6F33233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1637794-A468-4EC6-9DD2-8F932E639220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07B12F9-7FC5-42D0-9964-0865785D1C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2BC6D4DE-B9DA-4FD2-A997-14A566E8D5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619AA53-6FBE-47B1-A5A9-D4F7E2EB9003}" type="slidenum">
              <a:rPr lang="en-US" altLang="en-US" sz="1200"/>
              <a:pPr/>
              <a:t>2</a:t>
            </a:fld>
            <a:endParaRPr lang="en-US" altLang="en-US" sz="1200" dirty="0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619AA53-6FBE-47B1-A5A9-D4F7E2EB9003}" type="slidenum">
              <a:rPr lang="en-US" altLang="en-US" sz="1200"/>
              <a:pPr/>
              <a:t>3</a:t>
            </a:fld>
            <a:endParaRPr lang="en-US" altLang="en-US" sz="1200" dirty="0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46764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DD8DAD5-EFE6-4531-83B5-A1D07989AD0D}" type="slidenum">
              <a:rPr lang="en-US" altLang="en-US" sz="1200"/>
              <a:pPr/>
              <a:t>4</a:t>
            </a:fld>
            <a:endParaRPr lang="en-US" altLang="en-US" sz="1200" dirty="0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76764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DD8DAD5-EFE6-4531-83B5-A1D07989AD0D}" type="slidenum">
              <a:rPr lang="en-US" altLang="en-US" sz="1200"/>
              <a:pPr/>
              <a:t>7</a:t>
            </a:fld>
            <a:endParaRPr lang="en-US" altLang="en-US" sz="1200" dirty="0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9F5A96B-D536-4BD1-BFE1-FD6DBF117D8A}" type="slidenum">
              <a:rPr lang="en-US" altLang="en-US" sz="1200"/>
              <a:pPr/>
              <a:t>8</a:t>
            </a:fld>
            <a:endParaRPr lang="en-US" altLang="en-US" sz="1200" dirty="0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C40216D-0A9E-4598-BBBD-B7C39318A82C}" type="slidenum">
              <a:rPr lang="en-US" altLang="en-US" sz="1200"/>
              <a:pPr/>
              <a:t>9</a:t>
            </a:fld>
            <a:endParaRPr lang="en-US" altLang="en-US" sz="1200" dirty="0"/>
          </a:p>
        </p:txBody>
      </p:sp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28C80B3-281C-47A9-A6F3-980AD41E77DF}" type="slidenum">
              <a:rPr lang="en-US" altLang="en-US" sz="1200"/>
              <a:pPr/>
              <a:t>10</a:t>
            </a:fld>
            <a:endParaRPr lang="en-US" altLang="en-US" sz="1200" dirty="0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 </a:t>
            </a:r>
            <a:r>
              <a:rPr lang="en-US" dirty="0" err="1"/>
              <a:t>job,category</a:t>
            </a:r>
            <a:r>
              <a:rPr lang="en-US" dirty="0"/>
              <a:t> ,sum(salary) as total</a:t>
            </a:r>
          </a:p>
          <a:p>
            <a:r>
              <a:rPr lang="en-US" dirty="0"/>
              <a:t>from employees</a:t>
            </a:r>
          </a:p>
          <a:p>
            <a:r>
              <a:rPr lang="en-US" dirty="0"/>
              <a:t>group by job, category</a:t>
            </a:r>
          </a:p>
          <a:p>
            <a:r>
              <a:rPr lang="en-US" dirty="0"/>
              <a:t>order by 1,2;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66C03C-4B0E-4149-8287-A3B340EB818D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83873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 job,</a:t>
            </a:r>
          </a:p>
          <a:p>
            <a:r>
              <a:rPr lang="en-US" dirty="0"/>
              <a:t>sum(case when category = 'P' then salary else 0 end) as Planta,</a:t>
            </a:r>
          </a:p>
          <a:p>
            <a:r>
              <a:rPr lang="en-US" dirty="0"/>
              <a:t>sum(case when category = 'T' then salary else 0 end) as Temporal</a:t>
            </a:r>
          </a:p>
          <a:p>
            <a:r>
              <a:rPr lang="en-US" dirty="0"/>
              <a:t>from employees</a:t>
            </a:r>
          </a:p>
          <a:p>
            <a:r>
              <a:rPr lang="en-US" dirty="0"/>
              <a:t>group by job;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66C03C-4B0E-4149-8287-A3B340EB818D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99281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 </a:t>
            </a:r>
            <a:r>
              <a:rPr lang="en-US" dirty="0" err="1"/>
              <a:t>nvl</a:t>
            </a:r>
            <a:r>
              <a:rPr lang="en-US" dirty="0"/>
              <a:t>(</a:t>
            </a:r>
            <a:r>
              <a:rPr lang="en-US" dirty="0" err="1"/>
              <a:t>job,'Total</a:t>
            </a:r>
            <a:r>
              <a:rPr lang="en-US" dirty="0"/>
              <a:t>') as job,</a:t>
            </a:r>
          </a:p>
          <a:p>
            <a:r>
              <a:rPr lang="en-US" dirty="0"/>
              <a:t>sum(case when category = 'P' then salary else 0 end) as Planta,</a:t>
            </a:r>
          </a:p>
          <a:p>
            <a:r>
              <a:rPr lang="en-US" dirty="0"/>
              <a:t>sum(case when category = 'T' then salary else 0 end) as Temporal</a:t>
            </a:r>
          </a:p>
          <a:p>
            <a:r>
              <a:rPr lang="en-US" dirty="0"/>
              <a:t>from employees</a:t>
            </a:r>
          </a:p>
          <a:p>
            <a:r>
              <a:rPr lang="en-US" dirty="0"/>
              <a:t>group by ROLLUP(job)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66C03C-4B0E-4149-8287-A3B340EB818D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0939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 job, planta, temporal, planta  + temporal as total</a:t>
            </a:r>
          </a:p>
          <a:p>
            <a:r>
              <a:rPr lang="en-US" dirty="0"/>
              <a:t>from</a:t>
            </a:r>
          </a:p>
          <a:p>
            <a:r>
              <a:rPr lang="en-US" dirty="0"/>
              <a:t>(</a:t>
            </a:r>
          </a:p>
          <a:p>
            <a:r>
              <a:rPr lang="en-US" dirty="0"/>
              <a:t>    select </a:t>
            </a:r>
            <a:r>
              <a:rPr lang="en-US" dirty="0" err="1"/>
              <a:t>nvl</a:t>
            </a:r>
            <a:r>
              <a:rPr lang="en-US" dirty="0"/>
              <a:t>(</a:t>
            </a:r>
            <a:r>
              <a:rPr lang="en-US" dirty="0" err="1"/>
              <a:t>job,'Total</a:t>
            </a:r>
            <a:r>
              <a:rPr lang="en-US" dirty="0"/>
              <a:t>') as job,</a:t>
            </a:r>
          </a:p>
          <a:p>
            <a:r>
              <a:rPr lang="en-US" dirty="0"/>
              <a:t>    sum(case when category = 'P' then salary else 0 end) as Planta,</a:t>
            </a:r>
          </a:p>
          <a:p>
            <a:r>
              <a:rPr lang="en-US" dirty="0"/>
              <a:t>    sum(case when category = 'T' then salary else 0 end) as Temporal</a:t>
            </a:r>
          </a:p>
          <a:p>
            <a:r>
              <a:rPr lang="en-US" dirty="0"/>
              <a:t>    from employees</a:t>
            </a:r>
          </a:p>
          <a:p>
            <a:r>
              <a:rPr lang="en-US" dirty="0"/>
              <a:t>    group by rollup(job)</a:t>
            </a:r>
          </a:p>
          <a:p>
            <a:r>
              <a:rPr lang="en-US" dirty="0"/>
              <a:t>)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66C03C-4B0E-4149-8287-A3B340EB818D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6988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A25BB261-D773-4836-B381-7A051175F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4760F52-45E1-4E1D-A744-2F2290DE90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048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350" y="1093788"/>
            <a:ext cx="7707313" cy="4903787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437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F2EBE-FF5F-4F9D-A3C2-A59A92D780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70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6D4A7F0-1138-4608-80AA-D0A6F5D411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080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6DFCFB3-6710-4DD2-8404-7E55A930F3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904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B431453-8F56-47C4-89BA-3EDF3CD092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00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BE8099E-18A5-481A-9697-216087BE06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2147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7E2C57D-1205-411A-BA90-DF60A810F6D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80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9EB6957-06EE-46F8-A450-3DB417A1F8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1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950AD-734E-45C7-8042-5795FFAD67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0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A7A2CD-B5B0-4CF6-8038-339B0E99E3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4649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8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6112478-D9B7-4D0D-ADE5-62D5EFAAF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8350" y="1093788"/>
            <a:ext cx="7707313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id="{D2EB5033-CF44-472B-B77D-FAA18581E6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D0CFC8B2-2C6C-4CA4-9AFC-14298F0DD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512005" name="Text Box 5">
            <a:extLst>
              <a:ext uri="{FF2B5EF4-FFF2-40B4-BE49-F238E27FC236}">
                <a16:creationId xmlns:a16="http://schemas.microsoft.com/office/drawing/2014/main" id="{ED25C836-0663-424A-84A7-5AB8034228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79983" y="6613525"/>
            <a:ext cx="44755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3.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>
            <a:extLst>
              <a:ext uri="{FF2B5EF4-FFF2-40B4-BE49-F238E27FC236}">
                <a16:creationId xmlns:a16="http://schemas.microsoft.com/office/drawing/2014/main" id="{BFAC4B4C-D3C2-4A14-871E-CC7D45F07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5472E9A1-C06F-4393-872E-7F8100F91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362D880-06BD-4D02-876C-3226AC8E6F10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8" descr="Cover-6Ed"/>
          <p:cNvPicPr>
            <a:picLocks noChangeAspect="1" noChangeArrowheads="1"/>
          </p:cNvPicPr>
          <p:nvPr userDrawn="1"/>
        </p:nvPicPr>
        <p:blipFill>
          <a:blip r:embed="rId14"/>
          <a:stretch>
            <a:fillRect/>
          </a:stretch>
        </p:blipFill>
        <p:spPr bwMode="auto"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5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id="{1CB68582-BBE2-4F64-8E5F-7C76410784F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3: Introduction to 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Nested Subqueries</a:t>
            </a:r>
          </a:p>
        </p:txBody>
      </p:sp>
      <p:sp>
        <p:nvSpPr>
          <p:cNvPr id="419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39813"/>
            <a:ext cx="7656559" cy="4922075"/>
          </a:xfrm>
        </p:spPr>
        <p:txBody>
          <a:bodyPr/>
          <a:lstStyle/>
          <a:p>
            <a:r>
              <a:rPr lang="en-US" altLang="en-US" sz="1700" dirty="0"/>
              <a:t>SQL provides a mechanism for the nesting of subqueries. A </a:t>
            </a:r>
            <a:r>
              <a:rPr lang="en-US" altLang="en-US" sz="1700" b="1" dirty="0">
                <a:solidFill>
                  <a:srgbClr val="002060"/>
                </a:solidFill>
              </a:rPr>
              <a:t>subquery</a:t>
            </a:r>
            <a:r>
              <a:rPr lang="en-US" altLang="en-US" sz="1700" dirty="0"/>
              <a:t> is a </a:t>
            </a:r>
            <a:r>
              <a:rPr lang="en-US" altLang="en-US" sz="1700" b="1" dirty="0"/>
              <a:t>select-from-where</a:t>
            </a:r>
            <a:r>
              <a:rPr lang="en-US" altLang="en-US" sz="1700" dirty="0"/>
              <a:t> expression that is nested within another query.</a:t>
            </a:r>
          </a:p>
          <a:p>
            <a:r>
              <a:rPr lang="en-US" altLang="en-US" sz="1700" dirty="0"/>
              <a:t>The nesting can be done in the following SQL query</a:t>
            </a:r>
            <a:br>
              <a:rPr lang="en-US" altLang="en-US" sz="1700" dirty="0"/>
            </a:b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...,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n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from</a:t>
            </a:r>
            <a:r>
              <a:rPr lang="en-US" altLang="en-US" sz="1700" dirty="0"/>
              <a:t> </a:t>
            </a:r>
            <a:r>
              <a:rPr lang="en-US" altLang="en-US" sz="1700" i="1" dirty="0"/>
              <a:t>r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r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..., </a:t>
            </a:r>
            <a:r>
              <a:rPr lang="en-US" altLang="en-US" sz="1700" i="1" dirty="0" err="1"/>
              <a:t>r</a:t>
            </a:r>
            <a:r>
              <a:rPr lang="en-US" altLang="en-US" sz="1700" i="1" baseline="-25000" dirty="0" err="1"/>
              <a:t>m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P</a:t>
            </a:r>
          </a:p>
          <a:p>
            <a:pPr>
              <a:buFont typeface="Monotype Sorts" charset="2"/>
              <a:buNone/>
            </a:pPr>
            <a:r>
              <a:rPr lang="en-US" altLang="en-US" sz="800" i="1" dirty="0"/>
              <a:t> </a:t>
            </a:r>
            <a:br>
              <a:rPr lang="en-US" altLang="en-US" sz="1700" i="1" dirty="0"/>
            </a:br>
            <a:r>
              <a:rPr lang="en-US" altLang="en-US" sz="1700" dirty="0"/>
              <a:t>as follows:</a:t>
            </a:r>
          </a:p>
          <a:p>
            <a:pPr lvl="1"/>
            <a:r>
              <a:rPr lang="en-US" altLang="en-US" sz="1700" b="1" dirty="0"/>
              <a:t>From clause: </a:t>
            </a:r>
            <a:r>
              <a:rPr lang="en-US" altLang="en-US" sz="1700" i="1" dirty="0" err="1"/>
              <a:t>r</a:t>
            </a:r>
            <a:r>
              <a:rPr lang="en-US" altLang="en-US" sz="1700" i="1" baseline="-25000" dirty="0" err="1"/>
              <a:t>i</a:t>
            </a:r>
            <a:r>
              <a:rPr lang="en-US" altLang="en-US" sz="1700" i="1" baseline="-25000" dirty="0"/>
              <a:t> </a:t>
            </a:r>
            <a:r>
              <a:rPr lang="en-US" altLang="en-US" sz="1700" dirty="0"/>
              <a:t> can be replaced by any valid subquery</a:t>
            </a:r>
          </a:p>
          <a:p>
            <a:pPr lvl="1"/>
            <a:r>
              <a:rPr lang="en-US" altLang="en-US" sz="1700" b="1" dirty="0"/>
              <a:t>Where clause: </a:t>
            </a:r>
            <a:r>
              <a:rPr lang="en-US" altLang="en-US" sz="1700" i="1" dirty="0"/>
              <a:t>P</a:t>
            </a:r>
            <a:r>
              <a:rPr lang="en-US" altLang="en-US" sz="1700" dirty="0"/>
              <a:t> can be replaced with an expression of the form:</a:t>
            </a:r>
          </a:p>
          <a:p>
            <a:pPr lvl="1">
              <a:buFont typeface="Monotype Sorts" charset="2"/>
              <a:buNone/>
            </a:pPr>
            <a:r>
              <a:rPr lang="en-US" altLang="en-US" sz="1700" dirty="0"/>
              <a:t>                </a:t>
            </a:r>
            <a:r>
              <a:rPr lang="en-US" altLang="en-US" sz="1700" i="1" dirty="0"/>
              <a:t>B</a:t>
            </a:r>
            <a:r>
              <a:rPr lang="en-US" altLang="en-US" sz="1700" dirty="0"/>
              <a:t> &lt;operation&gt; (subquery)</a:t>
            </a:r>
          </a:p>
          <a:p>
            <a:pPr lvl="1">
              <a:buFont typeface="Monotype Sorts" charset="2"/>
              <a:buNone/>
            </a:pPr>
            <a:r>
              <a:rPr lang="en-US" altLang="en-US" sz="1700" dirty="0"/>
              <a:t>     </a:t>
            </a:r>
            <a:r>
              <a:rPr lang="en-US" altLang="en-US" sz="1700" i="1" dirty="0"/>
              <a:t>B</a:t>
            </a:r>
            <a:r>
              <a:rPr lang="en-US" altLang="en-US" sz="1700" dirty="0"/>
              <a:t> is an attribute and &lt;operation&gt; to be defined later.</a:t>
            </a:r>
          </a:p>
          <a:p>
            <a:pPr lvl="1"/>
            <a:r>
              <a:rPr lang="en-US" altLang="en-US" sz="1700" b="1" dirty="0"/>
              <a:t>Select clause: </a:t>
            </a:r>
          </a:p>
          <a:p>
            <a:pPr marL="857250" lvl="2" indent="0">
              <a:buFont typeface="Webdings" panose="05030102010509060703" pitchFamily="18" charset="2"/>
              <a:buNone/>
            </a:pPr>
            <a:r>
              <a:rPr lang="en-US" altLang="en-US" sz="1700" i="1" dirty="0"/>
              <a:t>A</a:t>
            </a:r>
            <a:r>
              <a:rPr lang="en-US" altLang="en-US" sz="1700" i="1" baseline="-25000" dirty="0"/>
              <a:t>i   </a:t>
            </a:r>
            <a:r>
              <a:rPr lang="en-US" altLang="en-US" sz="1700" dirty="0"/>
              <a:t>can be replaced be a subquery that generates a single value</a:t>
            </a:r>
            <a:r>
              <a:rPr lang="en-US" altLang="en-US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Nested Subqueries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999EAD-F072-411B-A7B8-6F77A8BE1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025" y="2152650"/>
            <a:ext cx="645795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816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470150"/>
            <a:ext cx="8077200" cy="609600"/>
          </a:xfrm>
        </p:spPr>
        <p:txBody>
          <a:bodyPr/>
          <a:lstStyle/>
          <a:p>
            <a:r>
              <a:rPr lang="en-US" altLang="en-US" dirty="0"/>
              <a:t>Subqueries in the Select Clause</a:t>
            </a:r>
          </a:p>
        </p:txBody>
      </p:sp>
    </p:spTree>
    <p:extLst>
      <p:ext uri="{BB962C8B-B14F-4D97-AF65-F5344CB8AC3E}">
        <p14:creationId xmlns:p14="http://schemas.microsoft.com/office/powerpoint/2010/main" val="2073548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Scalar Subquery</a:t>
            </a:r>
          </a:p>
        </p:txBody>
      </p:sp>
      <p:sp>
        <p:nvSpPr>
          <p:cNvPr id="604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0218" y="1093789"/>
            <a:ext cx="7954726" cy="4721796"/>
          </a:xfrm>
        </p:spPr>
        <p:txBody>
          <a:bodyPr/>
          <a:lstStyle/>
          <a:p>
            <a:r>
              <a:rPr lang="en-US" altLang="en-US" sz="1700" dirty="0"/>
              <a:t>Scalar subquery is one which is used where </a:t>
            </a:r>
            <a:r>
              <a:rPr lang="en-US" altLang="en-US" sz="2800" b="1" dirty="0"/>
              <a:t>a single value is expected</a:t>
            </a:r>
            <a:endParaRPr lang="en-US" altLang="en-US" sz="1700" b="1" dirty="0"/>
          </a:p>
          <a:p>
            <a:r>
              <a:rPr lang="en-US" altLang="en-US" sz="1700" dirty="0"/>
              <a:t>List all departments along with the number of instructors in each department</a:t>
            </a:r>
          </a:p>
          <a:p>
            <a:pPr>
              <a:buFont typeface="Monotype Sorts" charset="2"/>
              <a:buNone/>
            </a:pPr>
            <a:r>
              <a:rPr lang="en-US" altLang="en-US" sz="1700" b="1" dirty="0"/>
              <a:t>	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br>
              <a:rPr lang="en-US" altLang="en-US" sz="1700" dirty="0"/>
            </a:br>
            <a:r>
              <a:rPr lang="en-US" altLang="en-US" sz="1700" dirty="0"/>
              <a:t>             </a:t>
            </a:r>
            <a:r>
              <a:rPr lang="en-US" altLang="en-US" sz="1800" b="1" dirty="0">
                <a:solidFill>
                  <a:srgbClr val="00B050"/>
                </a:solidFill>
              </a:rPr>
              <a:t>( select count(*) </a:t>
            </a:r>
            <a:br>
              <a:rPr lang="en-US" altLang="en-US" sz="1800" b="1" dirty="0">
                <a:solidFill>
                  <a:srgbClr val="00B050"/>
                </a:solidFill>
              </a:rPr>
            </a:br>
            <a:r>
              <a:rPr lang="en-US" altLang="en-US" sz="1800" b="1" dirty="0">
                <a:solidFill>
                  <a:srgbClr val="00B050"/>
                </a:solidFill>
              </a:rPr>
              <a:t>                from </a:t>
            </a:r>
            <a:r>
              <a:rPr lang="en-US" altLang="en-US" sz="1800" b="1" i="1" dirty="0">
                <a:solidFill>
                  <a:srgbClr val="00B050"/>
                </a:solidFill>
              </a:rPr>
              <a:t>instructor </a:t>
            </a:r>
            <a:br>
              <a:rPr lang="en-US" altLang="en-US" sz="1800" b="1" i="1" dirty="0">
                <a:solidFill>
                  <a:srgbClr val="00B050"/>
                </a:solidFill>
              </a:rPr>
            </a:br>
            <a:r>
              <a:rPr lang="en-US" altLang="en-US" sz="1800" b="1" i="1" dirty="0">
                <a:solidFill>
                  <a:srgbClr val="00B050"/>
                </a:solidFill>
              </a:rPr>
              <a:t>                </a:t>
            </a:r>
            <a:r>
              <a:rPr lang="en-US" altLang="en-US" sz="1800" b="1" dirty="0">
                <a:solidFill>
                  <a:srgbClr val="00B050"/>
                </a:solidFill>
              </a:rPr>
              <a:t>where </a:t>
            </a:r>
            <a:r>
              <a:rPr lang="en-US" altLang="en-US" sz="1800" b="1" i="1" dirty="0" err="1">
                <a:solidFill>
                  <a:srgbClr val="7030A0"/>
                </a:solidFill>
              </a:rPr>
              <a:t>department</a:t>
            </a:r>
            <a:r>
              <a:rPr lang="en-US" altLang="en-US" sz="1800" b="1" dirty="0" err="1">
                <a:solidFill>
                  <a:srgbClr val="00B050"/>
                </a:solidFill>
              </a:rPr>
              <a:t>.</a:t>
            </a:r>
            <a:r>
              <a:rPr lang="en-US" altLang="en-US" sz="1800" b="1" i="1" dirty="0" err="1">
                <a:solidFill>
                  <a:srgbClr val="00B050"/>
                </a:solidFill>
              </a:rPr>
              <a:t>dept_name</a:t>
            </a:r>
            <a:r>
              <a:rPr lang="en-US" altLang="en-US" sz="1800" b="1" i="1" dirty="0">
                <a:solidFill>
                  <a:srgbClr val="00B050"/>
                </a:solidFill>
              </a:rPr>
              <a:t> </a:t>
            </a:r>
            <a:r>
              <a:rPr lang="en-US" altLang="en-US" sz="1800" b="1" dirty="0">
                <a:solidFill>
                  <a:srgbClr val="00B050"/>
                </a:solidFill>
              </a:rPr>
              <a:t>= </a:t>
            </a:r>
            <a:r>
              <a:rPr lang="en-US" altLang="en-US" sz="1800" b="1" i="1" dirty="0" err="1">
                <a:solidFill>
                  <a:srgbClr val="00B050"/>
                </a:solidFill>
              </a:rPr>
              <a:t>instructor</a:t>
            </a:r>
            <a:r>
              <a:rPr lang="en-US" altLang="en-US" sz="1800" b="1" dirty="0" err="1">
                <a:solidFill>
                  <a:srgbClr val="00B050"/>
                </a:solidFill>
              </a:rPr>
              <a:t>.</a:t>
            </a:r>
            <a:r>
              <a:rPr lang="en-US" altLang="en-US" sz="1800" b="1" i="1" dirty="0" err="1">
                <a:solidFill>
                  <a:srgbClr val="00B050"/>
                </a:solidFill>
              </a:rPr>
              <a:t>dept_name</a:t>
            </a:r>
            <a:r>
              <a:rPr lang="en-US" altLang="en-US" sz="1800" b="1" dirty="0">
                <a:solidFill>
                  <a:srgbClr val="00B050"/>
                </a:solidFill>
              </a:rPr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</a:t>
            </a:r>
            <a:r>
              <a:rPr lang="en-US" altLang="en-US" sz="1800" b="1" i="1" dirty="0">
                <a:solidFill>
                  <a:srgbClr val="00B050"/>
                </a:solidFill>
              </a:rPr>
              <a:t>as </a:t>
            </a:r>
            <a:r>
              <a:rPr lang="en-US" altLang="en-US" sz="1800" b="1" i="1" dirty="0" err="1">
                <a:solidFill>
                  <a:srgbClr val="00B050"/>
                </a:solidFill>
              </a:rPr>
              <a:t>num_instructors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800" b="1" i="1" dirty="0">
                <a:solidFill>
                  <a:srgbClr val="7030A0"/>
                </a:solidFill>
              </a:rPr>
              <a:t>department</a:t>
            </a:r>
            <a:r>
              <a:rPr lang="en-US" altLang="en-US" sz="1700" dirty="0"/>
              <a:t>;</a:t>
            </a:r>
          </a:p>
          <a:p>
            <a:r>
              <a:rPr lang="en-US" altLang="en-US" sz="1700" dirty="0"/>
              <a:t>Runtime error if subquery returns more than one result tuple</a:t>
            </a:r>
          </a:p>
        </p:txBody>
      </p:sp>
    </p:spTree>
    <p:extLst>
      <p:ext uri="{BB962C8B-B14F-4D97-AF65-F5344CB8AC3E}">
        <p14:creationId xmlns:p14="http://schemas.microsoft.com/office/powerpoint/2010/main" val="4072952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z="2800" dirty="0"/>
              <a:t>Scalar Subquery</a:t>
            </a:r>
          </a:p>
        </p:txBody>
      </p:sp>
      <p:sp>
        <p:nvSpPr>
          <p:cNvPr id="604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0218" y="1093789"/>
            <a:ext cx="7954726" cy="4721796"/>
          </a:xfrm>
        </p:spPr>
        <p:txBody>
          <a:bodyPr/>
          <a:lstStyle/>
          <a:p>
            <a:r>
              <a:rPr lang="es-CO" altLang="en-US" sz="1700" dirty="0"/>
              <a:t>Obtenga las definitivas del curso de cada uno de los estudiantes. Liste el nombre y apellido del estudiante y la sumatoria de puntos de todos los ejercicios (la definitiva del curso). En el resultado no aparece el </a:t>
            </a:r>
            <a:r>
              <a:rPr lang="es-CO" altLang="en-US" sz="1700" dirty="0" err="1"/>
              <a:t>sid</a:t>
            </a:r>
            <a:r>
              <a:rPr lang="es-CO" altLang="en-US" sz="1700" dirty="0"/>
              <a:t> 104</a:t>
            </a:r>
          </a:p>
          <a:p>
            <a:pPr marL="0" indent="0">
              <a:buNone/>
            </a:pPr>
            <a:endParaRPr lang="es-CO" altLang="en-US" dirty="0"/>
          </a:p>
          <a:p>
            <a:pPr marL="0" indent="0">
              <a:buNone/>
            </a:pPr>
            <a:endParaRPr lang="en-US" altLang="en-US" sz="17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DE3698-405D-43D7-BB04-E79BD34E427A}"/>
              </a:ext>
            </a:extLst>
          </p:cNvPr>
          <p:cNvSpPr txBox="1"/>
          <p:nvPr/>
        </p:nvSpPr>
        <p:spPr>
          <a:xfrm>
            <a:off x="435841" y="2103321"/>
            <a:ext cx="2926196" cy="3046988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dirty="0"/>
              <a:t>SELECT</a:t>
            </a:r>
          </a:p>
          <a:p>
            <a:r>
              <a:rPr lang="en-US" dirty="0"/>
              <a:t>    </a:t>
            </a:r>
            <a:r>
              <a:rPr lang="en-US" dirty="0" err="1"/>
              <a:t>s.first</a:t>
            </a:r>
            <a:r>
              <a:rPr lang="en-US" dirty="0"/>
              <a:t>,</a:t>
            </a:r>
          </a:p>
          <a:p>
            <a:r>
              <a:rPr lang="en-US" dirty="0"/>
              <a:t>    </a:t>
            </a:r>
            <a:r>
              <a:rPr lang="en-US" dirty="0" err="1"/>
              <a:t>s.last</a:t>
            </a:r>
            <a:r>
              <a:rPr lang="en-US" dirty="0"/>
              <a:t>,</a:t>
            </a:r>
          </a:p>
          <a:p>
            <a:r>
              <a:rPr lang="en-US" dirty="0"/>
              <a:t>    SUM(</a:t>
            </a:r>
            <a:r>
              <a:rPr lang="en-US" dirty="0" err="1"/>
              <a:t>r.points</a:t>
            </a:r>
            <a:r>
              <a:rPr lang="en-US" dirty="0"/>
              <a:t>) as </a:t>
            </a:r>
            <a:r>
              <a:rPr lang="en-US" dirty="0" err="1"/>
              <a:t>definitiva</a:t>
            </a:r>
            <a:endParaRPr lang="en-US" dirty="0"/>
          </a:p>
          <a:p>
            <a:r>
              <a:rPr lang="en-US" dirty="0"/>
              <a:t>FROM</a:t>
            </a:r>
          </a:p>
          <a:p>
            <a:r>
              <a:rPr lang="en-US" dirty="0"/>
              <a:t>    results    r,</a:t>
            </a:r>
          </a:p>
          <a:p>
            <a:r>
              <a:rPr lang="en-US" dirty="0"/>
              <a:t>    students   s</a:t>
            </a:r>
          </a:p>
          <a:p>
            <a:r>
              <a:rPr lang="en-US" dirty="0"/>
              <a:t>WHERE</a:t>
            </a:r>
          </a:p>
          <a:p>
            <a:r>
              <a:rPr lang="en-US" dirty="0"/>
              <a:t>    </a:t>
            </a:r>
            <a:r>
              <a:rPr lang="en-US" dirty="0" err="1"/>
              <a:t>s.sid</a:t>
            </a:r>
            <a:r>
              <a:rPr lang="en-US" dirty="0"/>
              <a:t> = </a:t>
            </a:r>
            <a:r>
              <a:rPr lang="en-US" dirty="0" err="1"/>
              <a:t>r.sid</a:t>
            </a:r>
            <a:endParaRPr lang="en-US" dirty="0"/>
          </a:p>
          <a:p>
            <a:r>
              <a:rPr lang="en-US" dirty="0"/>
              <a:t>GROUP BY</a:t>
            </a:r>
          </a:p>
          <a:p>
            <a:r>
              <a:rPr lang="en-US" dirty="0"/>
              <a:t>    </a:t>
            </a:r>
            <a:r>
              <a:rPr lang="en-US" dirty="0" err="1"/>
              <a:t>s.first</a:t>
            </a:r>
            <a:r>
              <a:rPr lang="en-US" dirty="0"/>
              <a:t>,</a:t>
            </a:r>
          </a:p>
          <a:p>
            <a:r>
              <a:rPr lang="en-US" dirty="0"/>
              <a:t>    </a:t>
            </a:r>
            <a:r>
              <a:rPr lang="en-US" dirty="0" err="1"/>
              <a:t>s.last</a:t>
            </a:r>
            <a:r>
              <a:rPr lang="en-US" dirty="0"/>
              <a:t>;</a:t>
            </a:r>
            <a:endParaRPr lang="es-CO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0FB146-00EE-43F3-9736-0DBAD5DA0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67" y="5407227"/>
            <a:ext cx="1780021" cy="81671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F75043-9F13-432F-A547-0B4FF8C8D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540"/>
            <a:ext cx="2790825" cy="9048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BEE163C-C82F-4AC1-A780-E61FE80C0E28}"/>
              </a:ext>
            </a:extLst>
          </p:cNvPr>
          <p:cNvSpPr txBox="1"/>
          <p:nvPr/>
        </p:nvSpPr>
        <p:spPr>
          <a:xfrm>
            <a:off x="4194898" y="2041765"/>
            <a:ext cx="2198256" cy="3170099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dirty="0"/>
              <a:t>SELECT</a:t>
            </a:r>
          </a:p>
          <a:p>
            <a:r>
              <a:rPr lang="en-US" dirty="0"/>
              <a:t>    </a:t>
            </a:r>
            <a:r>
              <a:rPr lang="en-US" dirty="0" err="1"/>
              <a:t>s.first</a:t>
            </a:r>
            <a:r>
              <a:rPr lang="en-US" dirty="0"/>
              <a:t>, </a:t>
            </a:r>
            <a:r>
              <a:rPr lang="en-US" dirty="0" err="1"/>
              <a:t>s.last</a:t>
            </a:r>
            <a:r>
              <a:rPr lang="en-US" dirty="0"/>
              <a:t>,</a:t>
            </a:r>
          </a:p>
          <a:p>
            <a:r>
              <a:rPr lang="en-US" dirty="0"/>
              <a:t>    (</a:t>
            </a:r>
          </a:p>
          <a:p>
            <a:r>
              <a:rPr lang="en-US" dirty="0"/>
              <a:t>        SELECT</a:t>
            </a:r>
          </a:p>
          <a:p>
            <a:r>
              <a:rPr lang="en-US" dirty="0"/>
              <a:t>            SUM(points)</a:t>
            </a:r>
          </a:p>
          <a:p>
            <a:r>
              <a:rPr lang="en-US" dirty="0"/>
              <a:t>        FROM</a:t>
            </a:r>
          </a:p>
          <a:p>
            <a:r>
              <a:rPr lang="en-US" dirty="0"/>
              <a:t>            results </a:t>
            </a:r>
            <a:r>
              <a:rPr lang="en-US" sz="2000" b="1" i="1" u="sng" dirty="0">
                <a:solidFill>
                  <a:srgbClr val="00B050"/>
                </a:solidFill>
              </a:rPr>
              <a:t>r</a:t>
            </a:r>
            <a:endParaRPr lang="en-US" b="1" i="1" u="sng" dirty="0">
              <a:solidFill>
                <a:srgbClr val="00B050"/>
              </a:solidFill>
            </a:endParaRPr>
          </a:p>
          <a:p>
            <a:r>
              <a:rPr lang="en-US" dirty="0"/>
              <a:t>        WHERE</a:t>
            </a:r>
          </a:p>
          <a:p>
            <a:r>
              <a:rPr lang="en-US" dirty="0"/>
              <a:t>            </a:t>
            </a:r>
            <a:r>
              <a:rPr lang="en-US" sz="1800" b="1" i="1" u="sng" dirty="0" err="1">
                <a:solidFill>
                  <a:srgbClr val="00B050"/>
                </a:solidFill>
              </a:rPr>
              <a:t>r.sid</a:t>
            </a:r>
            <a:r>
              <a:rPr lang="en-US" sz="1800" b="1" i="1" u="sng" dirty="0">
                <a:solidFill>
                  <a:srgbClr val="00B050"/>
                </a:solidFill>
              </a:rPr>
              <a:t> = </a:t>
            </a:r>
            <a:r>
              <a:rPr lang="en-US" sz="1800" b="1" i="1" u="sng" dirty="0" err="1">
                <a:solidFill>
                  <a:srgbClr val="00B050"/>
                </a:solidFill>
              </a:rPr>
              <a:t>s.sid</a:t>
            </a:r>
            <a:endParaRPr lang="en-US" b="1" i="1" u="sng" dirty="0">
              <a:solidFill>
                <a:srgbClr val="00B050"/>
              </a:solidFill>
            </a:endParaRPr>
          </a:p>
          <a:p>
            <a:r>
              <a:rPr lang="en-US" dirty="0"/>
              <a:t>    ) AS </a:t>
            </a:r>
            <a:r>
              <a:rPr lang="en-US" dirty="0" err="1"/>
              <a:t>definitiva</a:t>
            </a:r>
            <a:endParaRPr lang="en-US" dirty="0"/>
          </a:p>
          <a:p>
            <a:r>
              <a:rPr lang="en-US" dirty="0"/>
              <a:t>FROM    </a:t>
            </a:r>
          </a:p>
          <a:p>
            <a:r>
              <a:rPr lang="en-US" dirty="0"/>
              <a:t>    students   </a:t>
            </a:r>
            <a:r>
              <a:rPr lang="en-US" sz="2000" b="1" i="1" u="sng" dirty="0">
                <a:solidFill>
                  <a:srgbClr val="00B050"/>
                </a:solidFill>
              </a:rPr>
              <a:t>s</a:t>
            </a:r>
            <a:endParaRPr lang="es-CO" b="1" i="1" u="sng" dirty="0">
              <a:solidFill>
                <a:srgbClr val="00B05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F6605B0-C656-4A14-A6AE-22975595E3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822" y="5407227"/>
            <a:ext cx="1949788" cy="106352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BDFF335-1A42-4AB1-A4F3-94D70E3CE7E0}"/>
              </a:ext>
            </a:extLst>
          </p:cNvPr>
          <p:cNvSpPr txBox="1"/>
          <p:nvPr/>
        </p:nvSpPr>
        <p:spPr>
          <a:xfrm>
            <a:off x="6889032" y="1980210"/>
            <a:ext cx="2198256" cy="3231654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dirty="0"/>
              <a:t>SELECT</a:t>
            </a:r>
          </a:p>
          <a:p>
            <a:r>
              <a:rPr lang="en-US" dirty="0"/>
              <a:t>    </a:t>
            </a:r>
            <a:r>
              <a:rPr lang="en-US" dirty="0" err="1"/>
              <a:t>s.first</a:t>
            </a:r>
            <a:r>
              <a:rPr lang="en-US" dirty="0"/>
              <a:t>, </a:t>
            </a:r>
            <a:r>
              <a:rPr lang="en-US" dirty="0" err="1"/>
              <a:t>s.last</a:t>
            </a:r>
            <a:r>
              <a:rPr lang="en-US" dirty="0"/>
              <a:t>,</a:t>
            </a:r>
          </a:p>
          <a:p>
            <a:r>
              <a:rPr lang="en-US" dirty="0"/>
              <a:t>   </a:t>
            </a:r>
            <a:r>
              <a:rPr lang="en-US" sz="1800" b="1" dirty="0" err="1">
                <a:solidFill>
                  <a:srgbClr val="7030A0"/>
                </a:solidFill>
              </a:rPr>
              <a:t>nvl</a:t>
            </a:r>
            <a:r>
              <a:rPr lang="en-US" sz="1800" b="1" dirty="0">
                <a:solidFill>
                  <a:srgbClr val="7030A0"/>
                </a:solidFill>
              </a:rPr>
              <a:t>(</a:t>
            </a:r>
            <a:r>
              <a:rPr lang="en-US" dirty="0"/>
              <a:t>(</a:t>
            </a:r>
          </a:p>
          <a:p>
            <a:r>
              <a:rPr lang="en-US" dirty="0"/>
              <a:t>        SELECT</a:t>
            </a:r>
          </a:p>
          <a:p>
            <a:r>
              <a:rPr lang="en-US" dirty="0"/>
              <a:t>            SUM(points)</a:t>
            </a:r>
          </a:p>
          <a:p>
            <a:r>
              <a:rPr lang="en-US" dirty="0"/>
              <a:t>        FROM</a:t>
            </a:r>
          </a:p>
          <a:p>
            <a:r>
              <a:rPr lang="en-US" dirty="0"/>
              <a:t>            results </a:t>
            </a:r>
            <a:r>
              <a:rPr lang="en-US" sz="2000" b="1" i="1" u="sng" dirty="0">
                <a:solidFill>
                  <a:srgbClr val="00B050"/>
                </a:solidFill>
              </a:rPr>
              <a:t>r</a:t>
            </a:r>
            <a:endParaRPr lang="en-US" b="1" i="1" u="sng" dirty="0">
              <a:solidFill>
                <a:srgbClr val="00B050"/>
              </a:solidFill>
            </a:endParaRPr>
          </a:p>
          <a:p>
            <a:r>
              <a:rPr lang="en-US" dirty="0"/>
              <a:t>        WHERE</a:t>
            </a:r>
          </a:p>
          <a:p>
            <a:r>
              <a:rPr lang="en-US" dirty="0"/>
              <a:t>            </a:t>
            </a:r>
            <a:r>
              <a:rPr lang="en-US" sz="1800" b="1" i="1" u="sng" dirty="0" err="1">
                <a:solidFill>
                  <a:srgbClr val="00B050"/>
                </a:solidFill>
              </a:rPr>
              <a:t>r.sid</a:t>
            </a:r>
            <a:r>
              <a:rPr lang="en-US" sz="1800" b="1" i="1" u="sng" dirty="0">
                <a:solidFill>
                  <a:srgbClr val="00B050"/>
                </a:solidFill>
              </a:rPr>
              <a:t> = </a:t>
            </a:r>
            <a:r>
              <a:rPr lang="en-US" sz="1800" b="1" i="1" u="sng" dirty="0" err="1">
                <a:solidFill>
                  <a:srgbClr val="00B050"/>
                </a:solidFill>
              </a:rPr>
              <a:t>s.sid</a:t>
            </a:r>
            <a:endParaRPr lang="en-US" b="1" i="1" u="sng" dirty="0">
              <a:solidFill>
                <a:srgbClr val="00B050"/>
              </a:solidFill>
            </a:endParaRPr>
          </a:p>
          <a:p>
            <a:r>
              <a:rPr lang="en-US" dirty="0"/>
              <a:t>    )</a:t>
            </a:r>
            <a:r>
              <a:rPr lang="en-US" sz="1800" b="1" dirty="0">
                <a:solidFill>
                  <a:srgbClr val="7030A0"/>
                </a:solidFill>
              </a:rPr>
              <a:t>,0)</a:t>
            </a:r>
            <a:r>
              <a:rPr lang="en-US" dirty="0"/>
              <a:t> AS </a:t>
            </a:r>
            <a:r>
              <a:rPr lang="en-US" dirty="0" err="1"/>
              <a:t>definitiva</a:t>
            </a:r>
            <a:endParaRPr lang="en-US" dirty="0"/>
          </a:p>
          <a:p>
            <a:r>
              <a:rPr lang="en-US" dirty="0"/>
              <a:t>FROM    </a:t>
            </a:r>
          </a:p>
          <a:p>
            <a:r>
              <a:rPr lang="en-US" dirty="0"/>
              <a:t>    students   </a:t>
            </a:r>
            <a:r>
              <a:rPr lang="en-US" sz="2000" b="1" i="1" u="sng" dirty="0">
                <a:solidFill>
                  <a:srgbClr val="00B050"/>
                </a:solidFill>
              </a:rPr>
              <a:t>s</a:t>
            </a:r>
            <a:endParaRPr lang="es-CO" b="1" i="1" u="sng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1758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470150"/>
            <a:ext cx="8077200" cy="609600"/>
          </a:xfrm>
        </p:spPr>
        <p:txBody>
          <a:bodyPr/>
          <a:lstStyle/>
          <a:p>
            <a:r>
              <a:rPr lang="en-US" altLang="en-US" dirty="0"/>
              <a:t>Subqueries in the From Clause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Subqueries in the Form Clause</a:t>
            </a:r>
          </a:p>
        </p:txBody>
      </p:sp>
      <p:sp>
        <p:nvSpPr>
          <p:cNvPr id="440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69912"/>
            <a:ext cx="7443495" cy="4876800"/>
          </a:xfrm>
        </p:spPr>
        <p:txBody>
          <a:bodyPr/>
          <a:lstStyle/>
          <a:p>
            <a:pPr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dirty="0"/>
              <a:t>SQL allows a subquery expression to be used in the </a:t>
            </a:r>
            <a:r>
              <a:rPr lang="en-US" altLang="en-US" sz="1700" b="1" dirty="0"/>
              <a:t>from </a:t>
            </a:r>
            <a:r>
              <a:rPr lang="en-US" altLang="en-US" sz="1700" dirty="0"/>
              <a:t>clause</a:t>
            </a:r>
          </a:p>
          <a:p>
            <a:pPr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dirty="0"/>
              <a:t>Find the average instructors’ salaries of those departments where the average salary is greater than $42,000.”</a:t>
            </a:r>
          </a:p>
          <a:p>
            <a:pPr lvl="1"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b="1" dirty="0"/>
              <a:t>     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avg_salary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dirty="0"/>
              <a:t>( 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 </a:t>
            </a:r>
            <a:r>
              <a:rPr lang="en-US" altLang="en-US" sz="1700" i="1" dirty="0" err="1"/>
              <a:t>avg_salary</a:t>
            </a:r>
            <a:br>
              <a:rPr lang="en-US" altLang="en-US" sz="1700" i="1" dirty="0"/>
            </a:br>
            <a:r>
              <a:rPr lang="en-US" altLang="en-US" sz="1700" i="1" dirty="0"/>
              <a:t>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     </a:t>
            </a:r>
            <a:r>
              <a:rPr lang="en-US" altLang="en-US" sz="1700" b="1" dirty="0"/>
              <a:t>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b="1" dirty="0"/>
              <a:t>where </a:t>
            </a:r>
            <a:r>
              <a:rPr lang="en-US" altLang="en-US" sz="1700" i="1" dirty="0" err="1"/>
              <a:t>avg_salary</a:t>
            </a:r>
            <a:r>
              <a:rPr lang="en-US" altLang="en-US" sz="1700" i="1" dirty="0"/>
              <a:t> </a:t>
            </a:r>
            <a:r>
              <a:rPr lang="en-US" altLang="en-US" sz="1700" dirty="0"/>
              <a:t>&gt; 42000;</a:t>
            </a:r>
          </a:p>
          <a:p>
            <a:pPr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dirty="0"/>
              <a:t>Note that we do not need to use the </a:t>
            </a:r>
            <a:r>
              <a:rPr lang="en-US" altLang="en-US" sz="1700" b="1" dirty="0"/>
              <a:t>having </a:t>
            </a:r>
            <a:r>
              <a:rPr lang="en-US" altLang="en-US" sz="1700" dirty="0"/>
              <a:t>clause</a:t>
            </a:r>
          </a:p>
          <a:p>
            <a:pPr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dirty="0"/>
              <a:t>Another way to write above query</a:t>
            </a:r>
          </a:p>
          <a:p>
            <a:pPr marL="0" indent="0"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800" dirty="0"/>
              <a:t> </a:t>
            </a:r>
          </a:p>
          <a:p>
            <a:pPr lvl="1">
              <a:spcBef>
                <a:spcPts val="0"/>
              </a:spcBef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b="1" dirty="0"/>
              <a:t>     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avg_salary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dirty="0"/>
              <a:t>( 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 </a:t>
            </a:r>
            <a:br>
              <a:rPr lang="en-US" altLang="en-US" sz="1700" i="1" dirty="0"/>
            </a:br>
            <a:r>
              <a:rPr lang="en-US" altLang="en-US" sz="1700" i="1" dirty="0"/>
              <a:t>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     </a:t>
            </a:r>
            <a:r>
              <a:rPr lang="en-US" altLang="en-US" sz="1700" b="1" dirty="0"/>
              <a:t>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) </a:t>
            </a:r>
          </a:p>
          <a:p>
            <a:pPr lvl="1">
              <a:spcBef>
                <a:spcPts val="0"/>
              </a:spcBef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b="1" dirty="0"/>
              <a:t>                as </a:t>
            </a:r>
            <a:r>
              <a:rPr lang="en-US" altLang="en-US" sz="1700" i="1" dirty="0" err="1"/>
              <a:t>dept_avg</a:t>
            </a:r>
            <a:r>
              <a:rPr lang="en-US" altLang="en-US" sz="1700" i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avg_salary</a:t>
            </a:r>
            <a:r>
              <a:rPr lang="en-US" altLang="en-US" sz="1700" dirty="0"/>
              <a:t>)</a:t>
            </a:r>
          </a:p>
          <a:p>
            <a:pPr lvl="1">
              <a:spcBef>
                <a:spcPts val="0"/>
              </a:spcBef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b="1" dirty="0"/>
              <a:t>    where </a:t>
            </a:r>
            <a:r>
              <a:rPr lang="en-US" altLang="en-US" sz="1700" i="1" dirty="0" err="1"/>
              <a:t>avg_salary</a:t>
            </a:r>
            <a:r>
              <a:rPr lang="en-US" altLang="en-US" sz="1700" i="1" dirty="0"/>
              <a:t> </a:t>
            </a:r>
            <a:r>
              <a:rPr lang="en-US" altLang="en-US" sz="1700" dirty="0"/>
              <a:t>&gt; 42000;</a:t>
            </a:r>
          </a:p>
          <a:p>
            <a:pPr>
              <a:tabLst>
                <a:tab pos="1146175" algn="l"/>
                <a:tab pos="1608138" algn="l"/>
                <a:tab pos="1711325" algn="l"/>
              </a:tabLst>
            </a:pPr>
            <a:endParaRPr lang="en-US" altLang="en-US" dirty="0"/>
          </a:p>
          <a:p>
            <a:pPr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With Clause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6488"/>
            <a:ext cx="7736457" cy="4903787"/>
          </a:xfrm>
        </p:spPr>
        <p:txBody>
          <a:bodyPr/>
          <a:lstStyle/>
          <a:p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with</a:t>
            </a:r>
            <a:r>
              <a:rPr lang="en-US" altLang="en-US" sz="1700" dirty="0"/>
              <a:t> clause provides a way of defining a temporary relation whose definition is available only to the query in which the </a:t>
            </a:r>
            <a:r>
              <a:rPr lang="en-US" altLang="en-US" sz="1700" b="1" dirty="0"/>
              <a:t>with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clause occurs. </a:t>
            </a:r>
          </a:p>
          <a:p>
            <a:r>
              <a:rPr lang="en-US" altLang="en-US" sz="1700" dirty="0"/>
              <a:t>Find all departments with the maximum budget </a:t>
            </a:r>
            <a:br>
              <a:rPr lang="en-US" altLang="en-US" sz="1700" dirty="0"/>
            </a:br>
            <a:r>
              <a:rPr lang="en-US" altLang="en-US" sz="800" dirty="0"/>
              <a:t> </a:t>
            </a:r>
            <a:br>
              <a:rPr lang="en-US" altLang="en-US" sz="1700" b="1" dirty="0"/>
            </a:br>
            <a:r>
              <a:rPr lang="en-US" altLang="en-US" sz="1700" b="1" dirty="0"/>
              <a:t>     with </a:t>
            </a:r>
            <a:r>
              <a:rPr lang="en-US" altLang="en-US" sz="1700" i="1" dirty="0" err="1"/>
              <a:t>max_budget</a:t>
            </a:r>
            <a:r>
              <a:rPr lang="en-US" altLang="en-US" sz="1700" i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value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 </a:t>
            </a:r>
            <a:br>
              <a:rPr lang="en-US" altLang="en-US" sz="1700" b="1" dirty="0"/>
            </a:br>
            <a:r>
              <a:rPr lang="en-US" altLang="en-US" sz="1700" b="1" dirty="0"/>
              <a:t>            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max</a:t>
            </a:r>
            <a:r>
              <a:rPr lang="en-US" altLang="en-US" sz="1700" dirty="0"/>
              <a:t>(</a:t>
            </a:r>
            <a:r>
              <a:rPr lang="en-US" altLang="en-US" sz="1700" i="1" dirty="0"/>
              <a:t>budget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department.name</a:t>
            </a:r>
            <a:br>
              <a:rPr lang="en-US" altLang="en-US" sz="1700" i="1" dirty="0"/>
            </a:br>
            <a:r>
              <a:rPr lang="en-US" altLang="en-US" sz="1700" i="1" dirty="0"/>
              <a:t>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max_budget</a:t>
            </a:r>
            <a:br>
              <a:rPr lang="en-US" altLang="en-US" sz="1700" i="1" dirty="0"/>
            </a:br>
            <a:r>
              <a:rPr lang="en-US" altLang="en-US" sz="1700" i="1" dirty="0"/>
              <a:t>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department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budget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max_budget.value</a:t>
            </a:r>
            <a:r>
              <a:rPr lang="en-US" altLang="en-US" sz="1700" dirty="0"/>
              <a:t>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Complex Queries using With Clause</a:t>
            </a:r>
          </a:p>
        </p:txBody>
      </p:sp>
      <p:sp>
        <p:nvSpPr>
          <p:cNvPr id="460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47763"/>
            <a:ext cx="7557504" cy="693864"/>
          </a:xfrm>
        </p:spPr>
        <p:txBody>
          <a:bodyPr/>
          <a:lstStyle/>
          <a:p>
            <a:r>
              <a:rPr lang="en-US" altLang="en-US" sz="1700" dirty="0"/>
              <a:t>Find all departments where the total salary is greater than the average of the total salary at all departments</a:t>
            </a:r>
          </a:p>
        </p:txBody>
      </p:sp>
      <p:sp>
        <p:nvSpPr>
          <p:cNvPr id="46083" name="Text Box 4"/>
          <p:cNvSpPr txBox="1">
            <a:spLocks noChangeArrowheads="1"/>
          </p:cNvSpPr>
          <p:nvPr/>
        </p:nvSpPr>
        <p:spPr bwMode="auto">
          <a:xfrm>
            <a:off x="1562471" y="1841627"/>
            <a:ext cx="6858036" cy="2730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 b="1" dirty="0"/>
              <a:t>with </a:t>
            </a:r>
            <a:r>
              <a:rPr lang="en-US" altLang="en-US" sz="1700" i="1" dirty="0" err="1"/>
              <a:t>dept</a:t>
            </a:r>
            <a:r>
              <a:rPr lang="en-US" altLang="en-US" sz="1700" i="1" dirty="0"/>
              <a:t> _total </a:t>
            </a:r>
            <a:r>
              <a:rPr lang="en-US" altLang="en-US" sz="1700" dirty="0"/>
              <a:t>(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/>
              <a:t>value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</a:t>
            </a:r>
          </a:p>
          <a:p>
            <a:r>
              <a:rPr lang="en-US" altLang="en-US" sz="1700" dirty="0"/>
              <a:t>        (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/>
              <a:t>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</a:t>
            </a:r>
          </a:p>
          <a:p>
            <a:r>
              <a:rPr lang="en-US" altLang="en-US" sz="1700" b="1" dirty="0"/>
              <a:t>         from </a:t>
            </a:r>
            <a:r>
              <a:rPr lang="en-US" altLang="en-US" sz="1700" i="1" dirty="0"/>
              <a:t>instructor</a:t>
            </a:r>
          </a:p>
          <a:p>
            <a:r>
              <a:rPr lang="en-US" altLang="en-US" sz="1700" b="1" dirty="0"/>
              <a:t>         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),</a:t>
            </a:r>
          </a:p>
          <a:p>
            <a:r>
              <a:rPr lang="en-US" altLang="en-US" sz="1700" i="1" dirty="0" err="1"/>
              <a:t>dept_total_avg</a:t>
            </a:r>
            <a:r>
              <a:rPr lang="en-US" altLang="en-US" sz="1700" dirty="0"/>
              <a:t>(</a:t>
            </a:r>
            <a:r>
              <a:rPr lang="en-US" altLang="en-US" sz="1700" i="1" dirty="0"/>
              <a:t>value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</a:t>
            </a:r>
          </a:p>
          <a:p>
            <a:r>
              <a:rPr lang="en-US" altLang="en-US" sz="1700" dirty="0"/>
              <a:t>       (</a:t>
            </a:r>
            <a:r>
              <a:rPr lang="en-US" altLang="en-US" sz="1700" b="1" dirty="0"/>
              <a:t>select </a:t>
            </a:r>
            <a:r>
              <a:rPr lang="en-US" altLang="en-US" sz="1700" b="1" dirty="0" err="1"/>
              <a:t>avg</a:t>
            </a:r>
            <a:r>
              <a:rPr lang="en-US" altLang="en-US" sz="1700" dirty="0"/>
              <a:t>(</a:t>
            </a:r>
            <a:r>
              <a:rPr lang="en-US" altLang="en-US" sz="1700" i="1" dirty="0"/>
              <a:t>value</a:t>
            </a:r>
            <a:r>
              <a:rPr lang="en-US" altLang="en-US" sz="1700" dirty="0"/>
              <a:t>)</a:t>
            </a:r>
          </a:p>
          <a:p>
            <a:r>
              <a:rPr lang="en-US" altLang="en-US" sz="1700" b="1" dirty="0"/>
              <a:t>       from </a:t>
            </a:r>
            <a:r>
              <a:rPr lang="en-US" altLang="en-US" sz="1700" i="1" dirty="0" err="1"/>
              <a:t>dept_total</a:t>
            </a:r>
            <a:r>
              <a:rPr lang="en-US" altLang="en-US" sz="1700" dirty="0"/>
              <a:t>)</a:t>
            </a:r>
          </a:p>
          <a:p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</a:p>
          <a:p>
            <a:r>
              <a:rPr lang="en-US" altLang="en-US" sz="1700" b="1" dirty="0"/>
              <a:t>from </a:t>
            </a:r>
            <a:r>
              <a:rPr lang="en-US" altLang="en-US" sz="1700" i="1" dirty="0" err="1"/>
              <a:t>dept_total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dept_total_avg</a:t>
            </a:r>
            <a:endParaRPr lang="en-US" altLang="en-US" sz="1700" i="1" dirty="0"/>
          </a:p>
          <a:p>
            <a:r>
              <a:rPr lang="en-US" altLang="en-US" sz="1700" b="1" dirty="0"/>
              <a:t>where </a:t>
            </a:r>
            <a:r>
              <a:rPr lang="en-US" altLang="en-US" sz="1700" i="1" dirty="0" err="1"/>
              <a:t>dept_total.value</a:t>
            </a:r>
            <a:r>
              <a:rPr lang="en-US" altLang="en-US" sz="1700" i="1" dirty="0"/>
              <a:t> </a:t>
            </a:r>
            <a:r>
              <a:rPr lang="en-US" altLang="en-US" sz="1700" dirty="0"/>
              <a:t>&gt; </a:t>
            </a:r>
            <a:r>
              <a:rPr lang="en-US" altLang="en-US" sz="1700" i="1" dirty="0" err="1"/>
              <a:t>dept_total_avg.value</a:t>
            </a:r>
            <a:r>
              <a:rPr lang="en-US" altLang="en-US" sz="1700" dirty="0"/>
              <a:t>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D68A1-2BD5-4902-9B29-F885FF7B3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Ejemplo Esquema </a:t>
            </a:r>
            <a:r>
              <a:rPr lang="es-CO" dirty="0" err="1"/>
              <a:t>Results</a:t>
            </a:r>
            <a:endParaRPr lang="es-C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C410A-DA50-4F9E-AEFD-509A4419F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pPr marL="0" indent="0">
              <a:buNone/>
            </a:pPr>
            <a:r>
              <a:rPr lang="es-CO" dirty="0"/>
              <a:t>-- Liste el nombre del estudiante que tiene el mayor numero de puntos obtenidos</a:t>
            </a:r>
          </a:p>
          <a:p>
            <a:pPr marL="0" indent="0">
              <a:buNone/>
            </a:pPr>
            <a:r>
              <a:rPr lang="es-CO" dirty="0"/>
              <a:t>--1. calcular los puntos de cada estudiante (</a:t>
            </a:r>
            <a:r>
              <a:rPr lang="es-CO" dirty="0" err="1"/>
              <a:t>group</a:t>
            </a:r>
            <a:r>
              <a:rPr lang="es-CO" dirty="0"/>
              <a:t> </a:t>
            </a:r>
            <a:r>
              <a:rPr lang="es-CO" dirty="0" err="1"/>
              <a:t>by</a:t>
            </a:r>
            <a:r>
              <a:rPr lang="es-CO" dirty="0"/>
              <a:t>) </a:t>
            </a:r>
          </a:p>
          <a:p>
            <a:pPr marL="0" indent="0">
              <a:buNone/>
            </a:pPr>
            <a:r>
              <a:rPr lang="es-CO" dirty="0"/>
              <a:t>--2. en el </a:t>
            </a:r>
            <a:r>
              <a:rPr lang="es-CO" dirty="0" err="1"/>
              <a:t>query</a:t>
            </a:r>
            <a:r>
              <a:rPr lang="es-CO" dirty="0"/>
              <a:t> 1 </a:t>
            </a:r>
            <a:r>
              <a:rPr lang="es-CO" dirty="0" err="1"/>
              <a:t>claculo</a:t>
            </a:r>
            <a:r>
              <a:rPr lang="es-CO" dirty="0"/>
              <a:t> el mayor</a:t>
            </a:r>
          </a:p>
          <a:p>
            <a:pPr marL="0" indent="0">
              <a:buNone/>
            </a:pPr>
            <a:r>
              <a:rPr lang="es-CO" dirty="0"/>
              <a:t>--3. obtengo los estudiantes con el puntaje mayor del paso 2</a:t>
            </a:r>
          </a:p>
          <a:p>
            <a:pPr marL="0" indent="0">
              <a:buNone/>
            </a:pPr>
            <a:r>
              <a:rPr lang="es-CO" dirty="0"/>
              <a:t>--punto 1</a:t>
            </a:r>
          </a:p>
          <a:p>
            <a:pPr marL="0" indent="0">
              <a:buNone/>
            </a:pPr>
            <a:r>
              <a:rPr lang="es-CO" dirty="0" err="1"/>
              <a:t>with</a:t>
            </a:r>
            <a:r>
              <a:rPr lang="es-CO" dirty="0"/>
              <a:t> </a:t>
            </a:r>
            <a:r>
              <a:rPr lang="es-CO" dirty="0" err="1"/>
              <a:t>puntos_por_estudiante</a:t>
            </a:r>
            <a:r>
              <a:rPr lang="es-CO" dirty="0"/>
              <a:t> as</a:t>
            </a:r>
          </a:p>
          <a:p>
            <a:pPr marL="0" indent="0">
              <a:buNone/>
            </a:pPr>
            <a:r>
              <a:rPr lang="es-CO" dirty="0"/>
              <a:t>(</a:t>
            </a:r>
          </a:p>
          <a:p>
            <a:pPr marL="0" indent="0">
              <a:buNone/>
            </a:pPr>
            <a:r>
              <a:rPr lang="es-CO" dirty="0"/>
              <a:t>    SELECT </a:t>
            </a:r>
            <a:r>
              <a:rPr lang="es-CO" dirty="0" err="1"/>
              <a:t>s.sid,SUM</a:t>
            </a:r>
            <a:r>
              <a:rPr lang="es-CO" dirty="0"/>
              <a:t>(</a:t>
            </a:r>
            <a:r>
              <a:rPr lang="es-CO" dirty="0" err="1"/>
              <a:t>r.points</a:t>
            </a:r>
            <a:r>
              <a:rPr lang="es-CO" dirty="0"/>
              <a:t>) as definitiva</a:t>
            </a:r>
          </a:p>
          <a:p>
            <a:pPr marL="0" indent="0">
              <a:buNone/>
            </a:pPr>
            <a:r>
              <a:rPr lang="es-CO" dirty="0"/>
              <a:t>    FROM </a:t>
            </a:r>
            <a:r>
              <a:rPr lang="es-CO" dirty="0" err="1"/>
              <a:t>results</a:t>
            </a:r>
            <a:r>
              <a:rPr lang="es-CO" dirty="0"/>
              <a:t> r, </a:t>
            </a:r>
            <a:r>
              <a:rPr lang="es-CO" dirty="0" err="1"/>
              <a:t>students</a:t>
            </a:r>
            <a:r>
              <a:rPr lang="es-CO" dirty="0"/>
              <a:t>   s</a:t>
            </a:r>
          </a:p>
          <a:p>
            <a:pPr marL="0" indent="0">
              <a:buNone/>
            </a:pPr>
            <a:r>
              <a:rPr lang="es-CO" dirty="0"/>
              <a:t>    WHERE </a:t>
            </a:r>
            <a:r>
              <a:rPr lang="es-CO" dirty="0" err="1"/>
              <a:t>s.sid</a:t>
            </a:r>
            <a:r>
              <a:rPr lang="es-CO" dirty="0"/>
              <a:t> = </a:t>
            </a:r>
            <a:r>
              <a:rPr lang="es-CO" dirty="0" err="1"/>
              <a:t>r.sid</a:t>
            </a:r>
            <a:r>
              <a:rPr lang="es-CO" dirty="0"/>
              <a:t> GROUP BY </a:t>
            </a:r>
            <a:r>
              <a:rPr lang="es-CO" dirty="0" err="1"/>
              <a:t>s.sid</a:t>
            </a:r>
            <a:endParaRPr lang="es-CO" dirty="0"/>
          </a:p>
          <a:p>
            <a:pPr marL="0" indent="0">
              <a:buNone/>
            </a:pPr>
            <a:r>
              <a:rPr lang="es-CO" dirty="0"/>
              <a:t>),</a:t>
            </a:r>
          </a:p>
          <a:p>
            <a:pPr marL="0" indent="0">
              <a:buNone/>
            </a:pPr>
            <a:r>
              <a:rPr lang="es-CO" dirty="0"/>
              <a:t>--punto 2</a:t>
            </a:r>
          </a:p>
          <a:p>
            <a:pPr marL="0" indent="0">
              <a:buNone/>
            </a:pPr>
            <a:r>
              <a:rPr lang="es-CO" dirty="0" err="1"/>
              <a:t>puntaje_mayor</a:t>
            </a:r>
            <a:r>
              <a:rPr lang="es-CO" dirty="0"/>
              <a:t> as(</a:t>
            </a:r>
          </a:p>
          <a:p>
            <a:pPr marL="0" indent="0">
              <a:buNone/>
            </a:pPr>
            <a:r>
              <a:rPr lang="es-CO" dirty="0"/>
              <a:t>    </a:t>
            </a:r>
            <a:r>
              <a:rPr lang="es-CO" dirty="0" err="1"/>
              <a:t>select</a:t>
            </a:r>
            <a:r>
              <a:rPr lang="es-CO" dirty="0"/>
              <a:t> </a:t>
            </a:r>
            <a:r>
              <a:rPr lang="es-CO" dirty="0" err="1"/>
              <a:t>max</a:t>
            </a:r>
            <a:r>
              <a:rPr lang="es-CO" dirty="0"/>
              <a:t>(definitiva) as mayor </a:t>
            </a:r>
            <a:r>
              <a:rPr lang="es-CO" dirty="0" err="1"/>
              <a:t>from</a:t>
            </a:r>
            <a:r>
              <a:rPr lang="es-CO" dirty="0"/>
              <a:t>   </a:t>
            </a:r>
            <a:r>
              <a:rPr lang="es-CO" dirty="0" err="1"/>
              <a:t>puntos_por_estudiante</a:t>
            </a:r>
            <a:endParaRPr lang="es-CO" dirty="0"/>
          </a:p>
          <a:p>
            <a:pPr marL="0" indent="0">
              <a:buNone/>
            </a:pPr>
            <a:r>
              <a:rPr lang="es-CO" dirty="0"/>
              <a:t>) </a:t>
            </a:r>
          </a:p>
          <a:p>
            <a:pPr marL="0" indent="0">
              <a:buNone/>
            </a:pPr>
            <a:r>
              <a:rPr lang="es-CO" dirty="0"/>
              <a:t>--</a:t>
            </a:r>
            <a:r>
              <a:rPr lang="es-CO" dirty="0" err="1"/>
              <a:t>select</a:t>
            </a:r>
            <a:r>
              <a:rPr lang="es-CO" dirty="0"/>
              <a:t> * </a:t>
            </a:r>
            <a:r>
              <a:rPr lang="es-CO" dirty="0" err="1"/>
              <a:t>from</a:t>
            </a:r>
            <a:r>
              <a:rPr lang="es-CO" dirty="0"/>
              <a:t> </a:t>
            </a:r>
            <a:r>
              <a:rPr lang="es-CO" dirty="0" err="1"/>
              <a:t>puntaje_mayor</a:t>
            </a:r>
            <a:r>
              <a:rPr lang="es-CO" dirty="0"/>
              <a:t>;</a:t>
            </a:r>
          </a:p>
          <a:p>
            <a:pPr marL="0" indent="0">
              <a:buNone/>
            </a:pPr>
            <a:r>
              <a:rPr lang="es-CO" dirty="0"/>
              <a:t>--punto 3</a:t>
            </a:r>
          </a:p>
          <a:p>
            <a:pPr marL="0" indent="0">
              <a:buNone/>
            </a:pPr>
            <a:r>
              <a:rPr lang="es-CO" dirty="0" err="1"/>
              <a:t>select</a:t>
            </a:r>
            <a:r>
              <a:rPr lang="es-CO" dirty="0"/>
              <a:t> </a:t>
            </a:r>
            <a:r>
              <a:rPr lang="es-CO" dirty="0" err="1"/>
              <a:t>st.first</a:t>
            </a:r>
            <a:r>
              <a:rPr lang="es-CO" dirty="0"/>
              <a:t>, </a:t>
            </a:r>
            <a:r>
              <a:rPr lang="es-CO" dirty="0" err="1"/>
              <a:t>st.last</a:t>
            </a:r>
            <a:r>
              <a:rPr lang="es-CO" dirty="0"/>
              <a:t>, </a:t>
            </a:r>
            <a:r>
              <a:rPr lang="es-CO" dirty="0" err="1"/>
              <a:t>pe.definitiva</a:t>
            </a:r>
            <a:endParaRPr lang="es-CO" dirty="0"/>
          </a:p>
          <a:p>
            <a:pPr marL="0" indent="0">
              <a:buNone/>
            </a:pPr>
            <a:r>
              <a:rPr lang="es-CO" dirty="0" err="1"/>
              <a:t>from</a:t>
            </a:r>
            <a:r>
              <a:rPr lang="es-CO" dirty="0"/>
              <a:t> </a:t>
            </a:r>
            <a:r>
              <a:rPr lang="es-CO" dirty="0" err="1"/>
              <a:t>students</a:t>
            </a:r>
            <a:r>
              <a:rPr lang="es-CO" dirty="0"/>
              <a:t> </a:t>
            </a:r>
            <a:r>
              <a:rPr lang="es-CO" dirty="0" err="1"/>
              <a:t>st</a:t>
            </a:r>
            <a:r>
              <a:rPr lang="es-CO" dirty="0"/>
              <a:t>, </a:t>
            </a:r>
            <a:r>
              <a:rPr lang="es-CO" dirty="0" err="1"/>
              <a:t>puntos_por_estudiante</a:t>
            </a:r>
            <a:r>
              <a:rPr lang="es-CO" dirty="0"/>
              <a:t> pe</a:t>
            </a:r>
          </a:p>
          <a:p>
            <a:pPr marL="0" indent="0">
              <a:buNone/>
            </a:pPr>
            <a:r>
              <a:rPr lang="es-CO" dirty="0" err="1"/>
              <a:t>where</a:t>
            </a:r>
            <a:r>
              <a:rPr lang="es-CO" dirty="0"/>
              <a:t> </a:t>
            </a:r>
            <a:r>
              <a:rPr lang="es-CO" dirty="0" err="1"/>
              <a:t>st.sid</a:t>
            </a:r>
            <a:r>
              <a:rPr lang="es-CO" dirty="0"/>
              <a:t> = </a:t>
            </a:r>
            <a:r>
              <a:rPr lang="es-CO" dirty="0" err="1"/>
              <a:t>pe.sid</a:t>
            </a:r>
            <a:endParaRPr lang="es-CO" dirty="0"/>
          </a:p>
          <a:p>
            <a:pPr marL="0" indent="0">
              <a:buNone/>
            </a:pPr>
            <a:r>
              <a:rPr lang="es-CO" dirty="0"/>
              <a:t>and </a:t>
            </a:r>
            <a:r>
              <a:rPr lang="es-CO" dirty="0" err="1"/>
              <a:t>pe.definitiva</a:t>
            </a:r>
            <a:r>
              <a:rPr lang="es-CO" dirty="0"/>
              <a:t> = (</a:t>
            </a:r>
            <a:r>
              <a:rPr lang="es-CO" dirty="0" err="1"/>
              <a:t>select</a:t>
            </a:r>
            <a:r>
              <a:rPr lang="es-CO" dirty="0"/>
              <a:t> mayor </a:t>
            </a:r>
            <a:r>
              <a:rPr lang="es-CO" dirty="0" err="1"/>
              <a:t>from</a:t>
            </a:r>
            <a:r>
              <a:rPr lang="es-CO" dirty="0"/>
              <a:t> </a:t>
            </a:r>
            <a:r>
              <a:rPr lang="es-CO" dirty="0" err="1"/>
              <a:t>puntaje_mayor</a:t>
            </a:r>
            <a:r>
              <a:rPr lang="es-CO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95534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 de Agregados con varias columnas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Liste el total de salarios por </a:t>
            </a:r>
            <a:r>
              <a:rPr lang="es-ES" dirty="0" err="1"/>
              <a:t>job</a:t>
            </a:r>
            <a:r>
              <a:rPr lang="es-ES" dirty="0"/>
              <a:t> y </a:t>
            </a:r>
            <a:r>
              <a:rPr lang="es-ES" dirty="0" err="1"/>
              <a:t>categoria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1657350"/>
            <a:ext cx="5638800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193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 de CASE y SUM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Liste el total de salarios por </a:t>
            </a:r>
            <a:r>
              <a:rPr lang="es-ES" dirty="0" err="1"/>
              <a:t>job</a:t>
            </a:r>
            <a:r>
              <a:rPr lang="es-ES" dirty="0"/>
              <a:t> y categoría, pero de la siguiente manera: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1834" y="1748271"/>
            <a:ext cx="3378900" cy="157682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" y="3691804"/>
            <a:ext cx="8591550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624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 de CASE , SUM y totalice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Liste el total de salarios por </a:t>
            </a:r>
            <a:r>
              <a:rPr lang="es-ES" dirty="0" err="1"/>
              <a:t>job</a:t>
            </a:r>
            <a:r>
              <a:rPr lang="es-ES" dirty="0"/>
              <a:t> y categoría, ahora con fila de TOTALES: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/>
          <a:srcRect l="2344" b="14992"/>
          <a:stretch/>
        </p:blipFill>
        <p:spPr>
          <a:xfrm>
            <a:off x="2442923" y="1863465"/>
            <a:ext cx="3135085" cy="13552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386E21-5D3C-3A93-0C38-9AC2D75CD5DA}"/>
              </a:ext>
            </a:extLst>
          </p:cNvPr>
          <p:cNvSpPr txBox="1"/>
          <p:nvPr/>
        </p:nvSpPr>
        <p:spPr>
          <a:xfrm>
            <a:off x="1006008" y="3948330"/>
            <a:ext cx="770731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select </a:t>
            </a:r>
            <a:r>
              <a:rPr lang="en-US" sz="2000" dirty="0" err="1"/>
              <a:t>nvl</a:t>
            </a:r>
            <a:r>
              <a:rPr lang="en-US" sz="2000" dirty="0"/>
              <a:t>(</a:t>
            </a:r>
            <a:r>
              <a:rPr lang="en-US" sz="2000" dirty="0" err="1"/>
              <a:t>job,'Total</a:t>
            </a:r>
            <a:r>
              <a:rPr lang="en-US" sz="2000" dirty="0"/>
              <a:t>') as job,</a:t>
            </a:r>
          </a:p>
          <a:p>
            <a:r>
              <a:rPr lang="en-US" sz="2000" dirty="0"/>
              <a:t>sum(case when category = 'P' then salary else 0 end) as Planta,</a:t>
            </a:r>
          </a:p>
          <a:p>
            <a:r>
              <a:rPr lang="en-US" sz="2000" dirty="0"/>
              <a:t>sum(case when category = 'T' then salary else 0 end) as Temporal</a:t>
            </a:r>
          </a:p>
          <a:p>
            <a:r>
              <a:rPr lang="en-US" sz="2000" dirty="0"/>
              <a:t>from employees</a:t>
            </a:r>
          </a:p>
          <a:p>
            <a:r>
              <a:rPr lang="en-US" sz="2000" dirty="0"/>
              <a:t>group by (job)</a:t>
            </a:r>
          </a:p>
        </p:txBody>
      </p:sp>
    </p:spTree>
    <p:extLst>
      <p:ext uri="{BB962C8B-B14F-4D97-AF65-F5344CB8AC3E}">
        <p14:creationId xmlns:p14="http://schemas.microsoft.com/office/powerpoint/2010/main" val="4121619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Subconsulta</a:t>
            </a:r>
            <a:r>
              <a:rPr lang="es-ES" dirty="0"/>
              <a:t> </a:t>
            </a:r>
            <a:r>
              <a:rPr lang="es-ES" dirty="0" err="1"/>
              <a:t>Query</a:t>
            </a:r>
            <a:r>
              <a:rPr lang="es-ES" dirty="0"/>
              <a:t> Externo</a:t>
            </a:r>
            <a:endParaRPr lang="en-U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/>
          <a:srcRect b="18076"/>
          <a:stretch/>
        </p:blipFill>
        <p:spPr>
          <a:xfrm>
            <a:off x="2549007" y="4657281"/>
            <a:ext cx="3486150" cy="11704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13E26A-60A2-397B-91E4-50E22F78BCF8}"/>
              </a:ext>
            </a:extLst>
          </p:cNvPr>
          <p:cNvSpPr txBox="1"/>
          <p:nvPr/>
        </p:nvSpPr>
        <p:spPr>
          <a:xfrm>
            <a:off x="512064" y="1685826"/>
            <a:ext cx="80772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select job, planta, temporal, planta  + temporal as total</a:t>
            </a:r>
          </a:p>
          <a:p>
            <a:r>
              <a:rPr lang="en-US" sz="1800" dirty="0"/>
              <a:t>from</a:t>
            </a:r>
          </a:p>
          <a:p>
            <a:r>
              <a:rPr lang="en-US" sz="1800" dirty="0"/>
              <a:t>(</a:t>
            </a:r>
          </a:p>
          <a:p>
            <a:r>
              <a:rPr lang="en-US" sz="1800" dirty="0"/>
              <a:t>    select </a:t>
            </a:r>
            <a:r>
              <a:rPr lang="en-US" sz="1800" dirty="0" err="1"/>
              <a:t>nvl</a:t>
            </a:r>
            <a:r>
              <a:rPr lang="en-US" sz="1800" dirty="0"/>
              <a:t>(</a:t>
            </a:r>
            <a:r>
              <a:rPr lang="en-US" sz="1800" dirty="0" err="1"/>
              <a:t>job,'Total</a:t>
            </a:r>
            <a:r>
              <a:rPr lang="en-US" sz="1800" dirty="0"/>
              <a:t>') as job,</a:t>
            </a:r>
          </a:p>
          <a:p>
            <a:r>
              <a:rPr lang="en-US" sz="1800" dirty="0"/>
              <a:t>    sum(case when category = 'P' then salary else 0 end) as Planta,</a:t>
            </a:r>
          </a:p>
          <a:p>
            <a:r>
              <a:rPr lang="en-US" sz="1800" dirty="0"/>
              <a:t>    sum(case when category = 'T' then salary else 0 end) as Temporal</a:t>
            </a:r>
          </a:p>
          <a:p>
            <a:r>
              <a:rPr lang="en-US" sz="1800" dirty="0"/>
              <a:t>    from employees</a:t>
            </a:r>
          </a:p>
          <a:p>
            <a:r>
              <a:rPr lang="en-US" sz="1800" dirty="0"/>
              <a:t>    group by (job)</a:t>
            </a:r>
          </a:p>
          <a:p>
            <a:r>
              <a:rPr lang="en-US" sz="1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62851229"/>
      </p:ext>
    </p:extLst>
  </p:cSld>
  <p:clrMapOvr>
    <a:masterClrMapping/>
  </p:clrMapOvr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93235</TotalTime>
  <Words>1308</Words>
  <Application>Microsoft Office PowerPoint</Application>
  <PresentationFormat>On-screen Show (4:3)</PresentationFormat>
  <Paragraphs>160</Paragraphs>
  <Slides>15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  <vt:variant>
        <vt:lpstr>Custom Shows</vt:lpstr>
      </vt:variant>
      <vt:variant>
        <vt:i4>1</vt:i4>
      </vt:variant>
    </vt:vector>
  </HeadingPairs>
  <TitlesOfParts>
    <vt:vector size="23" baseType="lpstr">
      <vt:lpstr>Arial</vt:lpstr>
      <vt:lpstr>Helvetica</vt:lpstr>
      <vt:lpstr>Monotype Sorts</vt:lpstr>
      <vt:lpstr>Times New Roman</vt:lpstr>
      <vt:lpstr>Webdings</vt:lpstr>
      <vt:lpstr>Wingdings</vt:lpstr>
      <vt:lpstr>2_db-5-grey</vt:lpstr>
      <vt:lpstr>Chapter 3: Introduction to SQL</vt:lpstr>
      <vt:lpstr>Nested Subqueries</vt:lpstr>
      <vt:lpstr>Nested Subqueries</vt:lpstr>
      <vt:lpstr>Subqueries in the Select Clause</vt:lpstr>
      <vt:lpstr>Scalar Subquery</vt:lpstr>
      <vt:lpstr>Scalar Subquery</vt:lpstr>
      <vt:lpstr>Subqueries in the From Clause</vt:lpstr>
      <vt:lpstr>Subqueries in the Form Clause</vt:lpstr>
      <vt:lpstr>With Clause</vt:lpstr>
      <vt:lpstr>Complex Queries using With Clause</vt:lpstr>
      <vt:lpstr>Ejemplo Esquema Results</vt:lpstr>
      <vt:lpstr>Ejemplo de Agregados con varias columnas</vt:lpstr>
      <vt:lpstr>Ejemplo de CASE y SUM</vt:lpstr>
      <vt:lpstr>Ejemplo de CASE , SUM y totalice</vt:lpstr>
      <vt:lpstr>Subconsulta Query Externo</vt:lpstr>
      <vt:lpstr>Custom Show 1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Julio Ernesto Carreno Vargas</cp:lastModifiedBy>
  <cp:revision>508</cp:revision>
  <cp:lastPrinted>1999-06-28T19:27:31Z</cp:lastPrinted>
  <dcterms:created xsi:type="dcterms:W3CDTF">2009-12-21T15:40:22Z</dcterms:created>
  <dcterms:modified xsi:type="dcterms:W3CDTF">2023-09-11T22:24:54Z</dcterms:modified>
</cp:coreProperties>
</file>