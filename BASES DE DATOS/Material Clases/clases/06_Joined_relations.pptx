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9144000"/>
  <p:notesSz cx="6997700" cy="9283700"/>
  <p:embeddedFontLst>
    <p:embeddedFont>
      <p:font typeface="Helvetica Neue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giPe762zRxI/e1ngEXM+YoePcb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07" orient="horz"/>
        <p:guide pos="5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HelveticaNeue-bold.fntdata"/><Relationship Id="rId10" Type="http://schemas.openxmlformats.org/officeDocument/2006/relationships/slide" Target="slides/slide5.xml"/><Relationship Id="rId32" Type="http://schemas.openxmlformats.org/officeDocument/2006/relationships/font" Target="fonts/HelveticaNeue-regular.fntdata"/><Relationship Id="rId13" Type="http://schemas.openxmlformats.org/officeDocument/2006/relationships/slide" Target="slides/slide8.xml"/><Relationship Id="rId35" Type="http://schemas.openxmlformats.org/officeDocument/2006/relationships/font" Target="fonts/HelveticaNeue-boldItalic.fntdata"/><Relationship Id="rId12" Type="http://schemas.openxmlformats.org/officeDocument/2006/relationships/slide" Target="slides/slide7.xml"/><Relationship Id="rId34" Type="http://schemas.openxmlformats.org/officeDocument/2006/relationships/font" Target="fonts/HelveticaNeue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2:notes"/>
          <p:cNvSpPr/>
          <p:nvPr/>
        </p:nvSpPr>
        <p:spPr>
          <a:xfrm>
            <a:off x="3965576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2:notes"/>
          <p:cNvSpPr/>
          <p:nvPr/>
        </p:nvSpPr>
        <p:spPr>
          <a:xfrm>
            <a:off x="3965576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200" lIns="92050" spcFirstLastPara="1" rIns="92050" wrap="square" tIns="45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9" name="Google Shape;79;p2:notes"/>
          <p:cNvSpPr/>
          <p:nvPr/>
        </p:nvSpPr>
        <p:spPr>
          <a:xfrm>
            <a:off x="1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2:notes"/>
          <p:cNvSpPr/>
          <p:nvPr/>
        </p:nvSpPr>
        <p:spPr>
          <a:xfrm>
            <a:off x="1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2:notes"/>
          <p:cNvSpPr/>
          <p:nvPr>
            <p:ph idx="2" type="sldImg"/>
          </p:nvPr>
        </p:nvSpPr>
        <p:spPr>
          <a:xfrm>
            <a:off x="1187450" y="703263"/>
            <a:ext cx="4622800" cy="34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931864" y="4410076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200" lIns="92050" spcFirstLastPara="1" rIns="92050" wrap="square" tIns="4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3:notes"/>
          <p:cNvSpPr/>
          <p:nvPr>
            <p:ph idx="2" type="sldImg"/>
          </p:nvPr>
        </p:nvSpPr>
        <p:spPr>
          <a:xfrm>
            <a:off x="1187450" y="703263"/>
            <a:ext cx="4622800" cy="34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932400" y="4410466"/>
            <a:ext cx="5132902" cy="4175934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87450" y="703263"/>
            <a:ext cx="4622800" cy="34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31864" y="4410076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87450" y="703263"/>
            <a:ext cx="4622800" cy="34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931864" y="4410076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87450" y="703263"/>
            <a:ext cx="4622800" cy="34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931864" y="4410076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931759" y="4410392"/>
            <a:ext cx="5134182" cy="4177348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931759" y="4410392"/>
            <a:ext cx="5134182" cy="4177348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931759" y="4410392"/>
            <a:ext cx="5134182" cy="4177348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187450" y="703263"/>
            <a:ext cx="4622800" cy="34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931864" y="4410076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FROM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departments   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JOIN employees     e ON d.department_id = e.department_id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ORDER BY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d.department_name;</a:t>
            </a:r>
            <a:endParaRPr/>
          </a:p>
        </p:txBody>
      </p:sp>
      <p:sp>
        <p:nvSpPr>
          <p:cNvPr id="172" name="Google Shape;172;p1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0" name="Google Shape;180;p1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FROM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departments   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LEFT OUTER JOIN employees     e ON d.department_id = e.department_id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ORDER BY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e.employee_name;</a:t>
            </a:r>
            <a:endParaRPr/>
          </a:p>
        </p:txBody>
      </p:sp>
      <p:sp>
        <p:nvSpPr>
          <p:cNvPr id="181" name="Google Shape;181;p16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1" name="Google Shape;191;p1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FROM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departments   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LEFT OUTER JOIN employees     e ON d.department_id = e.department_id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ORDER BY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e.employee_name;</a:t>
            </a:r>
            <a:endParaRPr/>
          </a:p>
        </p:txBody>
      </p:sp>
      <p:sp>
        <p:nvSpPr>
          <p:cNvPr id="192" name="Google Shape;192;p17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0" name="Google Shape;200;p1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FROM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departments   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RIGHT OUTER JOIN employees     e ON d.department_id = e.department_id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ORDER BY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e.employee_name;</a:t>
            </a:r>
            <a:endParaRPr/>
          </a:p>
        </p:txBody>
      </p:sp>
      <p:sp>
        <p:nvSpPr>
          <p:cNvPr id="201" name="Google Shape;201;p18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9" name="Google Shape;209;p1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FROM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departments   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RIGHT OUTER JOIN employees     e ON d.department_id = e.department_id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ORDER BY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e.employee_name;</a:t>
            </a:r>
            <a:endParaRPr/>
          </a:p>
        </p:txBody>
      </p:sp>
      <p:sp>
        <p:nvSpPr>
          <p:cNvPr id="210" name="Google Shape;210;p19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8" name="Google Shape;218;p20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FROM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employees     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FULL OUTER JOIN departments   d ON e.department_id = d.department_id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ORDER BY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e.employee_name;</a:t>
            </a:r>
            <a:endParaRPr/>
          </a:p>
        </p:txBody>
      </p:sp>
      <p:sp>
        <p:nvSpPr>
          <p:cNvPr id="219" name="Google Shape;219;p20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7" name="Google Shape;227;p2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FROM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employees     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FULL OUTER JOIN departments   d ON e.department_id = d.department_id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ORDER BY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e.employee_name;</a:t>
            </a:r>
            <a:endParaRPr/>
          </a:p>
        </p:txBody>
      </p:sp>
      <p:sp>
        <p:nvSpPr>
          <p:cNvPr id="228" name="Google Shape;228;p21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6" name="Google Shape;236;p2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 e.employee_name, d.department_name FROM </a:t>
            </a:r>
            <a:r>
              <a:rPr b="1" lang="en-US"/>
              <a:t>employees e CROSS JOIN departments d</a:t>
            </a:r>
            <a:r>
              <a:rPr lang="en-US"/>
              <a:t> ORDER BY e.employee_name, d.department_name;</a:t>
            </a:r>
            <a:endParaRPr/>
          </a:p>
        </p:txBody>
      </p:sp>
      <p:sp>
        <p:nvSpPr>
          <p:cNvPr id="237" name="Google Shape;237;p22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4" name="Google Shape;244;p2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FROM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employees     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NATURAL JOIN departments   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ORDER BY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d.department_name;</a:t>
            </a:r>
            <a:endParaRPr/>
          </a:p>
        </p:txBody>
      </p:sp>
      <p:sp>
        <p:nvSpPr>
          <p:cNvPr id="245" name="Google Shape;245;p23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2" name="Google Shape;252;p2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d.department_name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FROM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employees     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JOIN departments   d USING ( department_id 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ORDER BY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  e.employee_name;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53" name="Google Shape;253;p24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0" name="Google Shape;260;p25:notes"/>
          <p:cNvSpPr/>
          <p:nvPr>
            <p:ph idx="2" type="sldImg"/>
          </p:nvPr>
        </p:nvSpPr>
        <p:spPr>
          <a:xfrm>
            <a:off x="1187450" y="703263"/>
            <a:ext cx="4622800" cy="34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25:notes"/>
          <p:cNvSpPr txBox="1"/>
          <p:nvPr>
            <p:ph idx="1" type="body"/>
          </p:nvPr>
        </p:nvSpPr>
        <p:spPr>
          <a:xfrm>
            <a:off x="931864" y="4410076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db-book.com/" TargetMode="External"/><Relationship Id="rId3" Type="http://schemas.openxmlformats.org/officeDocument/2006/relationships/image" Target="../media/image19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8"/>
          <p:cNvSpPr txBox="1"/>
          <p:nvPr/>
        </p:nvSpPr>
        <p:spPr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7</a:t>
            </a:r>
            <a:r>
              <a:rPr b="1" baseline="30000"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</a:t>
            </a:r>
            <a:r>
              <a:rPr lang="en-US" sz="16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b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</a:t>
            </a:r>
            <a:r>
              <a:rPr b="1" lang="en-US" sz="1200" u="sng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www.db-book.com</a:t>
            </a:r>
            <a:r>
              <a:rPr b="1" lang="en-US" sz="12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conditions on re-use </a:t>
            </a:r>
            <a:endParaRPr/>
          </a:p>
        </p:txBody>
      </p:sp>
      <p:sp>
        <p:nvSpPr>
          <p:cNvPr id="20" name="Google Shape;20;p28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2" type="sldNum"/>
          </p:nvPr>
        </p:nvSpPr>
        <p:spPr>
          <a:xfrm>
            <a:off x="6596063" y="62182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over-6Ed" id="22" name="Google Shape;2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" type="body"/>
          </p:nvPr>
        </p:nvSpPr>
        <p:spPr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7345" lvl="0" marL="45720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  <a:defRPr sz="1700"/>
            </a:lvl1pPr>
            <a:lvl2pPr indent="-347344" lvl="1" marL="91440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Char char="•"/>
              <a:defRPr sz="1700"/>
            </a:lvl2pPr>
            <a:lvl3pPr indent="-320357" lvl="2" marL="1371600" algn="l">
              <a:spcBef>
                <a:spcPts val="595"/>
              </a:spcBef>
              <a:spcAft>
                <a:spcPts val="0"/>
              </a:spcAft>
              <a:buSzPts val="1445"/>
              <a:buFont typeface="Noto Sans Symbols"/>
              <a:buChar char="▪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Font typeface="Arial"/>
              <a:buChar char="•"/>
              <a:defRPr sz="1700"/>
            </a:lvl4pPr>
            <a:lvl5pPr indent="-309562" lvl="4" marL="2286000" algn="l">
              <a:spcBef>
                <a:spcPts val="595"/>
              </a:spcBef>
              <a:spcAft>
                <a:spcPts val="0"/>
              </a:spcAft>
              <a:buSzPts val="1275"/>
              <a:buFont typeface="Noto Sans Symbols"/>
              <a:buChar char="▪"/>
              <a:defRPr sz="17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71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36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/>
        </p:txBody>
      </p:sp>
      <p:sp>
        <p:nvSpPr>
          <p:cNvPr id="29" name="Google Shape;29;p30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" type="body"/>
          </p:nvPr>
        </p:nvSpPr>
        <p:spPr>
          <a:xfrm>
            <a:off x="814388" y="1093788"/>
            <a:ext cx="3754437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spcBef>
                <a:spcPts val="595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1152" lvl="1" marL="914400" algn="l">
              <a:spcBef>
                <a:spcPts val="595"/>
              </a:spcBef>
              <a:spcAft>
                <a:spcPts val="0"/>
              </a:spcAft>
              <a:buSzPts val="1615"/>
              <a:buChar char="●"/>
              <a:defRPr sz="1700"/>
            </a:lvl2pPr>
            <a:lvl3pPr indent="-320357" lvl="2" marL="1371600" algn="l">
              <a:spcBef>
                <a:spcPts val="595"/>
              </a:spcBef>
              <a:spcAft>
                <a:spcPts val="0"/>
              </a:spcAft>
              <a:buSzPts val="1445"/>
              <a:buChar char="4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Char char="–"/>
              <a:defRPr sz="1700"/>
            </a:lvl4pPr>
            <a:lvl5pPr indent="-309562" lvl="4" marL="2286000" algn="l">
              <a:spcBef>
                <a:spcPts val="595"/>
              </a:spcBef>
              <a:spcAft>
                <a:spcPts val="0"/>
              </a:spcAft>
              <a:buSzPts val="1275"/>
              <a:buFont typeface="Helvetica Neue"/>
              <a:buChar char="»"/>
              <a:defRPr sz="17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33" name="Google Shape;33;p31"/>
          <p:cNvSpPr txBox="1"/>
          <p:nvPr>
            <p:ph idx="2" type="body"/>
          </p:nvPr>
        </p:nvSpPr>
        <p:spPr>
          <a:xfrm>
            <a:off x="4721225" y="1093788"/>
            <a:ext cx="3754438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spcBef>
                <a:spcPts val="595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1152" lvl="1" marL="914400" algn="l">
              <a:spcBef>
                <a:spcPts val="595"/>
              </a:spcBef>
              <a:spcAft>
                <a:spcPts val="0"/>
              </a:spcAft>
              <a:buSzPts val="1615"/>
              <a:buChar char="●"/>
              <a:defRPr sz="1700"/>
            </a:lvl2pPr>
            <a:lvl3pPr indent="-320357" lvl="2" marL="1371600" algn="l">
              <a:spcBef>
                <a:spcPts val="595"/>
              </a:spcBef>
              <a:spcAft>
                <a:spcPts val="0"/>
              </a:spcAft>
              <a:buSzPts val="1445"/>
              <a:buChar char="4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Char char="–"/>
              <a:defRPr sz="1700"/>
            </a:lvl4pPr>
            <a:lvl5pPr indent="-309562" lvl="4" marL="2286000" algn="l">
              <a:spcBef>
                <a:spcPts val="595"/>
              </a:spcBef>
              <a:spcAft>
                <a:spcPts val="0"/>
              </a:spcAft>
              <a:buSzPts val="1275"/>
              <a:buFont typeface="Helvetica Neue"/>
              <a:buChar char="»"/>
              <a:defRPr sz="17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34" name="Google Shape;34;p31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9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38" name="Google Shape;38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spcBef>
                <a:spcPts val="595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1152" lvl="1" marL="914400" algn="l">
              <a:spcBef>
                <a:spcPts val="595"/>
              </a:spcBef>
              <a:spcAft>
                <a:spcPts val="0"/>
              </a:spcAft>
              <a:buSzPts val="1615"/>
              <a:buChar char="●"/>
              <a:defRPr sz="1700"/>
            </a:lvl2pPr>
            <a:lvl3pPr indent="-320357" lvl="2" marL="1371600" algn="l">
              <a:spcBef>
                <a:spcPts val="595"/>
              </a:spcBef>
              <a:spcAft>
                <a:spcPts val="0"/>
              </a:spcAft>
              <a:buSzPts val="1445"/>
              <a:buChar char="4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Char char="–"/>
              <a:defRPr sz="1700"/>
            </a:lvl4pPr>
            <a:lvl5pPr indent="-309562" lvl="4" marL="2286000" algn="l">
              <a:spcBef>
                <a:spcPts val="595"/>
              </a:spcBef>
              <a:spcAft>
                <a:spcPts val="0"/>
              </a:spcAft>
              <a:buSzPts val="1275"/>
              <a:buFont typeface="Helvetica Neue"/>
              <a:buChar char="»"/>
              <a:defRPr sz="17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39" name="Google Shape;39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9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40" name="Google Shape;40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spcBef>
                <a:spcPts val="595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1152" lvl="1" marL="914400" algn="l">
              <a:spcBef>
                <a:spcPts val="595"/>
              </a:spcBef>
              <a:spcAft>
                <a:spcPts val="0"/>
              </a:spcAft>
              <a:buSzPts val="1615"/>
              <a:buChar char="●"/>
              <a:defRPr sz="1700"/>
            </a:lvl2pPr>
            <a:lvl3pPr indent="-320357" lvl="2" marL="1371600" algn="l">
              <a:spcBef>
                <a:spcPts val="595"/>
              </a:spcBef>
              <a:spcAft>
                <a:spcPts val="0"/>
              </a:spcAft>
              <a:buSzPts val="1445"/>
              <a:buChar char="4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Char char="–"/>
              <a:defRPr sz="1700"/>
            </a:lvl4pPr>
            <a:lvl5pPr indent="-309562" lvl="4" marL="2286000" algn="l">
              <a:spcBef>
                <a:spcPts val="595"/>
              </a:spcBef>
              <a:spcAft>
                <a:spcPts val="0"/>
              </a:spcAft>
              <a:buSzPts val="1275"/>
              <a:buFont typeface="Helvetica Neue"/>
              <a:buChar char="»"/>
              <a:defRPr sz="17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41" name="Google Shape;41;p32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4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spcBef>
                <a:spcPts val="595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1152" lvl="1" marL="914400" algn="l">
              <a:spcBef>
                <a:spcPts val="595"/>
              </a:spcBef>
              <a:spcAft>
                <a:spcPts val="0"/>
              </a:spcAft>
              <a:buSzPts val="1615"/>
              <a:buChar char="●"/>
              <a:defRPr sz="1700"/>
            </a:lvl2pPr>
            <a:lvl3pPr indent="-320357" lvl="2" marL="1371600" algn="l">
              <a:spcBef>
                <a:spcPts val="595"/>
              </a:spcBef>
              <a:spcAft>
                <a:spcPts val="0"/>
              </a:spcAft>
              <a:buSzPts val="1445"/>
              <a:buChar char="4"/>
              <a:defRPr sz="1700"/>
            </a:lvl3pPr>
            <a:lvl4pPr indent="-336550" lvl="3" marL="1828800" algn="l">
              <a:spcBef>
                <a:spcPts val="595"/>
              </a:spcBef>
              <a:spcAft>
                <a:spcPts val="0"/>
              </a:spcAft>
              <a:buSzPts val="1700"/>
              <a:buChar char="–"/>
              <a:defRPr sz="1700"/>
            </a:lvl4pPr>
            <a:lvl5pPr indent="-309562" lvl="4" marL="2286000" algn="l">
              <a:spcBef>
                <a:spcPts val="595"/>
              </a:spcBef>
              <a:spcAft>
                <a:spcPts val="0"/>
              </a:spcAft>
              <a:buSzPts val="1275"/>
              <a:buFont typeface="Helvetica Neue"/>
              <a:buChar char="»"/>
              <a:defRPr sz="1700"/>
            </a:lvl5pPr>
            <a:lvl6pPr indent="-323850" lvl="5" marL="27432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6pPr>
            <a:lvl7pPr indent="-323850" lvl="6" marL="32004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7pPr>
            <a:lvl8pPr indent="-323850" lvl="7" marL="36576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8pPr>
            <a:lvl9pPr indent="-323850" lvl="8" marL="4114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50" name="Google Shape;50;p3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14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  <p:sp>
        <p:nvSpPr>
          <p:cNvPr id="51" name="Google Shape;51;p35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3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14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  <p:sp>
        <p:nvSpPr>
          <p:cNvPr id="56" name="Google Shape;56;p36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" type="body"/>
          </p:nvPr>
        </p:nvSpPr>
        <p:spPr>
          <a:xfrm rot="5400000">
            <a:off x="2159717" y="-318371"/>
            <a:ext cx="4903787" cy="772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630"/>
              </a:spcBef>
              <a:spcAft>
                <a:spcPts val="0"/>
              </a:spcAft>
              <a:buSzPts val="1800"/>
              <a:buChar char="●"/>
              <a:defRPr/>
            </a:lvl1pPr>
            <a:lvl2pPr indent="-337185" lvl="1" marL="914400" algn="l">
              <a:spcBef>
                <a:spcPts val="630"/>
              </a:spcBef>
              <a:spcAft>
                <a:spcPts val="0"/>
              </a:spcAft>
              <a:buSzPts val="1710"/>
              <a:buChar char="●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 txBox="1"/>
          <p:nvPr>
            <p:ph type="title"/>
          </p:nvPr>
        </p:nvSpPr>
        <p:spPr>
          <a:xfrm rot="5400000">
            <a:off x="4895850" y="2047875"/>
            <a:ext cx="58801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 txBox="1"/>
          <p:nvPr>
            <p:ph idx="1" type="body"/>
          </p:nvPr>
        </p:nvSpPr>
        <p:spPr>
          <a:xfrm rot="5400000">
            <a:off x="781050" y="104775"/>
            <a:ext cx="5880100" cy="5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630"/>
              </a:spcBef>
              <a:spcAft>
                <a:spcPts val="0"/>
              </a:spcAft>
              <a:buSzPts val="1800"/>
              <a:buChar char="●"/>
              <a:defRPr/>
            </a:lvl1pPr>
            <a:lvl2pPr indent="-337185" lvl="1" marL="914400" algn="l">
              <a:spcBef>
                <a:spcPts val="630"/>
              </a:spcBef>
              <a:spcAft>
                <a:spcPts val="0"/>
              </a:spcAft>
              <a:buSzPts val="1710"/>
              <a:buChar char="●"/>
              <a:defRPr/>
            </a:lvl2pPr>
            <a:lvl3pPr indent="-325755" lvl="2" marL="1371600" algn="l">
              <a:spcBef>
                <a:spcPts val="630"/>
              </a:spcBef>
              <a:spcAft>
                <a:spcPts val="0"/>
              </a:spcAft>
              <a:buSzPts val="153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64" name="Google Shape;64;p38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95"/>
              </a:spcBef>
              <a:spcAft>
                <a:spcPts val="0"/>
              </a:spcAft>
              <a:buSzPts val="1700"/>
              <a:buNone/>
              <a:defRPr/>
            </a:lvl1pPr>
            <a:lvl2pPr lvl="1" algn="ctr">
              <a:spcBef>
                <a:spcPts val="595"/>
              </a:spcBef>
              <a:spcAft>
                <a:spcPts val="0"/>
              </a:spcAft>
              <a:buSzPts val="1615"/>
              <a:buNone/>
              <a:defRPr/>
            </a:lvl2pPr>
            <a:lvl3pPr lvl="2" algn="ctr">
              <a:spcBef>
                <a:spcPts val="595"/>
              </a:spcBef>
              <a:spcAft>
                <a:spcPts val="0"/>
              </a:spcAft>
              <a:buSzPts val="1445"/>
              <a:buNone/>
              <a:defRPr/>
            </a:lvl3pPr>
            <a:lvl4pPr lvl="3" algn="ctr">
              <a:spcBef>
                <a:spcPts val="595"/>
              </a:spcBef>
              <a:spcAft>
                <a:spcPts val="0"/>
              </a:spcAft>
              <a:buSzPts val="1700"/>
              <a:buNone/>
              <a:defRPr/>
            </a:lvl4pPr>
            <a:lvl5pPr lvl="4" algn="ctr">
              <a:spcBef>
                <a:spcPts val="595"/>
              </a:spcBef>
              <a:spcAft>
                <a:spcPts val="0"/>
              </a:spcAft>
              <a:buSzPts val="1275"/>
              <a:buFont typeface="Helvetica Neue"/>
              <a:buNone/>
              <a:defRPr/>
            </a:lvl5pPr>
            <a:lvl6pPr lvl="5" algn="ctr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  <a:defRPr/>
            </a:lvl6pPr>
            <a:lvl7pPr lvl="6" algn="ctr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  <a:defRPr/>
            </a:lvl7pPr>
            <a:lvl8pPr lvl="7" algn="ctr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  <a:defRPr/>
            </a:lvl8pPr>
            <a:lvl9pPr lvl="8" algn="ctr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  <a:defRPr/>
            </a:lvl9pPr>
          </a:lstStyle>
          <a:p/>
        </p:txBody>
      </p:sp>
      <p:sp>
        <p:nvSpPr>
          <p:cNvPr id="68" name="Google Shape;68;p39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9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idx="1" type="body"/>
          </p:nvPr>
        </p:nvSpPr>
        <p:spPr>
          <a:xfrm>
            <a:off x="747558" y="1093788"/>
            <a:ext cx="772810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marR="0" rtl="0" algn="l">
              <a:spcBef>
                <a:spcPts val="595"/>
              </a:spcBef>
              <a:spcAft>
                <a:spcPts val="0"/>
              </a:spcAft>
              <a:buClr>
                <a:srgbClr val="002060"/>
              </a:buClr>
              <a:buSzPts val="1700"/>
              <a:buFont typeface="Arial"/>
              <a:buChar char="●"/>
              <a:defRPr b="0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1152" lvl="1" marL="914400" marR="0" rtl="0" algn="l">
              <a:spcBef>
                <a:spcPts val="595"/>
              </a:spcBef>
              <a:spcAft>
                <a:spcPts val="0"/>
              </a:spcAft>
              <a:buClr>
                <a:schemeClr val="folHlink"/>
              </a:buClr>
              <a:buSzPts val="1615"/>
              <a:buFont typeface="Arial"/>
              <a:buChar char="●"/>
              <a:defRPr b="0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20357" lvl="2" marL="1371600" marR="0" rtl="0" algn="l">
              <a:spcBef>
                <a:spcPts val="595"/>
              </a:spcBef>
              <a:spcAft>
                <a:spcPts val="0"/>
              </a:spcAft>
              <a:buClr>
                <a:srgbClr val="33CC33"/>
              </a:buClr>
              <a:buSzPts val="1445"/>
              <a:buFont typeface="Arimo"/>
              <a:buChar char="4"/>
              <a:defRPr b="0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36550" lvl="3" marL="1828800" marR="0" rtl="0" algn="l">
              <a:spcBef>
                <a:spcPts val="595"/>
              </a:spcBef>
              <a:spcAft>
                <a:spcPts val="0"/>
              </a:spcAft>
              <a:buClr>
                <a:schemeClr val="hlink"/>
              </a:buClr>
              <a:buSzPts val="1700"/>
              <a:buFont typeface="Times New Roman"/>
              <a:buChar char="–"/>
              <a:defRPr b="0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9562" lvl="4" marL="2286000" marR="0" rtl="0" algn="l">
              <a:spcBef>
                <a:spcPts val="595"/>
              </a:spcBef>
              <a:spcAft>
                <a:spcPts val="0"/>
              </a:spcAft>
              <a:buClr>
                <a:schemeClr val="dk2"/>
              </a:buClr>
              <a:buSzPts val="1275"/>
              <a:buFont typeface="Helvetica Neue"/>
              <a:buChar char="»"/>
              <a:defRPr b="0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27"/>
          <p:cNvSpPr txBox="1"/>
          <p:nvPr>
            <p:ph idx="12" type="sldNum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27"/>
          <p:cNvSpPr txBox="1"/>
          <p:nvPr/>
        </p:nvSpPr>
        <p:spPr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endParaRPr/>
          </a:p>
        </p:txBody>
      </p:sp>
      <p:sp>
        <p:nvSpPr>
          <p:cNvPr id="13" name="Google Shape;13;p27"/>
          <p:cNvSpPr txBox="1"/>
          <p:nvPr/>
        </p:nvSpPr>
        <p:spPr>
          <a:xfrm>
            <a:off x="4479984" y="6613525"/>
            <a:ext cx="44755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</a:t>
            </a:r>
            <a:fld id="{00000000-1234-1234-1234-123412341234}" type="slidenum"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10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Google Shape;14;p2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5" name="Google Shape;15;p27"/>
          <p:cNvSpPr txBox="1"/>
          <p:nvPr/>
        </p:nvSpPr>
        <p:spPr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 - 7</a:t>
            </a:r>
            <a:r>
              <a:rPr b="1" baseline="30000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sp>
        <p:nvSpPr>
          <p:cNvPr id="16" name="Google Shape;16;p27"/>
          <p:cNvSpPr/>
          <p:nvPr/>
        </p:nvSpPr>
        <p:spPr>
          <a:xfrm>
            <a:off x="8916988" y="5445125"/>
            <a:ext cx="227012" cy="47625"/>
          </a:xfrm>
          <a:custGeom>
            <a:rect b="b" l="l" r="r" t="t"/>
            <a:pathLst>
              <a:path extrusionOk="0" h="61" w="285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Cover-6Ed" id="17" name="Google Shape;17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4 : Intermediate 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Outline</a:t>
            </a:r>
            <a:endParaRPr/>
          </a:p>
        </p:txBody>
      </p:sp>
      <p:sp>
        <p:nvSpPr>
          <p:cNvPr id="85" name="Google Shape;85;p2"/>
          <p:cNvSpPr txBox="1"/>
          <p:nvPr>
            <p:ph idx="1" type="body"/>
          </p:nvPr>
        </p:nvSpPr>
        <p:spPr>
          <a:xfrm>
            <a:off x="768351" y="1104900"/>
            <a:ext cx="6587800" cy="413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Join  Expressions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Views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Integrity Constraints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SQL Data Types and Schemas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Authorization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Joined Relations</a:t>
            </a:r>
            <a:endParaRPr/>
          </a:p>
        </p:txBody>
      </p:sp>
      <p:sp>
        <p:nvSpPr>
          <p:cNvPr id="92" name="Google Shape;92;p3"/>
          <p:cNvSpPr txBox="1"/>
          <p:nvPr>
            <p:ph idx="1" type="body"/>
          </p:nvPr>
        </p:nvSpPr>
        <p:spPr>
          <a:xfrm>
            <a:off x="768349" y="1194843"/>
            <a:ext cx="7585537" cy="454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 sz="1700">
                <a:solidFill>
                  <a:srgbClr val="002060"/>
                </a:solidFill>
              </a:rPr>
              <a:t>Join operations</a:t>
            </a:r>
            <a:r>
              <a:rPr lang="en-US" sz="1700">
                <a:solidFill>
                  <a:srgbClr val="002060"/>
                </a:solidFill>
              </a:rPr>
              <a:t> </a:t>
            </a:r>
            <a:r>
              <a:rPr lang="en-US" sz="1700"/>
              <a:t>take two relations and return as a result another relation.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A join operation is a Cartesian product which requires that tuples in the two relations match (under some condition).  It also specifies the attributes that are present in the result of the join 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The join operations are typically used as subquery expressions in the </a:t>
            </a:r>
            <a:r>
              <a:rPr b="1" lang="en-US" sz="1700"/>
              <a:t>from </a:t>
            </a:r>
            <a:r>
              <a:rPr lang="en-US" sz="1700"/>
              <a:t>clause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Three types of joins: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 sz="1700"/>
              <a:t>Natural join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 sz="1700"/>
              <a:t>Inner join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 sz="1700"/>
              <a:t>Outer join</a:t>
            </a:r>
            <a:endParaRPr/>
          </a:p>
          <a:p>
            <a:pPr indent="-285750" lvl="1" marL="742950" rtl="0" algn="l">
              <a:spcBef>
                <a:spcPts val="70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t/>
            </a:r>
            <a:endParaRPr sz="2000"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Natural Join in SQL</a:t>
            </a:r>
            <a:endParaRPr/>
          </a:p>
        </p:txBody>
      </p:sp>
      <p:sp>
        <p:nvSpPr>
          <p:cNvPr id="99" name="Google Shape;99;p4"/>
          <p:cNvSpPr txBox="1"/>
          <p:nvPr>
            <p:ph idx="1" type="body"/>
          </p:nvPr>
        </p:nvSpPr>
        <p:spPr>
          <a:xfrm>
            <a:off x="768350" y="1078992"/>
            <a:ext cx="7647681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Natural join matches tuples with the same values for all common attributes, and retains only one copy of each common column.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List the names of instructors along with the course ID of the courses that they taught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 sz="1700"/>
              <a:t>select </a:t>
            </a:r>
            <a:r>
              <a:rPr i="1" lang="en-US" sz="1700"/>
              <a:t>name</a:t>
            </a:r>
            <a:r>
              <a:rPr lang="en-US" sz="1700"/>
              <a:t>, </a:t>
            </a:r>
            <a:r>
              <a:rPr i="1" lang="en-US" sz="1700"/>
              <a:t>course_id</a:t>
            </a:r>
            <a:br>
              <a:rPr i="1" lang="en-US" sz="1700"/>
            </a:br>
            <a:r>
              <a:rPr b="1" lang="en-US" sz="1700"/>
              <a:t>from </a:t>
            </a:r>
            <a:r>
              <a:rPr i="1" lang="en-US" sz="1700"/>
              <a:t> students, takes</a:t>
            </a:r>
            <a:br>
              <a:rPr i="1" lang="en-US" sz="1700"/>
            </a:br>
            <a:r>
              <a:rPr b="1" lang="en-US" sz="1700"/>
              <a:t>where </a:t>
            </a:r>
            <a:r>
              <a:rPr i="1" lang="en-US" sz="1700"/>
              <a:t>student.ID </a:t>
            </a:r>
            <a:r>
              <a:rPr lang="en-US" sz="1700"/>
              <a:t>= </a:t>
            </a:r>
            <a:r>
              <a:rPr i="1" lang="en-US" sz="1700"/>
              <a:t>takes.ID</a:t>
            </a:r>
            <a:r>
              <a:rPr lang="en-US" sz="1700"/>
              <a:t>;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Same query in SQL with “natural join” construct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b="1" lang="en-US" sz="1700"/>
              <a:t>select </a:t>
            </a:r>
            <a:r>
              <a:rPr i="1" lang="en-US" sz="1700"/>
              <a:t>name</a:t>
            </a:r>
            <a:r>
              <a:rPr lang="en-US" sz="1700"/>
              <a:t>,</a:t>
            </a:r>
            <a:r>
              <a:rPr i="1" lang="en-US" sz="1700"/>
              <a:t> course_id</a:t>
            </a:r>
            <a:br>
              <a:rPr i="1" lang="en-US" sz="1700"/>
            </a:br>
            <a:r>
              <a:rPr b="1" lang="en-US" sz="1700"/>
              <a:t>from </a:t>
            </a:r>
            <a:r>
              <a:rPr i="1" lang="en-US" sz="1700"/>
              <a:t>student </a:t>
            </a:r>
            <a:r>
              <a:rPr b="1" lang="en-US" sz="1700"/>
              <a:t>natural join </a:t>
            </a:r>
            <a:r>
              <a:rPr i="1" lang="en-US" sz="1700"/>
              <a:t>takes</a:t>
            </a:r>
            <a:r>
              <a:rPr lang="en-US" sz="1700"/>
              <a:t>;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Natural Join in SQL (Cont.)</a:t>
            </a:r>
            <a:endParaRPr/>
          </a:p>
        </p:txBody>
      </p:sp>
      <p:sp>
        <p:nvSpPr>
          <p:cNvPr id="106" name="Google Shape;106;p5"/>
          <p:cNvSpPr txBox="1"/>
          <p:nvPr>
            <p:ph idx="1" type="body"/>
          </p:nvPr>
        </p:nvSpPr>
        <p:spPr>
          <a:xfrm>
            <a:off x="768351" y="1225297"/>
            <a:ext cx="7638802" cy="3541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The </a:t>
            </a:r>
            <a:r>
              <a:rPr b="1" lang="en-US" sz="1700"/>
              <a:t>from</a:t>
            </a:r>
            <a:r>
              <a:rPr lang="en-US" sz="1700"/>
              <a:t> clause can have multiple relations combined using natural join: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rPr b="1" lang="en-US" sz="1700"/>
              <a:t>     select </a:t>
            </a:r>
            <a:r>
              <a:rPr i="1" lang="en-US" sz="1700"/>
              <a:t> A</a:t>
            </a:r>
            <a:r>
              <a:rPr baseline="-25000" i="1" lang="en-US" sz="1700"/>
              <a:t>1</a:t>
            </a:r>
            <a:r>
              <a:rPr i="1" lang="en-US" sz="1700"/>
              <a:t>, A</a:t>
            </a:r>
            <a:r>
              <a:rPr baseline="-25000" i="1" lang="en-US" sz="1700"/>
              <a:t>2</a:t>
            </a:r>
            <a:r>
              <a:rPr i="1" lang="en-US" sz="1700"/>
              <a:t>, … A</a:t>
            </a:r>
            <a:r>
              <a:rPr baseline="-25000" i="1" lang="en-US" sz="1700"/>
              <a:t>n</a:t>
            </a:r>
            <a:br>
              <a:rPr i="1" lang="en-US" sz="1700"/>
            </a:br>
            <a:r>
              <a:rPr b="1" lang="en-US" sz="1700"/>
              <a:t>from </a:t>
            </a:r>
            <a:r>
              <a:rPr i="1" lang="en-US" sz="1700"/>
              <a:t> r</a:t>
            </a:r>
            <a:r>
              <a:rPr baseline="-25000" i="1" lang="en-US" sz="1700"/>
              <a:t>1</a:t>
            </a:r>
            <a:r>
              <a:rPr i="1" lang="en-US" sz="1700"/>
              <a:t>  </a:t>
            </a:r>
            <a:r>
              <a:rPr b="1" lang="en-US" sz="1700"/>
              <a:t>natural join </a:t>
            </a:r>
            <a:r>
              <a:rPr i="1" lang="en-US" sz="1700"/>
              <a:t>r</a:t>
            </a:r>
            <a:r>
              <a:rPr baseline="-25000" i="1" lang="en-US" sz="1700"/>
              <a:t>2</a:t>
            </a:r>
            <a:r>
              <a:rPr i="1" lang="en-US" sz="1700"/>
              <a:t> </a:t>
            </a:r>
            <a:r>
              <a:rPr b="1" lang="en-US" sz="1700"/>
              <a:t>natural join </a:t>
            </a:r>
            <a:r>
              <a:rPr b="1" i="1" lang="en-US" sz="1700"/>
              <a:t>.. </a:t>
            </a:r>
            <a:r>
              <a:rPr b="1" lang="en-US" sz="1700"/>
              <a:t>natural join </a:t>
            </a:r>
            <a:r>
              <a:rPr lang="en-US" sz="1700"/>
              <a:t>r</a:t>
            </a:r>
            <a:r>
              <a:rPr baseline="-25000" lang="en-US" sz="1700"/>
              <a:t>n</a:t>
            </a:r>
            <a:br>
              <a:rPr i="1" lang="en-US" sz="1700"/>
            </a:br>
            <a:r>
              <a:rPr b="1" lang="en-US" sz="1700"/>
              <a:t>where  </a:t>
            </a:r>
            <a:r>
              <a:rPr i="1" lang="en-US" sz="1700"/>
              <a:t>P </a:t>
            </a:r>
            <a:r>
              <a:rPr lang="en-US" sz="1700"/>
              <a:t>;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1700"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Arial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Student Relation</a:t>
            </a:r>
            <a:endParaRPr/>
          </a:p>
        </p:txBody>
      </p:sp>
      <p:pic>
        <p:nvPicPr>
          <p:cNvPr descr="W:\db-book\db7\slide-dir\Tables-Figures\EPS-PDF-JPG-dir\tables\student.jpg" id="113" name="Google Shape;1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1020" y="1592317"/>
            <a:ext cx="4623768" cy="411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Takes Relation</a:t>
            </a:r>
            <a:endParaRPr/>
          </a:p>
        </p:txBody>
      </p:sp>
      <p:pic>
        <p:nvPicPr>
          <p:cNvPr descr="C:\Users\as668\Desktop\Judi-Done\4_02.jpg" id="120" name="Google Shape;1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2303" y="1182414"/>
            <a:ext cx="4259678" cy="512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/>
              <a:t>student</a:t>
            </a:r>
            <a:r>
              <a:rPr lang="en-US" sz="2800"/>
              <a:t> natural join </a:t>
            </a:r>
            <a:r>
              <a:rPr b="0" i="1" lang="en-US" sz="2800"/>
              <a:t>takes</a:t>
            </a:r>
            <a:endParaRPr/>
          </a:p>
        </p:txBody>
      </p:sp>
      <p:pic>
        <p:nvPicPr>
          <p:cNvPr descr="C:\Users\as668\Desktop\Judi-Done\4_03.jpg" id="127" name="Google Shape;1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9865" y="1176594"/>
            <a:ext cx="5743521" cy="4771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Dangerous in Natural Join</a:t>
            </a: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768351" y="1103201"/>
            <a:ext cx="7668514" cy="4944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Beware of unrelated attributes with same name which get equated incorrectly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 Example -- List the names of students instructors along with the titles of courses that they have taken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 sz="1700"/>
              <a:t>Correct version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rPr b="1" lang="en-US" sz="1700"/>
              <a:t>           select </a:t>
            </a:r>
            <a:r>
              <a:rPr i="1" lang="en-US" sz="1700"/>
              <a:t>name</a:t>
            </a:r>
            <a:r>
              <a:rPr lang="en-US" sz="1700"/>
              <a:t>, </a:t>
            </a:r>
            <a:r>
              <a:rPr i="1" lang="en-US" sz="1700"/>
              <a:t>title</a:t>
            </a:r>
            <a:br>
              <a:rPr i="1" lang="en-US" sz="1700"/>
            </a:br>
            <a:r>
              <a:rPr i="1" lang="en-US" sz="1700"/>
              <a:t>       </a:t>
            </a:r>
            <a:r>
              <a:rPr b="1" lang="en-US" sz="1700"/>
              <a:t>from </a:t>
            </a:r>
            <a:r>
              <a:rPr i="1" lang="en-US" sz="1700"/>
              <a:t>student </a:t>
            </a:r>
            <a:r>
              <a:rPr b="1" lang="en-US" sz="1700"/>
              <a:t>natural join </a:t>
            </a:r>
            <a:r>
              <a:rPr i="1" lang="en-US" sz="1700"/>
              <a:t>takes</a:t>
            </a:r>
            <a:r>
              <a:rPr lang="en-US" sz="1700"/>
              <a:t>, </a:t>
            </a:r>
            <a:r>
              <a:rPr i="1" lang="en-US" sz="1700"/>
              <a:t>course</a:t>
            </a:r>
            <a:br>
              <a:rPr i="1" lang="en-US" sz="1700"/>
            </a:br>
            <a:r>
              <a:rPr i="1" lang="en-US" sz="1700"/>
              <a:t>       </a:t>
            </a:r>
            <a:r>
              <a:rPr b="1" lang="en-US" sz="1700"/>
              <a:t>where </a:t>
            </a:r>
            <a:r>
              <a:rPr i="1" lang="en-US" sz="1700"/>
              <a:t>takes</a:t>
            </a:r>
            <a:r>
              <a:rPr lang="en-US" sz="1700"/>
              <a:t>.</a:t>
            </a:r>
            <a:r>
              <a:rPr i="1" lang="en-US" sz="1700"/>
              <a:t>course_id </a:t>
            </a:r>
            <a:r>
              <a:rPr lang="en-US" sz="1700"/>
              <a:t>= </a:t>
            </a:r>
            <a:r>
              <a:rPr i="1" lang="en-US" sz="1700"/>
              <a:t>course</a:t>
            </a:r>
            <a:r>
              <a:rPr lang="en-US" sz="1700"/>
              <a:t>.</a:t>
            </a:r>
            <a:r>
              <a:rPr i="1" lang="en-US" sz="1700"/>
              <a:t>course_id</a:t>
            </a:r>
            <a:r>
              <a:rPr lang="en-US" sz="1700"/>
              <a:t>;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 sz="1700"/>
              <a:t>Incorrect version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Font typeface="Arimo"/>
              <a:buNone/>
            </a:pPr>
            <a:r>
              <a:rPr b="1" lang="en-US" sz="1700"/>
              <a:t>       select </a:t>
            </a:r>
            <a:r>
              <a:rPr i="1" lang="en-US" sz="1700"/>
              <a:t>name</a:t>
            </a:r>
            <a:r>
              <a:rPr lang="en-US" sz="1700"/>
              <a:t>, </a:t>
            </a:r>
            <a:r>
              <a:rPr i="1" lang="en-US" sz="1700"/>
              <a:t>title</a:t>
            </a:r>
            <a:br>
              <a:rPr i="1" lang="en-US" sz="1700"/>
            </a:br>
            <a:r>
              <a:rPr i="1" lang="en-US" sz="1700"/>
              <a:t>   </a:t>
            </a:r>
            <a:r>
              <a:rPr b="1" lang="en-US" sz="1700"/>
              <a:t>from </a:t>
            </a:r>
            <a:r>
              <a:rPr i="1" lang="en-US" sz="1700"/>
              <a:t>student </a:t>
            </a:r>
            <a:r>
              <a:rPr b="1" lang="en-US" sz="1700"/>
              <a:t>natural join </a:t>
            </a:r>
            <a:r>
              <a:rPr i="1" lang="en-US" sz="1700"/>
              <a:t>takes </a:t>
            </a:r>
            <a:r>
              <a:rPr b="1" lang="en-US" sz="1700"/>
              <a:t>natural join </a:t>
            </a:r>
            <a:r>
              <a:rPr i="1" lang="en-US" sz="1700"/>
              <a:t>course</a:t>
            </a:r>
            <a:r>
              <a:rPr lang="en-US" sz="1700"/>
              <a:t>;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 sz="1700"/>
              <a:t>This query omits all (student name, course title) pairs where the student takes a course in a department other than the student's own department. </a:t>
            </a:r>
            <a:endParaRPr/>
          </a:p>
          <a:p>
            <a:pPr indent="-228600" lvl="2" marL="1085850" rtl="0" algn="l">
              <a:spcBef>
                <a:spcPts val="595"/>
              </a:spcBef>
              <a:spcAft>
                <a:spcPts val="0"/>
              </a:spcAft>
              <a:buSzPts val="1445"/>
              <a:buChar char="▪"/>
            </a:pPr>
            <a:r>
              <a:rPr lang="en-US" sz="1700"/>
              <a:t>The  correct  version (above), correctly outputs such pairs.</a:t>
            </a:r>
            <a:endParaRPr/>
          </a:p>
          <a:p>
            <a:pPr indent="-173990" lvl="1" marL="742950" rtl="0" algn="l">
              <a:spcBef>
                <a:spcPts val="56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 sz="1600"/>
          </a:p>
          <a:p>
            <a:pPr indent="-167005" lvl="1" marL="74295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Natural Join with Using Clause</a:t>
            </a:r>
            <a:endParaRPr sz="2800"/>
          </a:p>
        </p:txBody>
      </p:sp>
      <p:sp>
        <p:nvSpPr>
          <p:cNvPr id="141" name="Google Shape;141;p10"/>
          <p:cNvSpPr txBox="1"/>
          <p:nvPr>
            <p:ph idx="1" type="body"/>
          </p:nvPr>
        </p:nvSpPr>
        <p:spPr>
          <a:xfrm>
            <a:off x="768351" y="1118175"/>
            <a:ext cx="7745334" cy="3014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lang="en-US" sz="1700"/>
              <a:t>To avoid the danger of equating attributes erroneously, we can use the “</a:t>
            </a:r>
            <a:r>
              <a:rPr b="1" lang="en-US" sz="1700"/>
              <a:t>using</a:t>
            </a:r>
            <a:r>
              <a:rPr lang="en-US" sz="1700"/>
              <a:t>” construct that allows us to specify exactly which columns should be equated.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 sz="1700"/>
              <a:t>Query example</a:t>
            </a:r>
            <a:endParaRPr i="1" sz="1700"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rPr i="1" lang="en-US" sz="1700"/>
              <a:t>        </a:t>
            </a:r>
            <a:r>
              <a:rPr b="1" lang="en-US" sz="1700"/>
              <a:t>select </a:t>
            </a:r>
            <a:r>
              <a:rPr i="1" lang="en-US" sz="1700"/>
              <a:t>name</a:t>
            </a:r>
            <a:r>
              <a:rPr lang="en-US" sz="1700"/>
              <a:t>, </a:t>
            </a:r>
            <a:r>
              <a:rPr i="1" lang="en-US" sz="1700"/>
              <a:t>title</a:t>
            </a:r>
            <a:br>
              <a:rPr i="1" lang="en-US" sz="1700"/>
            </a:br>
            <a:r>
              <a:rPr i="1" lang="en-US" sz="1700"/>
              <a:t>   </a:t>
            </a:r>
            <a:r>
              <a:rPr b="1" lang="en-US" sz="1700"/>
              <a:t>from  </a:t>
            </a:r>
            <a:r>
              <a:rPr lang="en-US" sz="1700"/>
              <a:t>(</a:t>
            </a:r>
            <a:r>
              <a:rPr i="1" lang="en-US" sz="1700"/>
              <a:t>student </a:t>
            </a:r>
            <a:r>
              <a:rPr b="1" lang="en-US" sz="1700"/>
              <a:t>natural join </a:t>
            </a:r>
            <a:r>
              <a:rPr i="1" lang="en-US" sz="1700"/>
              <a:t>takes</a:t>
            </a:r>
            <a:r>
              <a:rPr lang="en-US" sz="1700"/>
              <a:t>) </a:t>
            </a:r>
            <a:r>
              <a:rPr b="1" lang="en-US" sz="1700"/>
              <a:t> join </a:t>
            </a:r>
            <a:r>
              <a:rPr i="1" lang="en-US" sz="1700"/>
              <a:t>course</a:t>
            </a:r>
            <a:r>
              <a:rPr lang="en-US" sz="1700"/>
              <a:t> </a:t>
            </a:r>
            <a:r>
              <a:rPr b="1" lang="en-US" sz="1700"/>
              <a:t>using </a:t>
            </a:r>
            <a:r>
              <a:rPr lang="en-US" sz="1700"/>
              <a:t>(</a:t>
            </a:r>
            <a:r>
              <a:rPr i="1" lang="en-US" sz="1700"/>
              <a:t>course_id</a:t>
            </a:r>
            <a:r>
              <a:rPr lang="en-US" sz="1700"/>
              <a:t>)</a:t>
            </a:r>
            <a:endParaRPr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Join Condition</a:t>
            </a:r>
            <a:endParaRPr sz="2800"/>
          </a:p>
        </p:txBody>
      </p:sp>
      <p:sp>
        <p:nvSpPr>
          <p:cNvPr id="148" name="Google Shape;148;p11"/>
          <p:cNvSpPr txBox="1"/>
          <p:nvPr>
            <p:ph idx="1" type="body"/>
          </p:nvPr>
        </p:nvSpPr>
        <p:spPr>
          <a:xfrm>
            <a:off x="768351" y="1093790"/>
            <a:ext cx="7621047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lang="en-US" sz="1700"/>
              <a:t>The  </a:t>
            </a:r>
            <a:r>
              <a:rPr b="1" lang="en-US" sz="1700"/>
              <a:t>on </a:t>
            </a:r>
            <a:r>
              <a:rPr lang="en-US" sz="1700"/>
              <a:t> condition allows a general predicate over the relations being  joined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 sz="1700"/>
              <a:t>This predicate is written like a </a:t>
            </a:r>
            <a:r>
              <a:rPr b="1" lang="en-US" sz="1700"/>
              <a:t>where</a:t>
            </a:r>
            <a:r>
              <a:rPr lang="en-US" sz="1700"/>
              <a:t> clause predicate except for the use of the keyword </a:t>
            </a:r>
            <a:r>
              <a:rPr b="1" lang="en-US" sz="1700"/>
              <a:t>on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 sz="1700"/>
              <a:t>Query example</a:t>
            </a:r>
            <a:endParaRPr i="1" sz="1700"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rPr b="1" lang="en-US" sz="1700"/>
              <a:t>          select *</a:t>
            </a:r>
            <a:br>
              <a:rPr i="1" lang="en-US" sz="1700"/>
            </a:br>
            <a:r>
              <a:rPr i="1" lang="en-US" sz="1700"/>
              <a:t>     </a:t>
            </a:r>
            <a:r>
              <a:rPr b="1" lang="en-US" sz="1700"/>
              <a:t>from  </a:t>
            </a:r>
            <a:r>
              <a:rPr i="1" lang="en-US" sz="1700"/>
              <a:t>student </a:t>
            </a:r>
            <a:r>
              <a:rPr b="1" lang="en-US" sz="1700"/>
              <a:t>join </a:t>
            </a:r>
            <a:r>
              <a:rPr i="1" lang="en-US" sz="1700"/>
              <a:t>takes</a:t>
            </a:r>
            <a:r>
              <a:rPr lang="en-US" sz="1700"/>
              <a:t> </a:t>
            </a:r>
            <a:r>
              <a:rPr b="1" lang="en-US" sz="1700"/>
              <a:t>on </a:t>
            </a:r>
            <a:r>
              <a:rPr i="1" lang="en-US" sz="1700"/>
              <a:t>student_ID</a:t>
            </a:r>
            <a:r>
              <a:rPr b="1" lang="en-US" sz="1700"/>
              <a:t>  </a:t>
            </a:r>
            <a:r>
              <a:rPr lang="en-US" sz="1700"/>
              <a:t>=</a:t>
            </a:r>
            <a:r>
              <a:rPr b="1" lang="en-US" sz="1700"/>
              <a:t> </a:t>
            </a:r>
            <a:r>
              <a:rPr i="1" lang="en-US" sz="1700"/>
              <a:t>takes_ID</a:t>
            </a:r>
            <a:endParaRPr i="1" sz="1700"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 sz="1700"/>
              <a:t>The </a:t>
            </a:r>
            <a:r>
              <a:rPr b="1" lang="en-US" sz="1700"/>
              <a:t>on</a:t>
            </a:r>
            <a:r>
              <a:rPr lang="en-US" sz="1700"/>
              <a:t> condition above specifies that a tuple from </a:t>
            </a:r>
            <a:r>
              <a:rPr i="1" lang="en-US" sz="1700"/>
              <a:t>student</a:t>
            </a:r>
            <a:r>
              <a:rPr lang="en-US" sz="1700"/>
              <a:t> matches a tuple from </a:t>
            </a:r>
            <a:r>
              <a:rPr i="1" lang="en-US" sz="1700"/>
              <a:t>takes</a:t>
            </a:r>
            <a:r>
              <a:rPr lang="en-US" sz="1700"/>
              <a:t> if their </a:t>
            </a:r>
            <a:r>
              <a:rPr i="1" lang="en-US" sz="1700"/>
              <a:t>ID</a:t>
            </a:r>
            <a:r>
              <a:rPr lang="en-US" sz="1700"/>
              <a:t> values are equal.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 sz="1700"/>
              <a:t>Equivalent to: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rPr b="1" lang="en-US" sz="1700"/>
              <a:t>             select *</a:t>
            </a:r>
            <a:br>
              <a:rPr i="1" lang="en-US" sz="1700"/>
            </a:br>
            <a:r>
              <a:rPr i="1" lang="en-US" sz="1700"/>
              <a:t>        </a:t>
            </a:r>
            <a:r>
              <a:rPr b="1" lang="en-US" sz="1700"/>
              <a:t>from  </a:t>
            </a:r>
            <a:r>
              <a:rPr i="1" lang="en-US" sz="1700"/>
              <a:t>student , takes</a:t>
            </a:r>
            <a:r>
              <a:rPr lang="en-US" sz="1700"/>
              <a:t> </a:t>
            </a:r>
            <a:br>
              <a:rPr i="1" lang="en-US" sz="1700"/>
            </a:br>
            <a:r>
              <a:rPr i="1" lang="en-US" sz="1700"/>
              <a:t>        </a:t>
            </a:r>
            <a:r>
              <a:rPr b="1" lang="en-US" sz="1700"/>
              <a:t>where  </a:t>
            </a:r>
            <a:r>
              <a:rPr i="1" lang="en-US" sz="1700"/>
              <a:t>student_ID</a:t>
            </a:r>
            <a:r>
              <a:rPr b="1" lang="en-US" sz="1700"/>
              <a:t>  </a:t>
            </a:r>
            <a:r>
              <a:rPr lang="en-US" sz="1700"/>
              <a:t>=</a:t>
            </a:r>
            <a:r>
              <a:rPr b="1" lang="en-US" sz="1700"/>
              <a:t> </a:t>
            </a:r>
            <a:r>
              <a:rPr i="1" lang="en-US" sz="1700"/>
              <a:t>takes_ID</a:t>
            </a:r>
            <a:endParaRPr sz="1700"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i="1"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Join Condition (Cont.)</a:t>
            </a:r>
            <a:endParaRPr sz="2800"/>
          </a:p>
        </p:txBody>
      </p:sp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768351" y="1093791"/>
            <a:ext cx="7700946" cy="4685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lang="en-US" sz="1700"/>
              <a:t>The  </a:t>
            </a:r>
            <a:r>
              <a:rPr b="1" lang="en-US" sz="1700"/>
              <a:t>on </a:t>
            </a:r>
            <a:r>
              <a:rPr lang="en-US" sz="1700"/>
              <a:t> condition allows a general predicate over the relations being joined.  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 sz="1700"/>
              <a:t>This predicate is written like a </a:t>
            </a:r>
            <a:r>
              <a:rPr b="1" lang="en-US" sz="1700"/>
              <a:t>where</a:t>
            </a:r>
            <a:r>
              <a:rPr lang="en-US" sz="1700"/>
              <a:t> clause predicate except for the use of the keyword </a:t>
            </a:r>
            <a:r>
              <a:rPr b="1" lang="en-US" sz="1700"/>
              <a:t>on</a:t>
            </a:r>
            <a:r>
              <a:rPr lang="en-US" sz="1700"/>
              <a:t>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 sz="1700"/>
              <a:t>Query example</a:t>
            </a:r>
            <a:endParaRPr i="1" sz="1700"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rPr i="1" lang="en-US" sz="1700"/>
              <a:t>        </a:t>
            </a:r>
            <a:r>
              <a:rPr b="1" lang="en-US" sz="1700"/>
              <a:t>select *</a:t>
            </a:r>
            <a:br>
              <a:rPr i="1" lang="en-US" sz="1700"/>
            </a:br>
            <a:r>
              <a:rPr i="1" lang="en-US" sz="1700"/>
              <a:t>   </a:t>
            </a:r>
            <a:r>
              <a:rPr b="1" lang="en-US" sz="1700"/>
              <a:t>from  </a:t>
            </a:r>
            <a:r>
              <a:rPr i="1" lang="en-US" sz="1700"/>
              <a:t>student </a:t>
            </a:r>
            <a:r>
              <a:rPr b="1" lang="en-US" sz="1700"/>
              <a:t>join </a:t>
            </a:r>
            <a:r>
              <a:rPr i="1" lang="en-US" sz="1700"/>
              <a:t>takes</a:t>
            </a:r>
            <a:r>
              <a:rPr lang="en-US" sz="1700"/>
              <a:t> </a:t>
            </a:r>
            <a:r>
              <a:rPr b="1" lang="en-US" sz="1700"/>
              <a:t>on </a:t>
            </a:r>
            <a:r>
              <a:rPr i="1" lang="en-US" sz="1700"/>
              <a:t>student_ID</a:t>
            </a:r>
            <a:r>
              <a:rPr b="1" lang="en-US" sz="1700"/>
              <a:t>  </a:t>
            </a:r>
            <a:r>
              <a:rPr lang="en-US" sz="1700"/>
              <a:t>=</a:t>
            </a:r>
            <a:r>
              <a:rPr b="1" lang="en-US" sz="1700"/>
              <a:t> </a:t>
            </a:r>
            <a:r>
              <a:rPr i="1" lang="en-US" sz="1700"/>
              <a:t>takes_ID</a:t>
            </a:r>
            <a:endParaRPr i="1" sz="1700"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 sz="1700"/>
              <a:t>The </a:t>
            </a:r>
            <a:r>
              <a:rPr b="1" lang="en-US" sz="1700"/>
              <a:t>on</a:t>
            </a:r>
            <a:r>
              <a:rPr lang="en-US" sz="1700"/>
              <a:t> condition above specifies that a tuple from </a:t>
            </a:r>
            <a:r>
              <a:rPr i="1" lang="en-US" sz="1700"/>
              <a:t>student</a:t>
            </a:r>
            <a:r>
              <a:rPr lang="en-US" sz="1700"/>
              <a:t> matches a tuple from </a:t>
            </a:r>
            <a:r>
              <a:rPr i="1" lang="en-US" sz="1700"/>
              <a:t>takes</a:t>
            </a:r>
            <a:r>
              <a:rPr lang="en-US" sz="1700"/>
              <a:t> if their </a:t>
            </a:r>
            <a:r>
              <a:rPr i="1" lang="en-US" sz="1700"/>
              <a:t>ID</a:t>
            </a:r>
            <a:r>
              <a:rPr lang="en-US" sz="1700"/>
              <a:t> values are equal.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 sz="1700"/>
              <a:t>Equivalent to: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rPr b="1" lang="en-US" sz="1700"/>
              <a:t>        select *</a:t>
            </a:r>
            <a:br>
              <a:rPr i="1" lang="en-US" sz="1700"/>
            </a:br>
            <a:r>
              <a:rPr i="1" lang="en-US" sz="1700"/>
              <a:t>   </a:t>
            </a:r>
            <a:r>
              <a:rPr b="1" lang="en-US" sz="1700"/>
              <a:t>from  </a:t>
            </a:r>
            <a:r>
              <a:rPr i="1" lang="en-US" sz="1700"/>
              <a:t>student , takes</a:t>
            </a:r>
            <a:r>
              <a:rPr lang="en-US" sz="1700"/>
              <a:t> </a:t>
            </a:r>
            <a:br>
              <a:rPr i="1" lang="en-US" sz="1700"/>
            </a:br>
            <a:r>
              <a:rPr i="1" lang="en-US" sz="1700"/>
              <a:t>   </a:t>
            </a:r>
            <a:r>
              <a:rPr b="1" lang="en-US" sz="1700"/>
              <a:t>where  </a:t>
            </a:r>
            <a:r>
              <a:rPr i="1" lang="en-US" sz="1700"/>
              <a:t>student_ID</a:t>
            </a:r>
            <a:r>
              <a:rPr b="1" lang="en-US" sz="1700"/>
              <a:t>  </a:t>
            </a:r>
            <a:r>
              <a:rPr lang="en-US" sz="1700"/>
              <a:t>=</a:t>
            </a:r>
            <a:r>
              <a:rPr b="1" lang="en-US" sz="1700"/>
              <a:t> </a:t>
            </a:r>
            <a:r>
              <a:rPr i="1" lang="en-US" sz="1700"/>
              <a:t>takes_ID</a:t>
            </a:r>
            <a:endParaRPr sz="1700"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i="1"/>
          </a:p>
          <a:p>
            <a:pPr indent="-224155" lvl="0" marL="342900" rtl="0" algn="l">
              <a:spcBef>
                <a:spcPts val="595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Outer Join</a:t>
            </a:r>
            <a:endParaRPr/>
          </a:p>
        </p:txBody>
      </p:sp>
      <p:sp>
        <p:nvSpPr>
          <p:cNvPr id="162" name="Google Shape;162;p13"/>
          <p:cNvSpPr txBox="1"/>
          <p:nvPr>
            <p:ph idx="1" type="body"/>
          </p:nvPr>
        </p:nvSpPr>
        <p:spPr>
          <a:xfrm>
            <a:off x="768350" y="1170533"/>
            <a:ext cx="7570979" cy="3779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An extension of the join operation that avoids loss of information.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Computes the join and then adds tuples form one relation that does not match tuples in the other relation to the result of the join. 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Uses </a:t>
            </a:r>
            <a:r>
              <a:rPr i="1" lang="en-US" sz="1700"/>
              <a:t>null</a:t>
            </a:r>
            <a:r>
              <a:rPr lang="en-US" sz="1700"/>
              <a:t> values.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Three forms of outer join: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 sz="1700"/>
              <a:t>left outer join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 sz="1700"/>
              <a:t>right outer join</a:t>
            </a:r>
            <a:endParaRPr/>
          </a:p>
          <a:p>
            <a:pPr indent="-285750" lvl="1" marL="742950" rtl="0" algn="l">
              <a:spcBef>
                <a:spcPts val="595"/>
              </a:spcBef>
              <a:spcAft>
                <a:spcPts val="0"/>
              </a:spcAft>
              <a:buSzPts val="1870"/>
              <a:buChar char="•"/>
            </a:pPr>
            <a:r>
              <a:rPr lang="en-US" sz="1700"/>
              <a:t>full outer join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Oracle Example</a:t>
            </a:r>
            <a:endParaRPr/>
          </a:p>
        </p:txBody>
      </p:sp>
      <p:pic>
        <p:nvPicPr>
          <p:cNvPr id="168" name="Google Shape;1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4717" y="1482237"/>
            <a:ext cx="4942697" cy="2298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Oracle Example</a:t>
            </a:r>
            <a:endParaRPr/>
          </a:p>
        </p:txBody>
      </p:sp>
      <p:pic>
        <p:nvPicPr>
          <p:cNvPr id="175" name="Google Shape;1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202" y="5616724"/>
            <a:ext cx="319087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507" y="1407943"/>
            <a:ext cx="4467225" cy="135255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pic>
        <p:nvPicPr>
          <p:cNvPr id="177" name="Google Shape;17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6790" y="1407943"/>
            <a:ext cx="2171700" cy="270510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Oracle LEFT [OUTER] JOIN</a:t>
            </a:r>
            <a:endParaRPr/>
          </a:p>
        </p:txBody>
      </p:sp>
      <p:pic>
        <p:nvPicPr>
          <p:cNvPr id="184" name="Google Shape;184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350" y="1209492"/>
            <a:ext cx="194310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7065" y="1353649"/>
            <a:ext cx="5200650" cy="149542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cxnSp>
        <p:nvCxnSpPr>
          <p:cNvPr id="186" name="Google Shape;186;p16"/>
          <p:cNvCxnSpPr/>
          <p:nvPr/>
        </p:nvCxnSpPr>
        <p:spPr>
          <a:xfrm flipH="1" rot="10800000">
            <a:off x="1433146" y="2101361"/>
            <a:ext cx="2022231" cy="158262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187" name="Google Shape;187;p16"/>
          <p:cNvCxnSpPr/>
          <p:nvPr/>
        </p:nvCxnSpPr>
        <p:spPr>
          <a:xfrm>
            <a:off x="2382715" y="1573825"/>
            <a:ext cx="2558562" cy="580292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pic>
        <p:nvPicPr>
          <p:cNvPr id="188" name="Google Shape;18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1100" y="3213407"/>
            <a:ext cx="2171700" cy="287655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Oracle LEFT [OUTER] JOIN</a:t>
            </a:r>
            <a:endParaRPr/>
          </a:p>
        </p:txBody>
      </p:sp>
      <p:pic>
        <p:nvPicPr>
          <p:cNvPr id="195" name="Google Shape;1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8815" y="1754812"/>
            <a:ext cx="2171700" cy="287655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196" name="Google Shape;196;p17"/>
          <p:cNvSpPr txBox="1"/>
          <p:nvPr/>
        </p:nvSpPr>
        <p:spPr>
          <a:xfrm>
            <a:off x="636269" y="3193087"/>
            <a:ext cx="3171825" cy="830997"/>
          </a:xfrm>
          <a:prstGeom prst="rect">
            <a:avLst/>
          </a:prstGeom>
          <a:gradFill>
            <a:gsLst>
              <a:gs pos="0">
                <a:srgbClr val="FFFF8D"/>
              </a:gs>
              <a:gs pos="35000">
                <a:srgbClr val="FFFFB0"/>
              </a:gs>
              <a:gs pos="100000">
                <a:srgbClr val="FFFFDF"/>
              </a:gs>
            </a:gsLst>
            <a:lin ang="16200000" scaled="0"/>
          </a:gradFill>
          <a:ln cap="flat" cmpd="sng" w="9525">
            <a:solidFill>
              <a:srgbClr val="CBCB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como obtengo empleados que no están asignados a un departamento?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7" name="Google Shape;19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270" y="1540981"/>
            <a:ext cx="317182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Oracle RIGHT [OUTER] JOIN</a:t>
            </a:r>
            <a:endParaRPr/>
          </a:p>
        </p:txBody>
      </p:sp>
      <p:pic>
        <p:nvPicPr>
          <p:cNvPr id="204" name="Google Shape;204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148" y="1323792"/>
            <a:ext cx="194310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8097" y="1323792"/>
            <a:ext cx="6345564" cy="1835968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pic>
        <p:nvPicPr>
          <p:cNvPr id="206" name="Google Shape;20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9585" y="3575050"/>
            <a:ext cx="2190750" cy="285750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Oracle RIGHT [OUTER] JOIN</a:t>
            </a:r>
            <a:endParaRPr/>
          </a:p>
        </p:txBody>
      </p:sp>
      <p:pic>
        <p:nvPicPr>
          <p:cNvPr id="213" name="Google Shape;2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6950" y="2792730"/>
            <a:ext cx="2190750" cy="285750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214" name="Google Shape;214;p19"/>
          <p:cNvSpPr txBox="1"/>
          <p:nvPr/>
        </p:nvSpPr>
        <p:spPr>
          <a:xfrm>
            <a:off x="422910" y="3037631"/>
            <a:ext cx="2468880" cy="830997"/>
          </a:xfrm>
          <a:prstGeom prst="rect">
            <a:avLst/>
          </a:prstGeom>
          <a:gradFill>
            <a:gsLst>
              <a:gs pos="0">
                <a:srgbClr val="FFFF8D"/>
              </a:gs>
              <a:gs pos="35000">
                <a:srgbClr val="FFFFB0"/>
              </a:gs>
              <a:gs pos="100000">
                <a:srgbClr val="FFFFDF"/>
              </a:gs>
            </a:gsLst>
            <a:lin ang="16200000" scaled="0"/>
          </a:gradFill>
          <a:ln cap="flat" cmpd="sng" w="9525">
            <a:solidFill>
              <a:srgbClr val="CBCB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como obtengo los departamentos que no tienen empleados?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5" name="Google Shape;2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608455"/>
            <a:ext cx="3200400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Oracle FULL [OUTER] JOIN</a:t>
            </a:r>
            <a:endParaRPr/>
          </a:p>
        </p:txBody>
      </p:sp>
      <p:pic>
        <p:nvPicPr>
          <p:cNvPr id="222" name="Google Shape;222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136" y="1133950"/>
            <a:ext cx="194310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2389" y="1280477"/>
            <a:ext cx="6119911" cy="1798003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pic>
        <p:nvPicPr>
          <p:cNvPr id="224" name="Google Shape;22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7457" y="3334702"/>
            <a:ext cx="2219325" cy="311467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Oracle FULL [OUTER] JOIN</a:t>
            </a:r>
            <a:endParaRPr/>
          </a:p>
        </p:txBody>
      </p:sp>
      <p:pic>
        <p:nvPicPr>
          <p:cNvPr id="231" name="Google Shape;2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2017" y="1516062"/>
            <a:ext cx="2219325" cy="311467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pic>
        <p:nvPicPr>
          <p:cNvPr id="232" name="Google Shape;23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672" y="1418590"/>
            <a:ext cx="31242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399256" y="2672982"/>
            <a:ext cx="2468880" cy="1323439"/>
          </a:xfrm>
          <a:prstGeom prst="rect">
            <a:avLst/>
          </a:prstGeom>
          <a:gradFill>
            <a:gsLst>
              <a:gs pos="0">
                <a:srgbClr val="FFFF8D"/>
              </a:gs>
              <a:gs pos="35000">
                <a:srgbClr val="FFFFB0"/>
              </a:gs>
              <a:gs pos="100000">
                <a:srgbClr val="FFFFDF"/>
              </a:gs>
            </a:gsLst>
            <a:lin ang="16200000" scaled="0"/>
          </a:gradFill>
          <a:ln cap="flat" cmpd="sng" w="9525">
            <a:solidFill>
              <a:srgbClr val="CBCB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como obtengo los departamentos que no tienen empleados y empleados sin departamento?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Oracle Cross join</a:t>
            </a:r>
            <a:endParaRPr/>
          </a:p>
        </p:txBody>
      </p:sp>
      <p:pic>
        <p:nvPicPr>
          <p:cNvPr id="240" name="Google Shape;240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264" y="1660049"/>
            <a:ext cx="2981325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6390" y="1660049"/>
            <a:ext cx="3922930" cy="2414111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Oracle Natural Join</a:t>
            </a:r>
            <a:endParaRPr/>
          </a:p>
        </p:txBody>
      </p:sp>
      <p:pic>
        <p:nvPicPr>
          <p:cNvPr id="248" name="Google Shape;2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1614" y="1132840"/>
            <a:ext cx="3777266" cy="223012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249" name="Google Shape;249;p23"/>
          <p:cNvSpPr/>
          <p:nvPr/>
        </p:nvSpPr>
        <p:spPr>
          <a:xfrm>
            <a:off x="1706880" y="4801900"/>
            <a:ext cx="4572000" cy="584775"/>
          </a:xfrm>
          <a:prstGeom prst="rect">
            <a:avLst/>
          </a:prstGeom>
          <a:gradFill>
            <a:gsLst>
              <a:gs pos="0">
                <a:srgbClr val="FFFF8D"/>
              </a:gs>
              <a:gs pos="35000">
                <a:srgbClr val="FFFFB0"/>
              </a:gs>
              <a:gs pos="100000">
                <a:srgbClr val="FFFFDF"/>
              </a:gs>
            </a:gsLst>
            <a:lin ang="16200000" scaled="0"/>
          </a:gradFill>
          <a:ln cap="flat" cmpd="sng" w="9525">
            <a:solidFill>
              <a:srgbClr val="CBCB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can't apply any aliased filters to columns used in natural joins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Oracle Using</a:t>
            </a:r>
            <a:endParaRPr/>
          </a:p>
        </p:txBody>
      </p:sp>
      <p:pic>
        <p:nvPicPr>
          <p:cNvPr id="256" name="Google Shape;2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8607" y="1615440"/>
            <a:ext cx="5725795" cy="216408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257" name="Google Shape;257;p24"/>
          <p:cNvSpPr/>
          <p:nvPr/>
        </p:nvSpPr>
        <p:spPr>
          <a:xfrm>
            <a:off x="1706880" y="4801900"/>
            <a:ext cx="4572000" cy="584775"/>
          </a:xfrm>
          <a:prstGeom prst="rect">
            <a:avLst/>
          </a:prstGeom>
          <a:gradFill>
            <a:gsLst>
              <a:gs pos="0">
                <a:srgbClr val="FFFF8D"/>
              </a:gs>
              <a:gs pos="35000">
                <a:srgbClr val="FFFFB0"/>
              </a:gs>
              <a:gs pos="100000">
                <a:srgbClr val="FFFFDF"/>
              </a:gs>
            </a:gsLst>
            <a:lin ang="16200000" scaled="0"/>
          </a:gradFill>
          <a:ln cap="flat" cmpd="sng" w="9525">
            <a:solidFill>
              <a:srgbClr val="CBCB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can't apply any aliased filters to columns used in natural joins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Joined Types and Conditions</a:t>
            </a:r>
            <a:endParaRPr/>
          </a:p>
        </p:txBody>
      </p:sp>
      <p:sp>
        <p:nvSpPr>
          <p:cNvPr id="264" name="Google Shape;264;p25"/>
          <p:cNvSpPr txBox="1"/>
          <p:nvPr>
            <p:ph idx="1" type="body"/>
          </p:nvPr>
        </p:nvSpPr>
        <p:spPr>
          <a:xfrm>
            <a:off x="768351" y="1106488"/>
            <a:ext cx="7436865" cy="224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 sz="1700">
                <a:solidFill>
                  <a:srgbClr val="002060"/>
                </a:solidFill>
              </a:rPr>
              <a:t>Join operations</a:t>
            </a:r>
            <a:r>
              <a:rPr lang="en-US" sz="1700">
                <a:solidFill>
                  <a:srgbClr val="002060"/>
                </a:solidFill>
              </a:rPr>
              <a:t> </a:t>
            </a:r>
            <a:r>
              <a:rPr lang="en-US" sz="1700"/>
              <a:t>take two relations and return as a result another relation.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lang="en-US" sz="1700"/>
              <a:t>These additional operations are typically used as subquery expressions in the </a:t>
            </a:r>
            <a:r>
              <a:rPr b="1" lang="en-US" sz="1700"/>
              <a:t>from </a:t>
            </a:r>
            <a:r>
              <a:rPr lang="en-US" sz="1700"/>
              <a:t>clause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 sz="1700">
                <a:solidFill>
                  <a:srgbClr val="002060"/>
                </a:solidFill>
              </a:rPr>
              <a:t>Join condition</a:t>
            </a:r>
            <a:r>
              <a:rPr lang="en-US" sz="1700">
                <a:solidFill>
                  <a:srgbClr val="002060"/>
                </a:solidFill>
              </a:rPr>
              <a:t> </a:t>
            </a:r>
            <a:r>
              <a:rPr lang="en-US" sz="1700"/>
              <a:t>– defines which tuples in the two relations match.</a:t>
            </a:r>
            <a:endParaRPr sz="1700"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Font typeface="Noto Sans Symbols"/>
              <a:buChar char="▪"/>
            </a:pPr>
            <a:r>
              <a:rPr b="1" lang="en-US" sz="1700">
                <a:solidFill>
                  <a:srgbClr val="002060"/>
                </a:solidFill>
              </a:rPr>
              <a:t>Join type</a:t>
            </a:r>
            <a:r>
              <a:rPr lang="en-US" sz="1700">
                <a:solidFill>
                  <a:srgbClr val="002060"/>
                </a:solidFill>
              </a:rPr>
              <a:t> </a:t>
            </a:r>
            <a:r>
              <a:rPr lang="en-US" sz="1700"/>
              <a:t>– defines how tuples in each relation that do not match any tuple in the other relation (based on the join condition) are treated.</a:t>
            </a:r>
            <a:endParaRPr/>
          </a:p>
        </p:txBody>
      </p:sp>
      <p:pic>
        <p:nvPicPr>
          <p:cNvPr descr="C:\Users\as668\Desktop\4_07.jpg" id="265" name="Google Shape;2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6335" y="3438144"/>
            <a:ext cx="4840315" cy="1366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Bibliografía</a:t>
            </a:r>
            <a:endParaRPr/>
          </a:p>
        </p:txBody>
      </p:sp>
      <p:sp>
        <p:nvSpPr>
          <p:cNvPr id="271" name="Google Shape;271;p26"/>
          <p:cNvSpPr txBox="1"/>
          <p:nvPr>
            <p:ph idx="1" type="body"/>
          </p:nvPr>
        </p:nvSpPr>
        <p:spPr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Modern Database Management.10th Edition.Jeffrey A. Hoffer, V. Ramesh, Heikki Topi.2021 Pearson Education, Inc.  Publishing as Prentice Hall.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Database System Concepts.Avi Silberschatz , Henry F. Korth , S. Sudarshan.McGraw-Hill.  2019.</a:t>
            </a:r>
            <a:endParaRPr/>
          </a:p>
          <a:p>
            <a:pPr indent="-342900" lvl="0" marL="342900" rtl="0" algn="l">
              <a:spcBef>
                <a:spcPts val="595"/>
              </a:spcBef>
              <a:spcAft>
                <a:spcPts val="0"/>
              </a:spcAft>
              <a:buSzPts val="1870"/>
              <a:buChar char="▪"/>
            </a:pPr>
            <a:r>
              <a:rPr lang="en-US"/>
              <a:t>Sistemas de Bases de Datos. Thomas M. Conolly, Carolyn E. Begg. Addison Wesley. 4 edición. 2018 </a:t>
            </a:r>
            <a:endParaRPr/>
          </a:p>
        </p:txBody>
      </p:sp>
      <p:sp>
        <p:nvSpPr>
          <p:cNvPr id="272" name="Google Shape;272;p26"/>
          <p:cNvSpPr txBox="1"/>
          <p:nvPr>
            <p:ph idx="4294967295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2009-12-21T15:40:22Z</dcterms:created>
  <dc:creator>Marilyn Turnamian</dc:creator>
</cp:coreProperties>
</file>