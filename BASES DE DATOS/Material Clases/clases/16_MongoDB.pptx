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405" r:id="rId5"/>
    <p:sldId id="406" r:id="rId6"/>
    <p:sldId id="407" r:id="rId7"/>
    <p:sldId id="259" r:id="rId8"/>
    <p:sldId id="260" r:id="rId9"/>
    <p:sldId id="261" r:id="rId10"/>
    <p:sldId id="264" r:id="rId11"/>
    <p:sldId id="263" r:id="rId12"/>
    <p:sldId id="380" r:id="rId13"/>
    <p:sldId id="410" r:id="rId14"/>
    <p:sldId id="408" r:id="rId15"/>
    <p:sldId id="265" r:id="rId16"/>
    <p:sldId id="411" r:id="rId17"/>
    <p:sldId id="412" r:id="rId18"/>
    <p:sldId id="270" r:id="rId1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1A2F08-CDFF-4AF0-A32E-AD1C07B380A4}" type="datetimeFigureOut">
              <a:rPr lang="es-CO" smtClean="0"/>
              <a:t>17/06/2021</a:t>
            </a:fld>
            <a:endParaRPr lang="es-C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E8EEAE-BCCA-4131-88A8-11032189B7B3}" type="slidenum">
              <a:rPr lang="es-CO" smtClean="0"/>
              <a:t>‹#›</a:t>
            </a:fld>
            <a:endParaRPr lang="es-CO"/>
          </a:p>
        </p:txBody>
      </p:sp>
    </p:spTree>
    <p:extLst>
      <p:ext uri="{BB962C8B-B14F-4D97-AF65-F5344CB8AC3E}">
        <p14:creationId xmlns:p14="http://schemas.microsoft.com/office/powerpoint/2010/main" val="1982043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23597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CO"/>
          </a:p>
        </p:txBody>
      </p:sp>
      <p:sp>
        <p:nvSpPr>
          <p:cNvPr id="4" name="Marcador de fecha 3"/>
          <p:cNvSpPr>
            <a:spLocks noGrp="1"/>
          </p:cNvSpPr>
          <p:nvPr>
            <p:ph type="dt" sz="half" idx="10"/>
          </p:nvPr>
        </p:nvSpPr>
        <p:spPr/>
        <p:txBody>
          <a:bodyPr/>
          <a:lstStyle/>
          <a:p>
            <a:fld id="{83CFCAEF-41D7-46B6-BAAA-5B85C22016E4}" type="datetimeFigureOut">
              <a:rPr lang="es-CO" smtClean="0"/>
              <a:t>17/06/2021</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3160D526-8DA4-49D4-9609-17059FC3A47C}" type="slidenum">
              <a:rPr lang="es-CO" smtClean="0"/>
              <a:t>‹#›</a:t>
            </a:fld>
            <a:endParaRPr lang="es-CO"/>
          </a:p>
        </p:txBody>
      </p:sp>
    </p:spTree>
    <p:extLst>
      <p:ext uri="{BB962C8B-B14F-4D97-AF65-F5344CB8AC3E}">
        <p14:creationId xmlns:p14="http://schemas.microsoft.com/office/powerpoint/2010/main" val="857985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83CFCAEF-41D7-46B6-BAAA-5B85C22016E4}" type="datetimeFigureOut">
              <a:rPr lang="es-CO" smtClean="0"/>
              <a:t>17/06/2021</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3160D526-8DA4-49D4-9609-17059FC3A47C}" type="slidenum">
              <a:rPr lang="es-CO" smtClean="0"/>
              <a:t>‹#›</a:t>
            </a:fld>
            <a:endParaRPr lang="es-CO"/>
          </a:p>
        </p:txBody>
      </p:sp>
    </p:spTree>
    <p:extLst>
      <p:ext uri="{BB962C8B-B14F-4D97-AF65-F5344CB8AC3E}">
        <p14:creationId xmlns:p14="http://schemas.microsoft.com/office/powerpoint/2010/main" val="21067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83CFCAEF-41D7-46B6-BAAA-5B85C22016E4}" type="datetimeFigureOut">
              <a:rPr lang="es-CO" smtClean="0"/>
              <a:t>17/06/2021</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3160D526-8DA4-49D4-9609-17059FC3A47C}" type="slidenum">
              <a:rPr lang="es-CO" smtClean="0"/>
              <a:t>‹#›</a:t>
            </a:fld>
            <a:endParaRPr lang="es-CO"/>
          </a:p>
        </p:txBody>
      </p:sp>
    </p:spTree>
    <p:extLst>
      <p:ext uri="{BB962C8B-B14F-4D97-AF65-F5344CB8AC3E}">
        <p14:creationId xmlns:p14="http://schemas.microsoft.com/office/powerpoint/2010/main" val="1420030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fld id="{83CFCAEF-41D7-46B6-BAAA-5B85C22016E4}" type="datetimeFigureOut">
              <a:rPr lang="es-CO" smtClean="0"/>
              <a:t>17/06/2021</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3160D526-8DA4-49D4-9609-17059FC3A47C}" type="slidenum">
              <a:rPr lang="es-CO" smtClean="0"/>
              <a:t>‹#›</a:t>
            </a:fld>
            <a:endParaRPr lang="es-CO"/>
          </a:p>
        </p:txBody>
      </p:sp>
    </p:spTree>
    <p:extLst>
      <p:ext uri="{BB962C8B-B14F-4D97-AF65-F5344CB8AC3E}">
        <p14:creationId xmlns:p14="http://schemas.microsoft.com/office/powerpoint/2010/main" val="2769600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fld id="{83CFCAEF-41D7-46B6-BAAA-5B85C22016E4}" type="datetimeFigureOut">
              <a:rPr lang="es-CO" smtClean="0"/>
              <a:t>17/06/2021</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3160D526-8DA4-49D4-9609-17059FC3A47C}" type="slidenum">
              <a:rPr lang="es-CO" smtClean="0"/>
              <a:t>‹#›</a:t>
            </a:fld>
            <a:endParaRPr lang="es-CO"/>
          </a:p>
        </p:txBody>
      </p:sp>
    </p:spTree>
    <p:extLst>
      <p:ext uri="{BB962C8B-B14F-4D97-AF65-F5344CB8AC3E}">
        <p14:creationId xmlns:p14="http://schemas.microsoft.com/office/powerpoint/2010/main" val="1380799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fld id="{83CFCAEF-41D7-46B6-BAAA-5B85C22016E4}" type="datetimeFigureOut">
              <a:rPr lang="es-CO" smtClean="0"/>
              <a:t>17/06/2021</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3160D526-8DA4-49D4-9609-17059FC3A47C}" type="slidenum">
              <a:rPr lang="es-CO" smtClean="0"/>
              <a:t>‹#›</a:t>
            </a:fld>
            <a:endParaRPr lang="es-CO"/>
          </a:p>
        </p:txBody>
      </p:sp>
    </p:spTree>
    <p:extLst>
      <p:ext uri="{BB962C8B-B14F-4D97-AF65-F5344CB8AC3E}">
        <p14:creationId xmlns:p14="http://schemas.microsoft.com/office/powerpoint/2010/main" val="368567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83CFCAEF-41D7-46B6-BAAA-5B85C22016E4}" type="datetimeFigureOut">
              <a:rPr lang="es-CO" smtClean="0"/>
              <a:t>17/06/2021</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3160D526-8DA4-49D4-9609-17059FC3A47C}" type="slidenum">
              <a:rPr lang="es-CO" smtClean="0"/>
              <a:t>‹#›</a:t>
            </a:fld>
            <a:endParaRPr lang="es-CO"/>
          </a:p>
        </p:txBody>
      </p:sp>
    </p:spTree>
    <p:extLst>
      <p:ext uri="{BB962C8B-B14F-4D97-AF65-F5344CB8AC3E}">
        <p14:creationId xmlns:p14="http://schemas.microsoft.com/office/powerpoint/2010/main" val="298389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3CFCAEF-41D7-46B6-BAAA-5B85C22016E4}" type="datetimeFigureOut">
              <a:rPr lang="es-CO" smtClean="0"/>
              <a:t>17/06/2021</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3160D526-8DA4-49D4-9609-17059FC3A47C}" type="slidenum">
              <a:rPr lang="es-CO" smtClean="0"/>
              <a:t>‹#›</a:t>
            </a:fld>
            <a:endParaRPr lang="es-CO"/>
          </a:p>
        </p:txBody>
      </p:sp>
    </p:spTree>
    <p:extLst>
      <p:ext uri="{BB962C8B-B14F-4D97-AF65-F5344CB8AC3E}">
        <p14:creationId xmlns:p14="http://schemas.microsoft.com/office/powerpoint/2010/main" val="1425626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3CFCAEF-41D7-46B6-BAAA-5B85C22016E4}" type="datetimeFigureOut">
              <a:rPr lang="es-CO" smtClean="0"/>
              <a:t>17/06/2021</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3160D526-8DA4-49D4-9609-17059FC3A47C}" type="slidenum">
              <a:rPr lang="es-CO" smtClean="0"/>
              <a:t>‹#›</a:t>
            </a:fld>
            <a:endParaRPr lang="es-CO"/>
          </a:p>
        </p:txBody>
      </p:sp>
    </p:spTree>
    <p:extLst>
      <p:ext uri="{BB962C8B-B14F-4D97-AF65-F5344CB8AC3E}">
        <p14:creationId xmlns:p14="http://schemas.microsoft.com/office/powerpoint/2010/main" val="3856384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83CFCAEF-41D7-46B6-BAAA-5B85C22016E4}" type="datetimeFigureOut">
              <a:rPr lang="es-CO" smtClean="0"/>
              <a:t>17/06/2021</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3160D526-8DA4-49D4-9609-17059FC3A47C}" type="slidenum">
              <a:rPr lang="es-CO" smtClean="0"/>
              <a:t>‹#›</a:t>
            </a:fld>
            <a:endParaRPr lang="es-CO"/>
          </a:p>
        </p:txBody>
      </p:sp>
    </p:spTree>
    <p:extLst>
      <p:ext uri="{BB962C8B-B14F-4D97-AF65-F5344CB8AC3E}">
        <p14:creationId xmlns:p14="http://schemas.microsoft.com/office/powerpoint/2010/main" val="3614642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83CFCAEF-41D7-46B6-BAAA-5B85C22016E4}" type="datetimeFigureOut">
              <a:rPr lang="es-CO" smtClean="0"/>
              <a:t>17/06/2021</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3160D526-8DA4-49D4-9609-17059FC3A47C}" type="slidenum">
              <a:rPr lang="es-CO" smtClean="0"/>
              <a:t>‹#›</a:t>
            </a:fld>
            <a:endParaRPr lang="es-CO"/>
          </a:p>
        </p:txBody>
      </p:sp>
    </p:spTree>
    <p:extLst>
      <p:ext uri="{BB962C8B-B14F-4D97-AF65-F5344CB8AC3E}">
        <p14:creationId xmlns:p14="http://schemas.microsoft.com/office/powerpoint/2010/main" val="33254733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609600" y="1600201"/>
            <a:ext cx="109728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609600" y="3962401"/>
            <a:ext cx="109728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125293" y="6172200"/>
            <a:ext cx="1146047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a:solidFill>
                <a:schemeClr val="lt1"/>
              </a:solidFill>
              <a:latin typeface="Arial"/>
              <a:ea typeface="Arial"/>
              <a:cs typeface="Arial"/>
              <a:sym typeface="Arial"/>
            </a:endParaRPr>
          </a:p>
        </p:txBody>
      </p:sp>
    </p:spTree>
    <p:extLst>
      <p:ext uri="{BB962C8B-B14F-4D97-AF65-F5344CB8AC3E}">
        <p14:creationId xmlns:p14="http://schemas.microsoft.com/office/powerpoint/2010/main" val="3766115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CFCAEF-41D7-46B6-BAAA-5B85C22016E4}" type="datetimeFigureOut">
              <a:rPr lang="es-CO" smtClean="0"/>
              <a:t>17/06/2021</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60D526-8DA4-49D4-9609-17059FC3A47C}" type="slidenum">
              <a:rPr lang="es-CO" smtClean="0"/>
              <a:t>‹#›</a:t>
            </a:fld>
            <a:endParaRPr lang="es-CO"/>
          </a:p>
        </p:txBody>
      </p:sp>
    </p:spTree>
    <p:extLst>
      <p:ext uri="{BB962C8B-B14F-4D97-AF65-F5344CB8AC3E}">
        <p14:creationId xmlns:p14="http://schemas.microsoft.com/office/powerpoint/2010/main" val="1411369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educba.com/what-is-mongodb/"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CO" dirty="0"/>
              <a:t>No SQL</a:t>
            </a:r>
          </a:p>
        </p:txBody>
      </p:sp>
      <p:sp>
        <p:nvSpPr>
          <p:cNvPr id="3" name="Subtítulo 2"/>
          <p:cNvSpPr>
            <a:spLocks noGrp="1"/>
          </p:cNvSpPr>
          <p:nvPr>
            <p:ph type="subTitle" idx="1"/>
          </p:nvPr>
        </p:nvSpPr>
        <p:spPr/>
        <p:txBody>
          <a:bodyPr/>
          <a:lstStyle/>
          <a:p>
            <a:r>
              <a:rPr lang="es-CO" dirty="0"/>
              <a:t>Julio Carreño</a:t>
            </a:r>
          </a:p>
        </p:txBody>
      </p:sp>
    </p:spTree>
    <p:extLst>
      <p:ext uri="{BB962C8B-B14F-4D97-AF65-F5344CB8AC3E}">
        <p14:creationId xmlns:p14="http://schemas.microsoft.com/office/powerpoint/2010/main" val="3663831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err="1"/>
              <a:t>MongoDB</a:t>
            </a:r>
            <a:endParaRPr lang="es-CO" dirty="0"/>
          </a:p>
        </p:txBody>
      </p:sp>
      <p:sp>
        <p:nvSpPr>
          <p:cNvPr id="3" name="Marcador de contenido 2"/>
          <p:cNvSpPr>
            <a:spLocks noGrp="1"/>
          </p:cNvSpPr>
          <p:nvPr>
            <p:ph idx="1"/>
          </p:nvPr>
        </p:nvSpPr>
        <p:spPr/>
        <p:txBody>
          <a:bodyPr/>
          <a:lstStyle/>
          <a:p>
            <a:r>
              <a:rPr lang="es-CO" dirty="0"/>
              <a:t>MongoDB es una base de datos NoSQL orientada a documentos utilizada para el almacenamiento de datos de gran volumen. 
Pertenece a la categoría de una base de datos NoSQL.</a:t>
            </a:r>
          </a:p>
        </p:txBody>
      </p:sp>
    </p:spTree>
    <p:extLst>
      <p:ext uri="{BB962C8B-B14F-4D97-AF65-F5344CB8AC3E}">
        <p14:creationId xmlns:p14="http://schemas.microsoft.com/office/powerpoint/2010/main" val="3795312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err="1"/>
              <a:t>MongoDB</a:t>
            </a:r>
            <a:r>
              <a:rPr lang="es-CO" b="1" dirty="0"/>
              <a:t> </a:t>
            </a:r>
            <a:r>
              <a:rPr lang="es-CO" b="1" dirty="0" err="1"/>
              <a:t>Features</a:t>
            </a:r>
            <a:endParaRPr lang="es-CO" dirty="0"/>
          </a:p>
        </p:txBody>
      </p:sp>
      <p:sp>
        <p:nvSpPr>
          <p:cNvPr id="3" name="Marcador de contenido 2"/>
          <p:cNvSpPr>
            <a:spLocks noGrp="1"/>
          </p:cNvSpPr>
          <p:nvPr>
            <p:ph idx="1"/>
          </p:nvPr>
        </p:nvSpPr>
        <p:spPr/>
        <p:txBody>
          <a:bodyPr/>
          <a:lstStyle/>
          <a:p>
            <a:r>
              <a:rPr lang="es-CO" dirty="0"/>
              <a:t>Cada base de datos contiene colecciones que a su vez contienen </a:t>
            </a:r>
            <a:r>
              <a:rPr lang="es-CO" u="sng" dirty="0"/>
              <a:t>documentos</a:t>
            </a:r>
            <a:r>
              <a:rPr lang="es-CO" dirty="0"/>
              <a:t>.</a:t>
            </a:r>
            <a:endParaRPr lang="en-US" dirty="0"/>
          </a:p>
          <a:p>
            <a:pPr marL="0" indent="0">
              <a:buNone/>
            </a:pPr>
            <a:endParaRPr lang="es-CO" dirty="0"/>
          </a:p>
        </p:txBody>
      </p:sp>
    </p:spTree>
    <p:extLst>
      <p:ext uri="{BB962C8B-B14F-4D97-AF65-F5344CB8AC3E}">
        <p14:creationId xmlns:p14="http://schemas.microsoft.com/office/powerpoint/2010/main" val="193637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err="1"/>
              <a:t>MongoDB</a:t>
            </a:r>
            <a:r>
              <a:rPr lang="es-CO" b="1" dirty="0"/>
              <a:t> </a:t>
            </a:r>
            <a:r>
              <a:rPr lang="es-CO" b="1" dirty="0" err="1"/>
              <a:t>Features</a:t>
            </a:r>
            <a:endParaRPr lang="es-CO" dirty="0"/>
          </a:p>
        </p:txBody>
      </p:sp>
      <p:sp>
        <p:nvSpPr>
          <p:cNvPr id="3" name="Marcador de contenido 2"/>
          <p:cNvSpPr>
            <a:spLocks noGrp="1"/>
          </p:cNvSpPr>
          <p:nvPr>
            <p:ph idx="1"/>
          </p:nvPr>
        </p:nvSpPr>
        <p:spPr/>
        <p:txBody>
          <a:bodyPr/>
          <a:lstStyle/>
          <a:p>
            <a:r>
              <a:rPr lang="es-CO" dirty="0"/>
              <a:t>Cada base de datos contiene colecciones que a su vez contienen </a:t>
            </a:r>
            <a:r>
              <a:rPr lang="es-CO" u="sng" dirty="0"/>
              <a:t>documentos</a:t>
            </a:r>
            <a:r>
              <a:rPr lang="es-CO" dirty="0"/>
              <a:t>.</a:t>
            </a:r>
            <a:endParaRPr lang="en-US" dirty="0"/>
          </a:p>
          <a:p>
            <a:pPr marL="0" indent="0">
              <a:buNone/>
            </a:pPr>
            <a:endParaRPr lang="es-CO" dirty="0"/>
          </a:p>
        </p:txBody>
      </p:sp>
    </p:spTree>
    <p:extLst>
      <p:ext uri="{BB962C8B-B14F-4D97-AF65-F5344CB8AC3E}">
        <p14:creationId xmlns:p14="http://schemas.microsoft.com/office/powerpoint/2010/main" val="3499738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err="1"/>
              <a:t>MongoDB</a:t>
            </a:r>
            <a:r>
              <a:rPr lang="es-CO" b="1" dirty="0"/>
              <a:t> </a:t>
            </a:r>
            <a:r>
              <a:rPr lang="es-CO" b="1" dirty="0" err="1"/>
              <a:t>Features</a:t>
            </a:r>
            <a:endParaRPr lang="es-CO" dirty="0"/>
          </a:p>
        </p:txBody>
      </p:sp>
      <p:sp>
        <p:nvSpPr>
          <p:cNvPr id="3" name="Marcador de contenido 2"/>
          <p:cNvSpPr>
            <a:spLocks noGrp="1"/>
          </p:cNvSpPr>
          <p:nvPr>
            <p:ph idx="1"/>
          </p:nvPr>
        </p:nvSpPr>
        <p:spPr/>
        <p:txBody>
          <a:bodyPr/>
          <a:lstStyle/>
          <a:p>
            <a:r>
              <a:rPr lang="es-CO" dirty="0"/>
              <a:t>Cada documento puede ser diferente con un número variable de campos. </a:t>
            </a:r>
            <a:endParaRPr lang="en-US" dirty="0"/>
          </a:p>
          <a:p>
            <a:pPr marL="0" indent="0">
              <a:buNone/>
            </a:pPr>
            <a:endParaRPr lang="es-CO" dirty="0"/>
          </a:p>
        </p:txBody>
      </p:sp>
    </p:spTree>
    <p:extLst>
      <p:ext uri="{BB962C8B-B14F-4D97-AF65-F5344CB8AC3E}">
        <p14:creationId xmlns:p14="http://schemas.microsoft.com/office/powerpoint/2010/main" val="1732583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err="1"/>
              <a:t>MongoDB</a:t>
            </a:r>
            <a:r>
              <a:rPr lang="es-CO" b="1" dirty="0"/>
              <a:t> </a:t>
            </a:r>
            <a:r>
              <a:rPr lang="es-CO" b="1" dirty="0" err="1"/>
              <a:t>Features</a:t>
            </a:r>
            <a:endParaRPr lang="es-CO" dirty="0"/>
          </a:p>
        </p:txBody>
      </p:sp>
      <p:sp>
        <p:nvSpPr>
          <p:cNvPr id="3" name="Marcador de contenido 2"/>
          <p:cNvSpPr>
            <a:spLocks noGrp="1"/>
          </p:cNvSpPr>
          <p:nvPr>
            <p:ph idx="1"/>
          </p:nvPr>
        </p:nvSpPr>
        <p:spPr/>
        <p:txBody>
          <a:bodyPr/>
          <a:lstStyle/>
          <a:p>
            <a:r>
              <a:rPr lang="es-CO" dirty="0"/>
              <a:t>El tamaño y el contenido de cada documento pueden ser diferentes entre sí.</a:t>
            </a:r>
          </a:p>
        </p:txBody>
      </p:sp>
    </p:spTree>
    <p:extLst>
      <p:ext uri="{BB962C8B-B14F-4D97-AF65-F5344CB8AC3E}">
        <p14:creationId xmlns:p14="http://schemas.microsoft.com/office/powerpoint/2010/main" val="554619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err="1"/>
              <a:t>MongoDB</a:t>
            </a:r>
            <a:r>
              <a:rPr lang="es-CO" b="1" dirty="0"/>
              <a:t> </a:t>
            </a:r>
            <a:r>
              <a:rPr lang="es-CO" b="1" dirty="0" err="1"/>
              <a:t>Features</a:t>
            </a:r>
            <a:endParaRPr lang="es-CO" dirty="0"/>
          </a:p>
        </p:txBody>
      </p:sp>
      <p:sp>
        <p:nvSpPr>
          <p:cNvPr id="3" name="Marcador de contenido 2"/>
          <p:cNvSpPr>
            <a:spLocks noGrp="1"/>
          </p:cNvSpPr>
          <p:nvPr>
            <p:ph idx="1"/>
          </p:nvPr>
        </p:nvSpPr>
        <p:spPr/>
        <p:txBody>
          <a:bodyPr/>
          <a:lstStyle/>
          <a:p>
            <a:r>
              <a:rPr lang="es-CO" dirty="0"/>
              <a:t>La estructura del documento está más en línea con la forma en que los desarrolladores construyen sus clases y objetos en sus respectivos lenguajes de programación. 
E</a:t>
            </a:r>
            <a:r>
              <a:rPr lang="en-US" dirty="0" err="1"/>
              <a:t>structura</a:t>
            </a:r>
            <a:r>
              <a:rPr lang="en-US" dirty="0"/>
              <a:t> con pares clave-valor.</a:t>
            </a:r>
            <a:endParaRPr lang="es-CO" dirty="0"/>
          </a:p>
        </p:txBody>
      </p:sp>
    </p:spTree>
    <p:extLst>
      <p:ext uri="{BB962C8B-B14F-4D97-AF65-F5344CB8AC3E}">
        <p14:creationId xmlns:p14="http://schemas.microsoft.com/office/powerpoint/2010/main" val="153674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err="1"/>
              <a:t>MongoDB</a:t>
            </a:r>
            <a:r>
              <a:rPr lang="es-CO" b="1" dirty="0"/>
              <a:t> </a:t>
            </a:r>
            <a:r>
              <a:rPr lang="es-CO" b="1" dirty="0" err="1"/>
              <a:t>Features</a:t>
            </a:r>
            <a:endParaRPr lang="es-CO" dirty="0"/>
          </a:p>
        </p:txBody>
      </p:sp>
      <p:sp>
        <p:nvSpPr>
          <p:cNvPr id="3" name="Marcador de contenido 2"/>
          <p:cNvSpPr>
            <a:spLocks noGrp="1"/>
          </p:cNvSpPr>
          <p:nvPr>
            <p:ph idx="1"/>
          </p:nvPr>
        </p:nvSpPr>
        <p:spPr/>
        <p:txBody>
          <a:bodyPr/>
          <a:lstStyle/>
          <a:p>
            <a:r>
              <a:rPr lang="es-CO" dirty="0"/>
              <a:t>Con las bases de datos NoSQL, las filas (o documentos como se llama en MongoDB) no necesitan tener un esquema definido de antemano.</a:t>
            </a:r>
          </a:p>
          <a:p>
            <a:r>
              <a:rPr lang="es-CO" dirty="0"/>
              <a:t>En su lugar, los campos se pueden crear sobre la marcha.</a:t>
            </a:r>
          </a:p>
        </p:txBody>
      </p:sp>
    </p:spTree>
    <p:extLst>
      <p:ext uri="{BB962C8B-B14F-4D97-AF65-F5344CB8AC3E}">
        <p14:creationId xmlns:p14="http://schemas.microsoft.com/office/powerpoint/2010/main" val="1925304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err="1"/>
              <a:t>MongoDB</a:t>
            </a:r>
            <a:r>
              <a:rPr lang="es-CO" b="1" dirty="0"/>
              <a:t> </a:t>
            </a:r>
            <a:r>
              <a:rPr lang="es-CO" b="1" dirty="0" err="1"/>
              <a:t>Features</a:t>
            </a:r>
            <a:endParaRPr lang="es-CO" dirty="0"/>
          </a:p>
        </p:txBody>
      </p:sp>
      <p:sp>
        <p:nvSpPr>
          <p:cNvPr id="3" name="Marcador de contenido 2"/>
          <p:cNvSpPr>
            <a:spLocks noGrp="1"/>
          </p:cNvSpPr>
          <p:nvPr>
            <p:ph idx="1"/>
          </p:nvPr>
        </p:nvSpPr>
        <p:spPr>
          <a:xfrm>
            <a:off x="548054" y="1386010"/>
            <a:ext cx="10515600" cy="4351338"/>
          </a:xfrm>
        </p:spPr>
        <p:txBody>
          <a:bodyPr/>
          <a:lstStyle/>
          <a:p>
            <a:r>
              <a:rPr lang="es-CO" dirty="0"/>
              <a:t>El modelo de datos disponible en MongoDB le permite representar relaciones jerárquicas, almacenar matrices y otras estructuras más complejas más fácilmente.</a:t>
            </a: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1977" y="2361100"/>
            <a:ext cx="5675511" cy="42610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07726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Key Components of MongoDB</a:t>
            </a:r>
            <a:endParaRPr lang="es-CO" dirty="0"/>
          </a:p>
        </p:txBody>
      </p:sp>
      <p:sp>
        <p:nvSpPr>
          <p:cNvPr id="3" name="Marcador de contenido 2"/>
          <p:cNvSpPr>
            <a:spLocks noGrp="1"/>
          </p:cNvSpPr>
          <p:nvPr>
            <p:ph idx="1"/>
          </p:nvPr>
        </p:nvSpPr>
        <p:spPr/>
        <p:txBody>
          <a:bodyPr>
            <a:normAutofit/>
          </a:bodyPr>
          <a:lstStyle/>
          <a:p>
            <a:r>
              <a:rPr lang="en-US" b="1" dirty="0"/>
              <a:t>_id</a:t>
            </a:r>
            <a:r>
              <a:rPr lang="en-US" dirty="0"/>
              <a:t> </a:t>
            </a:r>
          </a:p>
          <a:p>
            <a:pPr lvl="1"/>
            <a:r>
              <a:rPr lang="es-CO" dirty="0"/>
              <a:t>Este es un campo obligatorio en cada documento de MongoDB. </a:t>
            </a:r>
          </a:p>
          <a:p>
            <a:pPr lvl="1"/>
            <a:r>
              <a:rPr lang="es-CO" dirty="0"/>
              <a:t>Si crea un nuevo documento sin un campo _id, MongoDB creará automáticamente el campo.</a:t>
            </a:r>
          </a:p>
          <a:p>
            <a:pPr lvl="1"/>
            <a:r>
              <a:rPr lang="es-CO" dirty="0"/>
              <a:t>MongoDB agrega el campo _id para identificar de forma única el documento de la colección</a:t>
            </a:r>
          </a:p>
        </p:txBody>
      </p:sp>
      <p:pic>
        <p:nvPicPr>
          <p:cNvPr id="4" name="Imagen 3">
            <a:extLst>
              <a:ext uri="{FF2B5EF4-FFF2-40B4-BE49-F238E27FC236}">
                <a16:creationId xmlns:a16="http://schemas.microsoft.com/office/drawing/2014/main" id="{4B445D62-C566-4AC2-B7FB-40B291D36923}"/>
              </a:ext>
            </a:extLst>
          </p:cNvPr>
          <p:cNvPicPr>
            <a:picLocks noChangeAspect="1"/>
          </p:cNvPicPr>
          <p:nvPr/>
        </p:nvPicPr>
        <p:blipFill rotWithShape="1">
          <a:blip r:embed="rId2">
            <a:extLst>
              <a:ext uri="{28A0092B-C50C-407E-A947-70E740481C1C}">
                <a14:useLocalDpi xmlns:a14="http://schemas.microsoft.com/office/drawing/2010/main" val="0"/>
              </a:ext>
            </a:extLst>
          </a:blip>
          <a:srcRect r="26437"/>
          <a:stretch/>
        </p:blipFill>
        <p:spPr>
          <a:xfrm>
            <a:off x="4831239" y="4220663"/>
            <a:ext cx="3724453" cy="21754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72296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a:t>MongoDB </a:t>
            </a:r>
            <a:r>
              <a:rPr lang="es-CO" b="1" dirty="0" err="1"/>
              <a:t>Embedding</a:t>
            </a:r>
            <a:r>
              <a:rPr lang="es-CO" b="1" dirty="0"/>
              <a:t> </a:t>
            </a:r>
            <a:r>
              <a:rPr lang="es-CO" b="1" dirty="0" err="1"/>
              <a:t>Model</a:t>
            </a:r>
            <a:endParaRPr lang="es-CO" dirty="0"/>
          </a:p>
        </p:txBody>
      </p:sp>
      <p:sp>
        <p:nvSpPr>
          <p:cNvPr id="3" name="Marcador de contenido 2"/>
          <p:cNvSpPr>
            <a:spLocks noGrp="1"/>
          </p:cNvSpPr>
          <p:nvPr>
            <p:ph idx="1"/>
          </p:nvPr>
        </p:nvSpPr>
        <p:spPr>
          <a:xfrm>
            <a:off x="644235" y="1493476"/>
            <a:ext cx="10515600" cy="4351338"/>
          </a:xfrm>
        </p:spPr>
        <p:txBody>
          <a:bodyPr/>
          <a:lstStyle/>
          <a:p>
            <a:r>
              <a:rPr lang="es-CO" dirty="0"/>
              <a:t>Lo que puede observar es que los datos de pedido (</a:t>
            </a:r>
            <a:r>
              <a:rPr lang="es-CO" dirty="0" err="1"/>
              <a:t>OrderID</a:t>
            </a:r>
            <a:r>
              <a:rPr lang="es-CO" dirty="0"/>
              <a:t>, </a:t>
            </a:r>
            <a:r>
              <a:rPr lang="es-CO" dirty="0" err="1"/>
              <a:t>Product</a:t>
            </a:r>
            <a:r>
              <a:rPr lang="es-CO" dirty="0"/>
              <a:t> y </a:t>
            </a:r>
            <a:r>
              <a:rPr lang="es-CO" dirty="0" err="1"/>
              <a:t>Quantity</a:t>
            </a:r>
            <a:r>
              <a:rPr lang="es-CO" dirty="0"/>
              <a:t>) que en RDBMS normalmente se almacenarán en una tabla independiente, mientras que en MongoDB se almacenan realmente como un documento incrustado en la propia colección.</a:t>
            </a:r>
          </a:p>
          <a:p>
            <a:r>
              <a:rPr lang="es-CO" dirty="0"/>
              <a:t>Esta es una de las diferencias clave en cómo se modelan los datos en MongoDB</a:t>
            </a:r>
            <a:endParaRPr lang="en-US" dirty="0"/>
          </a:p>
        </p:txBody>
      </p:sp>
      <p:pic>
        <p:nvPicPr>
          <p:cNvPr id="4" name="Imagen 3"/>
          <p:cNvPicPr>
            <a:picLocks noChangeAspect="1"/>
          </p:cNvPicPr>
          <p:nvPr/>
        </p:nvPicPr>
        <p:blipFill rotWithShape="1">
          <a:blip r:embed="rId3">
            <a:extLst>
              <a:ext uri="{28A0092B-C50C-407E-A947-70E740481C1C}">
                <a14:useLocalDpi xmlns:a14="http://schemas.microsoft.com/office/drawing/2010/main" val="0"/>
              </a:ext>
            </a:extLst>
          </a:blip>
          <a:srcRect r="26053"/>
          <a:stretch/>
        </p:blipFill>
        <p:spPr>
          <a:xfrm>
            <a:off x="2053046" y="4084605"/>
            <a:ext cx="3743889" cy="21754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Content Placeholder 4" descr="Graphical user interface, application&#10;&#10;Description automatically generated">
            <a:extLst>
              <a:ext uri="{FF2B5EF4-FFF2-40B4-BE49-F238E27FC236}">
                <a16:creationId xmlns:a16="http://schemas.microsoft.com/office/drawing/2014/main" id="{0CB99FBC-3CC7-490E-A4B6-323CEB85BF16}"/>
              </a:ext>
            </a:extLst>
          </p:cNvPr>
          <p:cNvPicPr>
            <a:picLocks noChangeAspect="1"/>
          </p:cNvPicPr>
          <p:nvPr/>
        </p:nvPicPr>
        <p:blipFill rotWithShape="1">
          <a:blip r:embed="rId4">
            <a:extLst>
              <a:ext uri="{28A0092B-C50C-407E-A947-70E740481C1C}">
                <a14:useLocalDpi xmlns:a14="http://schemas.microsoft.com/office/drawing/2010/main" val="0"/>
              </a:ext>
            </a:extLst>
          </a:blip>
          <a:srcRect b="51030"/>
          <a:stretch/>
        </p:blipFill>
        <p:spPr>
          <a:xfrm>
            <a:off x="7829509" y="4084605"/>
            <a:ext cx="2937781" cy="1648353"/>
          </a:xfrm>
          <a:prstGeom prst="rect">
            <a:avLst/>
          </a:prstGeom>
        </p:spPr>
      </p:pic>
    </p:spTree>
    <p:extLst>
      <p:ext uri="{BB962C8B-B14F-4D97-AF65-F5344CB8AC3E}">
        <p14:creationId xmlns:p14="http://schemas.microsoft.com/office/powerpoint/2010/main" val="4089024757"/>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kumimoji="0" lang="es-CO" sz="4400" b="1" i="0" u="none" strike="noStrike" kern="1200" cap="none" spc="0" normalizeH="0" baseline="0" noProof="0" dirty="0">
                <a:ln>
                  <a:noFill/>
                </a:ln>
                <a:solidFill>
                  <a:prstClr val="black"/>
                </a:solidFill>
                <a:effectLst/>
                <a:uLnTx/>
                <a:uFillTx/>
                <a:latin typeface="Calibri Light" panose="020F0302020204030204"/>
                <a:ea typeface="+mj-ea"/>
                <a:cs typeface="+mj-cs"/>
              </a:rPr>
              <a:t>MongoDB </a:t>
            </a:r>
            <a:r>
              <a:rPr kumimoji="0" lang="es-CO" sz="4400" b="1" i="0" u="none" strike="noStrike" kern="1200" cap="none" spc="0" normalizeH="0" baseline="0" noProof="0" dirty="0" err="1">
                <a:ln>
                  <a:noFill/>
                </a:ln>
                <a:solidFill>
                  <a:prstClr val="black"/>
                </a:solidFill>
                <a:effectLst/>
                <a:uLnTx/>
                <a:uFillTx/>
                <a:latin typeface="Calibri Light" panose="020F0302020204030204"/>
                <a:ea typeface="+mj-ea"/>
                <a:cs typeface="+mj-cs"/>
              </a:rPr>
              <a:t>Referencing</a:t>
            </a:r>
            <a:r>
              <a:rPr kumimoji="0" lang="es-CO" sz="4400" b="1" i="0" u="none" strike="noStrike" kern="1200" cap="none" spc="0" normalizeH="0" baseline="0" noProof="0" dirty="0">
                <a:ln>
                  <a:noFill/>
                </a:ln>
                <a:solidFill>
                  <a:prstClr val="black"/>
                </a:solidFill>
                <a:effectLst/>
                <a:uLnTx/>
                <a:uFillTx/>
                <a:latin typeface="Calibri Light" panose="020F0302020204030204"/>
                <a:ea typeface="+mj-ea"/>
                <a:cs typeface="+mj-cs"/>
              </a:rPr>
              <a:t> </a:t>
            </a:r>
            <a:r>
              <a:rPr kumimoji="0" lang="es-CO" sz="4400" b="1" i="0" u="none" strike="noStrike" kern="1200" cap="none" spc="0" normalizeH="0" baseline="0" noProof="0" dirty="0" err="1">
                <a:ln>
                  <a:noFill/>
                </a:ln>
                <a:solidFill>
                  <a:prstClr val="black"/>
                </a:solidFill>
                <a:effectLst/>
                <a:uLnTx/>
                <a:uFillTx/>
                <a:latin typeface="Calibri Light" panose="020F0302020204030204"/>
                <a:ea typeface="+mj-ea"/>
                <a:cs typeface="+mj-cs"/>
              </a:rPr>
              <a:t>Model</a:t>
            </a:r>
            <a:endParaRPr lang="en-US" dirty="0"/>
          </a:p>
        </p:txBody>
      </p:sp>
      <p:sp>
        <p:nvSpPr>
          <p:cNvPr id="5" name="Text Placeholder 4"/>
          <p:cNvSpPr>
            <a:spLocks noGrp="1"/>
          </p:cNvSpPr>
          <p:nvPr>
            <p:ph type="body" idx="1"/>
          </p:nvPr>
        </p:nvSpPr>
        <p:spPr>
          <a:xfrm>
            <a:off x="1597128" y="1361413"/>
            <a:ext cx="4178808" cy="532994"/>
          </a:xfrm>
        </p:spPr>
        <p:txBody>
          <a:bodyPr/>
          <a:lstStyle/>
          <a:p>
            <a:pPr marL="0" indent="0">
              <a:buNone/>
            </a:pPr>
            <a:r>
              <a:rPr lang="en-US" sz="1800" dirty="0"/>
              <a:t>a) A document in the Product collection</a:t>
            </a:r>
          </a:p>
        </p:txBody>
      </p:sp>
      <p:pic>
        <p:nvPicPr>
          <p:cNvPr id="9" name="Picture 8" descr="A sample Mongo D B collection. Figure a shows a document in the product collection, as follows, Line 1. Left brace. Line 2. Double quote underscore i d double quote colon double quote 1 double quote comma. Line 3. double quote name double quote colon double quote O L E D T V double quote comma. Line 4. double quote d e s c double quote colon double quote 75 in T V double quote comma. Line 5. double quote width double quote colon 60 comma. Line 6. double quote height double quote colon 30 comma. Line 7. double quote depth double quote colon 5 comma. Line 8. double quote reviews double quote colon left bracket. Line 9. Left brace. Line 10. double quote author double quote colon 1 comma. Line 11. double quote rating stars double quote colon 4 comma. Line 12. double quote comment double quote colon double quote Amazing TV double quote Line 13. Right brace comma. Line 14. Left brace double quote author double quote colon 2 comma. Line 15. double quote rating stars double quote colon 2 comma. Line 16. double quote comment double quote colon double quote Very disappointed with the T V double quote. Line 17. Right brace. Line 18. Right bracket. Line 19. Right brace.">
            <a:extLst>
              <a:ext uri="{FF2B5EF4-FFF2-40B4-BE49-F238E27FC236}">
                <a16:creationId xmlns:a16="http://schemas.microsoft.com/office/drawing/2014/main" id="{AF24F0EC-C1B5-4DD1-9433-8997701AAF54}"/>
              </a:ext>
            </a:extLst>
          </p:cNvPr>
          <p:cNvPicPr>
            <a:picLocks noChangeAspect="1"/>
          </p:cNvPicPr>
          <p:nvPr/>
        </p:nvPicPr>
        <p:blipFill>
          <a:blip r:embed="rId3"/>
          <a:stretch>
            <a:fillRect/>
          </a:stretch>
        </p:blipFill>
        <p:spPr>
          <a:xfrm>
            <a:off x="1628150" y="2160904"/>
            <a:ext cx="3015189" cy="4076535"/>
          </a:xfrm>
          <a:prstGeom prst="rect">
            <a:avLst/>
          </a:prstGeom>
        </p:spPr>
      </p:pic>
      <p:sp>
        <p:nvSpPr>
          <p:cNvPr id="6" name="Text Placeholder 5"/>
          <p:cNvSpPr>
            <a:spLocks noGrp="1"/>
          </p:cNvSpPr>
          <p:nvPr>
            <p:ph type="body" idx="2"/>
          </p:nvPr>
        </p:nvSpPr>
        <p:spPr>
          <a:xfrm>
            <a:off x="5775936" y="1351906"/>
            <a:ext cx="4050792" cy="426720"/>
          </a:xfrm>
        </p:spPr>
        <p:txBody>
          <a:bodyPr>
            <a:normAutofit lnSpcReduction="10000"/>
          </a:bodyPr>
          <a:lstStyle/>
          <a:p>
            <a:pPr marL="0" indent="0">
              <a:buNone/>
            </a:pPr>
            <a:r>
              <a:rPr lang="en-US" sz="1800" dirty="0"/>
              <a:t>b) A document in the Author collection</a:t>
            </a:r>
          </a:p>
        </p:txBody>
      </p:sp>
      <p:pic>
        <p:nvPicPr>
          <p:cNvPr id="10" name="Picture 9" descr="Part b shows a document in the author collection, as follows.&#10;Line 1. Left brace. Line 2. double quote underscore i d double quote colon 1. Line 3. double quote First Name double quote colon double quote Jane double quote comma. Line 4. double quote Last Name colon double quote Smith double quote. Line 5. Right brace.">
            <a:extLst>
              <a:ext uri="{FF2B5EF4-FFF2-40B4-BE49-F238E27FC236}">
                <a16:creationId xmlns:a16="http://schemas.microsoft.com/office/drawing/2014/main" id="{021AFC9D-8462-486A-8EFF-6662FE391602}"/>
              </a:ext>
            </a:extLst>
          </p:cNvPr>
          <p:cNvPicPr>
            <a:picLocks noChangeAspect="1"/>
          </p:cNvPicPr>
          <p:nvPr/>
        </p:nvPicPr>
        <p:blipFill>
          <a:blip r:embed="rId4"/>
          <a:stretch>
            <a:fillRect/>
          </a:stretch>
        </p:blipFill>
        <p:spPr>
          <a:xfrm>
            <a:off x="5775936" y="2160904"/>
            <a:ext cx="3238500" cy="1752600"/>
          </a:xfrm>
          <a:prstGeom prst="rect">
            <a:avLst/>
          </a:prstGeom>
        </p:spPr>
      </p:pic>
      <p:pic>
        <p:nvPicPr>
          <p:cNvPr id="7" name="Content Placeholder 4" descr="Graphical user interface, application&#10;&#10;Description automatically generated">
            <a:extLst>
              <a:ext uri="{FF2B5EF4-FFF2-40B4-BE49-F238E27FC236}">
                <a16:creationId xmlns:a16="http://schemas.microsoft.com/office/drawing/2014/main" id="{E77F33C4-270B-4423-B5F5-B5CFF09E0796}"/>
              </a:ext>
            </a:extLst>
          </p:cNvPr>
          <p:cNvPicPr>
            <a:picLocks noChangeAspect="1"/>
          </p:cNvPicPr>
          <p:nvPr/>
        </p:nvPicPr>
        <p:blipFill rotWithShape="1">
          <a:blip r:embed="rId5">
            <a:extLst>
              <a:ext uri="{28A0092B-C50C-407E-A947-70E740481C1C}">
                <a14:useLocalDpi xmlns:a14="http://schemas.microsoft.com/office/drawing/2010/main" val="0"/>
              </a:ext>
            </a:extLst>
          </a:blip>
          <a:srcRect t="50106"/>
          <a:stretch/>
        </p:blipFill>
        <p:spPr>
          <a:xfrm>
            <a:off x="5775936" y="4386087"/>
            <a:ext cx="3238500" cy="1851352"/>
          </a:xfrm>
          <a:prstGeom prst="rect">
            <a:avLst/>
          </a:prstGeom>
        </p:spPr>
      </p:pic>
    </p:spTree>
    <p:extLst>
      <p:ext uri="{BB962C8B-B14F-4D97-AF65-F5344CB8AC3E}">
        <p14:creationId xmlns:p14="http://schemas.microsoft.com/office/powerpoint/2010/main" val="3286062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7364" y="245052"/>
            <a:ext cx="10515600" cy="1325563"/>
          </a:xfrm>
        </p:spPr>
        <p:txBody>
          <a:bodyPr/>
          <a:lstStyle/>
          <a:p>
            <a:r>
              <a:rPr lang="en-US" b="1" dirty="0"/>
              <a:t>Key Components of MongoDB Architecture</a:t>
            </a:r>
            <a:endParaRPr lang="es-CO" dirty="0"/>
          </a:p>
        </p:txBody>
      </p:sp>
      <p:sp>
        <p:nvSpPr>
          <p:cNvPr id="3" name="Marcador de contenido 2"/>
          <p:cNvSpPr>
            <a:spLocks noGrp="1"/>
          </p:cNvSpPr>
          <p:nvPr>
            <p:ph idx="1"/>
          </p:nvPr>
        </p:nvSpPr>
        <p:spPr>
          <a:xfrm>
            <a:off x="551873" y="1474643"/>
            <a:ext cx="10515600" cy="4351338"/>
          </a:xfrm>
        </p:spPr>
        <p:txBody>
          <a:bodyPr>
            <a:normAutofit/>
          </a:bodyPr>
          <a:lstStyle/>
          <a:p>
            <a:r>
              <a:rPr lang="es-CO" b="1" dirty="0"/>
              <a:t>Base de datos</a:t>
            </a:r>
            <a:r>
              <a:rPr lang="es-CO" dirty="0"/>
              <a:t> : </a:t>
            </a:r>
          </a:p>
          <a:p>
            <a:pPr lvl="1"/>
            <a:r>
              <a:rPr lang="es-CO" dirty="0"/>
              <a:t>Este es un contenedor para colecciones como en RDBMS en el que es un contenedor para tablas. </a:t>
            </a:r>
          </a:p>
          <a:p>
            <a:pPr lvl="1"/>
            <a:r>
              <a:rPr lang="es-CO" dirty="0"/>
              <a:t>Cada base de datos obtiene su propio conjunto de archivos en el sistema de archivos. </a:t>
            </a:r>
          </a:p>
          <a:p>
            <a:pPr lvl="1"/>
            <a:r>
              <a:rPr lang="es-CO" dirty="0"/>
              <a:t>Un servidor MongoDB puede almacenar varias bases de datos.</a:t>
            </a:r>
          </a:p>
        </p:txBody>
      </p:sp>
      <p:pic>
        <p:nvPicPr>
          <p:cNvPr id="4" name="Picture 3" descr="Diagram&#10;&#10;Description automatically generated">
            <a:extLst>
              <a:ext uri="{FF2B5EF4-FFF2-40B4-BE49-F238E27FC236}">
                <a16:creationId xmlns:a16="http://schemas.microsoft.com/office/drawing/2014/main" id="{DC6F497E-085E-4C9A-B61F-6264063ABC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5032" y="3912527"/>
            <a:ext cx="4183731" cy="24992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4637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Key Components of MongoDB Architecture</a:t>
            </a:r>
            <a:endParaRPr lang="es-CO" dirty="0"/>
          </a:p>
        </p:txBody>
      </p:sp>
      <p:sp>
        <p:nvSpPr>
          <p:cNvPr id="3" name="Marcador de contenido 2"/>
          <p:cNvSpPr>
            <a:spLocks noGrp="1"/>
          </p:cNvSpPr>
          <p:nvPr>
            <p:ph idx="1"/>
          </p:nvPr>
        </p:nvSpPr>
        <p:spPr>
          <a:xfrm>
            <a:off x="838200" y="1456171"/>
            <a:ext cx="10515600" cy="4351338"/>
          </a:xfrm>
        </p:spPr>
        <p:txBody>
          <a:bodyPr>
            <a:normAutofit/>
          </a:bodyPr>
          <a:lstStyle/>
          <a:p>
            <a:r>
              <a:rPr lang="en-US" b="1" dirty="0"/>
              <a:t>Collection</a:t>
            </a:r>
            <a:r>
              <a:rPr lang="en-US" dirty="0"/>
              <a:t> </a:t>
            </a:r>
          </a:p>
          <a:p>
            <a:pPr lvl="1"/>
            <a:r>
              <a:rPr lang="es-CO" dirty="0"/>
              <a:t>Se trata de una agrupación de documentos de MongoDB.</a:t>
            </a:r>
          </a:p>
          <a:p>
            <a:pPr lvl="1"/>
            <a:r>
              <a:rPr lang="es-CO" dirty="0"/>
              <a:t>Una </a:t>
            </a:r>
            <a:r>
              <a:rPr lang="es-CO" u="sng" dirty="0"/>
              <a:t>colección</a:t>
            </a:r>
            <a:r>
              <a:rPr lang="es-CO" dirty="0"/>
              <a:t> es el equivalente de una </a:t>
            </a:r>
            <a:r>
              <a:rPr lang="es-CO" u="sng" dirty="0"/>
              <a:t>tabla</a:t>
            </a:r>
            <a:r>
              <a:rPr lang="es-CO" dirty="0"/>
              <a:t> que se crea en cualquier otro RDBMS. </a:t>
            </a:r>
          </a:p>
          <a:p>
            <a:pPr lvl="1"/>
            <a:r>
              <a:rPr lang="es-CO" dirty="0"/>
              <a:t>Una colección existe dentro de una sola base de datos.</a:t>
            </a:r>
            <a:r>
              <a:rPr lang="en-US" dirty="0"/>
              <a:t> </a:t>
            </a:r>
          </a:p>
        </p:txBody>
      </p:sp>
      <p:pic>
        <p:nvPicPr>
          <p:cNvPr id="4" name="Graphic 3">
            <a:extLst>
              <a:ext uri="{FF2B5EF4-FFF2-40B4-BE49-F238E27FC236}">
                <a16:creationId xmlns:a16="http://schemas.microsoft.com/office/drawing/2014/main" id="{B1BD7A91-CF2E-483D-8F4F-8624E69BFF8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8500" y="3773631"/>
            <a:ext cx="5715000" cy="2857500"/>
          </a:xfrm>
          <a:prstGeom prst="rect">
            <a:avLst/>
          </a:prstGeom>
        </p:spPr>
      </p:pic>
    </p:spTree>
    <p:extLst>
      <p:ext uri="{BB962C8B-B14F-4D97-AF65-F5344CB8AC3E}">
        <p14:creationId xmlns:p14="http://schemas.microsoft.com/office/powerpoint/2010/main" val="1839155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Key Components of MongoDB Architecture</a:t>
            </a:r>
            <a:endParaRPr lang="es-CO" dirty="0"/>
          </a:p>
        </p:txBody>
      </p:sp>
      <p:sp>
        <p:nvSpPr>
          <p:cNvPr id="3" name="Marcador de contenido 2"/>
          <p:cNvSpPr>
            <a:spLocks noGrp="1"/>
          </p:cNvSpPr>
          <p:nvPr>
            <p:ph idx="1"/>
          </p:nvPr>
        </p:nvSpPr>
        <p:spPr>
          <a:xfrm>
            <a:off x="458798" y="1432070"/>
            <a:ext cx="10515600" cy="4351338"/>
          </a:xfrm>
        </p:spPr>
        <p:txBody>
          <a:bodyPr>
            <a:normAutofit/>
          </a:bodyPr>
          <a:lstStyle/>
          <a:p>
            <a:r>
              <a:rPr lang="en-US" b="1" dirty="0"/>
              <a:t>Document</a:t>
            </a:r>
            <a:r>
              <a:rPr lang="en-US" dirty="0"/>
              <a:t> - </a:t>
            </a:r>
            <a:r>
              <a:rPr lang="es-CO" dirty="0"/>
              <a:t>Un registro en una colección de MongoDB se denomina básicamente documento. El documento, a su vez, constará de nombre de campo y valores.</a:t>
            </a:r>
            <a:endParaRPr lang="en-US" dirty="0"/>
          </a:p>
        </p:txBody>
      </p:sp>
      <p:pic>
        <p:nvPicPr>
          <p:cNvPr id="10" name="Picture 9" descr="Diagram&#10;&#10;Description automatically generated">
            <a:extLst>
              <a:ext uri="{FF2B5EF4-FFF2-40B4-BE49-F238E27FC236}">
                <a16:creationId xmlns:a16="http://schemas.microsoft.com/office/drawing/2014/main" id="{6086A83F-866B-4AE0-B76E-1FDB9B6E38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0757" y="2493674"/>
            <a:ext cx="5133975" cy="4124325"/>
          </a:xfrm>
          <a:prstGeom prst="rect">
            <a:avLst/>
          </a:prstGeom>
        </p:spPr>
      </p:pic>
    </p:spTree>
    <p:extLst>
      <p:ext uri="{BB962C8B-B14F-4D97-AF65-F5344CB8AC3E}">
        <p14:creationId xmlns:p14="http://schemas.microsoft.com/office/powerpoint/2010/main" val="2618251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Key Components of MongoDB Architecture</a:t>
            </a:r>
            <a:endParaRPr lang="es-CO" dirty="0"/>
          </a:p>
        </p:txBody>
      </p:sp>
      <p:sp>
        <p:nvSpPr>
          <p:cNvPr id="3" name="Marcador de contenido 2"/>
          <p:cNvSpPr>
            <a:spLocks noGrp="1"/>
          </p:cNvSpPr>
          <p:nvPr>
            <p:ph idx="1"/>
          </p:nvPr>
        </p:nvSpPr>
        <p:spPr>
          <a:xfrm>
            <a:off x="486507" y="1690688"/>
            <a:ext cx="10515600" cy="4351338"/>
          </a:xfrm>
        </p:spPr>
        <p:txBody>
          <a:bodyPr>
            <a:normAutofit/>
          </a:bodyPr>
          <a:lstStyle/>
          <a:p>
            <a:r>
              <a:rPr lang="en-US" b="1" dirty="0"/>
              <a:t>Field</a:t>
            </a:r>
            <a:r>
              <a:rPr lang="en-US" dirty="0"/>
              <a:t> – </a:t>
            </a:r>
          </a:p>
          <a:p>
            <a:pPr lvl="1"/>
            <a:r>
              <a:rPr lang="es-CO" dirty="0"/>
              <a:t>Un par nombre-valor en un documento. </a:t>
            </a:r>
          </a:p>
          <a:p>
            <a:pPr lvl="1"/>
            <a:r>
              <a:rPr lang="es-CO" dirty="0"/>
              <a:t>Un documento tiene cero o más campos. </a:t>
            </a:r>
          </a:p>
          <a:p>
            <a:pPr lvl="1"/>
            <a:r>
              <a:rPr lang="es-CO" dirty="0"/>
              <a:t>Los campos son análogos a las columnas de las bases de datos relacionales. </a:t>
            </a:r>
            <a:r>
              <a:rPr lang="en-US" dirty="0"/>
              <a:t> </a:t>
            </a:r>
          </a:p>
        </p:txBody>
      </p:sp>
    </p:spTree>
    <p:extLst>
      <p:ext uri="{BB962C8B-B14F-4D97-AF65-F5344CB8AC3E}">
        <p14:creationId xmlns:p14="http://schemas.microsoft.com/office/powerpoint/2010/main" val="1414022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Key Components of MongoDB Architecture</a:t>
            </a:r>
            <a:endParaRPr lang="es-CO" dirty="0"/>
          </a:p>
        </p:txBody>
      </p:sp>
      <p:sp>
        <p:nvSpPr>
          <p:cNvPr id="3" name="Marcador de contenido 2"/>
          <p:cNvSpPr>
            <a:spLocks noGrp="1"/>
          </p:cNvSpPr>
          <p:nvPr>
            <p:ph idx="1"/>
          </p:nvPr>
        </p:nvSpPr>
        <p:spPr>
          <a:xfrm>
            <a:off x="486507" y="1690688"/>
            <a:ext cx="10515600" cy="4351338"/>
          </a:xfrm>
        </p:spPr>
        <p:txBody>
          <a:bodyPr>
            <a:normAutofit/>
          </a:bodyPr>
          <a:lstStyle/>
          <a:p>
            <a:r>
              <a:rPr lang="en-US" b="1" dirty="0"/>
              <a:t>JSON</a:t>
            </a:r>
            <a:r>
              <a:rPr lang="en-US" dirty="0"/>
              <a:t> – </a:t>
            </a:r>
          </a:p>
          <a:p>
            <a:pPr lvl="1"/>
            <a:r>
              <a:rPr lang="es-CO" dirty="0"/>
              <a:t>Esto se conoce como notación de objetos JavaScript. 
Este es un formato de texto sin formato legible para expresar datos estructurados. JSON se admite actualmente en muchos lenguajes de programación.
</a:t>
            </a:r>
            <a:r>
              <a:rPr lang="en-US" dirty="0"/>
              <a:t>B</a:t>
            </a:r>
            <a:r>
              <a:rPr lang="en-US" sz="400" dirty="0"/>
              <a:t> </a:t>
            </a:r>
            <a:r>
              <a:rPr lang="en-US" dirty="0"/>
              <a:t>SON-</a:t>
            </a:r>
            <a:r>
              <a:rPr lang="en-US" dirty="0" err="1"/>
              <a:t>formato</a:t>
            </a:r>
            <a:r>
              <a:rPr lang="en-US" dirty="0"/>
              <a:t> de </a:t>
            </a:r>
            <a:r>
              <a:rPr lang="en-US" dirty="0" err="1"/>
              <a:t>almacenamiento</a:t>
            </a:r>
            <a:r>
              <a:rPr lang="en-US" dirty="0"/>
              <a:t> </a:t>
            </a:r>
            <a:r>
              <a:rPr lang="en-US" dirty="0" err="1"/>
              <a:t>basado</a:t>
            </a:r>
            <a:r>
              <a:rPr lang="en-US" dirty="0"/>
              <a:t> (Binary J</a:t>
            </a:r>
            <a:r>
              <a:rPr lang="en-US" sz="400" dirty="0"/>
              <a:t> </a:t>
            </a:r>
            <a:r>
              <a:rPr lang="en-US" dirty="0"/>
              <a:t>SON)</a:t>
            </a:r>
            <a:endParaRPr lang="es-CO" dirty="0"/>
          </a:p>
        </p:txBody>
      </p:sp>
    </p:spTree>
    <p:extLst>
      <p:ext uri="{BB962C8B-B14F-4D97-AF65-F5344CB8AC3E}">
        <p14:creationId xmlns:p14="http://schemas.microsoft.com/office/powerpoint/2010/main" val="1041644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a:t>Referencias</a:t>
            </a:r>
          </a:p>
        </p:txBody>
      </p:sp>
      <p:sp>
        <p:nvSpPr>
          <p:cNvPr id="3" name="Marcador de contenido 2"/>
          <p:cNvSpPr>
            <a:spLocks noGrp="1"/>
          </p:cNvSpPr>
          <p:nvPr>
            <p:ph idx="1"/>
          </p:nvPr>
        </p:nvSpPr>
        <p:spPr/>
        <p:txBody>
          <a:bodyPr/>
          <a:lstStyle/>
          <a:p>
            <a:r>
              <a:rPr lang="en-US" dirty="0"/>
              <a:t>Modern Database Management.10th Edition. Jeffrey A. Hoffer, V. Ramesh, </a:t>
            </a:r>
            <a:r>
              <a:rPr lang="en-US" dirty="0" err="1"/>
              <a:t>Heikki</a:t>
            </a:r>
            <a:r>
              <a:rPr lang="en-US" dirty="0"/>
              <a:t> Topi. 2018 Pearson Education, Inc.  Publishing as Prentice Hall.</a:t>
            </a:r>
          </a:p>
          <a:p>
            <a:r>
              <a:rPr lang="en-US" sz="2800" dirty="0">
                <a:hlinkClick r:id="rId2"/>
              </a:rPr>
              <a:t>https://www.educba.com/what-is-mongodb/</a:t>
            </a:r>
            <a:endParaRPr lang="en-US" dirty="0"/>
          </a:p>
          <a:p>
            <a:pPr marL="0" indent="0">
              <a:buNone/>
            </a:pPr>
            <a:endParaRPr lang="es-CO" dirty="0"/>
          </a:p>
        </p:txBody>
      </p:sp>
    </p:spTree>
    <p:extLst>
      <p:ext uri="{BB962C8B-B14F-4D97-AF65-F5344CB8AC3E}">
        <p14:creationId xmlns:p14="http://schemas.microsoft.com/office/powerpoint/2010/main" val="29101012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601</TotalTime>
  <Words>591</Words>
  <Application>Microsoft Office PowerPoint</Application>
  <PresentationFormat>Widescreen</PresentationFormat>
  <Paragraphs>54</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Noto Sans Symbols</vt:lpstr>
      <vt:lpstr>Times New Roman</vt:lpstr>
      <vt:lpstr>Tema de Office</vt:lpstr>
      <vt:lpstr>No SQL</vt:lpstr>
      <vt:lpstr>MongoDB</vt:lpstr>
      <vt:lpstr>MongoDB Features</vt:lpstr>
      <vt:lpstr>MongoDB Features</vt:lpstr>
      <vt:lpstr>MongoDB Features</vt:lpstr>
      <vt:lpstr>MongoDB Features</vt:lpstr>
      <vt:lpstr>MongoDB Features</vt:lpstr>
      <vt:lpstr>MongoDB Features</vt:lpstr>
      <vt:lpstr>MongoDB Features</vt:lpstr>
      <vt:lpstr>Key Components of MongoDB</vt:lpstr>
      <vt:lpstr>MongoDB Embedding Model</vt:lpstr>
      <vt:lpstr>MongoDB Referencing Model</vt:lpstr>
      <vt:lpstr>Key Components of MongoDB Architecture</vt:lpstr>
      <vt:lpstr>Key Components of MongoDB Architecture</vt:lpstr>
      <vt:lpstr>Key Components of MongoDB Architecture</vt:lpstr>
      <vt:lpstr>Key Components of MongoDB Architecture</vt:lpstr>
      <vt:lpstr>Key Components of MongoDB Architecture</vt:lpstr>
      <vt:lpstr>Referencias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Julio Ernesto Carreno Vargas</dc:creator>
  <cp:lastModifiedBy>Julio Ernesto Carreno Vargas</cp:lastModifiedBy>
  <cp:revision>50</cp:revision>
  <dcterms:created xsi:type="dcterms:W3CDTF">2019-05-10T15:18:05Z</dcterms:created>
  <dcterms:modified xsi:type="dcterms:W3CDTF">2021-06-17T13:03:57Z</dcterms:modified>
</cp:coreProperties>
</file>