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ngvGzuBdzObjAf3qfkBfjDDve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19"/>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3" name="Google Shape;23;p19"/>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lvl1pPr indent="-330200" lvl="0" marL="457200" marR="0" algn="l">
              <a:lnSpc>
                <a:spcPct val="90000"/>
              </a:lnSpc>
              <a:spcBef>
                <a:spcPts val="1500"/>
              </a:spcBef>
              <a:spcAft>
                <a:spcPts val="0"/>
              </a:spcAft>
              <a:buClr>
                <a:srgbClr val="007FA3"/>
              </a:buClr>
              <a:buSzPts val="1600"/>
              <a:buFont typeface="Arial"/>
              <a:buChar char="•"/>
              <a:defRPr b="0" i="0" sz="1600" u="none" cap="none" strike="noStrike">
                <a:solidFill>
                  <a:schemeClr val="dk1"/>
                </a:solidFill>
                <a:latin typeface="Calibri"/>
                <a:ea typeface="Calibri"/>
                <a:cs typeface="Calibri"/>
                <a:sym typeface="Calibri"/>
              </a:defRPr>
            </a:lvl1pPr>
            <a:lvl2pPr indent="-330200" lvl="1" marL="914400" marR="0" algn="l">
              <a:lnSpc>
                <a:spcPct val="90000"/>
              </a:lnSpc>
              <a:spcBef>
                <a:spcPts val="600"/>
              </a:spcBef>
              <a:spcAft>
                <a:spcPts val="0"/>
              </a:spcAft>
              <a:buClr>
                <a:srgbClr val="007FA3"/>
              </a:buClr>
              <a:buSzPts val="1600"/>
              <a:buFont typeface="Arial"/>
              <a:buChar char="–"/>
              <a:defRPr b="0" i="0" sz="1600" u="none" cap="none" strike="noStrike">
                <a:solidFill>
                  <a:schemeClr val="dk1"/>
                </a:solidFill>
                <a:latin typeface="Calibri"/>
                <a:ea typeface="Calibri"/>
                <a:cs typeface="Calibri"/>
                <a:sym typeface="Calibri"/>
              </a:defRPr>
            </a:lvl2pPr>
            <a:lvl3pPr indent="-381000" lvl="2" marL="1371600" marR="0" algn="l">
              <a:lnSpc>
                <a:spcPct val="90000"/>
              </a:lnSpc>
              <a:spcBef>
                <a:spcPts val="600"/>
              </a:spcBef>
              <a:spcAft>
                <a:spcPts val="0"/>
              </a:spcAft>
              <a:buClr>
                <a:srgbClr val="007FA3"/>
              </a:buClr>
              <a:buSzPts val="2400"/>
              <a:buFont typeface="Noto Sans Symbols"/>
              <a:buChar char="▪"/>
              <a:defRPr b="0" i="0" sz="2400" u="none" cap="none" strike="noStrike">
                <a:solidFill>
                  <a:schemeClr val="dk1"/>
                </a:solidFill>
                <a:latin typeface="Calibri"/>
                <a:ea typeface="Calibri"/>
                <a:cs typeface="Calibri"/>
                <a:sym typeface="Calibri"/>
              </a:defRPr>
            </a:lvl3pPr>
            <a:lvl4pPr indent="-330200" lvl="3" marL="1828800" marR="0" algn="l">
              <a:lnSpc>
                <a:spcPct val="9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9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9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9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9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9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4" name="Shape 24"/>
        <p:cNvGrpSpPr/>
        <p:nvPr/>
      </p:nvGrpSpPr>
      <p:grpSpPr>
        <a:xfrm>
          <a:off x="0" y="0"/>
          <a:ext cx="0" cy="0"/>
          <a:chOff x="0" y="0"/>
          <a:chExt cx="0" cy="0"/>
        </a:xfrm>
      </p:grpSpPr>
      <p:sp>
        <p:nvSpPr>
          <p:cNvPr id="25" name="Google Shape;2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0" name="Shape 30"/>
        <p:cNvGrpSpPr/>
        <p:nvPr/>
      </p:nvGrpSpPr>
      <p:grpSpPr>
        <a:xfrm>
          <a:off x="0" y="0"/>
          <a:ext cx="0" cy="0"/>
          <a:chOff x="0" y="0"/>
          <a:chExt cx="0" cy="0"/>
        </a:xfrm>
      </p:grpSpPr>
      <p:sp>
        <p:nvSpPr>
          <p:cNvPr id="31" name="Google Shape;31;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 name="Shape 36"/>
        <p:cNvGrpSpPr/>
        <p:nvPr/>
      </p:nvGrpSpPr>
      <p:grpSpPr>
        <a:xfrm>
          <a:off x="0" y="0"/>
          <a:ext cx="0" cy="0"/>
          <a:chOff x="0" y="0"/>
          <a:chExt cx="0" cy="0"/>
        </a:xfrm>
      </p:grpSpPr>
      <p:sp>
        <p:nvSpPr>
          <p:cNvPr id="37" name="Google Shape;3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2" name="Shape 52"/>
        <p:cNvGrpSpPr/>
        <p:nvPr/>
      </p:nvGrpSpPr>
      <p:grpSpPr>
        <a:xfrm>
          <a:off x="0" y="0"/>
          <a:ext cx="0" cy="0"/>
          <a:chOff x="0" y="0"/>
          <a:chExt cx="0" cy="0"/>
        </a:xfrm>
      </p:grpSpPr>
      <p:sp>
        <p:nvSpPr>
          <p:cNvPr id="53" name="Google Shape;5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7" name="Shape 57"/>
        <p:cNvGrpSpPr/>
        <p:nvPr/>
      </p:nvGrpSpPr>
      <p:grpSpPr>
        <a:xfrm>
          <a:off x="0" y="0"/>
          <a:ext cx="0" cy="0"/>
          <a:chOff x="0" y="0"/>
          <a:chExt cx="0" cy="0"/>
        </a:xfrm>
      </p:grpSpPr>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p:nvPr>
            <p:ph idx="2" type="pic"/>
          </p:nvPr>
        </p:nvSpPr>
        <p:spPr>
          <a:xfrm>
            <a:off x="5183188" y="987425"/>
            <a:ext cx="6172200" cy="4873625"/>
          </a:xfrm>
          <a:prstGeom prst="rect">
            <a:avLst/>
          </a:prstGeom>
          <a:noFill/>
          <a:ln>
            <a:noFill/>
          </a:ln>
        </p:spPr>
      </p:sp>
      <p:sp>
        <p:nvSpPr>
          <p:cNvPr id="71" name="Google Shape;71;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educba.com/what-is-nosql-databa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No SQL</a:t>
            </a:r>
            <a:endParaRPr/>
          </a:p>
        </p:txBody>
      </p:sp>
      <p:sp>
        <p:nvSpPr>
          <p:cNvPr id="92" name="Google Shape;9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Julio Carreño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No</a:t>
            </a:r>
            <a:r>
              <a:rPr lang="en-US" sz="100"/>
              <a:t> </a:t>
            </a:r>
            <a:r>
              <a:rPr lang="en-US"/>
              <a:t>S</a:t>
            </a:r>
            <a:r>
              <a:rPr lang="en-US" sz="100"/>
              <a:t> </a:t>
            </a:r>
            <a:r>
              <a:rPr lang="en-US"/>
              <a:t>Q</a:t>
            </a:r>
            <a:r>
              <a:rPr lang="en-US" sz="100"/>
              <a:t> </a:t>
            </a:r>
            <a:r>
              <a:rPr lang="en-US"/>
              <a:t>L</a:t>
            </a:r>
            <a:endParaRPr b="0" sz="2000"/>
          </a:p>
        </p:txBody>
      </p:sp>
      <p:sp>
        <p:nvSpPr>
          <p:cNvPr id="99" name="Google Shape;99;p2"/>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200"/>
              <a:buFont typeface="Arial"/>
              <a:buChar char="•"/>
            </a:pPr>
            <a:r>
              <a:rPr lang="en-US" sz="2200"/>
              <a:t>No</a:t>
            </a:r>
            <a:r>
              <a:rPr lang="en-US" sz="100"/>
              <a:t> </a:t>
            </a:r>
            <a:r>
              <a:rPr lang="en-US" sz="2200"/>
              <a:t>S</a:t>
            </a:r>
            <a:r>
              <a:rPr lang="en-US" sz="100"/>
              <a:t> </a:t>
            </a:r>
            <a:r>
              <a:rPr lang="en-US" sz="2200"/>
              <a:t>Q</a:t>
            </a:r>
            <a:r>
              <a:rPr lang="en-US" sz="100"/>
              <a:t> </a:t>
            </a:r>
            <a:r>
              <a:rPr lang="en-US" sz="2200"/>
              <a:t>L = Not Only S</a:t>
            </a:r>
            <a:r>
              <a:rPr lang="en-US" sz="100"/>
              <a:t> </a:t>
            </a:r>
            <a:r>
              <a:rPr lang="en-US" sz="2200"/>
              <a:t>Q</a:t>
            </a:r>
            <a:r>
              <a:rPr lang="en-US" sz="100"/>
              <a:t> </a:t>
            </a:r>
            <a:r>
              <a:rPr lang="en-US" sz="2200"/>
              <a:t>L</a:t>
            </a:r>
            <a:endParaRPr/>
          </a:p>
        </p:txBody>
      </p:sp>
      <p:pic>
        <p:nvPicPr>
          <p:cNvPr descr="Diagram&#10;&#10;Description automatically generated" id="100" name="Google Shape;100;p2"/>
          <p:cNvPicPr preferRelativeResize="0"/>
          <p:nvPr/>
        </p:nvPicPr>
        <p:blipFill rotWithShape="1">
          <a:blip r:embed="rId3">
            <a:alphaModFix/>
          </a:blip>
          <a:srcRect b="5190" l="0" r="0" t="0"/>
          <a:stretch/>
        </p:blipFill>
        <p:spPr>
          <a:xfrm>
            <a:off x="2476500" y="2346540"/>
            <a:ext cx="7239000" cy="392832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No</a:t>
            </a:r>
            <a:r>
              <a:rPr lang="en-US" sz="100"/>
              <a:t> </a:t>
            </a:r>
            <a:r>
              <a:rPr lang="en-US"/>
              <a:t>S</a:t>
            </a:r>
            <a:r>
              <a:rPr lang="en-US" sz="100"/>
              <a:t> </a:t>
            </a:r>
            <a:r>
              <a:rPr lang="en-US"/>
              <a:t>Q</a:t>
            </a:r>
            <a:r>
              <a:rPr lang="en-US" sz="100"/>
              <a:t> </a:t>
            </a:r>
            <a:r>
              <a:rPr lang="en-US"/>
              <a:t>L</a:t>
            </a:r>
            <a:endParaRPr b="0" sz="2000"/>
          </a:p>
        </p:txBody>
      </p:sp>
      <p:sp>
        <p:nvSpPr>
          <p:cNvPr id="107" name="Google Shape;107;p3"/>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Una categoría de tecnologías de </a:t>
            </a:r>
            <a:r>
              <a:rPr lang="en-US" sz="2800" u="sng"/>
              <a:t>almacenamiento</a:t>
            </a:r>
            <a:r>
              <a:rPr lang="en-US" sz="2800"/>
              <a:t> y </a:t>
            </a:r>
            <a:r>
              <a:rPr lang="en-US" sz="2800" u="sng"/>
              <a:t>recuperación</a:t>
            </a:r>
            <a:r>
              <a:rPr lang="en-US" sz="2800"/>
              <a:t> de datos recientemente introducidas que no se basan en el modelo relacional</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Schema on Write vs. Schema on Read</a:t>
            </a:r>
            <a:endParaRPr b="0"/>
          </a:p>
        </p:txBody>
      </p:sp>
      <p:sp>
        <p:nvSpPr>
          <p:cNvPr id="114" name="Google Shape;114;p4"/>
          <p:cNvSpPr txBox="1"/>
          <p:nvPr>
            <p:ph idx="1" type="body"/>
          </p:nvPr>
        </p:nvSpPr>
        <p:spPr>
          <a:xfrm>
            <a:off x="609600" y="1600201"/>
            <a:ext cx="4896051" cy="4525963"/>
          </a:xfrm>
          <a:prstGeom prst="rect">
            <a:avLst/>
          </a:prstGeom>
          <a:noFill/>
          <a:ln>
            <a:noFill/>
          </a:ln>
        </p:spPr>
        <p:txBody>
          <a:bodyPr anchorCtr="0" anchor="t" bIns="91425" lIns="91425" spcFirstLastPara="1" rIns="91425" wrap="square" tIns="91425">
            <a:normAutofit/>
          </a:bodyPr>
          <a:lstStyle/>
          <a:p>
            <a:pPr indent="-253314" lvl="0" marL="253314" rtl="0" algn="l">
              <a:lnSpc>
                <a:spcPct val="90000"/>
              </a:lnSpc>
              <a:spcBef>
                <a:spcPts val="0"/>
              </a:spcBef>
              <a:spcAft>
                <a:spcPts val="0"/>
              </a:spcAft>
              <a:buSzPts val="2200"/>
              <a:buChar char="•"/>
            </a:pPr>
            <a:r>
              <a:rPr lang="en-US" sz="2200"/>
              <a:t>Schema on Write – modelo de datos preexistente, cómo se diseñan las bases de datos tradicionales (bases de datos relacionales)</a:t>
            </a:r>
            <a:endParaRPr sz="2200"/>
          </a:p>
          <a:p>
            <a:pPr indent="-253314" lvl="0" marL="253314" rtl="0" algn="l">
              <a:lnSpc>
                <a:spcPct val="90000"/>
              </a:lnSpc>
              <a:spcBef>
                <a:spcPts val="1500"/>
              </a:spcBef>
              <a:spcAft>
                <a:spcPts val="0"/>
              </a:spcAft>
              <a:buSzPts val="2200"/>
              <a:buChar char="•"/>
            </a:pPr>
            <a:r>
              <a:rPr lang="en-US" sz="2200"/>
              <a:t>Schema on Read – modelo de datos determinado más adelante, depende de cómo desea utilizarlo (X M L, J SON)</a:t>
            </a:r>
            <a:endParaRPr sz="2200"/>
          </a:p>
          <a:p>
            <a:pPr indent="-283464" lvl="1" marL="740664" rtl="0" algn="l">
              <a:lnSpc>
                <a:spcPct val="90000"/>
              </a:lnSpc>
              <a:spcBef>
                <a:spcPts val="600"/>
              </a:spcBef>
              <a:spcAft>
                <a:spcPts val="0"/>
              </a:spcAft>
              <a:buSzPts val="2200"/>
              <a:buChar char="–"/>
            </a:pPr>
            <a:r>
              <a:rPr lang="en-US" sz="2200" u="sng"/>
              <a:t>Capture y almacene los datos, y preocúpese de cómo desea usarlos más adelante</a:t>
            </a:r>
            <a:endParaRPr sz="2200" u="sng"/>
          </a:p>
        </p:txBody>
      </p:sp>
      <p:pic>
        <p:nvPicPr>
          <p:cNvPr descr="An illustration depicts the difference between Schema on write and Schema on read. The schema on write model shows four steps, flowing from one to another in the following order. Requirements gathering and structuring. Formal data modeling process. Database schema. Database use based on the predefined schema. Schema on read model shows four steps which flow from one to another in the following order. Collecting large amounts of data with locally defined structures, for example using J SON or X M L. Storing the data in a data lake. Analyzing the stored data to identify meaningful ways to structure it. Structuring and organizing the data during the data analysis process." id="115" name="Google Shape;115;p4"/>
          <p:cNvPicPr preferRelativeResize="0"/>
          <p:nvPr/>
        </p:nvPicPr>
        <p:blipFill rotWithShape="1">
          <a:blip r:embed="rId3">
            <a:alphaModFix/>
          </a:blip>
          <a:srcRect b="0" l="0" r="0" t="0"/>
          <a:stretch/>
        </p:blipFill>
        <p:spPr>
          <a:xfrm>
            <a:off x="5626462" y="1694045"/>
            <a:ext cx="6250146" cy="4428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Esquemas dinámicos</a:t>
            </a:r>
            <a:endParaRPr/>
          </a:p>
        </p:txBody>
      </p:sp>
      <p:sp>
        <p:nvSpPr>
          <p:cNvPr id="121" name="Google Shape;121;p5"/>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Las bases de datos NoSQL permiten insertar los datos sin un esquema predefinido. </a:t>
            </a:r>
            <a:endParaRPr/>
          </a:p>
          <a:p>
            <a:pPr indent="-255600" lvl="0" marL="255600" marR="0" rtl="0" algn="l">
              <a:lnSpc>
                <a:spcPct val="90000"/>
              </a:lnSpc>
              <a:spcBef>
                <a:spcPts val="1500"/>
              </a:spcBef>
              <a:spcAft>
                <a:spcPts val="0"/>
              </a:spcAft>
              <a:buClr>
                <a:srgbClr val="007FA3"/>
              </a:buClr>
              <a:buSzPts val="2800"/>
              <a:buFont typeface="Arial"/>
              <a:buChar char="•"/>
            </a:pPr>
            <a:r>
              <a:rPr lang="en-US" sz="2800"/>
              <a:t>Schema-less</a:t>
            </a:r>
            <a:endParaRPr/>
          </a:p>
          <a:p>
            <a:pPr indent="-255600" lvl="0" marL="255600" marR="0" rtl="0" algn="l">
              <a:lnSpc>
                <a:spcPct val="90000"/>
              </a:lnSpc>
              <a:spcBef>
                <a:spcPts val="1500"/>
              </a:spcBef>
              <a:spcAft>
                <a:spcPts val="0"/>
              </a:spcAft>
              <a:buClr>
                <a:srgbClr val="007FA3"/>
              </a:buClr>
              <a:buSzPts val="2800"/>
              <a:buFont typeface="Arial"/>
              <a:buChar char="•"/>
            </a:pPr>
            <a:r>
              <a:rPr lang="en-US" sz="2800"/>
              <a:t>No se require null</a:t>
            </a:r>
            <a:endParaRPr/>
          </a:p>
          <a:p>
            <a:pPr indent="-255600" lvl="0" marL="255600" marR="0" rtl="0" algn="l">
              <a:lnSpc>
                <a:spcPct val="90000"/>
              </a:lnSpc>
              <a:spcBef>
                <a:spcPts val="1500"/>
              </a:spcBef>
              <a:spcAft>
                <a:spcPts val="0"/>
              </a:spcAft>
              <a:buClr>
                <a:srgbClr val="007FA3"/>
              </a:buClr>
              <a:buSzPts val="2800"/>
              <a:buFont typeface="Arial"/>
              <a:buChar char="•"/>
            </a:pPr>
            <a:r>
              <a:rPr lang="en-US" sz="2800"/>
              <a:t>No hay tipos estrictos</a:t>
            </a:r>
            <a:endParaRPr sz="2800"/>
          </a:p>
        </p:txBody>
      </p:sp>
      <p:pic>
        <p:nvPicPr>
          <p:cNvPr id="122" name="Google Shape;122;p5"/>
          <p:cNvPicPr preferRelativeResize="0"/>
          <p:nvPr/>
        </p:nvPicPr>
        <p:blipFill rotWithShape="1">
          <a:blip r:embed="rId3">
            <a:alphaModFix/>
          </a:blip>
          <a:srcRect b="0" l="0" r="0" t="0"/>
          <a:stretch/>
        </p:blipFill>
        <p:spPr>
          <a:xfrm>
            <a:off x="4042151" y="4354918"/>
            <a:ext cx="1571625" cy="742950"/>
          </a:xfrm>
          <a:prstGeom prst="rect">
            <a:avLst/>
          </a:prstGeom>
          <a:noFill/>
          <a:ln>
            <a:noFill/>
          </a:ln>
        </p:spPr>
      </p:pic>
      <p:pic>
        <p:nvPicPr>
          <p:cNvPr id="123" name="Google Shape;123;p5"/>
          <p:cNvPicPr preferRelativeResize="0"/>
          <p:nvPr/>
        </p:nvPicPr>
        <p:blipFill rotWithShape="1">
          <a:blip r:embed="rId4">
            <a:alphaModFix/>
          </a:blip>
          <a:srcRect b="-1" l="0" r="0" t="6416"/>
          <a:stretch/>
        </p:blipFill>
        <p:spPr>
          <a:xfrm>
            <a:off x="6441923" y="4259958"/>
            <a:ext cx="1819275" cy="8379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b="1" lang="en-US"/>
              <a:t>SQL vs NoSQL</a:t>
            </a:r>
            <a:endParaRPr/>
          </a:p>
        </p:txBody>
      </p:sp>
      <p:sp>
        <p:nvSpPr>
          <p:cNvPr id="129" name="Google Shape;129;p6"/>
          <p:cNvSpPr txBox="1"/>
          <p:nvPr>
            <p:ph idx="1" type="body"/>
          </p:nvPr>
        </p:nvSpPr>
        <p:spPr>
          <a:xfrm>
            <a:off x="424961" y="1248509"/>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SQL</a:t>
            </a:r>
            <a:endParaRPr/>
          </a:p>
          <a:p>
            <a:pPr indent="-283464" lvl="1" marL="742950" rtl="0" algn="l">
              <a:lnSpc>
                <a:spcPct val="90000"/>
              </a:lnSpc>
              <a:spcBef>
                <a:spcPts val="600"/>
              </a:spcBef>
              <a:spcAft>
                <a:spcPts val="0"/>
              </a:spcAft>
              <a:buSzPts val="2800"/>
              <a:buChar char="–"/>
            </a:pPr>
            <a:r>
              <a:rPr lang="en-US" sz="2800"/>
              <a:t>Los tipos de datos y la estructura se fijan de antemano. </a:t>
            </a:r>
            <a:endParaRPr sz="2800"/>
          </a:p>
          <a:p>
            <a:pPr indent="-283464" lvl="1" marL="742950" rtl="0" algn="l">
              <a:lnSpc>
                <a:spcPct val="90000"/>
              </a:lnSpc>
              <a:spcBef>
                <a:spcPts val="600"/>
              </a:spcBef>
              <a:spcAft>
                <a:spcPts val="0"/>
              </a:spcAft>
              <a:buSzPts val="2800"/>
              <a:buChar char="–"/>
            </a:pPr>
            <a:r>
              <a:rPr lang="en-US" sz="2800"/>
              <a:t>Toda la base de datos debe modificarse para agregar un nuevo elemento de datos.</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No SQL </a:t>
            </a:r>
            <a:endParaRPr/>
          </a:p>
          <a:p>
            <a:pPr indent="-283464" lvl="1" marL="742950" rtl="0" algn="l">
              <a:lnSpc>
                <a:spcPct val="90000"/>
              </a:lnSpc>
              <a:spcBef>
                <a:spcPts val="600"/>
              </a:spcBef>
              <a:spcAft>
                <a:spcPts val="0"/>
              </a:spcAft>
              <a:buSzPts val="2800"/>
              <a:buChar char="–"/>
            </a:pPr>
            <a:r>
              <a:rPr lang="en-US" sz="2800"/>
              <a:t>Almacenamiento dinámico. Los datos con diferentes estructuras se pueden almacenar juntos</a:t>
            </a:r>
            <a:endParaRPr/>
          </a:p>
        </p:txBody>
      </p:sp>
      <p:pic>
        <p:nvPicPr>
          <p:cNvPr id="130" name="Google Shape;130;p6"/>
          <p:cNvPicPr preferRelativeResize="0"/>
          <p:nvPr/>
        </p:nvPicPr>
        <p:blipFill rotWithShape="1">
          <a:blip r:embed="rId3">
            <a:alphaModFix/>
          </a:blip>
          <a:srcRect b="0" l="0" r="0" t="0"/>
          <a:stretch/>
        </p:blipFill>
        <p:spPr>
          <a:xfrm>
            <a:off x="5314583" y="4088789"/>
            <a:ext cx="5343525" cy="239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Esquemas dinámicos</a:t>
            </a:r>
            <a:endParaRPr/>
          </a:p>
        </p:txBody>
      </p:sp>
      <p:sp>
        <p:nvSpPr>
          <p:cNvPr id="136" name="Google Shape;136;p7"/>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Los cambios en las aplicaciones en tiempo real se pueden realizar fácilmente sin necesidad de preocuparse por las interrupciones del servicio.</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Esto hace que el desarrollo sea más rápido, más confiable y menos lento para el administrador de la base de datos.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b="1" lang="en-US"/>
              <a:t>SQL vs NoSQL</a:t>
            </a:r>
            <a:endParaRPr/>
          </a:p>
        </p:txBody>
      </p:sp>
      <p:sp>
        <p:nvSpPr>
          <p:cNvPr id="142" name="Google Shape;142;p8"/>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SQL</a:t>
            </a:r>
            <a:endParaRPr/>
          </a:p>
          <a:p>
            <a:pPr indent="-283464" lvl="1" marL="742950" rtl="0" algn="l">
              <a:lnSpc>
                <a:spcPct val="90000"/>
              </a:lnSpc>
              <a:spcBef>
                <a:spcPts val="600"/>
              </a:spcBef>
              <a:spcAft>
                <a:spcPts val="0"/>
              </a:spcAft>
              <a:buSzPts val="2800"/>
              <a:buChar char="–"/>
            </a:pPr>
            <a:r>
              <a:rPr lang="en-US" sz="2800"/>
              <a:t>La velocidad (captura) de los datos es moderada</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No SQL </a:t>
            </a:r>
            <a:endParaRPr/>
          </a:p>
          <a:p>
            <a:pPr indent="-283464" lvl="1" marL="742950" rtl="0" algn="l">
              <a:lnSpc>
                <a:spcPct val="90000"/>
              </a:lnSpc>
              <a:spcBef>
                <a:spcPts val="600"/>
              </a:spcBef>
              <a:spcAft>
                <a:spcPts val="0"/>
              </a:spcAft>
              <a:buSzPts val="2800"/>
              <a:buChar char="–"/>
            </a:pPr>
            <a:r>
              <a:rPr lang="en-US" sz="2800"/>
              <a:t>La velocidad de los datos es muy alta.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b="1" lang="en-US"/>
              <a:t>SQL vs NoSQL</a:t>
            </a:r>
            <a:endParaRPr/>
          </a:p>
        </p:txBody>
      </p:sp>
      <p:sp>
        <p:nvSpPr>
          <p:cNvPr id="148" name="Google Shape;148;p9"/>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SQL</a:t>
            </a:r>
            <a:endParaRPr/>
          </a:p>
          <a:p>
            <a:pPr indent="-283464" lvl="1" marL="742950" rtl="0" algn="l">
              <a:lnSpc>
                <a:spcPct val="90000"/>
              </a:lnSpc>
              <a:spcBef>
                <a:spcPts val="600"/>
              </a:spcBef>
              <a:spcAft>
                <a:spcPts val="0"/>
              </a:spcAft>
              <a:buSzPts val="2800"/>
              <a:buChar char="–"/>
            </a:pPr>
            <a:r>
              <a:rPr lang="en-US" sz="2800"/>
              <a:t>Adecuado para datos estructurados</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No SQL </a:t>
            </a:r>
            <a:endParaRPr/>
          </a:p>
          <a:p>
            <a:pPr indent="-283464" lvl="1" marL="742950" rtl="0" algn="l">
              <a:lnSpc>
                <a:spcPct val="90000"/>
              </a:lnSpc>
              <a:spcBef>
                <a:spcPts val="600"/>
              </a:spcBef>
              <a:spcAft>
                <a:spcPts val="0"/>
              </a:spcAft>
              <a:buSzPts val="2800"/>
              <a:buChar char="–"/>
            </a:pPr>
            <a:r>
              <a:rPr lang="en-US" sz="2800"/>
              <a:t>Adecuado para datos estructurados, semiestructurados y no estructurados.</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b="1" lang="en-US"/>
              <a:t>SQL vs NoSQL</a:t>
            </a:r>
            <a:endParaRPr/>
          </a:p>
        </p:txBody>
      </p:sp>
      <p:sp>
        <p:nvSpPr>
          <p:cNvPr id="154" name="Google Shape;154;p10"/>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SQL</a:t>
            </a:r>
            <a:endParaRPr/>
          </a:p>
          <a:p>
            <a:pPr indent="-283464" lvl="1" marL="742950" rtl="0" algn="l">
              <a:lnSpc>
                <a:spcPct val="90000"/>
              </a:lnSpc>
              <a:spcBef>
                <a:spcPts val="600"/>
              </a:spcBef>
              <a:spcAft>
                <a:spcPts val="0"/>
              </a:spcAft>
              <a:buSzPts val="2800"/>
              <a:buChar char="–"/>
            </a:pPr>
            <a:r>
              <a:rPr lang="en-US" sz="2800"/>
              <a:t>Datos “normalizados”, se usan JOINS para vincular tablas</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No SQL </a:t>
            </a:r>
            <a:endParaRPr/>
          </a:p>
          <a:p>
            <a:pPr indent="-283464" lvl="1" marL="742950" rtl="0" algn="l">
              <a:lnSpc>
                <a:spcPct val="90000"/>
              </a:lnSpc>
              <a:spcBef>
                <a:spcPts val="600"/>
              </a:spcBef>
              <a:spcAft>
                <a:spcPts val="0"/>
              </a:spcAft>
              <a:buSzPts val="2800"/>
              <a:buChar char="–"/>
            </a:pPr>
            <a:r>
              <a:rPr lang="en-US" sz="2800"/>
              <a:t>Datos “denormalizados” : redundantes, anidados, los datos relacionados se presentan en un solo registro</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b="1" lang="en-US"/>
              <a:t>SQL vs NoSQL</a:t>
            </a:r>
            <a:endParaRPr/>
          </a:p>
        </p:txBody>
      </p:sp>
      <p:sp>
        <p:nvSpPr>
          <p:cNvPr id="160" name="Google Shape;160;p11"/>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800"/>
              <a:buFont typeface="Arial"/>
              <a:buChar char="•"/>
            </a:pPr>
            <a:r>
              <a:rPr lang="en-US" sz="2800"/>
              <a:t>SQL</a:t>
            </a:r>
            <a:endParaRPr/>
          </a:p>
          <a:p>
            <a:pPr indent="-283464" lvl="1" marL="742950" rtl="0" algn="l">
              <a:lnSpc>
                <a:spcPct val="90000"/>
              </a:lnSpc>
              <a:spcBef>
                <a:spcPts val="600"/>
              </a:spcBef>
              <a:spcAft>
                <a:spcPts val="0"/>
              </a:spcAft>
              <a:buSzPts val="2800"/>
              <a:buChar char="–"/>
            </a:pPr>
            <a:r>
              <a:rPr lang="en-US" sz="2800"/>
              <a:t>El DBMS conoce el esquema de la BD; los esquemas se deben mantener sincronizados entre las aplicaciones y la base de datos</a:t>
            </a:r>
            <a:endParaRPr sz="2800"/>
          </a:p>
          <a:p>
            <a:pPr indent="-255600" lvl="0" marL="255600" marR="0" rtl="0" algn="l">
              <a:lnSpc>
                <a:spcPct val="90000"/>
              </a:lnSpc>
              <a:spcBef>
                <a:spcPts val="1500"/>
              </a:spcBef>
              <a:spcAft>
                <a:spcPts val="0"/>
              </a:spcAft>
              <a:buClr>
                <a:srgbClr val="007FA3"/>
              </a:buClr>
              <a:buSzPts val="2800"/>
              <a:buFont typeface="Arial"/>
              <a:buChar char="•"/>
            </a:pPr>
            <a:r>
              <a:rPr lang="en-US" sz="2800"/>
              <a:t>No SQL </a:t>
            </a:r>
            <a:endParaRPr/>
          </a:p>
          <a:p>
            <a:pPr indent="-283464" lvl="1" marL="742950" rtl="0" algn="l">
              <a:lnSpc>
                <a:spcPct val="90000"/>
              </a:lnSpc>
              <a:spcBef>
                <a:spcPts val="600"/>
              </a:spcBef>
              <a:spcAft>
                <a:spcPts val="0"/>
              </a:spcAft>
              <a:buSzPts val="2800"/>
              <a:buChar char="–"/>
            </a:pPr>
            <a:r>
              <a:rPr lang="en-US" sz="2800"/>
              <a:t>El DBMS NO conoce el esquema de la BD; los esquemas se dan en las aplicaciones.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No</a:t>
            </a:r>
            <a:r>
              <a:rPr lang="en-US" sz="100"/>
              <a:t> </a:t>
            </a:r>
            <a:r>
              <a:rPr lang="en-US"/>
              <a:t>S</a:t>
            </a:r>
            <a:r>
              <a:rPr lang="en-US" sz="100"/>
              <a:t> </a:t>
            </a:r>
            <a:r>
              <a:rPr lang="en-US"/>
              <a:t>Q</a:t>
            </a:r>
            <a:r>
              <a:rPr lang="en-US" sz="100"/>
              <a:t> </a:t>
            </a:r>
            <a:r>
              <a:rPr lang="en-US"/>
              <a:t>L</a:t>
            </a:r>
            <a:endParaRPr b="0" sz="2000"/>
          </a:p>
        </p:txBody>
      </p:sp>
      <p:sp>
        <p:nvSpPr>
          <p:cNvPr id="167" name="Google Shape;167;p12"/>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a:bodyPr>
          <a:lstStyle/>
          <a:p>
            <a:pPr indent="-255600" lvl="0" marL="255600" rtl="0" algn="l">
              <a:lnSpc>
                <a:spcPct val="90000"/>
              </a:lnSpc>
              <a:spcBef>
                <a:spcPts val="0"/>
              </a:spcBef>
              <a:spcAft>
                <a:spcPts val="0"/>
              </a:spcAft>
              <a:buSzPts val="2200"/>
              <a:buChar char="•"/>
            </a:pPr>
            <a:r>
              <a:rPr lang="en-US" sz="2200"/>
              <a:t>Schema on Read, en lugar de Schema on Write</a:t>
            </a:r>
            <a:endParaRPr/>
          </a:p>
        </p:txBody>
      </p:sp>
      <p:pic>
        <p:nvPicPr>
          <p:cNvPr id="168" name="Google Shape;168;p12"/>
          <p:cNvPicPr preferRelativeResize="0"/>
          <p:nvPr/>
        </p:nvPicPr>
        <p:blipFill rotWithShape="1">
          <a:blip r:embed="rId3">
            <a:alphaModFix/>
          </a:blip>
          <a:srcRect b="0" l="0" r="0" t="0"/>
          <a:stretch/>
        </p:blipFill>
        <p:spPr>
          <a:xfrm>
            <a:off x="2300631" y="2211941"/>
            <a:ext cx="7590738" cy="3673592"/>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FA3"/>
              </a:buClr>
              <a:buSzPts val="3400"/>
              <a:buFont typeface="Times New Roman"/>
              <a:buNone/>
            </a:pPr>
            <a:r>
              <a:rPr b="1" lang="en-US" sz="3400">
                <a:solidFill>
                  <a:srgbClr val="007FA3"/>
                </a:solidFill>
                <a:latin typeface="Times New Roman"/>
                <a:ea typeface="Times New Roman"/>
                <a:cs typeface="Times New Roman"/>
                <a:sym typeface="Times New Roman"/>
              </a:rPr>
              <a:t>No SQL Classifications</a:t>
            </a:r>
            <a:endParaRPr b="1" sz="3400">
              <a:solidFill>
                <a:srgbClr val="007FA3"/>
              </a:solidFill>
              <a:latin typeface="Times New Roman"/>
              <a:ea typeface="Times New Roman"/>
              <a:cs typeface="Times New Roman"/>
              <a:sym typeface="Times New Roman"/>
            </a:endParaRPr>
          </a:p>
        </p:txBody>
      </p:sp>
      <p:sp>
        <p:nvSpPr>
          <p:cNvPr id="174" name="Google Shape;174;p13"/>
          <p:cNvSpPr txBox="1"/>
          <p:nvPr>
            <p:ph idx="1" type="body"/>
          </p:nvPr>
        </p:nvSpPr>
        <p:spPr>
          <a:xfrm>
            <a:off x="838200" y="136361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Un sistema de base de datos NoSQL abarca una amplia gama de tecnologías de base de datos que pueden almacenar datos estructurados, semiestructurados y no estructurados. </a:t>
            </a:r>
            <a:endParaRPr/>
          </a:p>
          <a:p>
            <a:pPr indent="-228600" lvl="0" marL="228600" rtl="0" algn="l">
              <a:lnSpc>
                <a:spcPct val="90000"/>
              </a:lnSpc>
              <a:spcBef>
                <a:spcPts val="1000"/>
              </a:spcBef>
              <a:spcAft>
                <a:spcPts val="0"/>
              </a:spcAft>
              <a:buClr>
                <a:schemeClr val="dk1"/>
              </a:buClr>
              <a:buSzPts val="2800"/>
              <a:buChar char="•"/>
            </a:pPr>
            <a:r>
              <a:rPr lang="en-US"/>
              <a:t>Cada BD tiene su propio lenguaje de consultas que principalmente se usan mediante API (orientadas a objetos por ejemplos, QL)</a:t>
            </a:r>
            <a:endParaRPr/>
          </a:p>
        </p:txBody>
      </p:sp>
      <p:pic>
        <p:nvPicPr>
          <p:cNvPr id="175" name="Google Shape;175;p13"/>
          <p:cNvPicPr preferRelativeResize="0"/>
          <p:nvPr/>
        </p:nvPicPr>
        <p:blipFill rotWithShape="1">
          <a:blip r:embed="rId3">
            <a:alphaModFix/>
          </a:blip>
          <a:srcRect b="0" l="0" r="0" t="0"/>
          <a:stretch/>
        </p:blipFill>
        <p:spPr>
          <a:xfrm>
            <a:off x="2853038" y="3574656"/>
            <a:ext cx="5164805" cy="275907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No</a:t>
            </a:r>
            <a:r>
              <a:rPr lang="en-US" sz="100"/>
              <a:t> </a:t>
            </a:r>
            <a:r>
              <a:rPr lang="en-US"/>
              <a:t>S</a:t>
            </a:r>
            <a:r>
              <a:rPr lang="en-US" sz="100"/>
              <a:t> </a:t>
            </a:r>
            <a:r>
              <a:rPr lang="en-US"/>
              <a:t>Q</a:t>
            </a:r>
            <a:r>
              <a:rPr lang="en-US" sz="100"/>
              <a:t> </a:t>
            </a:r>
            <a:r>
              <a:rPr lang="en-US"/>
              <a:t>L Classifications</a:t>
            </a:r>
            <a:endParaRPr b="0" sz="2000"/>
          </a:p>
        </p:txBody>
      </p:sp>
      <p:sp>
        <p:nvSpPr>
          <p:cNvPr id="182" name="Google Shape;182;p14"/>
          <p:cNvSpPr txBox="1"/>
          <p:nvPr>
            <p:ph idx="1" type="body"/>
          </p:nvPr>
        </p:nvSpPr>
        <p:spPr>
          <a:xfrm>
            <a:off x="770021" y="1600201"/>
            <a:ext cx="9440779" cy="4412672"/>
          </a:xfrm>
          <a:prstGeom prst="rect">
            <a:avLst/>
          </a:prstGeom>
          <a:noFill/>
          <a:ln>
            <a:noFill/>
          </a:ln>
        </p:spPr>
        <p:txBody>
          <a:bodyPr anchorCtr="0" anchor="t" bIns="91425" lIns="91425" spcFirstLastPara="1" rIns="91425" wrap="square" tIns="91425">
            <a:normAutofit/>
          </a:bodyPr>
          <a:lstStyle/>
          <a:p>
            <a:pPr indent="-255600" lvl="0" marL="255600" marR="0" rtl="0" algn="l">
              <a:lnSpc>
                <a:spcPct val="90000"/>
              </a:lnSpc>
              <a:spcBef>
                <a:spcPts val="0"/>
              </a:spcBef>
              <a:spcAft>
                <a:spcPts val="0"/>
              </a:spcAft>
              <a:buClr>
                <a:srgbClr val="007FA3"/>
              </a:buClr>
              <a:buSzPts val="2400"/>
              <a:buFont typeface="Arial"/>
              <a:buChar char="•"/>
            </a:pPr>
            <a:r>
              <a:rPr lang="en-US" sz="2400">
                <a:solidFill>
                  <a:schemeClr val="dk1"/>
                </a:solidFill>
              </a:rPr>
              <a:t>Document stores</a:t>
            </a:r>
            <a:endParaRPr/>
          </a:p>
          <a:p>
            <a:pPr indent="-283464" lvl="1" marL="742950" rtl="0" algn="l">
              <a:lnSpc>
                <a:spcPct val="90000"/>
              </a:lnSpc>
              <a:spcBef>
                <a:spcPts val="600"/>
              </a:spcBef>
              <a:spcAft>
                <a:spcPts val="0"/>
              </a:spcAft>
              <a:buClr>
                <a:schemeClr val="dk2"/>
              </a:buClr>
              <a:buSzPts val="2400"/>
              <a:buChar char="–"/>
            </a:pPr>
            <a:r>
              <a:rPr lang="en-US" sz="2400">
                <a:solidFill>
                  <a:schemeClr val="dk1"/>
                </a:solidFill>
              </a:rPr>
              <a:t>Como un almacén de clave-valor, pero “document” va más allá de “value”.</a:t>
            </a:r>
            <a:endParaRPr/>
          </a:p>
          <a:p>
            <a:pPr indent="-283464" lvl="1" marL="742950" rtl="0" algn="l">
              <a:lnSpc>
                <a:spcPct val="90000"/>
              </a:lnSpc>
              <a:spcBef>
                <a:spcPts val="600"/>
              </a:spcBef>
              <a:spcAft>
                <a:spcPts val="0"/>
              </a:spcAft>
              <a:buClr>
                <a:schemeClr val="dk2"/>
              </a:buClr>
              <a:buSzPts val="2400"/>
              <a:buChar char="–"/>
            </a:pPr>
            <a:r>
              <a:rPr lang="en-US" sz="2400">
                <a:solidFill>
                  <a:schemeClr val="dk1"/>
                </a:solidFill>
              </a:rPr>
              <a:t>Document está estructurado para que elementos específicos se puedan manipular por separado.</a:t>
            </a:r>
            <a:endParaRPr/>
          </a:p>
          <a:p>
            <a:pPr indent="-283464" lvl="1" marL="742950" rtl="0" algn="l">
              <a:lnSpc>
                <a:spcPct val="90000"/>
              </a:lnSpc>
              <a:spcBef>
                <a:spcPts val="600"/>
              </a:spcBef>
              <a:spcAft>
                <a:spcPts val="0"/>
              </a:spcAft>
              <a:buClr>
                <a:schemeClr val="dk2"/>
              </a:buClr>
              <a:buSzPts val="2400"/>
              <a:buChar char="–"/>
            </a:pPr>
            <a:r>
              <a:rPr lang="en-US" sz="2400">
                <a:solidFill>
                  <a:schemeClr val="dk1"/>
                </a:solidFill>
              </a:rPr>
              <a:t>Example: Mongo</a:t>
            </a:r>
            <a:r>
              <a:rPr lang="en-US" sz="100">
                <a:solidFill>
                  <a:schemeClr val="dk1"/>
                </a:solidFill>
              </a:rPr>
              <a:t> </a:t>
            </a:r>
            <a:r>
              <a:rPr lang="en-US" sz="2400">
                <a:solidFill>
                  <a:schemeClr val="dk1"/>
                </a:solidFill>
              </a:rPr>
              <a:t>D</a:t>
            </a:r>
            <a:r>
              <a:rPr lang="en-US" sz="100">
                <a:solidFill>
                  <a:schemeClr val="dk1"/>
                </a:solidFill>
              </a:rPr>
              <a:t> </a:t>
            </a:r>
            <a:r>
              <a:rPr lang="en-US" sz="2400">
                <a:solidFill>
                  <a:schemeClr val="dk1"/>
                </a:solidFill>
              </a:rPr>
              <a:t>B</a:t>
            </a:r>
            <a:endParaRPr/>
          </a:p>
        </p:txBody>
      </p:sp>
      <p:pic>
        <p:nvPicPr>
          <p:cNvPr descr="An illustration of a four part figure illustrating No S Q L databases. Figure a shows key value store where the key is Prod underscore 1, and the values listed are, number exclamation point 1number sign number sign, name exclamation point Zoom X number sign number sign, and price exclamation point10. Figure b shows document store where the key is Prod underscore 1, and the documents listed are, left bracket double quote number double quote colon 1 comma double quote name double quote colon Zoom X, and double quote price double quote comma 10.00 right bracket. Figure c shows wide column store in the following structure, Left brace double quote P r o d underscore 1 double quote colon left brace double quote D e s c double quote colon left brace double quote colon number double quote colon 1 comma double quote name double quote colon double quote Zoom X double quote right brace comma double quote Value double quote colon left brace double quote price double quote colon 10 right brace right brace comma double quote P r o d underscore 2 double quote colon left brace ellipses. Here, P r o d underscore 1 and P r o d underscore 2 are marked as Row key, D e s c and Value are marked as Column family, and number, name, and price are marked as column label. Figure d shows Graph where five attributes are shown with the following relationships between them. P r o d underscore 1 has member of relationship with P r o d line underscore 1. Prod underscore 1 has number relationship with 1. Prod underscore 1 has name relationship with Zoom X. Prod underscore 1 has price relationship with 10." id="183" name="Google Shape;183;p14"/>
          <p:cNvPicPr preferRelativeResize="0"/>
          <p:nvPr/>
        </p:nvPicPr>
        <p:blipFill rotWithShape="1">
          <a:blip r:embed="rId3">
            <a:alphaModFix/>
          </a:blip>
          <a:srcRect b="62925" l="0" r="0" t="18273"/>
          <a:stretch/>
        </p:blipFill>
        <p:spPr>
          <a:xfrm>
            <a:off x="3166314" y="4004110"/>
            <a:ext cx="5350094" cy="93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type="title"/>
          </p:nvPr>
        </p:nvSpPr>
        <p:spPr>
          <a:xfrm>
            <a:off x="609600" y="215372"/>
            <a:ext cx="10972800" cy="1097279"/>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7FA3"/>
              </a:buClr>
              <a:buSzPts val="3400"/>
              <a:buFont typeface="Times New Roman"/>
              <a:buNone/>
            </a:pPr>
            <a:r>
              <a:rPr lang="en-US"/>
              <a:t>Document Stores</a:t>
            </a:r>
            <a:endParaRPr/>
          </a:p>
        </p:txBody>
      </p:sp>
      <p:sp>
        <p:nvSpPr>
          <p:cNvPr id="189" name="Google Shape;189;p15"/>
          <p:cNvSpPr txBox="1"/>
          <p:nvPr>
            <p:ph idx="1" type="body"/>
          </p:nvPr>
        </p:nvSpPr>
        <p:spPr>
          <a:xfrm>
            <a:off x="609600" y="1600201"/>
            <a:ext cx="10972800" cy="4525963"/>
          </a:xfrm>
          <a:prstGeom prst="rect">
            <a:avLst/>
          </a:prstGeom>
          <a:noFill/>
          <a:ln>
            <a:noFill/>
          </a:ln>
        </p:spPr>
        <p:txBody>
          <a:bodyPr anchorCtr="0" anchor="t" bIns="91425" lIns="91425" spcFirstLastPara="1" rIns="91425" wrap="square" tIns="91425">
            <a:normAutofit lnSpcReduction="10000"/>
          </a:bodyPr>
          <a:lstStyle/>
          <a:p>
            <a:pPr indent="-255600" lvl="0" marL="255600" marR="0" rtl="0" algn="l">
              <a:lnSpc>
                <a:spcPct val="90000"/>
              </a:lnSpc>
              <a:spcBef>
                <a:spcPts val="0"/>
              </a:spcBef>
              <a:spcAft>
                <a:spcPts val="0"/>
              </a:spcAft>
              <a:buClr>
                <a:srgbClr val="007FA3"/>
              </a:buClr>
              <a:buSzPts val="2400"/>
              <a:buFont typeface="Arial"/>
              <a:buChar char="•"/>
            </a:pPr>
            <a:r>
              <a:rPr lang="en-US" sz="2400"/>
              <a:t>Es una colección de documentos y un documento es una colección de tipo clave-valor. </a:t>
            </a:r>
            <a:br>
              <a:rPr lang="en-US" sz="2400"/>
            </a:br>
            <a:r>
              <a:rPr lang="en-US" sz="2400"/>
              <a:t>Se puede acceder a todos los valores o a los datos almacenados en documentos mediante las claves.</a:t>
            </a:r>
            <a:br>
              <a:rPr lang="en-US" sz="2400"/>
            </a:br>
            <a:r>
              <a:rPr lang="en-US" sz="2400"/>
              <a:t>Todos los documentos son independientes entre sí.</a:t>
            </a:r>
            <a:br>
              <a:rPr lang="en-US" sz="2400"/>
            </a:br>
            <a:r>
              <a:rPr lang="en-US" sz="2400"/>
              <a:t>Los documentos no tienen esquemas y, por lo tanto, son flexibles y fáciles de modificar.</a:t>
            </a:r>
            <a:br>
              <a:rPr lang="en-US" sz="2400"/>
            </a:br>
            <a:r>
              <a:rPr lang="en-US" sz="2400"/>
              <a:t>Las colecciones se utilizan para almacenar documentos con el fin de agrupar diferentes tipos de datos.</a:t>
            </a:r>
            <a:br>
              <a:rPr lang="en-US" sz="2400"/>
            </a:br>
            <a:r>
              <a:rPr lang="en-US" sz="2400"/>
              <a:t>Los documentos pueden tener documentos anidados, varios pares clave-valor diferentes o pares clave-matriz</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Referencias</a:t>
            </a:r>
            <a:endParaRPr/>
          </a:p>
        </p:txBody>
      </p:sp>
      <p:sp>
        <p:nvSpPr>
          <p:cNvPr id="195" name="Google Shape;19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Modern Database Management.10th Edition. Jeffrey A. Hoffer, V. Ramesh, Heikki Topi. 2018 Pearson Education, Inc.  Publishing as Prentice Hall.</a:t>
            </a:r>
            <a:endParaRPr/>
          </a:p>
          <a:p>
            <a:pPr indent="-228600" lvl="0" marL="228600" rtl="0" algn="l">
              <a:lnSpc>
                <a:spcPct val="90000"/>
              </a:lnSpc>
              <a:spcBef>
                <a:spcPts val="1000"/>
              </a:spcBef>
              <a:spcAft>
                <a:spcPts val="0"/>
              </a:spcAft>
              <a:buClr>
                <a:schemeClr val="dk1"/>
              </a:buClr>
              <a:buSzPts val="2800"/>
              <a:buChar char="•"/>
            </a:pPr>
            <a:r>
              <a:rPr lang="en-US" sz="2800" u="sng">
                <a:solidFill>
                  <a:schemeClr val="hlink"/>
                </a:solidFill>
                <a:hlinkClick r:id="rId3"/>
              </a:rPr>
              <a:t>https://www.educba.com/what-is-nosql-database/</a:t>
            </a:r>
            <a:endParaRPr/>
          </a:p>
          <a:p>
            <a:pPr indent="-50800" lvl="0" marL="228600" rtl="0" algn="l">
              <a:lnSpc>
                <a:spcPct val="90000"/>
              </a:lnSpc>
              <a:spcBef>
                <a:spcPts val="10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2019-05-10T15:18:05Z</dcterms:created>
  <dc:creator>Julio Ernesto Carreno Vargas</dc:creator>
</cp:coreProperties>
</file>