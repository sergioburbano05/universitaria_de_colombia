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2" r:id="rId1"/>
  </p:sldMasterIdLst>
  <p:notesMasterIdLst>
    <p:notesMasterId r:id="rId13"/>
  </p:notesMasterIdLst>
  <p:handoutMasterIdLst>
    <p:handoutMasterId r:id="rId14"/>
  </p:handoutMasterIdLst>
  <p:sldIdLst>
    <p:sldId id="348" r:id="rId2"/>
    <p:sldId id="359" r:id="rId3"/>
    <p:sldId id="366" r:id="rId4"/>
    <p:sldId id="361" r:id="rId5"/>
    <p:sldId id="362" r:id="rId6"/>
    <p:sldId id="363" r:id="rId7"/>
    <p:sldId id="364" r:id="rId8"/>
    <p:sldId id="375" r:id="rId9"/>
    <p:sldId id="373" r:id="rId10"/>
    <p:sldId id="374" r:id="rId11"/>
    <p:sldId id="321" r:id="rId12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FFCC"/>
    <a:srgbClr val="00FFFF"/>
    <a:srgbClr val="CC33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86" autoAdjust="0"/>
    <p:restoredTop sz="94660" autoAdjust="0"/>
  </p:normalViewPr>
  <p:slideViewPr>
    <p:cSldViewPr snapToGrid="0">
      <p:cViewPr varScale="1">
        <p:scale>
          <a:sx n="112" d="100"/>
          <a:sy n="112" d="100"/>
        </p:scale>
        <p:origin x="1800" y="96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90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619EDD29-622F-43A5-A6FA-4DE80D166C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62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6013" y="696913"/>
            <a:ext cx="4649787" cy="34877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4838"/>
            <a:ext cx="5046663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546ED518-9D40-4674-9FDB-9EDD68284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ACDF6120-F1F0-4C60-9FE9-39AC71A9C79D}" type="datetimeFigureOut">
              <a:rPr lang="en-US" smtClean="0"/>
              <a:pPr/>
              <a:t>8/31/2023</a:t>
            </a:fld>
            <a:endParaRPr lang="en-US" sz="1600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r>
              <a:rPr lang="es-ES"/>
              <a:t>Módulo: &lt;modulo&gt; Autor: &lt;Autor&gt; . No.</a:t>
            </a:r>
            <a:fld id="{A44E33E1-B22B-49F7-B763-F53C4F8A1B9D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Diplomado en Desarrollo de Aplicaciones para Internet 2008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CDF6120-F1F0-4C60-9FE9-39AC71A9C79D}" type="datetimeFigureOut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3893" y="3763927"/>
            <a:ext cx="7088372" cy="1112874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Bases de </a:t>
            </a:r>
            <a:r>
              <a:rPr lang="en-US" sz="2800" dirty="0" err="1"/>
              <a:t>Datos</a:t>
            </a:r>
            <a:br>
              <a:rPr lang="en-US" sz="2800" dirty="0"/>
            </a:br>
            <a:r>
              <a:rPr lang="en-US" sz="2800" dirty="0" err="1"/>
              <a:t>Modelo</a:t>
            </a:r>
            <a:r>
              <a:rPr lang="en-US" sz="2800" dirty="0"/>
              <a:t> </a:t>
            </a:r>
            <a:r>
              <a:rPr lang="en-US" sz="2800" dirty="0" err="1"/>
              <a:t>Relacional</a:t>
            </a:r>
            <a:endParaRPr lang="en-US" sz="2800" dirty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/>
              <a:t>Ing. Julio Ernesto Carreño Vargas Msc.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 Relacional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CO"/>
              <a:t>El modelo relacional  se estructura en tablas (relaciones)</a:t>
            </a:r>
          </a:p>
          <a:p>
            <a:pPr lvl="1"/>
            <a:r>
              <a:rPr lang="es-CO"/>
              <a:t>Una tabla es la representación de una entidad del modelo conceptual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2</a:t>
            </a:fld>
            <a:endParaRPr lang="en-US" altLang="en-US"/>
          </a:p>
        </p:txBody>
      </p:sp>
      <p:pic>
        <p:nvPicPr>
          <p:cNvPr id="5" name="Picture 3" descr="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7561" y="2777830"/>
            <a:ext cx="4500562" cy="3381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849629" y="2783071"/>
            <a:ext cx="1640706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lvl="1" algn="ctr"/>
            <a:r>
              <a:rPr lang="es-CO"/>
              <a:t>Tabla Instructor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 descr="2"/>
          <p:cNvPicPr>
            <a:picLocks noChangeAspect="1" noChangeArrowheads="1"/>
          </p:cNvPicPr>
          <p:nvPr/>
        </p:nvPicPr>
        <p:blipFill>
          <a:blip r:embed="rId2" cstate="print"/>
          <a:srcRect b="52597"/>
          <a:stretch>
            <a:fillRect/>
          </a:stretch>
        </p:blipFill>
        <p:spPr bwMode="auto">
          <a:xfrm>
            <a:off x="2027829" y="2065447"/>
            <a:ext cx="4500562" cy="16027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Tabla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Una tabla está compuesta de filas y columnas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r="2264"/>
          <a:stretch>
            <a:fillRect/>
          </a:stretch>
        </p:blipFill>
        <p:spPr bwMode="auto">
          <a:xfrm>
            <a:off x="2678629" y="4237075"/>
            <a:ext cx="3105483" cy="1685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068362" y="1397293"/>
            <a:ext cx="1058303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1800"/>
              <a:t>columnas</a:t>
            </a:r>
            <a:endParaRPr 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H="1">
            <a:off x="3068377" y="1602081"/>
            <a:ext cx="3889375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H="1">
            <a:off x="4438390" y="1656056"/>
            <a:ext cx="2557462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>
            <a:off x="5649652" y="1629068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934417" y="2586331"/>
            <a:ext cx="853119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1800"/>
              <a:t>tuplas</a:t>
            </a:r>
          </a:p>
          <a:p>
            <a:pPr algn="ctr"/>
            <a:r>
              <a:rPr lang="en-US" sz="1800"/>
              <a:t>(ó filas)</a:t>
            </a:r>
            <a:endParaRPr 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H="1" flipV="1">
            <a:off x="6571990" y="2551406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6559290" y="2770481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6548177" y="2781593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H="1">
            <a:off x="6559290" y="2791118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01041" y="2049423"/>
            <a:ext cx="1640706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lvl="1" algn="ctr"/>
            <a:r>
              <a:rPr lang="es-CO"/>
              <a:t>Tabla Instructor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6057499" y="4657944"/>
            <a:ext cx="1864614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lvl="1" algn="ctr"/>
            <a:r>
              <a:rPr lang="es-CO"/>
              <a:t>Diagrama de tabla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34938"/>
            <a:ext cx="8229600" cy="907053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Una Base de Datos Relacional</a:t>
            </a:r>
          </a:p>
        </p:txBody>
      </p:sp>
      <p:pic>
        <p:nvPicPr>
          <p:cNvPr id="17411" name="Picture 7"/>
          <p:cNvPicPr>
            <a:picLocks noChangeAspect="1" noChangeArrowheads="1"/>
          </p:cNvPicPr>
          <p:nvPr/>
        </p:nvPicPr>
        <p:blipFill>
          <a:blip r:embed="rId2" cstate="print"/>
          <a:srcRect l="20081" t="787" r="20081" b="1329"/>
          <a:stretch>
            <a:fillRect/>
          </a:stretch>
        </p:blipFill>
        <p:spPr bwMode="auto">
          <a:xfrm>
            <a:off x="1935347" y="1343729"/>
            <a:ext cx="4146476" cy="5086814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9" name="8 Forma libre"/>
          <p:cNvSpPr/>
          <p:nvPr/>
        </p:nvSpPr>
        <p:spPr>
          <a:xfrm>
            <a:off x="3988981" y="2567763"/>
            <a:ext cx="2973572" cy="2270051"/>
          </a:xfrm>
          <a:custGeom>
            <a:avLst/>
            <a:gdLst>
              <a:gd name="connsiteX0" fmla="*/ 30126 w 2973572"/>
              <a:gd name="connsiteY0" fmla="*/ 409353 h 2491562"/>
              <a:gd name="connsiteX1" fmla="*/ 476693 w 2973572"/>
              <a:gd name="connsiteY1" fmla="*/ 239232 h 2491562"/>
              <a:gd name="connsiteX2" fmla="*/ 2890284 w 2973572"/>
              <a:gd name="connsiteY2" fmla="*/ 324293 h 2491562"/>
              <a:gd name="connsiteX3" fmla="*/ 976424 w 2973572"/>
              <a:gd name="connsiteY3" fmla="*/ 2184990 h 2491562"/>
              <a:gd name="connsiteX4" fmla="*/ 976424 w 2973572"/>
              <a:gd name="connsiteY4" fmla="*/ 2163725 h 2491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572" h="2491562">
                <a:moveTo>
                  <a:pt x="30126" y="409353"/>
                </a:moveTo>
                <a:cubicBezTo>
                  <a:pt x="15063" y="331381"/>
                  <a:pt x="0" y="253409"/>
                  <a:pt x="476693" y="239232"/>
                </a:cubicBezTo>
                <a:cubicBezTo>
                  <a:pt x="953386" y="225055"/>
                  <a:pt x="2806996" y="0"/>
                  <a:pt x="2890284" y="324293"/>
                </a:cubicBezTo>
                <a:cubicBezTo>
                  <a:pt x="2973572" y="648586"/>
                  <a:pt x="1295400" y="1878418"/>
                  <a:pt x="976424" y="2184990"/>
                </a:cubicBezTo>
                <a:cubicBezTo>
                  <a:pt x="657448" y="2491562"/>
                  <a:pt x="816936" y="2327643"/>
                  <a:pt x="976424" y="2163725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Forma libre"/>
          <p:cNvSpPr/>
          <p:nvPr/>
        </p:nvSpPr>
        <p:spPr>
          <a:xfrm>
            <a:off x="437707" y="1435395"/>
            <a:ext cx="2635102" cy="3338624"/>
          </a:xfrm>
          <a:custGeom>
            <a:avLst/>
            <a:gdLst>
              <a:gd name="connsiteX0" fmla="*/ 1561214 w 2635102"/>
              <a:gd name="connsiteY0" fmla="*/ 0 h 3338624"/>
              <a:gd name="connsiteX1" fmla="*/ 178981 w 2635102"/>
              <a:gd name="connsiteY1" fmla="*/ 1158949 h 3338624"/>
              <a:gd name="connsiteX2" fmla="*/ 2635102 w 2635102"/>
              <a:gd name="connsiteY2" fmla="*/ 3338624 h 333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35102" h="3338624">
                <a:moveTo>
                  <a:pt x="1561214" y="0"/>
                </a:moveTo>
                <a:cubicBezTo>
                  <a:pt x="780607" y="301256"/>
                  <a:pt x="0" y="602512"/>
                  <a:pt x="178981" y="1158949"/>
                </a:cubicBezTo>
                <a:cubicBezTo>
                  <a:pt x="357962" y="1715386"/>
                  <a:pt x="1496532" y="2527005"/>
                  <a:pt x="2635102" y="3338624"/>
                </a:cubicBez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Columna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Atributo de una tabla</a:t>
            </a:r>
          </a:p>
          <a:p>
            <a:pPr lvl="1"/>
            <a:r>
              <a:rPr lang="es-CO"/>
              <a:t>Similar al atributo de una entidad</a:t>
            </a:r>
          </a:p>
          <a:p>
            <a:r>
              <a:rPr lang="es-CO"/>
              <a:t>La columna tiene un tipo</a:t>
            </a:r>
          </a:p>
          <a:p>
            <a:r>
              <a:rPr lang="es-CO"/>
              <a:t>El conjunto de valores permitidos sobre las columnas se llama “dominio”</a:t>
            </a:r>
          </a:p>
          <a:p>
            <a:r>
              <a:rPr lang="es-CO"/>
              <a:t>Existe un valor especial “null”</a:t>
            </a:r>
          </a:p>
          <a:p>
            <a:pPr>
              <a:buNone/>
            </a:pPr>
            <a:endParaRPr lang="es-C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Super Llaves 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/>
              <a:t>Permiten identificar de forma única cada fila de la tabla</a:t>
            </a:r>
          </a:p>
          <a:p>
            <a:r>
              <a:rPr lang="es-CO" dirty="0"/>
              <a:t>Tipos de llaves</a:t>
            </a:r>
          </a:p>
          <a:p>
            <a:pPr lvl="1"/>
            <a:r>
              <a:rPr lang="es-CO" dirty="0"/>
              <a:t>Llaves sustitutas</a:t>
            </a:r>
          </a:p>
          <a:p>
            <a:pPr lvl="2"/>
            <a:r>
              <a:rPr lang="es-CO" dirty="0"/>
              <a:t>Id, secuenciales</a:t>
            </a:r>
          </a:p>
          <a:p>
            <a:pPr lvl="1"/>
            <a:r>
              <a:rPr lang="es-CO" dirty="0"/>
              <a:t>Llaves naturales</a:t>
            </a:r>
          </a:p>
          <a:p>
            <a:pPr lvl="2"/>
            <a:r>
              <a:rPr lang="es-CO" dirty="0"/>
              <a:t>Llaves de negocio</a:t>
            </a:r>
          </a:p>
          <a:p>
            <a:pPr lvl="1"/>
            <a:r>
              <a:rPr lang="es-CO" dirty="0"/>
              <a:t>Llave primaria</a:t>
            </a:r>
          </a:p>
          <a:p>
            <a:pPr lvl="2"/>
            <a:r>
              <a:rPr lang="es-CO" dirty="0"/>
              <a:t>PK</a:t>
            </a:r>
          </a:p>
          <a:p>
            <a:pPr lvl="1"/>
            <a:r>
              <a:rPr lang="es-CO" dirty="0"/>
              <a:t>Llaves candidatas</a:t>
            </a:r>
          </a:p>
          <a:p>
            <a:pPr lvl="2"/>
            <a:r>
              <a:rPr lang="es-CO" dirty="0"/>
              <a:t>Llaves naturales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Llaves Foráneas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Las llaves foráneas corresponden a las relaciones entre las tablas.</a:t>
            </a:r>
          </a:p>
          <a:p>
            <a:r>
              <a:rPr lang="es-CO"/>
              <a:t>Una llave foránea es una llave en una tabla que es primaria ó única en otra tabla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Llaves Foráneas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/>
              <a:t>Tablas </a:t>
            </a:r>
            <a:r>
              <a:rPr lang="es-CO" dirty="0" err="1"/>
              <a:t>Photo</a:t>
            </a:r>
            <a:r>
              <a:rPr lang="es-CO" dirty="0"/>
              <a:t> y </a:t>
            </a:r>
            <a:r>
              <a:rPr lang="es-CO" dirty="0" err="1"/>
              <a:t>Member</a:t>
            </a:r>
            <a:r>
              <a:rPr lang="es-CO" dirty="0"/>
              <a:t>, cada una tiene su PK (ID)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47" y="2263660"/>
            <a:ext cx="2600325" cy="344805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477" y="2263660"/>
            <a:ext cx="433387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76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Llaves Foráneas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/>
              <a:t>Llave primaria de </a:t>
            </a:r>
            <a:r>
              <a:rPr lang="es-CO" dirty="0" err="1"/>
              <a:t>Member</a:t>
            </a:r>
            <a:r>
              <a:rPr lang="es-CO" dirty="0"/>
              <a:t> migra hacia </a:t>
            </a:r>
            <a:r>
              <a:rPr lang="es-CO" dirty="0" err="1"/>
              <a:t>Photo</a:t>
            </a:r>
            <a:r>
              <a:rPr lang="es-CO" dirty="0"/>
              <a:t> como </a:t>
            </a:r>
            <a:r>
              <a:rPr lang="es-CO" dirty="0" err="1"/>
              <a:t>MemberID</a:t>
            </a:r>
            <a:r>
              <a:rPr lang="es-CO" dirty="0"/>
              <a:t>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95" y="2209973"/>
            <a:ext cx="697230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35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Llaves Foráneas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/>
              <a:t>Llave primaria de </a:t>
            </a:r>
            <a:r>
              <a:rPr lang="es-CO" dirty="0" err="1"/>
              <a:t>Member</a:t>
            </a:r>
            <a:r>
              <a:rPr lang="es-CO" dirty="0"/>
              <a:t> migra hacia </a:t>
            </a:r>
            <a:r>
              <a:rPr lang="es-CO" dirty="0" err="1"/>
              <a:t>Photo</a:t>
            </a:r>
            <a:r>
              <a:rPr lang="es-CO" dirty="0"/>
              <a:t> como </a:t>
            </a:r>
            <a:r>
              <a:rPr lang="es-CO" dirty="0" err="1"/>
              <a:t>MemberID</a:t>
            </a:r>
            <a:r>
              <a:rPr lang="es-CO" dirty="0"/>
              <a:t>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70" y="2270153"/>
            <a:ext cx="6943725" cy="351472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599411" y="4027514"/>
            <a:ext cx="2934393" cy="92333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El miembro de id 1 tiene asociadas varias foros en la tabla </a:t>
            </a:r>
            <a:r>
              <a:rPr lang="es-CO" dirty="0" err="1"/>
              <a:t>Photo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53225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/>
              <a:t>Bibliografía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Modern Database Management.10th </a:t>
            </a:r>
            <a:r>
              <a:rPr lang="en-US" dirty="0" err="1"/>
              <a:t>Edition.Jeffrey</a:t>
            </a:r>
            <a:r>
              <a:rPr lang="en-US" dirty="0"/>
              <a:t> A. Hoffer, V. Ramesh, </a:t>
            </a:r>
            <a:r>
              <a:rPr lang="en-US" dirty="0" err="1"/>
              <a:t>Heikki</a:t>
            </a:r>
            <a:r>
              <a:rPr lang="en-US" dirty="0"/>
              <a:t> Topi.2021 Pearson Education, Inc.  Publishing as Prentice Hall.</a:t>
            </a:r>
          </a:p>
          <a:p>
            <a:pPr eaLnBrk="1" hangingPunct="1">
              <a:defRPr/>
            </a:pPr>
            <a:r>
              <a:rPr lang="en-US" dirty="0"/>
              <a:t>Database System Concepts.</a:t>
            </a:r>
            <a:r>
              <a:rPr lang="en-GB" dirty="0" err="1"/>
              <a:t>Avi</a:t>
            </a:r>
            <a:r>
              <a:rPr lang="en-GB" dirty="0"/>
              <a:t> </a:t>
            </a:r>
            <a:r>
              <a:rPr lang="en-GB" dirty="0" err="1"/>
              <a:t>Silberschatz</a:t>
            </a:r>
            <a:r>
              <a:rPr lang="en-GB" dirty="0"/>
              <a:t> , Henry F. </a:t>
            </a:r>
            <a:r>
              <a:rPr lang="en-GB" dirty="0" err="1"/>
              <a:t>Korth</a:t>
            </a:r>
            <a:r>
              <a:rPr lang="en-GB" dirty="0"/>
              <a:t> , S. </a:t>
            </a:r>
            <a:r>
              <a:rPr lang="en-GB" dirty="0" err="1"/>
              <a:t>Sudarshan.McGraw</a:t>
            </a:r>
            <a:r>
              <a:rPr lang="en-GB" dirty="0"/>
              <a:t>-Hill.  2019</a:t>
            </a:r>
            <a:r>
              <a:rPr lang="es-ES" dirty="0"/>
              <a:t>.</a:t>
            </a:r>
          </a:p>
          <a:p>
            <a:pPr eaLnBrk="1" hangingPunct="1">
              <a:defRPr/>
            </a:pPr>
            <a:r>
              <a:rPr lang="es-ES" dirty="0"/>
              <a:t>Sistemas de Bases de Datos. Thomas M. </a:t>
            </a:r>
            <a:r>
              <a:rPr lang="es-ES" dirty="0" err="1"/>
              <a:t>Conolly</a:t>
            </a:r>
            <a:r>
              <a:rPr lang="es-ES" dirty="0"/>
              <a:t>, </a:t>
            </a:r>
            <a:r>
              <a:rPr lang="es-ES" dirty="0" err="1"/>
              <a:t>Carolyn</a:t>
            </a:r>
            <a:r>
              <a:rPr lang="es-ES" dirty="0"/>
              <a:t> E. </a:t>
            </a:r>
            <a:r>
              <a:rPr lang="es-ES" dirty="0" err="1"/>
              <a:t>Begg</a:t>
            </a:r>
            <a:r>
              <a:rPr lang="es-ES" dirty="0"/>
              <a:t>. </a:t>
            </a:r>
            <a:r>
              <a:rPr lang="es-ES" dirty="0" err="1"/>
              <a:t>Addison</a:t>
            </a:r>
            <a:r>
              <a:rPr lang="es-ES" dirty="0"/>
              <a:t> </a:t>
            </a:r>
            <a:r>
              <a:rPr lang="es-ES" dirty="0" err="1"/>
              <a:t>Wesley</a:t>
            </a:r>
            <a:r>
              <a:rPr lang="es-ES" dirty="0"/>
              <a:t>. 4 edición. </a:t>
            </a:r>
            <a:r>
              <a:rPr lang="en-GB" dirty="0"/>
              <a:t>2018</a:t>
            </a:r>
            <a:r>
              <a:rPr lang="es-ES" dirty="0"/>
              <a:t>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10908</TotalTime>
  <Words>292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Bookman Old Style</vt:lpstr>
      <vt:lpstr>Garamond</vt:lpstr>
      <vt:lpstr>Gill Sans MT</vt:lpstr>
      <vt:lpstr>Helvetica</vt:lpstr>
      <vt:lpstr>Times New Roman</vt:lpstr>
      <vt:lpstr>Wingdings</vt:lpstr>
      <vt:lpstr>Wingdings 3</vt:lpstr>
      <vt:lpstr>Origen</vt:lpstr>
      <vt:lpstr>Bases de Datos Modelo Relacional</vt:lpstr>
      <vt:lpstr>Modelo Relacional</vt:lpstr>
      <vt:lpstr>Tabla</vt:lpstr>
      <vt:lpstr>Una Base de Datos Relacional</vt:lpstr>
      <vt:lpstr>Columna</vt:lpstr>
      <vt:lpstr>Super Llaves </vt:lpstr>
      <vt:lpstr>Llaves Foráneas</vt:lpstr>
      <vt:lpstr>Llaves Foráneas</vt:lpstr>
      <vt:lpstr>Llaves Foráneas</vt:lpstr>
      <vt:lpstr>Llaves Foráneas</vt:lpstr>
      <vt:lpstr>Bibliografía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Julio Carreño</dc:creator>
  <cp:lastModifiedBy>Julio Ernesto Carreno Vargas</cp:lastModifiedBy>
  <cp:revision>309</cp:revision>
  <cp:lastPrinted>2005-01-10T21:51:57Z</cp:lastPrinted>
  <dcterms:created xsi:type="dcterms:W3CDTF">1999-11-04T20:50:09Z</dcterms:created>
  <dcterms:modified xsi:type="dcterms:W3CDTF">2023-08-31T20:26:39Z</dcterms:modified>
</cp:coreProperties>
</file>