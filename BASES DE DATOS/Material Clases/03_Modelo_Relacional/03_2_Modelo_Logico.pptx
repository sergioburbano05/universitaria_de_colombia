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742" r:id="rId1"/>
  </p:sldMasterIdLst>
  <p:notesMasterIdLst>
    <p:notesMasterId r:id="rId18"/>
  </p:notesMasterIdLst>
  <p:handoutMasterIdLst>
    <p:handoutMasterId r:id="rId19"/>
  </p:handoutMasterIdLst>
  <p:sldIdLst>
    <p:sldId id="348" r:id="rId2"/>
    <p:sldId id="360" r:id="rId3"/>
    <p:sldId id="359" r:id="rId4"/>
    <p:sldId id="366" r:id="rId5"/>
    <p:sldId id="361" r:id="rId6"/>
    <p:sldId id="362" r:id="rId7"/>
    <p:sldId id="363" r:id="rId8"/>
    <p:sldId id="364" r:id="rId9"/>
    <p:sldId id="367" r:id="rId10"/>
    <p:sldId id="370" r:id="rId11"/>
    <p:sldId id="372" r:id="rId12"/>
    <p:sldId id="375" r:id="rId13"/>
    <p:sldId id="373" r:id="rId14"/>
    <p:sldId id="374" r:id="rId15"/>
    <p:sldId id="371" r:id="rId16"/>
    <p:sldId id="376" r:id="rId17"/>
  </p:sldIdLst>
  <p:sldSz cx="9144000" cy="6858000" type="screen4x3"/>
  <p:notesSz cx="6881813" cy="92964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Garamond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Garamond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Garamond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Garamond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Garamond" pitchFamily="18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Garamond" pitchFamily="18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Garamond" pitchFamily="18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Garamond" pitchFamily="18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Garamond" pitchFamily="18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679">
          <p15:clr>
            <a:srgbClr val="A4A3A4"/>
          </p15:clr>
        </p15:guide>
        <p15:guide id="2" pos="52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9933"/>
    <a:srgbClr val="00FFCC"/>
    <a:srgbClr val="00FFFF"/>
    <a:srgbClr val="CC3300"/>
    <a:srgbClr val="0066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1886" autoAdjust="0"/>
    <p:restoredTop sz="94660" autoAdjust="0"/>
  </p:normalViewPr>
  <p:slideViewPr>
    <p:cSldViewPr snapToGrid="0">
      <p:cViewPr varScale="1">
        <p:scale>
          <a:sx n="112" d="100"/>
          <a:sy n="112" d="100"/>
        </p:scale>
        <p:origin x="1800" y="96"/>
      </p:cViewPr>
      <p:guideLst>
        <p:guide orient="horz" pos="679"/>
        <p:guide pos="521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2536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82913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2446" tIns="46223" rIns="92446" bIns="46223" numCol="1" anchor="t" anchorCtr="0" compatLnSpc="1">
            <a:prstTxWarp prst="textNoShape">
              <a:avLst/>
            </a:prstTxWarp>
          </a:bodyPr>
          <a:lstStyle>
            <a:lvl1pPr defTabSz="923925" eaLnBrk="0" hangingPunct="0">
              <a:defRPr sz="1200">
                <a:latin typeface="Helvetica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8371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98900" y="0"/>
            <a:ext cx="2982913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2446" tIns="46223" rIns="92446" bIns="46223" numCol="1" anchor="t" anchorCtr="0" compatLnSpc="1">
            <a:prstTxWarp prst="textNoShape">
              <a:avLst/>
            </a:prstTxWarp>
          </a:bodyPr>
          <a:lstStyle>
            <a:lvl1pPr algn="r" defTabSz="923925" eaLnBrk="0" hangingPunct="0">
              <a:defRPr sz="1200">
                <a:latin typeface="Helvetica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8372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831263"/>
            <a:ext cx="2982913" cy="4651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2446" tIns="46223" rIns="92446" bIns="46223" numCol="1" anchor="b" anchorCtr="0" compatLnSpc="1">
            <a:prstTxWarp prst="textNoShape">
              <a:avLst/>
            </a:prstTxWarp>
          </a:bodyPr>
          <a:lstStyle>
            <a:lvl1pPr defTabSz="923925" eaLnBrk="0" hangingPunct="0">
              <a:defRPr sz="1200">
                <a:latin typeface="Helvetica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8373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98900" y="8831263"/>
            <a:ext cx="2982913" cy="4651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2446" tIns="46223" rIns="92446" bIns="46223" numCol="1" anchor="b" anchorCtr="0" compatLnSpc="1">
            <a:prstTxWarp prst="textNoShape">
              <a:avLst/>
            </a:prstTxWarp>
          </a:bodyPr>
          <a:lstStyle>
            <a:lvl1pPr algn="r" defTabSz="923925" eaLnBrk="0" hangingPunct="0">
              <a:defRPr sz="1200">
                <a:latin typeface="Helvetica" pitchFamily="34" charset="0"/>
              </a:defRPr>
            </a:lvl1pPr>
          </a:lstStyle>
          <a:p>
            <a:pPr>
              <a:defRPr/>
            </a:pPr>
            <a:fld id="{619EDD29-622F-43A5-A6FA-4DE80D166C9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506209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1026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82913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2446" tIns="46223" rIns="92446" bIns="46223" numCol="1" anchor="t" anchorCtr="0" compatLnSpc="1">
            <a:prstTxWarp prst="textNoShape">
              <a:avLst/>
            </a:prstTxWarp>
          </a:bodyPr>
          <a:lstStyle>
            <a:lvl1pPr defTabSz="923925" eaLnBrk="0" hangingPunct="0">
              <a:defRPr sz="1200">
                <a:latin typeface="Helvetica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2227" name="Rectangle 1027"/>
          <p:cNvSpPr>
            <a:spLocks noGrp="1" noChangeArrowheads="1"/>
          </p:cNvSpPr>
          <p:nvPr>
            <p:ph type="dt" idx="1"/>
          </p:nvPr>
        </p:nvSpPr>
        <p:spPr bwMode="auto">
          <a:xfrm>
            <a:off x="3898900" y="0"/>
            <a:ext cx="2982913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2446" tIns="46223" rIns="92446" bIns="46223" numCol="1" anchor="t" anchorCtr="0" compatLnSpc="1">
            <a:prstTxWarp prst="textNoShape">
              <a:avLst/>
            </a:prstTxWarp>
          </a:bodyPr>
          <a:lstStyle>
            <a:lvl1pPr algn="r" defTabSz="923925" eaLnBrk="0" hangingPunct="0">
              <a:defRPr sz="1200">
                <a:latin typeface="Helvetica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2772" name="Rectangle 1028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16013" y="696913"/>
            <a:ext cx="4649787" cy="3487737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2229" name="Rectangle 1029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7575" y="4414838"/>
            <a:ext cx="5046663" cy="4184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2446" tIns="46223" rIns="92446" bIns="46223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52230" name="Rectangle 1030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831263"/>
            <a:ext cx="2982913" cy="4651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2446" tIns="46223" rIns="92446" bIns="46223" numCol="1" anchor="b" anchorCtr="0" compatLnSpc="1">
            <a:prstTxWarp prst="textNoShape">
              <a:avLst/>
            </a:prstTxWarp>
          </a:bodyPr>
          <a:lstStyle>
            <a:lvl1pPr defTabSz="923925" eaLnBrk="0" hangingPunct="0">
              <a:defRPr sz="1200">
                <a:latin typeface="Helvetica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2231" name="Rectangle 1031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98900" y="8831263"/>
            <a:ext cx="2982913" cy="4651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2446" tIns="46223" rIns="92446" bIns="46223" numCol="1" anchor="b" anchorCtr="0" compatLnSpc="1">
            <a:prstTxWarp prst="textNoShape">
              <a:avLst/>
            </a:prstTxWarp>
          </a:bodyPr>
          <a:lstStyle>
            <a:lvl1pPr algn="r" defTabSz="923925" eaLnBrk="0" hangingPunct="0">
              <a:defRPr sz="1200">
                <a:latin typeface="Helvetica" pitchFamily="34" charset="0"/>
              </a:defRPr>
            </a:lvl1pPr>
          </a:lstStyle>
          <a:p>
            <a:pPr>
              <a:defRPr/>
            </a:pPr>
            <a:fld id="{546ED518-9D40-4674-9FDB-9EDD6828418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993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7 Título"/>
          <p:cNvSpPr>
            <a:spLocks noGrp="1"/>
          </p:cNvSpPr>
          <p:nvPr>
            <p:ph type="ctrTitle"/>
          </p:nvPr>
        </p:nvSpPr>
        <p:spPr>
          <a:xfrm>
            <a:off x="1219200" y="3886200"/>
            <a:ext cx="6858000" cy="990600"/>
          </a:xfrm>
        </p:spPr>
        <p:txBody>
          <a:bodyPr anchor="t" anchorCtr="0"/>
          <a:lstStyle>
            <a:lvl1pPr algn="r">
              <a:defRPr sz="3200">
                <a:solidFill>
                  <a:schemeClr val="tx1"/>
                </a:solidFill>
              </a:defRPr>
            </a:lvl1pPr>
          </a:lstStyle>
          <a:p>
            <a:r>
              <a:rPr kumimoji="0" lang="es-ES"/>
              <a:t>Haga clic para modificar el estilo de título del patrón</a:t>
            </a:r>
            <a:endParaRPr kumimoji="0" lang="en-US"/>
          </a:p>
        </p:txBody>
      </p:sp>
      <p:sp>
        <p:nvSpPr>
          <p:cNvPr id="9" name="8 Subtítulo"/>
          <p:cNvSpPr>
            <a:spLocks noGrp="1"/>
          </p:cNvSpPr>
          <p:nvPr>
            <p:ph type="subTitle" idx="1"/>
          </p:nvPr>
        </p:nvSpPr>
        <p:spPr>
          <a:xfrm>
            <a:off x="1219200" y="5124450"/>
            <a:ext cx="6858000" cy="533400"/>
          </a:xfrm>
        </p:spPr>
        <p:txBody>
          <a:bodyPr/>
          <a:lstStyle>
            <a:lvl1pPr marL="0" indent="0" algn="r">
              <a:buNone/>
              <a:defRPr sz="20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s-ES"/>
              <a:t>Haga clic para modificar el estilo de subtítulo del patrón</a:t>
            </a:r>
            <a:endParaRPr kumimoji="0" lang="en-US"/>
          </a:p>
        </p:txBody>
      </p:sp>
      <p:sp>
        <p:nvSpPr>
          <p:cNvPr id="28" name="27 Marcador de fecha"/>
          <p:cNvSpPr>
            <a:spLocks noGrp="1"/>
          </p:cNvSpPr>
          <p:nvPr>
            <p:ph type="dt" sz="half" idx="10"/>
          </p:nvPr>
        </p:nvSpPr>
        <p:spPr>
          <a:xfrm>
            <a:off x="6400800" y="6355080"/>
            <a:ext cx="2286000" cy="365760"/>
          </a:xfrm>
        </p:spPr>
        <p:txBody>
          <a:bodyPr/>
          <a:lstStyle>
            <a:lvl1pPr>
              <a:defRPr sz="1400"/>
            </a:lvl1pPr>
          </a:lstStyle>
          <a:p>
            <a:fld id="{ACDF6120-F1F0-4C60-9FE9-39AC71A9C79D}" type="datetimeFigureOut">
              <a:rPr lang="en-US" smtClean="0"/>
              <a:pPr/>
              <a:t>8/31/2023</a:t>
            </a:fld>
            <a:endParaRPr lang="en-US" sz="1600" dirty="0"/>
          </a:p>
        </p:txBody>
      </p:sp>
      <p:sp>
        <p:nvSpPr>
          <p:cNvPr id="17" name="16 Marcador de pie de página"/>
          <p:cNvSpPr>
            <a:spLocks noGrp="1"/>
          </p:cNvSpPr>
          <p:nvPr>
            <p:ph type="ftr" sz="quarter" idx="11"/>
          </p:nvPr>
        </p:nvSpPr>
        <p:spPr>
          <a:xfrm>
            <a:off x="2898648" y="6355080"/>
            <a:ext cx="3474720" cy="365760"/>
          </a:xfrm>
        </p:spPr>
        <p:txBody>
          <a:bodyPr/>
          <a:lstStyle/>
          <a:p>
            <a:pPr>
              <a:defRPr/>
            </a:pPr>
            <a:r>
              <a:rPr lang="es-CO"/>
              <a:t>Diplomado en Desarrollo de Aplicaciones para Internet 2008</a:t>
            </a:r>
            <a:endParaRPr lang="es-ES" dirty="0"/>
          </a:p>
        </p:txBody>
      </p:sp>
      <p:sp>
        <p:nvSpPr>
          <p:cNvPr id="29" name="28 Marcador de número de diapositiva"/>
          <p:cNvSpPr>
            <a:spLocks noGrp="1"/>
          </p:cNvSpPr>
          <p:nvPr>
            <p:ph type="sldNum" sz="quarter" idx="12"/>
          </p:nvPr>
        </p:nvSpPr>
        <p:spPr>
          <a:xfrm>
            <a:off x="1216152" y="6355080"/>
            <a:ext cx="1219200" cy="365760"/>
          </a:xfrm>
        </p:spPr>
        <p:txBody>
          <a:bodyPr/>
          <a:lstStyle/>
          <a:p>
            <a:pPr>
              <a:defRPr/>
            </a:pPr>
            <a:r>
              <a:rPr lang="es-ES"/>
              <a:t>Módulo: &lt;modulo&gt; Autor: &lt;Autor&gt; . No.</a:t>
            </a:r>
            <a:fld id="{A44E33E1-B22B-49F7-B763-F53C4F8A1B9D}" type="slidenum">
              <a:rPr lang="es-ES" smtClean="0"/>
              <a:pPr>
                <a:defRPr/>
              </a:pPr>
              <a:t>‹#›</a:t>
            </a:fld>
            <a:endParaRPr lang="es-ES"/>
          </a:p>
        </p:txBody>
      </p:sp>
      <p:sp>
        <p:nvSpPr>
          <p:cNvPr id="21" name="20 Rectángulo"/>
          <p:cNvSpPr/>
          <p:nvPr/>
        </p:nvSpPr>
        <p:spPr>
          <a:xfrm>
            <a:off x="904875" y="3648075"/>
            <a:ext cx="7315200" cy="1280160"/>
          </a:xfrm>
          <a:prstGeom prst="rect">
            <a:avLst/>
          </a:prstGeom>
          <a:noFill/>
          <a:ln w="6350" cap="rnd" cmpd="sng" algn="ctr">
            <a:solidFill>
              <a:schemeClr val="accent1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3" name="32 Rectángulo"/>
          <p:cNvSpPr/>
          <p:nvPr/>
        </p:nvSpPr>
        <p:spPr>
          <a:xfrm>
            <a:off x="914400" y="5048250"/>
            <a:ext cx="7315200" cy="685800"/>
          </a:xfrm>
          <a:prstGeom prst="rect">
            <a:avLst/>
          </a:prstGeom>
          <a:noFill/>
          <a:ln w="6350" cap="rnd" cmpd="sng" algn="ctr">
            <a:solidFill>
              <a:schemeClr val="accent2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2" name="21 Rectángulo"/>
          <p:cNvSpPr/>
          <p:nvPr/>
        </p:nvSpPr>
        <p:spPr>
          <a:xfrm>
            <a:off x="904875" y="3648075"/>
            <a:ext cx="228600" cy="128016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2" name="31 Rectángulo"/>
          <p:cNvSpPr/>
          <p:nvPr/>
        </p:nvSpPr>
        <p:spPr>
          <a:xfrm>
            <a:off x="914400" y="5048250"/>
            <a:ext cx="228600" cy="685800"/>
          </a:xfrm>
          <a:prstGeom prst="rect">
            <a:avLst/>
          </a:prstGeom>
          <a:solidFill>
            <a:schemeClr val="accent2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s-ES"/>
              <a:t>Haga clic para modificar el estilo de título del patrón</a:t>
            </a:r>
            <a:endParaRPr kumimoji="0" lang="en-US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DF6120-F1F0-4C60-9FE9-39AC71A9C79D}" type="datetimeFigureOut">
              <a:rPr lang="en-US" smtClean="0"/>
              <a:pPr/>
              <a:t>8/31/2023</a:t>
            </a:fld>
            <a:endParaRPr lang="en-US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s-ES"/>
              <a:t>Diplomado en Desarrollo de Aplicaciones para Internet 2008</a:t>
            </a:r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 dirty="0"/>
          </a:p>
        </p:txBody>
      </p:sp>
      <p:sp>
        <p:nvSpPr>
          <p:cNvPr id="8" name="7 Marcador de contenido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4937760"/>
          </a:xfrm>
        </p:spPr>
        <p:txBody>
          <a:bodyPr/>
          <a:lstStyle/>
          <a:p>
            <a:pPr lvl="0" eaLnBrk="1" latinLnBrk="0" hangingPunct="1"/>
            <a:r>
              <a:rPr lang="es-ES"/>
              <a:t>Haga clic para modificar el estilo de texto del patrón</a:t>
            </a:r>
          </a:p>
          <a:p>
            <a:pPr lvl="1" eaLnBrk="1" latinLnBrk="0" hangingPunct="1"/>
            <a:r>
              <a:rPr lang="es-ES"/>
              <a:t>Segundo nivel</a:t>
            </a:r>
          </a:p>
          <a:p>
            <a:pPr lvl="2" eaLnBrk="1" latinLnBrk="0" hangingPunct="1"/>
            <a:r>
              <a:rPr lang="es-ES"/>
              <a:t>Tercer nivel</a:t>
            </a:r>
          </a:p>
          <a:p>
            <a:pPr lvl="3" eaLnBrk="1" latinLnBrk="0" hangingPunct="1"/>
            <a:r>
              <a:rPr lang="es-ES"/>
              <a:t>Cuarto nivel</a:t>
            </a:r>
          </a:p>
          <a:p>
            <a:pPr lvl="4" eaLnBrk="1" latinLnBrk="0" hangingPunct="1"/>
            <a:r>
              <a:rPr lang="es-ES"/>
              <a:t>Quinto nivel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Encabezado de secció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219200" y="2971800"/>
            <a:ext cx="6858000" cy="1066800"/>
          </a:xfrm>
        </p:spPr>
        <p:txBody>
          <a:bodyPr anchor="t" anchorCtr="0"/>
          <a:lstStyle>
            <a:lvl1pPr algn="r">
              <a:buNone/>
              <a:defRPr sz="3200" b="0" cap="none" baseline="0"/>
            </a:lvl1pPr>
          </a:lstStyle>
          <a:p>
            <a:r>
              <a:rPr kumimoji="0" lang="es-ES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1295400" y="4267200"/>
            <a:ext cx="6781800" cy="1143000"/>
          </a:xfrm>
        </p:spPr>
        <p:txBody>
          <a:bodyPr anchor="t" anchorCtr="0"/>
          <a:lstStyle>
            <a:lvl1pPr marL="0" indent="0" algn="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s-ES"/>
              <a:t>Haga clic para modificar el estilo de texto del patrón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>
          <a:xfrm>
            <a:off x="6400800" y="6355080"/>
            <a:ext cx="2286000" cy="365760"/>
          </a:xfrm>
        </p:spPr>
        <p:txBody>
          <a:bodyPr/>
          <a:lstStyle/>
          <a:p>
            <a:fld id="{ACDF6120-F1F0-4C60-9FE9-39AC71A9C79D}" type="datetimeFigureOut">
              <a:rPr lang="en-US" smtClean="0"/>
              <a:pPr/>
              <a:t>8/31/2023</a:t>
            </a:fld>
            <a:endParaRPr lang="en-US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>
          <a:xfrm>
            <a:off x="2898648" y="6355080"/>
            <a:ext cx="3474720" cy="365760"/>
          </a:xfrm>
        </p:spPr>
        <p:txBody>
          <a:bodyPr/>
          <a:lstStyle/>
          <a:p>
            <a:pPr>
              <a:defRPr/>
            </a:pPr>
            <a:r>
              <a:rPr lang="es-CO"/>
              <a:t>Diplomado en Desarrollo de Aplicaciones para Internet 2008</a:t>
            </a:r>
            <a:endParaRPr lang="es-E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>
          <a:xfrm>
            <a:off x="1069848" y="6355080"/>
            <a:ext cx="1520952" cy="365760"/>
          </a:xfrm>
        </p:spPr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 dirty="0"/>
          </a:p>
        </p:txBody>
      </p:sp>
      <p:sp>
        <p:nvSpPr>
          <p:cNvPr id="7" name="6 Rectángulo"/>
          <p:cNvSpPr/>
          <p:nvPr/>
        </p:nvSpPr>
        <p:spPr>
          <a:xfrm>
            <a:off x="914400" y="2819400"/>
            <a:ext cx="7315200" cy="1280160"/>
          </a:xfrm>
          <a:prstGeom prst="rect">
            <a:avLst/>
          </a:prstGeom>
          <a:noFill/>
          <a:ln w="6350" cap="rnd" cmpd="sng" algn="ctr">
            <a:solidFill>
              <a:schemeClr val="accent1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7 Rectángulo"/>
          <p:cNvSpPr/>
          <p:nvPr/>
        </p:nvSpPr>
        <p:spPr>
          <a:xfrm>
            <a:off x="914400" y="2819400"/>
            <a:ext cx="228600" cy="128016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  <p:hf sldNum="0" hd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914400"/>
          </a:xfrm>
        </p:spPr>
        <p:txBody>
          <a:bodyPr/>
          <a:lstStyle/>
          <a:p>
            <a:r>
              <a:rPr kumimoji="0" lang="es-ES"/>
              <a:t>Haga clic para modificar el estilo de título del patrón</a:t>
            </a:r>
            <a:endParaRPr kumimoji="0" lang="en-US"/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DF6120-F1F0-4C60-9FE9-39AC71A9C79D}" type="datetimeFigureOut">
              <a:rPr lang="en-US" smtClean="0"/>
              <a:pPr/>
              <a:t>8/31/2023</a:t>
            </a:fld>
            <a:endParaRPr lang="en-US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s-CO"/>
              <a:t>Diplomado en Desarrollo de Aplicaciones para Internet 2008</a:t>
            </a:r>
            <a:endParaRPr lang="es-ES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/>
          </a:p>
        </p:txBody>
      </p:sp>
      <p:sp>
        <p:nvSpPr>
          <p:cNvPr id="9" name="8 Marcador de contenido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4041648" cy="4937760"/>
          </a:xfrm>
        </p:spPr>
        <p:txBody>
          <a:bodyPr/>
          <a:lstStyle/>
          <a:p>
            <a:pPr lvl="0" eaLnBrk="1" latinLnBrk="0" hangingPunct="1"/>
            <a:r>
              <a:rPr lang="es-ES"/>
              <a:t>Haga clic para modificar el estilo de texto del patrón</a:t>
            </a:r>
          </a:p>
          <a:p>
            <a:pPr lvl="1" eaLnBrk="1" latinLnBrk="0" hangingPunct="1"/>
            <a:r>
              <a:rPr lang="es-ES"/>
              <a:t>Segundo nivel</a:t>
            </a:r>
          </a:p>
          <a:p>
            <a:pPr lvl="2" eaLnBrk="1" latinLnBrk="0" hangingPunct="1"/>
            <a:r>
              <a:rPr lang="es-ES"/>
              <a:t>Tercer nivel</a:t>
            </a:r>
          </a:p>
          <a:p>
            <a:pPr lvl="3" eaLnBrk="1" latinLnBrk="0" hangingPunct="1"/>
            <a:r>
              <a:rPr lang="es-ES"/>
              <a:t>Cuarto nivel</a:t>
            </a:r>
          </a:p>
          <a:p>
            <a:pPr lvl="4" eaLnBrk="1" latinLnBrk="0" hangingPunct="1"/>
            <a:r>
              <a:rPr lang="es-ES"/>
              <a:t>Quinto nivel</a:t>
            </a:r>
            <a:endParaRPr kumimoji="0" lang="en-US"/>
          </a:p>
        </p:txBody>
      </p:sp>
      <p:sp>
        <p:nvSpPr>
          <p:cNvPr id="11" name="10 Marcador de contenido"/>
          <p:cNvSpPr>
            <a:spLocks noGrp="1"/>
          </p:cNvSpPr>
          <p:nvPr>
            <p:ph sz="quarter" idx="2"/>
          </p:nvPr>
        </p:nvSpPr>
        <p:spPr>
          <a:xfrm>
            <a:off x="4632198" y="1216152"/>
            <a:ext cx="4041648" cy="4937760"/>
          </a:xfrm>
        </p:spPr>
        <p:txBody>
          <a:bodyPr/>
          <a:lstStyle/>
          <a:p>
            <a:pPr lvl="0" eaLnBrk="1" latinLnBrk="0" hangingPunct="1"/>
            <a:r>
              <a:rPr lang="es-ES"/>
              <a:t>Haga clic para modificar el estilo de texto del patrón</a:t>
            </a:r>
          </a:p>
          <a:p>
            <a:pPr lvl="1" eaLnBrk="1" latinLnBrk="0" hangingPunct="1"/>
            <a:r>
              <a:rPr lang="es-ES"/>
              <a:t>Segundo nivel</a:t>
            </a:r>
          </a:p>
          <a:p>
            <a:pPr lvl="2" eaLnBrk="1" latinLnBrk="0" hangingPunct="1"/>
            <a:r>
              <a:rPr lang="es-ES"/>
              <a:t>Tercer nivel</a:t>
            </a:r>
          </a:p>
          <a:p>
            <a:pPr lvl="3" eaLnBrk="1" latinLnBrk="0" hangingPunct="1"/>
            <a:r>
              <a:rPr lang="es-ES"/>
              <a:t>Cuarto nivel</a:t>
            </a:r>
          </a:p>
          <a:p>
            <a:pPr lvl="4" eaLnBrk="1" latinLnBrk="0" hangingPunct="1"/>
            <a:r>
              <a:rPr lang="es-ES"/>
              <a:t>Quinto nivel</a:t>
            </a:r>
            <a:endParaRPr kumimoji="0" lang="en-US"/>
          </a:p>
        </p:txBody>
      </p:sp>
    </p:spTree>
  </p:cSld>
  <p:clrMapOvr>
    <a:masterClrMapping/>
  </p:clrMapOvr>
  <p:hf sldNum="0" hd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914400"/>
          </a:xfrm>
        </p:spPr>
        <p:txBody>
          <a:bodyPr anchor="ctr"/>
          <a:lstStyle>
            <a:lvl1pPr>
              <a:defRPr/>
            </a:lvl1pPr>
          </a:lstStyle>
          <a:p>
            <a:r>
              <a:rPr kumimoji="0" lang="es-ES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285875"/>
            <a:ext cx="4040188" cy="685800"/>
          </a:xfrm>
          <a:noFill/>
          <a:ln>
            <a:noFill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s-ES"/>
              <a:t>Haga clic para modificar el estilo de texto del patrón</a:t>
            </a:r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3"/>
          </p:nvPr>
        </p:nvSpPr>
        <p:spPr>
          <a:xfrm>
            <a:off x="4648200" y="1295400"/>
            <a:ext cx="4041775" cy="685800"/>
          </a:xfrm>
          <a:noFill/>
          <a:ln>
            <a:noFill/>
          </a:ln>
        </p:spPr>
        <p:txBody>
          <a:bodyPr lIns="91440" anchor="b" anchorCtr="0"/>
          <a:lstStyle>
            <a:lvl1pPr marL="0" indent="0">
              <a:buNone/>
              <a:defRPr sz="2400" b="1">
                <a:solidFill>
                  <a:schemeClr val="accent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s-ES"/>
              <a:t>Haga clic para modificar el estilo de texto del patrón</a:t>
            </a:r>
          </a:p>
        </p:txBody>
      </p:sp>
      <p:sp>
        <p:nvSpPr>
          <p:cNvPr id="7" name="6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DF6120-F1F0-4C60-9FE9-39AC71A9C79D}" type="datetimeFigureOut">
              <a:rPr lang="en-US" smtClean="0"/>
              <a:pPr/>
              <a:t>8/31/2023</a:t>
            </a:fld>
            <a:endParaRPr lang="en-US"/>
          </a:p>
        </p:txBody>
      </p:sp>
      <p:sp>
        <p:nvSpPr>
          <p:cNvPr id="8" name="7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s-CO"/>
              <a:t>Diplomado en Desarrollo de Aplicaciones para Internet 2008</a:t>
            </a:r>
            <a:endParaRPr lang="es-ES"/>
          </a:p>
        </p:txBody>
      </p:sp>
      <p:sp>
        <p:nvSpPr>
          <p:cNvPr id="9" name="8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/>
          </a:p>
        </p:txBody>
      </p:sp>
      <p:sp>
        <p:nvSpPr>
          <p:cNvPr id="11" name="10 Marcador de contenido"/>
          <p:cNvSpPr>
            <a:spLocks noGrp="1"/>
          </p:cNvSpPr>
          <p:nvPr>
            <p:ph sz="quarter" idx="2"/>
          </p:nvPr>
        </p:nvSpPr>
        <p:spPr>
          <a:xfrm>
            <a:off x="457200" y="2133600"/>
            <a:ext cx="4038600" cy="4038600"/>
          </a:xfrm>
        </p:spPr>
        <p:txBody>
          <a:bodyPr/>
          <a:lstStyle/>
          <a:p>
            <a:pPr lvl="0" eaLnBrk="1" latinLnBrk="0" hangingPunct="1"/>
            <a:r>
              <a:rPr lang="es-ES"/>
              <a:t>Haga clic para modificar el estilo de texto del patrón</a:t>
            </a:r>
          </a:p>
          <a:p>
            <a:pPr lvl="1" eaLnBrk="1" latinLnBrk="0" hangingPunct="1"/>
            <a:r>
              <a:rPr lang="es-ES"/>
              <a:t>Segundo nivel</a:t>
            </a:r>
          </a:p>
          <a:p>
            <a:pPr lvl="2" eaLnBrk="1" latinLnBrk="0" hangingPunct="1"/>
            <a:r>
              <a:rPr lang="es-ES"/>
              <a:t>Tercer nivel</a:t>
            </a:r>
          </a:p>
          <a:p>
            <a:pPr lvl="3" eaLnBrk="1" latinLnBrk="0" hangingPunct="1"/>
            <a:r>
              <a:rPr lang="es-ES"/>
              <a:t>Cuarto nivel</a:t>
            </a:r>
          </a:p>
          <a:p>
            <a:pPr lvl="4" eaLnBrk="1" latinLnBrk="0" hangingPunct="1"/>
            <a:r>
              <a:rPr lang="es-ES"/>
              <a:t>Quinto nivel</a:t>
            </a:r>
            <a:endParaRPr kumimoji="0" lang="en-US"/>
          </a:p>
        </p:txBody>
      </p:sp>
      <p:sp>
        <p:nvSpPr>
          <p:cNvPr id="13" name="12 Marcador de contenido"/>
          <p:cNvSpPr>
            <a:spLocks noGrp="1"/>
          </p:cNvSpPr>
          <p:nvPr>
            <p:ph sz="quarter" idx="4"/>
          </p:nvPr>
        </p:nvSpPr>
        <p:spPr>
          <a:xfrm>
            <a:off x="4648200" y="2133600"/>
            <a:ext cx="4038600" cy="4038600"/>
          </a:xfrm>
        </p:spPr>
        <p:txBody>
          <a:bodyPr/>
          <a:lstStyle/>
          <a:p>
            <a:pPr lvl="0" eaLnBrk="1" latinLnBrk="0" hangingPunct="1"/>
            <a:r>
              <a:rPr lang="es-ES"/>
              <a:t>Haga clic para modificar el estilo de texto del patrón</a:t>
            </a:r>
          </a:p>
          <a:p>
            <a:pPr lvl="1" eaLnBrk="1" latinLnBrk="0" hangingPunct="1"/>
            <a:r>
              <a:rPr lang="es-ES"/>
              <a:t>Segundo nivel</a:t>
            </a:r>
          </a:p>
          <a:p>
            <a:pPr lvl="2" eaLnBrk="1" latinLnBrk="0" hangingPunct="1"/>
            <a:r>
              <a:rPr lang="es-ES"/>
              <a:t>Tercer nivel</a:t>
            </a:r>
          </a:p>
          <a:p>
            <a:pPr lvl="3" eaLnBrk="1" latinLnBrk="0" hangingPunct="1"/>
            <a:r>
              <a:rPr lang="es-ES"/>
              <a:t>Cuarto nivel</a:t>
            </a:r>
          </a:p>
          <a:p>
            <a:pPr lvl="4" eaLnBrk="1" latinLnBrk="0" hangingPunct="1"/>
            <a:r>
              <a:rPr lang="es-ES"/>
              <a:t>Quinto nivel</a:t>
            </a:r>
            <a:endParaRPr kumimoji="0" lang="en-US"/>
          </a:p>
        </p:txBody>
      </p:sp>
    </p:spTree>
  </p:cSld>
  <p:clrMapOvr>
    <a:masterClrMapping/>
  </p:clrMapOvr>
  <p:hf sldNum="0" hd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914400"/>
          </a:xfrm>
        </p:spPr>
        <p:txBody>
          <a:bodyPr/>
          <a:lstStyle/>
          <a:p>
            <a:r>
              <a:rPr kumimoji="0" lang="es-ES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DF6120-F1F0-4C60-9FE9-39AC71A9C79D}" type="datetimeFigureOut">
              <a:rPr lang="en-US" smtClean="0"/>
              <a:pPr/>
              <a:t>8/31/2023</a:t>
            </a:fld>
            <a:endParaRPr lang="en-US"/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s-CO"/>
              <a:t>Diplomado en Desarrollo de Aplicaciones para Internet 2008</a:t>
            </a:r>
            <a:endParaRPr lang="es-ES"/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/>
          </a:p>
        </p:txBody>
      </p:sp>
      <p:sp>
        <p:nvSpPr>
          <p:cNvPr id="6" name="5 Triángulo isósceles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DF6120-F1F0-4C60-9FE9-39AC71A9C79D}" type="datetimeFigureOut">
              <a:rPr lang="en-US" smtClean="0"/>
              <a:pPr/>
              <a:t>8/31/2023</a:t>
            </a:fld>
            <a:endParaRPr lang="en-US"/>
          </a:p>
        </p:txBody>
      </p:sp>
      <p:sp>
        <p:nvSpPr>
          <p:cNvPr id="3" name="2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s-CO"/>
              <a:t>Diplomado en Desarrollo de Aplicaciones para Internet 2008</a:t>
            </a:r>
            <a:endParaRPr lang="es-ES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/>
          </a:p>
        </p:txBody>
      </p:sp>
      <p:sp>
        <p:nvSpPr>
          <p:cNvPr id="5" name="4 Conector recto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6" name="5 Triángulo isósceles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  <p:hf sldNum="0" hd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6324600" y="304800"/>
            <a:ext cx="2514600" cy="838200"/>
          </a:xfrm>
        </p:spPr>
        <p:txBody>
          <a:bodyPr anchor="b" anchorCtr="0">
            <a:noAutofit/>
          </a:bodyPr>
          <a:lstStyle>
            <a:lvl1pPr algn="l">
              <a:buNone/>
              <a:defRPr sz="2000" b="1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kumimoji="0" lang="es-ES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texto"/>
          <p:cNvSpPr>
            <a:spLocks noGrp="1"/>
          </p:cNvSpPr>
          <p:nvPr>
            <p:ph type="body" idx="2"/>
          </p:nvPr>
        </p:nvSpPr>
        <p:spPr>
          <a:xfrm>
            <a:off x="6324600" y="1219200"/>
            <a:ext cx="2514600" cy="4843463"/>
          </a:xfrm>
        </p:spPr>
        <p:txBody>
          <a:bodyPr/>
          <a:lstStyle>
            <a:lvl1pPr marL="0" indent="0">
              <a:lnSpc>
                <a:spcPts val="2200"/>
              </a:lnSpc>
              <a:spcAft>
                <a:spcPts val="1000"/>
              </a:spcAft>
              <a:buNone/>
              <a:defRPr sz="1600">
                <a:solidFill>
                  <a:schemeClr val="tx2"/>
                </a:solidFill>
              </a:defRPr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s-ES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DF6120-F1F0-4C60-9FE9-39AC71A9C79D}" type="datetimeFigureOut">
              <a:rPr lang="en-US" smtClean="0"/>
              <a:pPr/>
              <a:t>8/31/2023</a:t>
            </a:fld>
            <a:endParaRPr lang="en-US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s-CO"/>
              <a:t>Diplomado en Desarrollo de Aplicaciones para Internet 2008</a:t>
            </a:r>
            <a:endParaRPr lang="es-ES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/>
          </a:p>
        </p:txBody>
      </p:sp>
      <p:sp>
        <p:nvSpPr>
          <p:cNvPr id="8" name="7 Conector recto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0" name="9 Conector recto"/>
          <p:cNvSpPr>
            <a:spLocks noChangeShapeType="1"/>
          </p:cNvSpPr>
          <p:nvPr/>
        </p:nvSpPr>
        <p:spPr bwMode="auto">
          <a:xfrm rot="5400000">
            <a:off x="3160645" y="3324225"/>
            <a:ext cx="603504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9" name="8 Triángulo isósceles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11 Marcador de contenido"/>
          <p:cNvSpPr>
            <a:spLocks noGrp="1"/>
          </p:cNvSpPr>
          <p:nvPr>
            <p:ph sz="quarter" idx="1"/>
          </p:nvPr>
        </p:nvSpPr>
        <p:spPr>
          <a:xfrm>
            <a:off x="304800" y="304800"/>
            <a:ext cx="5715000" cy="5715000"/>
          </a:xfrm>
        </p:spPr>
        <p:txBody>
          <a:bodyPr/>
          <a:lstStyle/>
          <a:p>
            <a:pPr lvl="0" eaLnBrk="1" latinLnBrk="0" hangingPunct="1"/>
            <a:r>
              <a:rPr lang="es-ES"/>
              <a:t>Haga clic para modificar el estilo de texto del patrón</a:t>
            </a:r>
          </a:p>
          <a:p>
            <a:pPr lvl="1" eaLnBrk="1" latinLnBrk="0" hangingPunct="1"/>
            <a:r>
              <a:rPr lang="es-ES"/>
              <a:t>Segundo nivel</a:t>
            </a:r>
          </a:p>
          <a:p>
            <a:pPr lvl="2" eaLnBrk="1" latinLnBrk="0" hangingPunct="1"/>
            <a:r>
              <a:rPr lang="es-ES"/>
              <a:t>Tercer nivel</a:t>
            </a:r>
          </a:p>
          <a:p>
            <a:pPr lvl="3" eaLnBrk="1" latinLnBrk="0" hangingPunct="1"/>
            <a:r>
              <a:rPr lang="es-ES"/>
              <a:t>Cuarto nivel</a:t>
            </a:r>
          </a:p>
          <a:p>
            <a:pPr lvl="4" eaLnBrk="1" latinLnBrk="0" hangingPunct="1"/>
            <a:r>
              <a:rPr lang="es-ES"/>
              <a:t>Quinto nivel</a:t>
            </a:r>
            <a:endParaRPr kumimoji="0" lang="en-US"/>
          </a:p>
        </p:txBody>
      </p:sp>
    </p:spTree>
  </p:cSld>
  <p:clrMapOvr>
    <a:masterClrMapping/>
  </p:clrMapOvr>
  <p:hf sldNum="0" hd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n con título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500856"/>
            <a:ext cx="8229600" cy="674688"/>
          </a:xfrm>
          <a:ln>
            <a:solidFill>
              <a:schemeClr val="accent1"/>
            </a:solidFill>
          </a:ln>
        </p:spPr>
        <p:txBody>
          <a:bodyPr lIns="274320" anchor="ctr"/>
          <a:lstStyle>
            <a:lvl1pPr algn="r">
              <a:buNone/>
              <a:defRPr sz="2000" b="0">
                <a:solidFill>
                  <a:schemeClr val="tx1"/>
                </a:solidFill>
              </a:defRPr>
            </a:lvl1pPr>
          </a:lstStyle>
          <a:p>
            <a:r>
              <a:rPr kumimoji="0" lang="es-ES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>
            <a:off x="457200" y="1905000"/>
            <a:ext cx="8229600" cy="4270248"/>
          </a:xfrm>
          <a:solidFill>
            <a:schemeClr val="tx1">
              <a:shade val="50000"/>
            </a:schemeClr>
          </a:solidFill>
          <a:ln>
            <a:noFill/>
          </a:ln>
          <a:effectLst/>
        </p:spPr>
        <p:txBody>
          <a:bodyPr/>
          <a:lstStyle>
            <a:lvl1pPr marL="0" indent="0">
              <a:spcBef>
                <a:spcPts val="600"/>
              </a:spcBef>
              <a:buNone/>
              <a:defRPr sz="3200"/>
            </a:lvl1pPr>
          </a:lstStyle>
          <a:p>
            <a:r>
              <a:rPr kumimoji="0" lang="es-ES"/>
              <a:t>Haga clic en el icono para agregar una imagen</a:t>
            </a:r>
            <a:endParaRPr kumimoji="0" lang="en-US" dirty="0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457200" y="1219200"/>
            <a:ext cx="8229600" cy="533400"/>
          </a:xfrm>
        </p:spPr>
        <p:txBody>
          <a:bodyPr anchor="ctr" anchorCtr="0"/>
          <a:lstStyle>
            <a:lvl1pPr marL="0" indent="0" algn="l">
              <a:buFontTx/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s-ES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DF6120-F1F0-4C60-9FE9-39AC71A9C79D}" type="datetimeFigureOut">
              <a:rPr lang="en-US" smtClean="0"/>
              <a:pPr/>
              <a:t>8/31/2023</a:t>
            </a:fld>
            <a:endParaRPr lang="en-US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s-CO"/>
              <a:t>Diplomado en Desarrollo de Aplicaciones para Internet 2008</a:t>
            </a:r>
            <a:endParaRPr lang="es-ES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/>
          </a:p>
        </p:txBody>
      </p:sp>
      <p:sp>
        <p:nvSpPr>
          <p:cNvPr id="8" name="7 Conector recto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9" name="8 Triángulo isósceles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9 Rectángulo"/>
          <p:cNvSpPr/>
          <p:nvPr/>
        </p:nvSpPr>
        <p:spPr>
          <a:xfrm>
            <a:off x="457200" y="500856"/>
            <a:ext cx="182880" cy="68580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  <p:hf sldNum="0" hd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s-ES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s-ES"/>
              <a:t>Haga clic para modificar el estilo de texto del patrón</a:t>
            </a:r>
          </a:p>
          <a:p>
            <a:pPr lvl="1" eaLnBrk="1" latinLnBrk="0" hangingPunct="1"/>
            <a:r>
              <a:rPr lang="es-ES"/>
              <a:t>Segundo nivel</a:t>
            </a:r>
          </a:p>
          <a:p>
            <a:pPr lvl="2" eaLnBrk="1" latinLnBrk="0" hangingPunct="1"/>
            <a:r>
              <a:rPr lang="es-ES"/>
              <a:t>Tercer nivel</a:t>
            </a:r>
          </a:p>
          <a:p>
            <a:pPr lvl="3" eaLnBrk="1" latinLnBrk="0" hangingPunct="1"/>
            <a:r>
              <a:rPr lang="es-ES"/>
              <a:t>Cuarto nivel</a:t>
            </a:r>
          </a:p>
          <a:p>
            <a:pPr lvl="4" eaLnBrk="1" latinLnBrk="0" hangingPunct="1"/>
            <a:r>
              <a:rPr lang="es-ES"/>
              <a:t>Quinto nivel</a:t>
            </a:r>
            <a:endParaRPr kumimoji="0" lang="en-US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DF6120-F1F0-4C60-9FE9-39AC71A9C79D}" type="datetimeFigureOut">
              <a:rPr lang="en-US" smtClean="0"/>
              <a:pPr/>
              <a:t>8/31/2023</a:t>
            </a:fld>
            <a:endParaRPr lang="en-U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s-CO"/>
              <a:t>Diplomado en Desarrollo de Aplicaciones para Internet 2008</a:t>
            </a:r>
            <a:endParaRPr lang="es-E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/>
          </a:p>
        </p:txBody>
      </p:sp>
    </p:spTree>
  </p:cSld>
  <p:clrMapOvr>
    <a:masterClrMapping/>
  </p:clrMapOvr>
  <p:hf sldNum="0" hd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 vertical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kumimoji="0" lang="es-ES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 eaLnBrk="1" latinLnBrk="0" hangingPunct="1"/>
            <a:r>
              <a:rPr lang="es-ES"/>
              <a:t>Haga clic para modificar el estilo de texto del patrón</a:t>
            </a:r>
          </a:p>
          <a:p>
            <a:pPr lvl="1" eaLnBrk="1" latinLnBrk="0" hangingPunct="1"/>
            <a:r>
              <a:rPr lang="es-ES"/>
              <a:t>Segundo nivel</a:t>
            </a:r>
          </a:p>
          <a:p>
            <a:pPr lvl="2" eaLnBrk="1" latinLnBrk="0" hangingPunct="1"/>
            <a:r>
              <a:rPr lang="es-ES"/>
              <a:t>Tercer nivel</a:t>
            </a:r>
          </a:p>
          <a:p>
            <a:pPr lvl="3" eaLnBrk="1" latinLnBrk="0" hangingPunct="1"/>
            <a:r>
              <a:rPr lang="es-ES"/>
              <a:t>Cuarto nivel</a:t>
            </a:r>
          </a:p>
          <a:p>
            <a:pPr lvl="4" eaLnBrk="1" latinLnBrk="0" hangingPunct="1"/>
            <a:r>
              <a:rPr lang="es-ES"/>
              <a:t>Quinto nivel</a:t>
            </a:r>
            <a:endParaRPr kumimoji="0" lang="en-US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DF6120-F1F0-4C60-9FE9-39AC71A9C79D}" type="datetimeFigureOut">
              <a:rPr lang="en-US" smtClean="0"/>
              <a:pPr/>
              <a:t>8/31/2023</a:t>
            </a:fld>
            <a:endParaRPr lang="en-U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s-CO"/>
              <a:t>Diplomado en Desarrollo de Aplicaciones para Internet 2008</a:t>
            </a:r>
            <a:endParaRPr lang="es-E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/>
          </a:p>
        </p:txBody>
      </p:sp>
      <p:sp>
        <p:nvSpPr>
          <p:cNvPr id="7" name="6 Conector recto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8" name="7 Triángulo isósceles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8 Conector recto"/>
          <p:cNvSpPr>
            <a:spLocks noChangeShapeType="1"/>
          </p:cNvSpPr>
          <p:nvPr/>
        </p:nvSpPr>
        <p:spPr bwMode="auto">
          <a:xfrm rot="5400000">
            <a:off x="3629607" y="3201952"/>
            <a:ext cx="585216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</p:spTree>
  </p:cSld>
  <p:clrMapOvr>
    <a:masterClrMapping/>
  </p:clrMapOvr>
  <p:hf sldNum="0" hd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21 Marcador de título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990600"/>
          </a:xfrm>
          <a:prstGeom prst="rect">
            <a:avLst/>
          </a:prstGeom>
        </p:spPr>
        <p:txBody>
          <a:bodyPr vert="horz" anchor="b" anchorCtr="0">
            <a:normAutofit/>
          </a:bodyPr>
          <a:lstStyle/>
          <a:p>
            <a:r>
              <a:rPr kumimoji="0" lang="es-ES"/>
              <a:t>Haga clic para modificar el estilo de título del patrón</a:t>
            </a:r>
            <a:endParaRPr kumimoji="0" lang="en-US"/>
          </a:p>
        </p:txBody>
      </p:sp>
      <p:sp>
        <p:nvSpPr>
          <p:cNvPr id="13" name="12 Marcador de texto"/>
          <p:cNvSpPr>
            <a:spLocks noGrp="1"/>
          </p:cNvSpPr>
          <p:nvPr>
            <p:ph type="body" idx="1"/>
          </p:nvPr>
        </p:nvSpPr>
        <p:spPr>
          <a:xfrm>
            <a:off x="457200" y="1219200"/>
            <a:ext cx="8229600" cy="4910328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s-ES"/>
              <a:t>Haga clic para modificar el estilo de texto del patrón</a:t>
            </a:r>
          </a:p>
          <a:p>
            <a:pPr lvl="1" eaLnBrk="1" latinLnBrk="0" hangingPunct="1"/>
            <a:r>
              <a:rPr kumimoji="0" lang="es-ES"/>
              <a:t>Segundo nivel</a:t>
            </a:r>
          </a:p>
          <a:p>
            <a:pPr lvl="2" eaLnBrk="1" latinLnBrk="0" hangingPunct="1"/>
            <a:r>
              <a:rPr kumimoji="0" lang="es-ES"/>
              <a:t>Tercer nivel</a:t>
            </a:r>
          </a:p>
          <a:p>
            <a:pPr lvl="3" eaLnBrk="1" latinLnBrk="0" hangingPunct="1"/>
            <a:r>
              <a:rPr kumimoji="0" lang="es-ES"/>
              <a:t>Cuarto nivel</a:t>
            </a:r>
          </a:p>
          <a:p>
            <a:pPr lvl="4" eaLnBrk="1" latinLnBrk="0" hangingPunct="1"/>
            <a:r>
              <a:rPr kumimoji="0" lang="es-ES"/>
              <a:t>Quinto nivel</a:t>
            </a:r>
            <a:endParaRPr kumimoji="0" lang="en-US"/>
          </a:p>
        </p:txBody>
      </p:sp>
      <p:sp>
        <p:nvSpPr>
          <p:cNvPr id="14" name="13 Marcador de fecha"/>
          <p:cNvSpPr>
            <a:spLocks noGrp="1"/>
          </p:cNvSpPr>
          <p:nvPr>
            <p:ph type="dt" sz="half" idx="2"/>
          </p:nvPr>
        </p:nvSpPr>
        <p:spPr>
          <a:xfrm>
            <a:off x="6400800" y="6356350"/>
            <a:ext cx="2289048" cy="36576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fld id="{ACDF6120-F1F0-4C60-9FE9-39AC71A9C79D}" type="datetimeFigureOut">
              <a:rPr lang="en-US" smtClean="0"/>
              <a:pPr/>
              <a:t>8/31/2023</a:t>
            </a:fld>
            <a:endParaRPr lang="en-US" sz="1400" dirty="0">
              <a:solidFill>
                <a:schemeClr val="tx2"/>
              </a:solidFill>
            </a:endParaRPr>
          </a:p>
        </p:txBody>
      </p:sp>
      <p:sp>
        <p:nvSpPr>
          <p:cNvPr id="3" name="2 Marcador de pie de página"/>
          <p:cNvSpPr>
            <a:spLocks noGrp="1"/>
          </p:cNvSpPr>
          <p:nvPr>
            <p:ph type="ftr" sz="quarter" idx="3"/>
          </p:nvPr>
        </p:nvSpPr>
        <p:spPr>
          <a:xfrm>
            <a:off x="2898648" y="6356350"/>
            <a:ext cx="3505200" cy="365760"/>
          </a:xfrm>
          <a:prstGeom prst="rect">
            <a:avLst/>
          </a:prstGeom>
        </p:spPr>
        <p:txBody>
          <a:bodyPr vert="horz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pPr>
              <a:defRPr/>
            </a:pPr>
            <a:r>
              <a:rPr lang="es-CO"/>
              <a:t>Diplomado en Desarrollo de Aplicaciones para Internet 2008</a:t>
            </a:r>
            <a:endParaRPr lang="es-ES"/>
          </a:p>
        </p:txBody>
      </p:sp>
      <p:sp>
        <p:nvSpPr>
          <p:cNvPr id="23" name="22 Marcador de número de diapositiva"/>
          <p:cNvSpPr>
            <a:spLocks noGrp="1"/>
          </p:cNvSpPr>
          <p:nvPr>
            <p:ph type="sldNum" sz="quarter" idx="4"/>
          </p:nvPr>
        </p:nvSpPr>
        <p:spPr>
          <a:xfrm>
            <a:off x="612648" y="6356350"/>
            <a:ext cx="1981200" cy="36576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pPr algn="l" eaLnBrk="1" latinLnBrk="0" hangingPunct="1"/>
            <a:fld id="{EA7C8D44-3667-46F6-9772-CC52308E2A7F}" type="slidenum">
              <a:rPr kumimoji="0" lang="en-US" smtClean="0"/>
              <a:pPr algn="l" eaLnBrk="1" latinLnBrk="0" hangingPunct="1"/>
              <a:t>‹#›</a:t>
            </a:fld>
            <a:endParaRPr kumimoji="0" lang="en-US" sz="1600" dirty="0">
              <a:solidFill>
                <a:schemeClr val="tx2"/>
              </a:solidFill>
            </a:endParaRPr>
          </a:p>
        </p:txBody>
      </p:sp>
      <p:sp>
        <p:nvSpPr>
          <p:cNvPr id="28" name="27 Conector recto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9" name="28 Conector recto"/>
          <p:cNvSpPr>
            <a:spLocks noChangeShapeType="1"/>
          </p:cNvSpPr>
          <p:nvPr/>
        </p:nvSpPr>
        <p:spPr bwMode="auto">
          <a:xfrm>
            <a:off x="457200" y="1143000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0" name="9 Triángulo isósceles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43" r:id="rId1"/>
    <p:sldLayoutId id="2147483744" r:id="rId2"/>
    <p:sldLayoutId id="2147483745" r:id="rId3"/>
    <p:sldLayoutId id="2147483746" r:id="rId4"/>
    <p:sldLayoutId id="2147483747" r:id="rId5"/>
    <p:sldLayoutId id="2147483748" r:id="rId6"/>
    <p:sldLayoutId id="2147483749" r:id="rId7"/>
    <p:sldLayoutId id="2147483750" r:id="rId8"/>
    <p:sldLayoutId id="2147483751" r:id="rId9"/>
    <p:sldLayoutId id="2147483752" r:id="rId10"/>
    <p:sldLayoutId id="2147483753" r:id="rId11"/>
  </p:sldLayoutIdLst>
  <p:hf sldNum="0" hdr="0" dt="0"/>
  <p:txStyles>
    <p:titleStyle>
      <a:lvl1pPr algn="l" rtl="0" eaLnBrk="1" latinLnBrk="0" hangingPunct="1">
        <a:spcBef>
          <a:spcPct val="0"/>
        </a:spcBef>
        <a:buNone/>
        <a:defRPr kumimoji="0" sz="32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600"/>
        </a:spcBef>
        <a:buClr>
          <a:schemeClr val="accent1"/>
        </a:buClr>
        <a:buSzPct val="76000"/>
        <a:buFont typeface="Wingdings 3"/>
        <a:buChar char="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indent="-274320" algn="l" rtl="0" eaLnBrk="1" latinLnBrk="0" hangingPunct="1">
        <a:spcBef>
          <a:spcPts val="500"/>
        </a:spcBef>
        <a:buClr>
          <a:schemeClr val="accent2"/>
        </a:buClr>
        <a:buSzPct val="76000"/>
        <a:buFont typeface="Wingdings 3"/>
        <a:buChar char=""/>
        <a:defRPr kumimoji="0" sz="2300" kern="1200">
          <a:solidFill>
            <a:schemeClr val="tx2"/>
          </a:solidFill>
          <a:latin typeface="+mn-lt"/>
          <a:ea typeface="+mn-ea"/>
          <a:cs typeface="+mn-cs"/>
        </a:defRPr>
      </a:lvl2pPr>
      <a:lvl3pPr marL="822960" indent="-228600" algn="l" rtl="0" eaLnBrk="1" latinLnBrk="0" hangingPunct="1">
        <a:spcBef>
          <a:spcPts val="500"/>
        </a:spcBef>
        <a:buClr>
          <a:schemeClr val="bg1">
            <a:shade val="50000"/>
          </a:schemeClr>
        </a:buClr>
        <a:buSzPct val="76000"/>
        <a:buFont typeface="Wingdings 3"/>
        <a:buChar char="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228600" algn="l" rtl="0" eaLnBrk="1" latinLnBrk="0" hangingPunct="1">
        <a:spcBef>
          <a:spcPts val="400"/>
        </a:spcBef>
        <a:buClr>
          <a:schemeClr val="accent2">
            <a:shade val="75000"/>
          </a:schemeClr>
        </a:buClr>
        <a:buSzPct val="70000"/>
        <a:buFont typeface="Wingdings"/>
        <a:buChar char="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00"/>
        </a:spcBef>
        <a:buClr>
          <a:schemeClr val="accent2"/>
        </a:buClr>
        <a:buSzPct val="70000"/>
        <a:buFont typeface="Wingdings"/>
        <a:buChar char="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indent="-182880" algn="l" rtl="0" eaLnBrk="1" latinLnBrk="0" hangingPunct="1">
        <a:spcBef>
          <a:spcPts val="300"/>
        </a:spcBef>
        <a:buClr>
          <a:srgbClr val="9FB8CD">
            <a:shade val="75000"/>
          </a:srgbClr>
        </a:buClr>
        <a:buSzPct val="75000"/>
        <a:buFont typeface="Wingdings 3"/>
        <a:buChar char=""/>
        <a:defRPr kumimoji="0" lang="en-US" sz="1600" kern="1200" smtClean="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182880" algn="l" rtl="0" eaLnBrk="1" latinLnBrk="0" hangingPunct="1">
        <a:spcBef>
          <a:spcPts val="300"/>
        </a:spcBef>
        <a:buClr>
          <a:srgbClr val="727CA3">
            <a:shade val="75000"/>
          </a:srgbClr>
        </a:buClr>
        <a:buSzPct val="75000"/>
        <a:buFont typeface="Wingdings 3"/>
        <a:buChar char=""/>
        <a:defRPr kumimoji="0" lang="en-US" sz="1400" kern="1200" smtClean="0">
          <a:solidFill>
            <a:schemeClr val="tx1"/>
          </a:solidFill>
          <a:latin typeface="+mn-lt"/>
          <a:ea typeface="+mn-ea"/>
          <a:cs typeface="+mn-cs"/>
        </a:defRPr>
      </a:lvl7pPr>
      <a:lvl8pPr marL="2011680" indent="-182880" algn="l" rtl="0" eaLnBrk="1" latinLnBrk="0" hangingPunct="1">
        <a:spcBef>
          <a:spcPts val="300"/>
        </a:spcBef>
        <a:buClr>
          <a:prstClr val="white">
            <a:shade val="50000"/>
          </a:prstClr>
        </a:buClr>
        <a:buSzPct val="75000"/>
        <a:buFont typeface="Wingdings 3"/>
        <a:buChar char=""/>
        <a:defRPr kumimoji="0" lang="en-US" sz="1400" kern="1200" smtClean="0">
          <a:solidFill>
            <a:schemeClr val="tx1"/>
          </a:solidFill>
          <a:latin typeface="+mn-lt"/>
          <a:ea typeface="+mn-ea"/>
          <a:cs typeface="+mn-cs"/>
        </a:defRPr>
      </a:lvl8pPr>
      <a:lvl9pPr marL="2194560" indent="-182880" algn="l" rtl="0" eaLnBrk="1" latinLnBrk="0" hangingPunct="1">
        <a:spcBef>
          <a:spcPts val="300"/>
        </a:spcBef>
        <a:buClr>
          <a:srgbClr val="9FB8CD"/>
        </a:buClr>
        <a:buSzPct val="75000"/>
        <a:buFont typeface="Wingdings 3"/>
        <a:buChar char=""/>
        <a:defRPr kumimoji="0" lang="en-US" sz="1200" kern="1200" smtClean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5" name="Rectangle 2"/>
          <p:cNvSpPr>
            <a:spLocks noGrp="1" noChangeArrowheads="1"/>
          </p:cNvSpPr>
          <p:nvPr>
            <p:ph type="ctrTitle"/>
          </p:nvPr>
        </p:nvSpPr>
        <p:spPr>
          <a:xfrm>
            <a:off x="1073893" y="3763927"/>
            <a:ext cx="7088372" cy="1112874"/>
          </a:xfrm>
        </p:spPr>
        <p:txBody>
          <a:bodyPr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2800" dirty="0"/>
              <a:t>Base de </a:t>
            </a:r>
            <a:r>
              <a:rPr lang="en-US" sz="2800" dirty="0" err="1"/>
              <a:t>Datos</a:t>
            </a:r>
            <a:br>
              <a:rPr lang="en-US" sz="2800" dirty="0"/>
            </a:br>
            <a:r>
              <a:rPr lang="en-US" sz="2800" dirty="0" err="1"/>
              <a:t>Modelo</a:t>
            </a:r>
            <a:r>
              <a:rPr lang="en-US" sz="2800" dirty="0"/>
              <a:t> </a:t>
            </a:r>
            <a:r>
              <a:rPr lang="en-US" sz="2800" dirty="0" err="1"/>
              <a:t>Lógico</a:t>
            </a:r>
            <a:r>
              <a:rPr lang="en-US" sz="2800" dirty="0"/>
              <a:t> </a:t>
            </a:r>
            <a:r>
              <a:rPr lang="en-US" sz="2800" dirty="0" err="1"/>
              <a:t>desde</a:t>
            </a:r>
            <a:r>
              <a:rPr lang="en-US" sz="2800" dirty="0"/>
              <a:t> </a:t>
            </a:r>
            <a:r>
              <a:rPr lang="en-US" sz="2800" dirty="0" err="1"/>
              <a:t>Modelo</a:t>
            </a:r>
            <a:r>
              <a:rPr lang="en-US" sz="2800" dirty="0"/>
              <a:t> </a:t>
            </a:r>
            <a:r>
              <a:rPr lang="en-US" sz="2800" dirty="0" err="1"/>
              <a:t>Comceptual</a:t>
            </a:r>
            <a:endParaRPr lang="en-US" sz="2800" dirty="0"/>
          </a:p>
        </p:txBody>
      </p:sp>
      <p:sp>
        <p:nvSpPr>
          <p:cNvPr id="3076" name="Rectangle 3"/>
          <p:cNvSpPr>
            <a:spLocks noGrp="1" noChangeArrowheads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pPr eaLnBrk="1" fontAlgn="auto" hangingPunct="1">
              <a:spcAft>
                <a:spcPts val="0"/>
              </a:spcAft>
              <a:buFont typeface="Wingdings 3"/>
              <a:buNone/>
              <a:defRPr/>
            </a:pPr>
            <a:r>
              <a:rPr lang="en-US"/>
              <a:t>Ing. Julio Ernesto Carreño Vargas Msc.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/>
              <a:t>Modelo Lógico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s-CO"/>
              <a:t>Una vez se cuenta con el modelo conceptual se selecciona el modelo lógico en el cual se quiere representar dicho modelo</a:t>
            </a:r>
          </a:p>
          <a:p>
            <a:pPr lvl="1"/>
            <a:r>
              <a:rPr lang="es-CO"/>
              <a:t>El modelo lógico puede ser obtenido automáticamente desde el modelo conceptual</a:t>
            </a:r>
          </a:p>
          <a:p>
            <a:pPr>
              <a:buNone/>
            </a:pPr>
            <a:endParaRPr lang="es-CO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535640" y="6355080"/>
            <a:ext cx="1219200" cy="365760"/>
          </a:xfrm>
          <a:noFill/>
          <a:ln>
            <a:miter lim="800000"/>
            <a:headEnd/>
            <a:tailEnd/>
          </a:ln>
        </p:spPr>
        <p:txBody>
          <a:bodyPr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fld id="{F0E28F13-6C62-4A96-8BA3-D75897CBC3E7}" type="slidenum">
              <a:rPr lang="en-US" altLang="en-US" smtClean="0"/>
              <a:pPr/>
              <a:t>2</a:t>
            </a:fld>
            <a:endParaRPr lang="en-US" alt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/>
              <a:t>Modelo Relacional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s-CO"/>
              <a:t>El modelo relacional  se estructura en tablas (relaciones)</a:t>
            </a:r>
          </a:p>
          <a:p>
            <a:pPr lvl="1"/>
            <a:r>
              <a:rPr lang="es-CO"/>
              <a:t>Una tabla es la representación de una entidad del modelo conceptual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535640" y="6355080"/>
            <a:ext cx="1219200" cy="365760"/>
          </a:xfrm>
          <a:noFill/>
          <a:ln>
            <a:miter lim="800000"/>
            <a:headEnd/>
            <a:tailEnd/>
          </a:ln>
        </p:spPr>
        <p:txBody>
          <a:bodyPr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fld id="{F0E28F13-6C62-4A96-8BA3-D75897CBC3E7}" type="slidenum">
              <a:rPr lang="en-US" altLang="en-US" smtClean="0"/>
              <a:pPr/>
              <a:t>3</a:t>
            </a:fld>
            <a:endParaRPr lang="en-US" altLang="en-US"/>
          </a:p>
        </p:txBody>
      </p:sp>
      <p:pic>
        <p:nvPicPr>
          <p:cNvPr id="5" name="Picture 3" descr="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527561" y="2777830"/>
            <a:ext cx="4500562" cy="338116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6" name="Text Box 4"/>
          <p:cNvSpPr txBox="1">
            <a:spLocks noChangeArrowheads="1"/>
          </p:cNvSpPr>
          <p:nvPr/>
        </p:nvSpPr>
        <p:spPr bwMode="auto">
          <a:xfrm>
            <a:off x="849629" y="2783071"/>
            <a:ext cx="1640706" cy="369332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pPr marL="0" lvl="1" algn="ctr"/>
            <a:r>
              <a:rPr lang="es-CO"/>
              <a:t>Tabla Instructor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3" descr="2"/>
          <p:cNvPicPr>
            <a:picLocks noChangeAspect="1" noChangeArrowheads="1"/>
          </p:cNvPicPr>
          <p:nvPr/>
        </p:nvPicPr>
        <p:blipFill>
          <a:blip r:embed="rId2" cstate="print"/>
          <a:srcRect b="52597"/>
          <a:stretch>
            <a:fillRect/>
          </a:stretch>
        </p:blipFill>
        <p:spPr bwMode="auto">
          <a:xfrm>
            <a:off x="2027829" y="2065447"/>
            <a:ext cx="4500562" cy="1602786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/>
              <a:t>Tabla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s-CO"/>
              <a:t>Una tabla está compuesta de filas y columnas</a:t>
            </a:r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3" cstate="print"/>
          <a:srcRect r="2264"/>
          <a:stretch>
            <a:fillRect/>
          </a:stretch>
        </p:blipFill>
        <p:spPr bwMode="auto">
          <a:xfrm>
            <a:off x="2678629" y="4237075"/>
            <a:ext cx="3105483" cy="168526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6" name="Text Box 4"/>
          <p:cNvSpPr txBox="1">
            <a:spLocks noChangeArrowheads="1"/>
          </p:cNvSpPr>
          <p:nvPr/>
        </p:nvSpPr>
        <p:spPr bwMode="auto">
          <a:xfrm>
            <a:off x="7068362" y="1397293"/>
            <a:ext cx="1058303" cy="369332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pPr algn="ctr"/>
            <a:r>
              <a:rPr lang="en-US" sz="1800"/>
              <a:t>columnas</a:t>
            </a:r>
            <a:endParaRPr lang="en-US"/>
          </a:p>
        </p:txBody>
      </p:sp>
      <p:sp>
        <p:nvSpPr>
          <p:cNvPr id="7" name="Line 5"/>
          <p:cNvSpPr>
            <a:spLocks noChangeShapeType="1"/>
          </p:cNvSpPr>
          <p:nvPr/>
        </p:nvSpPr>
        <p:spPr bwMode="auto">
          <a:xfrm flipH="1">
            <a:off x="3068377" y="1602081"/>
            <a:ext cx="3889375" cy="3778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/>
          <a:lstStyle/>
          <a:p>
            <a:endParaRPr lang="es-CO"/>
          </a:p>
        </p:txBody>
      </p:sp>
      <p:sp>
        <p:nvSpPr>
          <p:cNvPr id="8" name="Line 6"/>
          <p:cNvSpPr>
            <a:spLocks noChangeShapeType="1"/>
          </p:cNvSpPr>
          <p:nvPr/>
        </p:nvSpPr>
        <p:spPr bwMode="auto">
          <a:xfrm flipH="1">
            <a:off x="4438390" y="1656056"/>
            <a:ext cx="2557462" cy="3238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/>
          <a:lstStyle/>
          <a:p>
            <a:endParaRPr lang="es-CO"/>
          </a:p>
        </p:txBody>
      </p:sp>
      <p:sp>
        <p:nvSpPr>
          <p:cNvPr id="9" name="Line 7"/>
          <p:cNvSpPr>
            <a:spLocks noChangeShapeType="1"/>
          </p:cNvSpPr>
          <p:nvPr/>
        </p:nvSpPr>
        <p:spPr bwMode="auto">
          <a:xfrm flipH="1">
            <a:off x="5649652" y="1629068"/>
            <a:ext cx="1320800" cy="36036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/>
          <a:lstStyle/>
          <a:p>
            <a:endParaRPr lang="es-CO"/>
          </a:p>
        </p:txBody>
      </p:sp>
      <p:sp>
        <p:nvSpPr>
          <p:cNvPr id="10" name="Text Box 8"/>
          <p:cNvSpPr txBox="1">
            <a:spLocks noChangeArrowheads="1"/>
          </p:cNvSpPr>
          <p:nvPr/>
        </p:nvSpPr>
        <p:spPr bwMode="auto">
          <a:xfrm>
            <a:off x="6934417" y="2586331"/>
            <a:ext cx="853119" cy="646331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pPr algn="ctr"/>
            <a:r>
              <a:rPr lang="en-US" sz="1800"/>
              <a:t>tuplas</a:t>
            </a:r>
          </a:p>
          <a:p>
            <a:pPr algn="ctr"/>
            <a:r>
              <a:rPr lang="en-US" sz="1800"/>
              <a:t>(ó filas)</a:t>
            </a:r>
            <a:endParaRPr lang="en-US"/>
          </a:p>
        </p:txBody>
      </p:sp>
      <p:sp>
        <p:nvSpPr>
          <p:cNvPr id="11" name="Line 9"/>
          <p:cNvSpPr>
            <a:spLocks noChangeShapeType="1"/>
          </p:cNvSpPr>
          <p:nvPr/>
        </p:nvSpPr>
        <p:spPr bwMode="auto">
          <a:xfrm flipH="1" flipV="1">
            <a:off x="6571990" y="2551406"/>
            <a:ext cx="369887" cy="22066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/>
          <a:lstStyle/>
          <a:p>
            <a:endParaRPr lang="es-CO"/>
          </a:p>
        </p:txBody>
      </p:sp>
      <p:sp>
        <p:nvSpPr>
          <p:cNvPr id="12" name="Line 10"/>
          <p:cNvSpPr>
            <a:spLocks noChangeShapeType="1"/>
          </p:cNvSpPr>
          <p:nvPr/>
        </p:nvSpPr>
        <p:spPr bwMode="auto">
          <a:xfrm flipH="1">
            <a:off x="6559290" y="2770481"/>
            <a:ext cx="369887" cy="1111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/>
          <a:lstStyle/>
          <a:p>
            <a:endParaRPr lang="es-CO"/>
          </a:p>
        </p:txBody>
      </p:sp>
      <p:sp>
        <p:nvSpPr>
          <p:cNvPr id="13" name="Line 11"/>
          <p:cNvSpPr>
            <a:spLocks noChangeShapeType="1"/>
          </p:cNvSpPr>
          <p:nvPr/>
        </p:nvSpPr>
        <p:spPr bwMode="auto">
          <a:xfrm flipH="1">
            <a:off x="6548177" y="2781593"/>
            <a:ext cx="392113" cy="31273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/>
          <a:lstStyle/>
          <a:p>
            <a:endParaRPr lang="es-CO"/>
          </a:p>
        </p:txBody>
      </p:sp>
      <p:sp>
        <p:nvSpPr>
          <p:cNvPr id="14" name="Line 12"/>
          <p:cNvSpPr>
            <a:spLocks noChangeShapeType="1"/>
          </p:cNvSpPr>
          <p:nvPr/>
        </p:nvSpPr>
        <p:spPr bwMode="auto">
          <a:xfrm flipH="1">
            <a:off x="6559290" y="2791118"/>
            <a:ext cx="381000" cy="5556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/>
          <a:lstStyle/>
          <a:p>
            <a:endParaRPr lang="es-CO"/>
          </a:p>
        </p:txBody>
      </p:sp>
      <p:sp>
        <p:nvSpPr>
          <p:cNvPr id="15" name="Text Box 4"/>
          <p:cNvSpPr txBox="1">
            <a:spLocks noChangeArrowheads="1"/>
          </p:cNvSpPr>
          <p:nvPr/>
        </p:nvSpPr>
        <p:spPr bwMode="auto">
          <a:xfrm>
            <a:off x="201041" y="2049423"/>
            <a:ext cx="1640706" cy="369332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pPr marL="0" lvl="1" algn="ctr"/>
            <a:r>
              <a:rPr lang="es-CO"/>
              <a:t>Tabla Instructor</a:t>
            </a:r>
          </a:p>
        </p:txBody>
      </p:sp>
      <p:sp>
        <p:nvSpPr>
          <p:cNvPr id="17" name="Text Box 4"/>
          <p:cNvSpPr txBox="1">
            <a:spLocks noChangeArrowheads="1"/>
          </p:cNvSpPr>
          <p:nvPr/>
        </p:nvSpPr>
        <p:spPr bwMode="auto">
          <a:xfrm>
            <a:off x="6057499" y="4657944"/>
            <a:ext cx="1864614" cy="369332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pPr marL="0" lvl="1" algn="ctr"/>
            <a:r>
              <a:rPr lang="es-CO"/>
              <a:t>Diagrama de tabla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2"/>
          <p:cNvSpPr>
            <a:spLocks noGrp="1" noRot="1" noChangeArrowheads="1"/>
          </p:cNvSpPr>
          <p:nvPr>
            <p:ph type="title"/>
          </p:nvPr>
        </p:nvSpPr>
        <p:spPr>
          <a:xfrm>
            <a:off x="457200" y="134938"/>
            <a:ext cx="8229600" cy="907053"/>
          </a:xfrm>
        </p:spPr>
        <p:txBody>
          <a:bodyPr/>
          <a:lstStyle/>
          <a:p>
            <a:pPr eaLnBrk="1" hangingPunct="1">
              <a:defRPr/>
            </a:pPr>
            <a:r>
              <a:rPr lang="en-US"/>
              <a:t>Una Base de Datos Relacional</a:t>
            </a:r>
          </a:p>
        </p:txBody>
      </p:sp>
      <p:pic>
        <p:nvPicPr>
          <p:cNvPr id="17411" name="Picture 7"/>
          <p:cNvPicPr>
            <a:picLocks noChangeAspect="1" noChangeArrowheads="1"/>
          </p:cNvPicPr>
          <p:nvPr/>
        </p:nvPicPr>
        <p:blipFill>
          <a:blip r:embed="rId2" cstate="print"/>
          <a:srcRect l="20081" t="787" r="20081" b="1329"/>
          <a:stretch>
            <a:fillRect/>
          </a:stretch>
        </p:blipFill>
        <p:spPr bwMode="auto">
          <a:xfrm>
            <a:off x="1935347" y="1343729"/>
            <a:ext cx="4146476" cy="5086814"/>
          </a:xfrm>
          <a:prstGeom prst="rect">
            <a:avLst/>
          </a:prstGeom>
          <a:noFill/>
          <a:ln w="38100" cmpd="dbl">
            <a:solidFill>
              <a:schemeClr val="tx2"/>
            </a:solidFill>
            <a:miter lim="800000"/>
            <a:headEnd/>
            <a:tailEnd/>
          </a:ln>
        </p:spPr>
      </p:pic>
      <p:sp>
        <p:nvSpPr>
          <p:cNvPr id="8" name="Rectangle 6"/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535640" y="6355080"/>
            <a:ext cx="1219200" cy="365760"/>
          </a:xfrm>
          <a:noFill/>
          <a:ln>
            <a:miter lim="800000"/>
            <a:headEnd/>
            <a:tailEnd/>
          </a:ln>
        </p:spPr>
        <p:txBody>
          <a:bodyPr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fld id="{F0E28F13-6C62-4A96-8BA3-D75897CBC3E7}" type="slidenum">
              <a:rPr lang="en-US" altLang="en-US" smtClean="0"/>
              <a:pPr/>
              <a:t>5</a:t>
            </a:fld>
            <a:endParaRPr lang="en-US" altLang="en-US"/>
          </a:p>
        </p:txBody>
      </p:sp>
      <p:sp>
        <p:nvSpPr>
          <p:cNvPr id="9" name="8 Forma libre"/>
          <p:cNvSpPr/>
          <p:nvPr/>
        </p:nvSpPr>
        <p:spPr>
          <a:xfrm>
            <a:off x="3988981" y="2567763"/>
            <a:ext cx="2973572" cy="2270051"/>
          </a:xfrm>
          <a:custGeom>
            <a:avLst/>
            <a:gdLst>
              <a:gd name="connsiteX0" fmla="*/ 30126 w 2973572"/>
              <a:gd name="connsiteY0" fmla="*/ 409353 h 2491562"/>
              <a:gd name="connsiteX1" fmla="*/ 476693 w 2973572"/>
              <a:gd name="connsiteY1" fmla="*/ 239232 h 2491562"/>
              <a:gd name="connsiteX2" fmla="*/ 2890284 w 2973572"/>
              <a:gd name="connsiteY2" fmla="*/ 324293 h 2491562"/>
              <a:gd name="connsiteX3" fmla="*/ 976424 w 2973572"/>
              <a:gd name="connsiteY3" fmla="*/ 2184990 h 2491562"/>
              <a:gd name="connsiteX4" fmla="*/ 976424 w 2973572"/>
              <a:gd name="connsiteY4" fmla="*/ 2163725 h 24915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973572" h="2491562">
                <a:moveTo>
                  <a:pt x="30126" y="409353"/>
                </a:moveTo>
                <a:cubicBezTo>
                  <a:pt x="15063" y="331381"/>
                  <a:pt x="0" y="253409"/>
                  <a:pt x="476693" y="239232"/>
                </a:cubicBezTo>
                <a:cubicBezTo>
                  <a:pt x="953386" y="225055"/>
                  <a:pt x="2806996" y="0"/>
                  <a:pt x="2890284" y="324293"/>
                </a:cubicBezTo>
                <a:cubicBezTo>
                  <a:pt x="2973572" y="648586"/>
                  <a:pt x="1295400" y="1878418"/>
                  <a:pt x="976424" y="2184990"/>
                </a:cubicBezTo>
                <a:cubicBezTo>
                  <a:pt x="657448" y="2491562"/>
                  <a:pt x="816936" y="2327643"/>
                  <a:pt x="976424" y="2163725"/>
                </a:cubicBezTo>
              </a:path>
            </a:pathLst>
          </a:cu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0" name="9 Forma libre"/>
          <p:cNvSpPr/>
          <p:nvPr/>
        </p:nvSpPr>
        <p:spPr>
          <a:xfrm>
            <a:off x="437707" y="1435395"/>
            <a:ext cx="2635102" cy="3338624"/>
          </a:xfrm>
          <a:custGeom>
            <a:avLst/>
            <a:gdLst>
              <a:gd name="connsiteX0" fmla="*/ 1561214 w 2635102"/>
              <a:gd name="connsiteY0" fmla="*/ 0 h 3338624"/>
              <a:gd name="connsiteX1" fmla="*/ 178981 w 2635102"/>
              <a:gd name="connsiteY1" fmla="*/ 1158949 h 3338624"/>
              <a:gd name="connsiteX2" fmla="*/ 2635102 w 2635102"/>
              <a:gd name="connsiteY2" fmla="*/ 3338624 h 33386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635102" h="3338624">
                <a:moveTo>
                  <a:pt x="1561214" y="0"/>
                </a:moveTo>
                <a:cubicBezTo>
                  <a:pt x="780607" y="301256"/>
                  <a:pt x="0" y="602512"/>
                  <a:pt x="178981" y="1158949"/>
                </a:cubicBezTo>
                <a:cubicBezTo>
                  <a:pt x="357962" y="1715386"/>
                  <a:pt x="1496532" y="2527005"/>
                  <a:pt x="2635102" y="3338624"/>
                </a:cubicBezTo>
              </a:path>
            </a:pathLst>
          </a:custGeom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/>
              <a:t>Columna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s-CO"/>
              <a:t>Atributo de una tabla</a:t>
            </a:r>
          </a:p>
          <a:p>
            <a:pPr lvl="1"/>
            <a:r>
              <a:rPr lang="es-CO"/>
              <a:t>Similar al atributo de una entidad</a:t>
            </a:r>
          </a:p>
          <a:p>
            <a:r>
              <a:rPr lang="es-CO"/>
              <a:t>La columna tiene un tipo</a:t>
            </a:r>
          </a:p>
          <a:p>
            <a:r>
              <a:rPr lang="es-CO"/>
              <a:t>El conjunto de valores permitidos sobre las columnas se llama “dominio”</a:t>
            </a:r>
          </a:p>
          <a:p>
            <a:r>
              <a:rPr lang="es-CO"/>
              <a:t>Existe un valor especial “null”</a:t>
            </a:r>
          </a:p>
          <a:p>
            <a:pPr>
              <a:buNone/>
            </a:pPr>
            <a:endParaRPr lang="es-CO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535640" y="6355080"/>
            <a:ext cx="1219200" cy="365760"/>
          </a:xfrm>
          <a:noFill/>
          <a:ln>
            <a:miter lim="800000"/>
            <a:headEnd/>
            <a:tailEnd/>
          </a:ln>
        </p:spPr>
        <p:txBody>
          <a:bodyPr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fld id="{F0E28F13-6C62-4A96-8BA3-D75897CBC3E7}" type="slidenum">
              <a:rPr lang="en-US" altLang="en-US" smtClean="0"/>
              <a:pPr/>
              <a:t>6</a:t>
            </a:fld>
            <a:endParaRPr lang="en-US" altLang="en-US"/>
          </a:p>
        </p:txBody>
      </p:sp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2" cstate="print"/>
          <a:srcRect r="2264"/>
          <a:stretch>
            <a:fillRect/>
          </a:stretch>
        </p:blipFill>
        <p:spPr bwMode="auto">
          <a:xfrm>
            <a:off x="3401644" y="4194543"/>
            <a:ext cx="3105483" cy="168526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 r="2264"/>
          <a:stretch>
            <a:fillRect/>
          </a:stretch>
        </p:blipFill>
        <p:spPr bwMode="auto">
          <a:xfrm>
            <a:off x="1136908" y="2142459"/>
            <a:ext cx="3105483" cy="168526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/>
              <a:t>Llave Primaria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s-CO"/>
              <a:t>Corresponde al identificador único de una entidad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535640" y="6355080"/>
            <a:ext cx="1219200" cy="365760"/>
          </a:xfrm>
          <a:noFill/>
          <a:ln>
            <a:miter lim="800000"/>
            <a:headEnd/>
            <a:tailEnd/>
          </a:ln>
        </p:spPr>
        <p:txBody>
          <a:bodyPr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fld id="{F0E28F13-6C62-4A96-8BA3-D75897CBC3E7}" type="slidenum">
              <a:rPr lang="en-US" altLang="en-US" smtClean="0"/>
              <a:pPr/>
              <a:t>7</a:t>
            </a:fld>
            <a:endParaRPr lang="en-US" altLang="en-US"/>
          </a:p>
        </p:txBody>
      </p:sp>
      <p:sp>
        <p:nvSpPr>
          <p:cNvPr id="6" name="5 CuadroTexto"/>
          <p:cNvSpPr txBox="1"/>
          <p:nvPr/>
        </p:nvSpPr>
        <p:spPr>
          <a:xfrm>
            <a:off x="4941578" y="2664317"/>
            <a:ext cx="2082189" cy="707886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lIns="91440" tIns="45720" rIns="91440" bIns="45720">
            <a:spAutoFit/>
          </a:bodyPr>
          <a:lstStyle/>
          <a:p>
            <a:r>
              <a:rPr lang="es-CO" sz="2000"/>
              <a:t>P: Llave Primaria</a:t>
            </a:r>
          </a:p>
          <a:p>
            <a:r>
              <a:rPr lang="es-CO" sz="2000"/>
              <a:t>*: No nulo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/>
              <a:t>Llaves Foráneas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s-CO"/>
              <a:t>Las llaves foráneas corresponden a las relaciones entre las tablas.</a:t>
            </a:r>
          </a:p>
          <a:p>
            <a:r>
              <a:rPr lang="es-CO"/>
              <a:t>Una llave foránea es una llave en una tabla que es primaria ó única en otra tabla</a:t>
            </a:r>
          </a:p>
        </p:txBody>
      </p:sp>
      <p:sp>
        <p:nvSpPr>
          <p:cNvPr id="5" name="4 CuadroTexto"/>
          <p:cNvSpPr txBox="1"/>
          <p:nvPr/>
        </p:nvSpPr>
        <p:spPr>
          <a:xfrm>
            <a:off x="3229737" y="5481945"/>
            <a:ext cx="2082189" cy="707886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lIns="91440" tIns="45720" rIns="91440" bIns="45720">
            <a:spAutoFit/>
          </a:bodyPr>
          <a:lstStyle/>
          <a:p>
            <a:r>
              <a:rPr lang="es-CO" sz="2000"/>
              <a:t>P: Llave Primaria</a:t>
            </a:r>
          </a:p>
          <a:p>
            <a:r>
              <a:rPr lang="es-CO" sz="2000">
                <a:solidFill>
                  <a:schemeClr val="dk1"/>
                </a:solidFill>
              </a:rPr>
              <a:t>F: Llave Foránea</a:t>
            </a: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26325" y="3214574"/>
            <a:ext cx="7550112" cy="2057451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7" name="6 CuadroTexto"/>
          <p:cNvSpPr txBox="1"/>
          <p:nvPr/>
        </p:nvSpPr>
        <p:spPr>
          <a:xfrm>
            <a:off x="3891517" y="3710766"/>
            <a:ext cx="244548" cy="3799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/>
              <a:t>1</a:t>
            </a:r>
          </a:p>
        </p:txBody>
      </p:sp>
      <p:sp>
        <p:nvSpPr>
          <p:cNvPr id="8" name="7 CuadroTexto"/>
          <p:cNvSpPr txBox="1"/>
          <p:nvPr/>
        </p:nvSpPr>
        <p:spPr>
          <a:xfrm>
            <a:off x="4873258" y="3671775"/>
            <a:ext cx="244548" cy="3799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/>
              <a:t>m</a:t>
            </a:r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535640" y="6355080"/>
            <a:ext cx="1219200" cy="365760"/>
          </a:xfrm>
          <a:noFill/>
          <a:ln>
            <a:miter lim="800000"/>
            <a:headEnd/>
            <a:tailEnd/>
          </a:ln>
        </p:spPr>
        <p:txBody>
          <a:bodyPr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fld id="{F0E28F13-6C62-4A96-8BA3-D75897CBC3E7}" type="slidenum">
              <a:rPr lang="en-US" altLang="en-US" smtClean="0"/>
              <a:pPr/>
              <a:t>8</a:t>
            </a:fld>
            <a:endParaRPr lang="en-US" alt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/>
              <a:t>Llaves Foráneas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s-CO"/>
              <a:t>Cuando se establece una relación entre tablas migran columnas de una tabla a otra de la siguiente manera:</a:t>
            </a:r>
          </a:p>
          <a:p>
            <a:pPr lvl="1"/>
            <a:r>
              <a:rPr lang="es-CO" b="1"/>
              <a:t>Si la relación es fuerte</a:t>
            </a:r>
          </a:p>
          <a:p>
            <a:pPr lvl="2"/>
            <a:r>
              <a:rPr lang="es-CO"/>
              <a:t>La llave primaria del lado uno de la relación migra hacia el lado muchos como llave foránea</a:t>
            </a:r>
          </a:p>
        </p:txBody>
      </p:sp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93454" y="3510850"/>
            <a:ext cx="7464462" cy="1805429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cxnSp>
        <p:nvCxnSpPr>
          <p:cNvPr id="8" name="7 Conector recto de flecha"/>
          <p:cNvCxnSpPr/>
          <p:nvPr/>
        </p:nvCxnSpPr>
        <p:spPr>
          <a:xfrm>
            <a:off x="2052084" y="3965944"/>
            <a:ext cx="3413051" cy="723014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535640" y="6355080"/>
            <a:ext cx="1219200" cy="365760"/>
          </a:xfrm>
          <a:noFill/>
          <a:ln>
            <a:miter lim="800000"/>
            <a:headEnd/>
            <a:tailEnd/>
          </a:ln>
        </p:spPr>
        <p:txBody>
          <a:bodyPr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fld id="{F0E28F13-6C62-4A96-8BA3-D75897CBC3E7}" type="slidenum">
              <a:rPr lang="en-US" altLang="en-US" smtClean="0"/>
              <a:pPr/>
              <a:t>9</a:t>
            </a:fld>
            <a:endParaRPr lang="en-US" alt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098698" y="3735247"/>
            <a:ext cx="6821324" cy="1517243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/>
              <a:t>Llaves Foráneas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s-CO"/>
              <a:t>Cuando se establece una relación entre tablas migran columnas de una tabla a otra de la siguiente manera:</a:t>
            </a:r>
          </a:p>
          <a:p>
            <a:pPr lvl="1"/>
            <a:r>
              <a:rPr lang="es-CO" b="1"/>
              <a:t>Si la relación es débil</a:t>
            </a:r>
          </a:p>
          <a:p>
            <a:pPr lvl="2"/>
            <a:r>
              <a:rPr lang="es-CO"/>
              <a:t>La llave primaria del lado uno de la relación migra hacia el lado muchos como llave foránea pero también como parte de la llave PRIMARIA</a:t>
            </a:r>
          </a:p>
        </p:txBody>
      </p:sp>
      <p:cxnSp>
        <p:nvCxnSpPr>
          <p:cNvPr id="8" name="7 Conector recto de flecha"/>
          <p:cNvCxnSpPr/>
          <p:nvPr/>
        </p:nvCxnSpPr>
        <p:spPr>
          <a:xfrm>
            <a:off x="2052084" y="4125439"/>
            <a:ext cx="2562446" cy="425303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535640" y="6355080"/>
            <a:ext cx="1219200" cy="365760"/>
          </a:xfrm>
          <a:noFill/>
          <a:ln>
            <a:miter lim="800000"/>
            <a:headEnd/>
            <a:tailEnd/>
          </a:ln>
        </p:spPr>
        <p:txBody>
          <a:bodyPr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fld id="{F0E28F13-6C62-4A96-8BA3-D75897CBC3E7}" type="slidenum">
              <a:rPr lang="en-US" altLang="en-US" smtClean="0"/>
              <a:pPr/>
              <a:t>10</a:t>
            </a:fld>
            <a:endParaRPr lang="en-US" alt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/>
              <a:t>Llaves Foráneas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s-CO" dirty="0"/>
              <a:t>Tablas </a:t>
            </a:r>
            <a:r>
              <a:rPr lang="es-CO" dirty="0" err="1"/>
              <a:t>Photo</a:t>
            </a:r>
            <a:r>
              <a:rPr lang="es-CO" dirty="0"/>
              <a:t> y </a:t>
            </a:r>
            <a:r>
              <a:rPr lang="es-CO" dirty="0" err="1"/>
              <a:t>Member</a:t>
            </a:r>
            <a:r>
              <a:rPr lang="es-CO" dirty="0"/>
              <a:t>, cada una tiene su PK (ID)</a:t>
            </a:r>
          </a:p>
        </p:txBody>
      </p:sp>
      <p:pic>
        <p:nvPicPr>
          <p:cNvPr id="7" name="Imagen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9968" y="1894436"/>
            <a:ext cx="5638800" cy="2038350"/>
          </a:xfrm>
          <a:prstGeom prst="rect">
            <a:avLst/>
          </a:prstGeom>
        </p:spPr>
      </p:pic>
      <p:pic>
        <p:nvPicPr>
          <p:cNvPr id="8" name="Imagen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6454" y="4543338"/>
            <a:ext cx="7277100" cy="1495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610141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/>
              <a:t>Llaves Foráneas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s-CO" dirty="0"/>
              <a:t>Tablas </a:t>
            </a:r>
            <a:r>
              <a:rPr lang="es-CO" dirty="0" err="1"/>
              <a:t>Photo</a:t>
            </a:r>
            <a:r>
              <a:rPr lang="es-CO" dirty="0"/>
              <a:t> y </a:t>
            </a:r>
            <a:r>
              <a:rPr lang="es-CO" dirty="0" err="1"/>
              <a:t>Member</a:t>
            </a:r>
            <a:r>
              <a:rPr lang="es-CO" dirty="0"/>
              <a:t>, cada una tiene su PK (ID)</a:t>
            </a:r>
          </a:p>
        </p:txBody>
      </p:sp>
      <p:pic>
        <p:nvPicPr>
          <p:cNvPr id="5" name="Imagen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7647" y="2263660"/>
            <a:ext cx="2600325" cy="3448050"/>
          </a:xfrm>
          <a:prstGeom prst="rect">
            <a:avLst/>
          </a:prstGeom>
        </p:spPr>
      </p:pic>
      <p:pic>
        <p:nvPicPr>
          <p:cNvPr id="6" name="Imagen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51477" y="2263660"/>
            <a:ext cx="4333875" cy="1476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017631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/>
              <a:t>Llaves Foráneas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s-CO" dirty="0"/>
              <a:t>Llave primaria de </a:t>
            </a:r>
            <a:r>
              <a:rPr lang="es-CO" dirty="0" err="1"/>
              <a:t>Member</a:t>
            </a:r>
            <a:r>
              <a:rPr lang="es-CO" dirty="0"/>
              <a:t> migra hacia </a:t>
            </a:r>
            <a:r>
              <a:rPr lang="es-CO" dirty="0" err="1"/>
              <a:t>Photo</a:t>
            </a:r>
            <a:r>
              <a:rPr lang="es-CO" dirty="0"/>
              <a:t> como </a:t>
            </a:r>
            <a:r>
              <a:rPr lang="es-CO" dirty="0" err="1"/>
              <a:t>MemberID</a:t>
            </a:r>
            <a:r>
              <a:rPr lang="es-CO" dirty="0"/>
              <a:t> </a:t>
            </a:r>
          </a:p>
        </p:txBody>
      </p:sp>
      <p:pic>
        <p:nvPicPr>
          <p:cNvPr id="3" name="Imagen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9595" y="2209973"/>
            <a:ext cx="6972300" cy="3219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853510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/>
              <a:t>Llaves Foráneas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s-CO" dirty="0"/>
              <a:t>Llave primaria de </a:t>
            </a:r>
            <a:r>
              <a:rPr lang="es-CO" dirty="0" err="1"/>
              <a:t>Member</a:t>
            </a:r>
            <a:r>
              <a:rPr lang="es-CO" dirty="0"/>
              <a:t> migra hacia </a:t>
            </a:r>
            <a:r>
              <a:rPr lang="es-CO" dirty="0" err="1"/>
              <a:t>Photo</a:t>
            </a:r>
            <a:r>
              <a:rPr lang="es-CO" dirty="0"/>
              <a:t> como </a:t>
            </a:r>
            <a:r>
              <a:rPr lang="es-CO" dirty="0" err="1"/>
              <a:t>MemberID</a:t>
            </a:r>
            <a:r>
              <a:rPr lang="es-CO" dirty="0"/>
              <a:t> </a:t>
            </a:r>
          </a:p>
        </p:txBody>
      </p:sp>
      <p:pic>
        <p:nvPicPr>
          <p:cNvPr id="5" name="Imagen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5570" y="2270153"/>
            <a:ext cx="6943725" cy="3514725"/>
          </a:xfrm>
          <a:prstGeom prst="rect">
            <a:avLst/>
          </a:prstGeom>
        </p:spPr>
      </p:pic>
      <p:sp>
        <p:nvSpPr>
          <p:cNvPr id="6" name="CuadroTexto 5"/>
          <p:cNvSpPr txBox="1"/>
          <p:nvPr/>
        </p:nvSpPr>
        <p:spPr>
          <a:xfrm>
            <a:off x="3599411" y="4027514"/>
            <a:ext cx="2934393" cy="923330"/>
          </a:xfrm>
          <a:prstGeom prst="rect">
            <a:avLst/>
          </a:prstGeom>
          <a:gradFill flip="none" rotWithShape="1">
            <a:gsLst>
              <a:gs pos="0">
                <a:schemeClr val="accent3">
                  <a:lumMod val="67000"/>
                </a:schemeClr>
              </a:gs>
              <a:gs pos="48000">
                <a:schemeClr val="accent3">
                  <a:lumMod val="97000"/>
                  <a:lumOff val="3000"/>
                </a:schemeClr>
              </a:gs>
              <a:gs pos="100000">
                <a:schemeClr val="accent3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s-CO" dirty="0"/>
              <a:t>El miembro de id 1 tiene asociadas varias foros en la tabla </a:t>
            </a:r>
            <a:r>
              <a:rPr lang="es-CO" dirty="0" err="1"/>
              <a:t>Photo</a:t>
            </a:r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205322577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/>
              <a:t>Relaciones muchos a muchos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s-CO"/>
              <a:t>Las relaciones muchos a muchos se representan mediante una tabla “puente” que tiene las llaves de las tablas que participan en la relación.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611609" y="2747851"/>
            <a:ext cx="5610384" cy="31851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535640" y="6355080"/>
            <a:ext cx="1219200" cy="365760"/>
          </a:xfrm>
          <a:noFill/>
          <a:ln>
            <a:miter lim="800000"/>
            <a:headEnd/>
            <a:tailEnd/>
          </a:ln>
        </p:spPr>
        <p:txBody>
          <a:bodyPr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fld id="{F0E28F13-6C62-4A96-8BA3-D75897CBC3E7}" type="slidenum">
              <a:rPr lang="en-US" altLang="en-US" smtClean="0"/>
              <a:pPr/>
              <a:t>15</a:t>
            </a:fld>
            <a:endParaRPr lang="en-US" alt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218" name="Rectangle 2"/>
          <p:cNvSpPr>
            <a:spLocks noGrp="1" noRot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s-ES"/>
              <a:t>Bibliografía</a:t>
            </a:r>
          </a:p>
        </p:txBody>
      </p:sp>
      <p:sp>
        <p:nvSpPr>
          <p:cNvPr id="137219" name="Rectangle 3"/>
          <p:cNvSpPr>
            <a:spLocks noGrp="1" noChangeArrowheads="1"/>
          </p:cNvSpPr>
          <p:nvPr>
            <p:ph sz="quarter" idx="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Modern Database Management.10th </a:t>
            </a:r>
            <a:r>
              <a:rPr lang="en-US" dirty="0" err="1"/>
              <a:t>Edition.Jeffrey</a:t>
            </a:r>
            <a:r>
              <a:rPr lang="en-US" dirty="0"/>
              <a:t> A. Hoffer, V. Ramesh, </a:t>
            </a:r>
            <a:r>
              <a:rPr lang="en-US" dirty="0" err="1"/>
              <a:t>Heikki</a:t>
            </a:r>
            <a:r>
              <a:rPr lang="en-US" dirty="0"/>
              <a:t> Topi.2021 Pearson Education, Inc.  Publishing as Prentice Hall.</a:t>
            </a:r>
          </a:p>
          <a:p>
            <a:pPr eaLnBrk="1" hangingPunct="1">
              <a:defRPr/>
            </a:pPr>
            <a:r>
              <a:rPr lang="en-US" dirty="0"/>
              <a:t>Database System Concepts.</a:t>
            </a:r>
            <a:r>
              <a:rPr lang="en-GB" dirty="0" err="1"/>
              <a:t>Avi</a:t>
            </a:r>
            <a:r>
              <a:rPr lang="en-GB" dirty="0"/>
              <a:t> </a:t>
            </a:r>
            <a:r>
              <a:rPr lang="en-GB" dirty="0" err="1"/>
              <a:t>Silberschatz</a:t>
            </a:r>
            <a:r>
              <a:rPr lang="en-GB" dirty="0"/>
              <a:t> , Henry F. </a:t>
            </a:r>
            <a:r>
              <a:rPr lang="en-GB" dirty="0" err="1"/>
              <a:t>Korth</a:t>
            </a:r>
            <a:r>
              <a:rPr lang="en-GB" dirty="0"/>
              <a:t> , S. </a:t>
            </a:r>
            <a:r>
              <a:rPr lang="en-GB" dirty="0" err="1"/>
              <a:t>Sudarshan.McGraw</a:t>
            </a:r>
            <a:r>
              <a:rPr lang="en-GB" dirty="0"/>
              <a:t>-Hill.  2019</a:t>
            </a:r>
            <a:r>
              <a:rPr lang="es-ES" dirty="0"/>
              <a:t>.</a:t>
            </a:r>
          </a:p>
          <a:p>
            <a:pPr eaLnBrk="1" hangingPunct="1">
              <a:defRPr/>
            </a:pPr>
            <a:r>
              <a:rPr lang="es-ES" dirty="0"/>
              <a:t>Sistemas de Bases de Datos. Thomas M. </a:t>
            </a:r>
            <a:r>
              <a:rPr lang="es-ES" dirty="0" err="1"/>
              <a:t>Conolly</a:t>
            </a:r>
            <a:r>
              <a:rPr lang="es-ES" dirty="0"/>
              <a:t>, </a:t>
            </a:r>
            <a:r>
              <a:rPr lang="es-ES" dirty="0" err="1"/>
              <a:t>Carolyn</a:t>
            </a:r>
            <a:r>
              <a:rPr lang="es-ES" dirty="0"/>
              <a:t> E. </a:t>
            </a:r>
            <a:r>
              <a:rPr lang="es-ES" dirty="0" err="1"/>
              <a:t>Begg</a:t>
            </a:r>
            <a:r>
              <a:rPr lang="es-ES" dirty="0"/>
              <a:t>. </a:t>
            </a:r>
            <a:r>
              <a:rPr lang="es-ES" dirty="0" err="1"/>
              <a:t>Addison</a:t>
            </a:r>
            <a:r>
              <a:rPr lang="es-ES" dirty="0"/>
              <a:t> </a:t>
            </a:r>
            <a:r>
              <a:rPr lang="es-ES" dirty="0" err="1"/>
              <a:t>Wesley</a:t>
            </a:r>
            <a:r>
              <a:rPr lang="es-ES" dirty="0"/>
              <a:t>. 4 edición. </a:t>
            </a:r>
            <a:r>
              <a:rPr lang="en-GB" dirty="0"/>
              <a:t>2018</a:t>
            </a:r>
            <a:r>
              <a:rPr lang="es-ES" dirty="0"/>
              <a:t> 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535640" y="6355080"/>
            <a:ext cx="1219200" cy="365760"/>
          </a:xfrm>
          <a:noFill/>
          <a:ln>
            <a:miter lim="800000"/>
            <a:headEnd/>
            <a:tailEnd/>
          </a:ln>
        </p:spPr>
        <p:txBody>
          <a:bodyPr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fld id="{F0E28F13-6C62-4A96-8BA3-D75897CBC3E7}" type="slidenum">
              <a:rPr lang="en-US" altLang="en-US" smtClean="0"/>
              <a:pPr/>
              <a:t>16</a:t>
            </a:fld>
            <a:endParaRPr lang="en-US" altLang="en-US"/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igen">
  <a:themeElements>
    <a:clrScheme name="Origen">
      <a:dk1>
        <a:sysClr val="windowText" lastClr="000000"/>
      </a:dk1>
      <a:lt1>
        <a:sysClr val="window" lastClr="FFFFFF"/>
      </a:lt1>
      <a:dk2>
        <a:srgbClr val="464653"/>
      </a:dk2>
      <a:lt2>
        <a:srgbClr val="DDE9EC"/>
      </a:lt2>
      <a:accent1>
        <a:srgbClr val="727CA3"/>
      </a:accent1>
      <a:accent2>
        <a:srgbClr val="9FB8CD"/>
      </a:accent2>
      <a:accent3>
        <a:srgbClr val="D2DA7A"/>
      </a:accent3>
      <a:accent4>
        <a:srgbClr val="FADA7A"/>
      </a:accent4>
      <a:accent5>
        <a:srgbClr val="B88472"/>
      </a:accent5>
      <a:accent6>
        <a:srgbClr val="8E736A"/>
      </a:accent6>
      <a:hlink>
        <a:srgbClr val="B292CA"/>
      </a:hlink>
      <a:folHlink>
        <a:srgbClr val="6B5680"/>
      </a:folHlink>
    </a:clrScheme>
    <a:fontScheme name="Origen">
      <a:majorFont>
        <a:latin typeface="Bookman Old Style"/>
        <a:ea typeface=""/>
        <a:cs typeface=""/>
        <a:font script="Grek" typeface="Cambria"/>
        <a:font script="Cyrl" typeface="Cambria"/>
        <a:font script="Jpan" typeface="HG明朝E"/>
        <a:font script="Hang" typeface="돋움"/>
        <a:font script="Hans" typeface="宋体"/>
        <a:font script="Hant" typeface="標楷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Gill Sans MT"/>
        <a:ea typeface=""/>
        <a:cs typeface=""/>
        <a:font script="Grek" typeface="Calibri"/>
        <a:font script="Cyrl" typeface="Calibri"/>
        <a:font script="Jpan" typeface="ＭＳ Ｐゴシック"/>
        <a:font script="Hang" typeface="맑은 고딕"/>
        <a:font script="Hans" typeface="华文新魏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rigen">
      <a:fillStyleLst>
        <a:solidFill>
          <a:schemeClr val="phClr"/>
        </a:solidFill>
        <a:gradFill rotWithShape="1">
          <a:gsLst>
            <a:gs pos="0">
              <a:schemeClr val="phClr">
                <a:tint val="45000"/>
                <a:satMod val="200000"/>
              </a:schemeClr>
            </a:gs>
            <a:gs pos="30000">
              <a:schemeClr val="phClr">
                <a:tint val="61000"/>
                <a:satMod val="200000"/>
              </a:schemeClr>
            </a:gs>
            <a:gs pos="45000">
              <a:schemeClr val="phClr">
                <a:tint val="66000"/>
                <a:satMod val="200000"/>
              </a:schemeClr>
            </a:gs>
            <a:gs pos="55000">
              <a:schemeClr val="phClr">
                <a:tint val="66000"/>
                <a:satMod val="200000"/>
              </a:schemeClr>
            </a:gs>
            <a:gs pos="73000">
              <a:schemeClr val="phClr">
                <a:tint val="61000"/>
                <a:satMod val="200000"/>
              </a:schemeClr>
            </a:gs>
            <a:gs pos="100000">
              <a:schemeClr val="phClr">
                <a:tint val="45000"/>
                <a:satMod val="200000"/>
              </a:schemeClr>
            </a:gs>
          </a:gsLst>
          <a:lin ang="950000" scaled="1"/>
        </a:gradFill>
        <a:gradFill rotWithShape="1">
          <a:gsLst>
            <a:gs pos="0">
              <a:schemeClr val="phClr">
                <a:shade val="63000"/>
              </a:schemeClr>
            </a:gs>
            <a:gs pos="30000">
              <a:schemeClr val="phClr">
                <a:shade val="90000"/>
                <a:satMod val="110000"/>
              </a:schemeClr>
            </a:gs>
            <a:gs pos="45000">
              <a:schemeClr val="phClr">
                <a:shade val="100000"/>
                <a:satMod val="118000"/>
              </a:schemeClr>
            </a:gs>
            <a:gs pos="55000">
              <a:schemeClr val="phClr">
                <a:shade val="100000"/>
                <a:satMod val="118000"/>
              </a:schemeClr>
            </a:gs>
            <a:gs pos="73000">
              <a:schemeClr val="phClr">
                <a:shade val="90000"/>
                <a:satMod val="110000"/>
              </a:schemeClr>
            </a:gs>
            <a:gs pos="100000">
              <a:schemeClr val="phClr">
                <a:shade val="63000"/>
              </a:schemeClr>
            </a:gs>
          </a:gsLst>
          <a:lin ang="950000" scaled="1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43000" dir="5400000" rotWithShape="0">
              <a:srgbClr val="000000">
                <a:alpha val="40000"/>
              </a:srgbClr>
            </a:outerShdw>
          </a:effectLst>
          <a:scene3d>
            <a:camera prst="orthographicFront" fov="0">
              <a:rot lat="0" lon="0" rev="0"/>
            </a:camera>
            <a:lightRig rig="balanced" dir="t">
              <a:rot lat="0" lon="0" rev="0"/>
            </a:lightRig>
          </a:scene3d>
          <a:sp3d prstMaterial="matte">
            <a:bevelT w="0" h="0"/>
            <a:contourClr>
              <a:schemeClr val="phClr">
                <a:tint val="100000"/>
                <a:shade val="100000"/>
                <a:hueMod val="100000"/>
                <a:satMod val="100000"/>
              </a:schemeClr>
            </a:contourClr>
          </a:sp3d>
        </a:effectStyle>
        <a:effectStyle>
          <a:effectLst>
            <a:outerShdw blurRad="50800" dist="25400" dir="5400000" rotWithShape="0">
              <a:srgbClr val="000000">
                <a:alpha val="50000"/>
              </a:srgbClr>
            </a:outerShdw>
          </a:effectLst>
          <a:scene3d>
            <a:camera prst="orthographicFront" fov="0">
              <a:rot lat="0" lon="0" rev="0"/>
            </a:camera>
            <a:lightRig rig="soft" dir="t">
              <a:rot lat="0" lon="0" rev="2700000"/>
            </a:lightRig>
          </a:scene3d>
          <a:sp3d prstMaterial="matte">
            <a:bevelT w="50800" h="50800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60000"/>
                <a:satMod val="300000"/>
              </a:schemeClr>
            </a:gs>
            <a:gs pos="30000">
              <a:schemeClr val="phClr">
                <a:shade val="80000"/>
                <a:satMod val="230000"/>
              </a:schemeClr>
            </a:gs>
            <a:gs pos="100000">
              <a:schemeClr val="phClr">
                <a:tint val="97000"/>
                <a:satMod val="22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shade val="6000"/>
                <a:satMod val="120000"/>
              </a:schemeClr>
              <a:schemeClr val="phClr">
                <a:tint val="90000"/>
              </a:schemeClr>
            </a:duotone>
          </a:blip>
          <a:tile tx="0" ty="0" sx="35000" sy="40000" flip="x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e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ema de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Origin</Template>
  <TotalTime>10898</TotalTime>
  <Words>466</Words>
  <Application>Microsoft Office PowerPoint</Application>
  <PresentationFormat>On-screen Show (4:3)</PresentationFormat>
  <Paragraphs>67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4" baseType="lpstr">
      <vt:lpstr>Bookman Old Style</vt:lpstr>
      <vt:lpstr>Garamond</vt:lpstr>
      <vt:lpstr>Gill Sans MT</vt:lpstr>
      <vt:lpstr>Helvetica</vt:lpstr>
      <vt:lpstr>Times New Roman</vt:lpstr>
      <vt:lpstr>Wingdings</vt:lpstr>
      <vt:lpstr>Wingdings 3</vt:lpstr>
      <vt:lpstr>Origen</vt:lpstr>
      <vt:lpstr>Base de Datos Modelo Lógico desde Modelo Comceptual</vt:lpstr>
      <vt:lpstr>Modelo Lógico</vt:lpstr>
      <vt:lpstr>Modelo Relacional</vt:lpstr>
      <vt:lpstr>Tabla</vt:lpstr>
      <vt:lpstr>Una Base de Datos Relacional</vt:lpstr>
      <vt:lpstr>Columna</vt:lpstr>
      <vt:lpstr>Llave Primaria</vt:lpstr>
      <vt:lpstr>Llaves Foráneas</vt:lpstr>
      <vt:lpstr>Llaves Foráneas</vt:lpstr>
      <vt:lpstr>Llaves Foráneas</vt:lpstr>
      <vt:lpstr>Llaves Foráneas</vt:lpstr>
      <vt:lpstr>Llaves Foráneas</vt:lpstr>
      <vt:lpstr>Llaves Foráneas</vt:lpstr>
      <vt:lpstr>Llaves Foráneas</vt:lpstr>
      <vt:lpstr>Relaciones muchos a muchos</vt:lpstr>
      <vt:lpstr>Bibliografía</vt:lpstr>
    </vt:vector>
  </TitlesOfParts>
  <Company>Lucent Technologies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1:  Introduction</dc:title>
  <dc:creator>Julio Carreño</dc:creator>
  <cp:lastModifiedBy>Julio Ernesto Carreno Vargas</cp:lastModifiedBy>
  <cp:revision>305</cp:revision>
  <cp:lastPrinted>2005-01-10T21:51:57Z</cp:lastPrinted>
  <dcterms:created xsi:type="dcterms:W3CDTF">1999-11-04T20:50:09Z</dcterms:created>
  <dcterms:modified xsi:type="dcterms:W3CDTF">2023-08-31T20:26:35Z</dcterms:modified>
</cp:coreProperties>
</file>