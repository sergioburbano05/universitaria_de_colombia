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54" r:id="rId1"/>
    <p:sldMasterId id="2147483776" r:id="rId2"/>
    <p:sldMasterId id="2147483799" r:id="rId3"/>
  </p:sldMasterIdLst>
  <p:notesMasterIdLst>
    <p:notesMasterId r:id="rId24"/>
  </p:notesMasterIdLst>
  <p:handoutMasterIdLst>
    <p:handoutMasterId r:id="rId25"/>
  </p:handoutMasterIdLst>
  <p:sldIdLst>
    <p:sldId id="348" r:id="rId4"/>
    <p:sldId id="360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7" r:id="rId22"/>
    <p:sldId id="321" r:id="rId23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9933"/>
    <a:srgbClr val="00FFCC"/>
    <a:srgbClr val="00FFFF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86" autoAdjust="0"/>
    <p:restoredTop sz="94660" autoAdjust="0"/>
  </p:normalViewPr>
  <p:slideViewPr>
    <p:cSldViewPr snapToGrid="0">
      <p:cViewPr varScale="1">
        <p:scale>
          <a:sx n="112" d="100"/>
          <a:sy n="112" d="100"/>
        </p:scale>
        <p:origin x="1800" y="96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90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619EDD29-622F-43A5-A6FA-4DE80D166C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4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6013" y="696913"/>
            <a:ext cx="4649787" cy="34877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4838"/>
            <a:ext cx="5046663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546ED518-9D40-4674-9FDB-9EDD68284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023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1C6A6D34-C4C4-40DC-A600-0B6AFD17C1E0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2A1F4-CD96-405A-9008-5C40239D9D47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0517-2849-4FDB-8109-D44868D64552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38BE9DBF-88DE-4AE2-8C30-D1AA1326C262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spcBef>
                <a:spcPts val="600"/>
              </a:spcBef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_tradnl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C4E9E3E6-E133-4826-9FF7-EED91DBA0DB4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6E53D-1982-44F9-A27C-495BDE3835DF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037A-1642-4AF7-AD54-92FE1A533201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8BD6-6DF0-4634-A9E2-82D5B637F5A8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C87E-2737-4913-9DC8-852B31CA9412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8AF17-46E0-404B-B0B7-6BDA92E0FF05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A1032-9D34-4D0C-80FE-7A73FB2672A1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2AE7-5F4F-4680-93E1-2124EF0479D8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s-ES_tradnl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6B2C108D-1742-4E61-B24F-34FBFBF18EC1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E15496FF-BDFE-4377-AC07-4B699FF5BBE6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9FBC-1450-4371-A731-76AC4624BDA4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3270001-2037-4741-8213-28C7B76C1245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076BC4-A671-4D47-ACF0-B91C331DBC7A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732A3B91-8C25-4D39-B8F2-5D4749F30E67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82832-956F-415B-A251-582F790B3E04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D7EF-51CA-49F2-901D-B3D104D475A0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C2520A-7AF1-4E1A-B563-D38DE365EF46}" type="datetime1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Diplomado en Desarrollo de Aplicaciones para Internet 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236834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BAF5E360-A6D5-4A1C-8188-4EEFE732A8A2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6A9AD-FCFE-4F68-8144-94B4E2C8A53C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876DD-DE97-473C-903B-80BE69C71680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BD809CF6-5B90-4FFA-B886-F12C0CB51760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spcBef>
                <a:spcPts val="600"/>
              </a:spcBef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_tradnl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22879AD0-7602-4A1E-B3FF-E65A1D4507F0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70D98-3E84-4331-9216-8EFB9C9B728D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3B68-70CF-4553-AB46-9B97B2DC1082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F43D-1C38-4901-AAE0-A91C4F85A571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4B1BB-95A7-4E93-8FCA-11EEDD7E1541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251A-D7E1-4E21-AB3C-C14E59EB1B2A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A3EA5-8B4E-4C37-A986-9F531CB95005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1EB0-443B-449F-AA6D-FFC9F7C124B4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s-ES_tradnl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9913316F-4BB1-45D4-A18B-2FE5E3088CBF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D25F9553-821D-40E6-87CE-25212A966754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2FD3-C579-45C7-8104-074A8624B7C8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6568B5-E672-46A9-8E6A-531B6D6C650C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3F6BA6-2B6A-42D3-ABF8-AD3310FD56B1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3476555A-4F92-4EDA-8054-3E105D6CA493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3973-29B2-4FD2-A2A5-F52CC335F5F5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05E3-5B1A-47E3-8176-0AD69356AC8C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1E760A-EF0E-4BB5-94C1-D3CCB4071A6A}" type="datetime1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Diplomado en Desarrollo de Aplicaciones para Internet 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236834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ACDF6120-F1F0-4C60-9FE9-39AC71A9C79D}" type="datetimeFigureOut">
              <a:rPr lang="en-US" smtClean="0"/>
              <a:pPr/>
              <a:t>8/31/2023</a:t>
            </a:fld>
            <a:endParaRPr lang="en-US" sz="1600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r>
              <a:rPr lang="es-ES"/>
              <a:t>Módulo: &lt;modulo&gt; Autor: &lt;Autor&gt; . No.</a:t>
            </a:r>
            <a:fld id="{A44E33E1-B22B-49F7-B763-F53C4F8A1B9D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222638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Diplomado en Desarrollo de Aplicaciones para Internet 2008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459563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11128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51474795"/>
      </p:ext>
    </p:extLst>
  </p:cSld>
  <p:clrMapOvr>
    <a:masterClrMapping/>
  </p:clrMapOvr>
  <p:hf sldNum="0"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07027612"/>
      </p:ext>
    </p:extLst>
  </p:cSld>
  <p:clrMapOvr>
    <a:masterClrMapping/>
  </p:clrMapOvr>
  <p:hf sldNum="0"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193813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83765174"/>
      </p:ext>
    </p:extLst>
  </p:cSld>
  <p:clrMapOvr>
    <a:masterClrMapping/>
  </p:clrMapOvr>
  <p:hf sldNum="0"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79820805"/>
      </p:ext>
    </p:extLst>
  </p:cSld>
  <p:clrMapOvr>
    <a:masterClrMapping/>
  </p:clrMapOvr>
  <p:hf sldNum="0"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78604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08912726"/>
      </p:ext>
    </p:extLst>
  </p:cSld>
  <p:clrMapOvr>
    <a:masterClrMapping/>
  </p:clrMapOvr>
  <p:hf sldNum="0"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79307537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A972DDA-B94E-4F4B-852C-FFE6C546C407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s-ES_tradnl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FDB418F-C9A0-466B-9F48-C480CE75C378}" type="datetime1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  <p:sldLayoutId id="2147483794" r:id="rId18"/>
    <p:sldLayoutId id="2147483795" r:id="rId19"/>
    <p:sldLayoutId id="2147483796" r:id="rId20"/>
    <p:sldLayoutId id="2147483797" r:id="rId2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CDF6120-F1F0-4C60-9FE9-39AC71A9C79D}" type="datetimeFigureOut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45787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3893" y="3763927"/>
            <a:ext cx="7088372" cy="1112874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Bases de </a:t>
            </a:r>
            <a:r>
              <a:rPr lang="en-US" sz="2800" dirty="0" err="1"/>
              <a:t>Datos</a:t>
            </a:r>
            <a:br>
              <a:rPr lang="en-US" sz="2800" dirty="0"/>
            </a:br>
            <a:r>
              <a:rPr lang="en-US" sz="2800" dirty="0" err="1"/>
              <a:t>Modelo</a:t>
            </a:r>
            <a:r>
              <a:rPr lang="en-US" sz="2800" dirty="0"/>
              <a:t> Conceptual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/>
              <a:t>Ing. Julio Ernesto Carreño Vargas Msc.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Plan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/>
              <a:t>Modelos Conceptual de datos</a:t>
            </a:r>
          </a:p>
          <a:p>
            <a:pPr>
              <a:buNone/>
            </a:pPr>
            <a:endParaRPr lang="es-CO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Entidad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Sustantivo que describe persona, lugar, objeto, evento ó concepto</a:t>
            </a:r>
          </a:p>
          <a:p>
            <a:r>
              <a:rPr lang="en-US"/>
              <a:t>Una “cosa” u “objeto” que es distinguible de otros objetos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8199" y="3546772"/>
            <a:ext cx="4412843" cy="24572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9522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Entidad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>
          <a:xfrm>
            <a:off x="538157" y="1300716"/>
            <a:ext cx="7556313" cy="4144963"/>
          </a:xfrm>
        </p:spPr>
        <p:txBody>
          <a:bodyPr/>
          <a:lstStyle/>
          <a:p>
            <a:r>
              <a:rPr lang="en-US"/>
              <a:t>Está compuesta de atributos</a:t>
            </a:r>
          </a:p>
          <a:p>
            <a:r>
              <a:rPr lang="en-US"/>
              <a:t>Un atributo es una propiedad ó característica que presenta la entidad</a:t>
            </a:r>
          </a:p>
          <a:p>
            <a:endParaRPr lang="es-C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4</a:t>
            </a:fld>
            <a:endParaRPr lang="en-US" altLang="en-US"/>
          </a:p>
        </p:txBody>
      </p:sp>
      <p:grpSp>
        <p:nvGrpSpPr>
          <p:cNvPr id="9" name="8 Grupo"/>
          <p:cNvGrpSpPr/>
          <p:nvPr/>
        </p:nvGrpSpPr>
        <p:grpSpPr>
          <a:xfrm>
            <a:off x="1041991" y="2633521"/>
            <a:ext cx="7187610" cy="3522730"/>
            <a:chOff x="1102369" y="1899875"/>
            <a:chExt cx="7471719" cy="3898900"/>
          </a:xfrm>
        </p:grpSpPr>
        <p:sp>
          <p:nvSpPr>
            <p:cNvPr id="7" name="Text Box 3"/>
            <p:cNvSpPr txBox="1">
              <a:spLocks noChangeArrowheads="1"/>
            </p:cNvSpPr>
            <p:nvPr/>
          </p:nvSpPr>
          <p:spPr bwMode="auto">
            <a:xfrm>
              <a:off x="1102369" y="1899875"/>
              <a:ext cx="7471719" cy="340643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sz="1400" b="1">
                  <a:latin typeface="Arial" pitchFamily="34" charset="0"/>
                  <a:cs typeface="Arial" pitchFamily="34" charset="0"/>
                </a:rPr>
                <a:t>instructor_ID  instructor_name                             student-ID   student_name</a:t>
              </a:r>
            </a:p>
          </p:txBody>
        </p:sp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328738" y="2260237"/>
              <a:ext cx="6354762" cy="3538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116676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Relaciones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>
          <a:xfrm>
            <a:off x="446105" y="1396409"/>
            <a:ext cx="7556313" cy="4144963"/>
          </a:xfrm>
        </p:spPr>
        <p:txBody>
          <a:bodyPr/>
          <a:lstStyle/>
          <a:p>
            <a:r>
              <a:rPr lang="es-CO" dirty="0"/>
              <a:t>Expresan asociaciones entre entidades</a:t>
            </a:r>
          </a:p>
          <a:p>
            <a:r>
              <a:rPr lang="es-CO" dirty="0"/>
              <a:t>En el ejemplo se muestra la relación “consejero” entre las entidades </a:t>
            </a:r>
            <a:r>
              <a:rPr lang="es-CO" i="1" u="sng" dirty="0"/>
              <a:t>instructor</a:t>
            </a:r>
            <a:r>
              <a:rPr lang="es-CO" dirty="0"/>
              <a:t> y </a:t>
            </a:r>
            <a:r>
              <a:rPr lang="es-CO" i="1" u="sng" dirty="0" err="1"/>
              <a:t>student</a:t>
            </a:r>
            <a:endParaRPr lang="es-CO" i="1" u="sng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996" y="3130270"/>
            <a:ext cx="5352533" cy="296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22733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Atributos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>
          <a:xfrm>
            <a:off x="509106" y="1258186"/>
            <a:ext cx="7556313" cy="4144963"/>
          </a:xfrm>
        </p:spPr>
        <p:txBody>
          <a:bodyPr/>
          <a:lstStyle/>
          <a:p>
            <a:r>
              <a:rPr lang="es-CO"/>
              <a:t>Propiedad ó característica de una entidad ó relación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589" y="2063750"/>
            <a:ext cx="7751762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CuadroTexto"/>
          <p:cNvSpPr txBox="1"/>
          <p:nvPr/>
        </p:nvSpPr>
        <p:spPr>
          <a:xfrm>
            <a:off x="2923953" y="6018028"/>
            <a:ext cx="456136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O" b="1" dirty="0" err="1"/>
              <a:t>Advisor</a:t>
            </a:r>
            <a:r>
              <a:rPr lang="es-CO" dirty="0"/>
              <a:t> con la fecha de consejería</a:t>
            </a:r>
          </a:p>
        </p:txBody>
      </p:sp>
      <p:cxnSp>
        <p:nvCxnSpPr>
          <p:cNvPr id="8" name="7 Conector recto de flecha"/>
          <p:cNvCxnSpPr>
            <a:stCxn id="6" idx="0"/>
          </p:cNvCxnSpPr>
          <p:nvPr/>
        </p:nvCxnSpPr>
        <p:spPr>
          <a:xfrm flipH="1" flipV="1">
            <a:off x="5135527" y="5092996"/>
            <a:ext cx="69110" cy="925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3440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/>
              <a:t>Diagrama de Entidades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/>
              <a:t>Rectángulos son entidades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6761" y="2663456"/>
            <a:ext cx="180975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19337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Atributos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Clasificación de atributos:</a:t>
            </a:r>
          </a:p>
          <a:p>
            <a:pPr lvl="1"/>
            <a:r>
              <a:rPr lang="es-CO"/>
              <a:t>Requerido/opcional</a:t>
            </a:r>
          </a:p>
          <a:p>
            <a:pPr lvl="1"/>
            <a:r>
              <a:rPr lang="es-CO"/>
              <a:t>Simple/compuesto</a:t>
            </a:r>
          </a:p>
          <a:p>
            <a:pPr lvl="2"/>
            <a:r>
              <a:rPr lang="es-CO"/>
              <a:t>Una dirección es compuesto</a:t>
            </a:r>
          </a:p>
          <a:p>
            <a:pPr lvl="1"/>
            <a:r>
              <a:rPr lang="es-CO"/>
              <a:t>Simple valor/multivaluado</a:t>
            </a:r>
          </a:p>
          <a:p>
            <a:pPr lvl="2"/>
            <a:r>
              <a:rPr lang="es-CO"/>
              <a:t>Una persona puede tener múltiples teléfonos</a:t>
            </a:r>
          </a:p>
          <a:p>
            <a:pPr lvl="1"/>
            <a:r>
              <a:rPr lang="es-CO"/>
              <a:t>Derivado</a:t>
            </a:r>
          </a:p>
          <a:p>
            <a:pPr lvl="2"/>
            <a:r>
              <a:rPr lang="es-CO"/>
              <a:t>Se puede obtener a partir de otro atributo: fecha de nacimiento, edad</a:t>
            </a:r>
          </a:p>
          <a:p>
            <a:pPr lvl="1"/>
            <a:r>
              <a:rPr lang="es-CO"/>
              <a:t>Identificador único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308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Identificadores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Atributo ó combinación de atributos que identifican de manera única una entidad</a:t>
            </a:r>
          </a:p>
          <a:p>
            <a:pPr lvl="1"/>
            <a:r>
              <a:rPr lang="es-CO"/>
              <a:t>También se conoce con el nombre de llave (key)</a:t>
            </a:r>
          </a:p>
          <a:p>
            <a:r>
              <a:rPr lang="es-CO"/>
              <a:t>Identificador candidato: un atributo que puede ser identificador de una entidad</a:t>
            </a:r>
          </a:p>
          <a:p>
            <a:r>
              <a:rPr lang="es-CO"/>
              <a:t>El identificador de un estudiante podría escogerse de:</a:t>
            </a:r>
          </a:p>
          <a:p>
            <a:pPr lvl="1"/>
            <a:r>
              <a:rPr lang="es-CO"/>
              <a:t>Tipo y número de identificación</a:t>
            </a:r>
          </a:p>
          <a:p>
            <a:pPr lvl="1"/>
            <a:r>
              <a:rPr lang="es-CO"/>
              <a:t>Código único asignado por la universidad</a:t>
            </a:r>
          </a:p>
          <a:p>
            <a:pPr lvl="1"/>
            <a:r>
              <a:rPr lang="es-CO"/>
              <a:t>Correo electrónico dentro de la universidad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518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/>
              <a:t>Diagrama de Entidades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3979333" y="2951656"/>
            <a:ext cx="4622407" cy="76944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2000" dirty="0"/>
              <a:t>El signo </a:t>
            </a:r>
            <a:r>
              <a:rPr lang="es-CO" sz="2400" b="1" dirty="0">
                <a:solidFill>
                  <a:srgbClr val="FF0000"/>
                </a:solidFill>
              </a:rPr>
              <a:t>*</a:t>
            </a:r>
            <a:r>
              <a:rPr lang="es-CO" sz="2000" dirty="0"/>
              <a:t> indica que el atributo no permite valores nulos</a:t>
            </a:r>
            <a:endParaRPr lang="es-CO" sz="2000" dirty="0">
              <a:solidFill>
                <a:schemeClr val="dk1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3957302" y="1949119"/>
            <a:ext cx="4644438" cy="76944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2000" dirty="0"/>
              <a:t>El signo </a:t>
            </a:r>
            <a:r>
              <a:rPr lang="es-CO" sz="2400" b="1" dirty="0">
                <a:solidFill>
                  <a:schemeClr val="accent5">
                    <a:lumMod val="75000"/>
                  </a:schemeClr>
                </a:solidFill>
              </a:rPr>
              <a:t>#</a:t>
            </a:r>
            <a:r>
              <a:rPr lang="es-CO" sz="2400" dirty="0">
                <a:solidFill>
                  <a:schemeClr val="dk1"/>
                </a:solidFill>
              </a:rPr>
              <a:t> </a:t>
            </a:r>
            <a:r>
              <a:rPr lang="es-CO" sz="2000" dirty="0"/>
              <a:t>indica que el atributo forma parte de la PK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988514" y="4139642"/>
            <a:ext cx="4613226" cy="107721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2000" dirty="0"/>
              <a:t>El signo </a:t>
            </a:r>
            <a:r>
              <a:rPr lang="es-CO" sz="2400" b="1" dirty="0">
                <a:solidFill>
                  <a:srgbClr val="FF0000"/>
                </a:solidFill>
              </a:rPr>
              <a:t>o</a:t>
            </a:r>
            <a:r>
              <a:rPr lang="es-CO" sz="2000" dirty="0"/>
              <a:t> indica que el atributo es opcional, esto es, permite valores nulos</a:t>
            </a:r>
            <a:endParaRPr lang="es-CO" sz="2000" dirty="0">
              <a:solidFill>
                <a:schemeClr val="dk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5784" y="1850399"/>
            <a:ext cx="2421453" cy="2193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76407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/>
              <a:t>Relaciones en Diagrama de Entidades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4203" y="2227854"/>
            <a:ext cx="5705475" cy="1743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8 CuadroTexto"/>
          <p:cNvSpPr txBox="1"/>
          <p:nvPr/>
        </p:nvSpPr>
        <p:spPr>
          <a:xfrm>
            <a:off x="1594884" y="4511566"/>
            <a:ext cx="5805375" cy="7078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CO" sz="2000" dirty="0">
                <a:solidFill>
                  <a:schemeClr val="dk1"/>
                </a:solidFill>
              </a:rPr>
              <a:t>La figura muestra una relación “</a:t>
            </a:r>
            <a:r>
              <a:rPr lang="es-CO" sz="2000" dirty="0" err="1">
                <a:solidFill>
                  <a:schemeClr val="dk1"/>
                </a:solidFill>
              </a:rPr>
              <a:t>advisor</a:t>
            </a:r>
            <a:r>
              <a:rPr lang="es-CO" sz="2000" dirty="0">
                <a:solidFill>
                  <a:schemeClr val="dk1"/>
                </a:solidFill>
              </a:rPr>
              <a:t>” entre “</a:t>
            </a:r>
            <a:r>
              <a:rPr lang="es-CO" sz="2000" dirty="0" err="1">
                <a:solidFill>
                  <a:schemeClr val="dk1"/>
                </a:solidFill>
              </a:rPr>
              <a:t>student</a:t>
            </a:r>
            <a:r>
              <a:rPr lang="es-CO" sz="2000" dirty="0">
                <a:solidFill>
                  <a:schemeClr val="dk1"/>
                </a:solidFill>
              </a:rPr>
              <a:t>” e “instructor”</a:t>
            </a:r>
          </a:p>
        </p:txBody>
      </p:sp>
    </p:spTree>
    <p:extLst>
      <p:ext uri="{BB962C8B-B14F-4D97-AF65-F5344CB8AC3E}">
        <p14:creationId xmlns:p14="http://schemas.microsoft.com/office/powerpoint/2010/main" val="109142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Cardinalidad de relaciones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>
          <a:xfrm>
            <a:off x="519739" y="1211152"/>
            <a:ext cx="7556313" cy="4144963"/>
          </a:xfrm>
        </p:spPr>
        <p:txBody>
          <a:bodyPr/>
          <a:lstStyle/>
          <a:p>
            <a:r>
              <a:rPr lang="es-CO" dirty="0"/>
              <a:t>La </a:t>
            </a:r>
            <a:r>
              <a:rPr lang="es-CO" dirty="0" err="1"/>
              <a:t>cardinalidad</a:t>
            </a:r>
            <a:r>
              <a:rPr lang="es-CO" dirty="0"/>
              <a:t> se refiere al número de entidades relacionadas a una entidad específica.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84967" y="2916921"/>
            <a:ext cx="1416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/>
              <a:t>Uno a Uno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46441" y="4975189"/>
            <a:ext cx="14931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/>
              <a:t>Uno a </a:t>
            </a:r>
            <a:r>
              <a:rPr lang="en-US" sz="1800" dirty="0" err="1"/>
              <a:t>muchos</a:t>
            </a:r>
            <a:endParaRPr lang="en-US" sz="1800" dirty="0"/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3" name="Picture 2" descr="http://docs.oracle.com/html/E24270_01/Content/Resources/Images/Diagrams/Relationship%20one%20to%20on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683" y="2147778"/>
            <a:ext cx="4953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://docs.oracle.com/html/E24270_01/Content/Resources/Images/Diagrams/Relationship%20one%20to%20man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683" y="4197829"/>
            <a:ext cx="4876800" cy="192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027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Cardinalidad de relaciones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>
          <a:xfrm>
            <a:off x="498474" y="1259810"/>
            <a:ext cx="7556313" cy="4144963"/>
          </a:xfrm>
        </p:spPr>
        <p:txBody>
          <a:bodyPr/>
          <a:lstStyle/>
          <a:p>
            <a:r>
              <a:rPr lang="es-CO" dirty="0"/>
              <a:t>La </a:t>
            </a:r>
            <a:r>
              <a:rPr lang="es-CO" dirty="0" err="1"/>
              <a:t>cardinalidad</a:t>
            </a:r>
            <a:r>
              <a:rPr lang="es-CO" dirty="0"/>
              <a:t> se refiere al número de entidades relacionadas a una entidad específica.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795756" y="2650203"/>
            <a:ext cx="14608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/>
              <a:t>Muchos a uno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97206" y="5035441"/>
            <a:ext cx="18138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 err="1"/>
              <a:t>Muchos</a:t>
            </a:r>
            <a:r>
              <a:rPr lang="en-US" sz="1800" dirty="0"/>
              <a:t> a </a:t>
            </a:r>
            <a:r>
              <a:rPr lang="en-US" sz="1800" dirty="0" err="1"/>
              <a:t>muchos</a:t>
            </a:r>
            <a:endParaRPr lang="en-US" sz="1800" dirty="0"/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2050" name="Picture 2" descr="http://docs.oracle.com/html/E24270_01/Content/Resources/Images/Diagrams/Relationship%20many%20to%20man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547" y="4258081"/>
            <a:ext cx="4905375" cy="192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docs.oracle.com/html/E24270_01/Content/Resources/Images/Diagrams/Relationship%20many%20to%20on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597" y="1977656"/>
            <a:ext cx="48863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081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3924" y="239879"/>
            <a:ext cx="8475405" cy="1116106"/>
          </a:xfrm>
        </p:spPr>
        <p:txBody>
          <a:bodyPr>
            <a:normAutofit fontScale="90000"/>
          </a:bodyPr>
          <a:lstStyle/>
          <a:p>
            <a:r>
              <a:rPr lang="es-CO" dirty="0" err="1"/>
              <a:t>Cardinalidad</a:t>
            </a:r>
            <a:r>
              <a:rPr lang="es-CO" dirty="0"/>
              <a:t> uno a muchos en Diagrama de Entidades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7878" y="1355985"/>
            <a:ext cx="5705475" cy="1743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8 CuadroTexto"/>
          <p:cNvSpPr txBox="1"/>
          <p:nvPr/>
        </p:nvSpPr>
        <p:spPr>
          <a:xfrm>
            <a:off x="1169582" y="3494202"/>
            <a:ext cx="6613451" cy="7078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CO" sz="2000" dirty="0">
                <a:solidFill>
                  <a:schemeClr val="dk1"/>
                </a:solidFill>
              </a:rPr>
              <a:t> El símbolo “pata de gallina” indica “muchos”</a:t>
            </a:r>
          </a:p>
          <a:p>
            <a:pPr>
              <a:buFont typeface="Arial" pitchFamily="34" charset="0"/>
              <a:buChar char="•"/>
            </a:pPr>
            <a:r>
              <a:rPr lang="es-CO" sz="2000" dirty="0"/>
              <a:t> la línea sin terminación indica “uno”</a:t>
            </a:r>
            <a:endParaRPr lang="es-CO" sz="2000" dirty="0">
              <a:solidFill>
                <a:schemeClr val="dk1"/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119963" y="4380248"/>
            <a:ext cx="6663070" cy="101566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CO" sz="2000" dirty="0">
                <a:solidFill>
                  <a:schemeClr val="dk1"/>
                </a:solidFill>
              </a:rPr>
              <a:t>UN estudiante tiene muchos instructores como consejeros</a:t>
            </a:r>
          </a:p>
          <a:p>
            <a:pPr algn="ctr">
              <a:buFont typeface="Arial" pitchFamily="34" charset="0"/>
              <a:buChar char="•"/>
            </a:pPr>
            <a:r>
              <a:rPr lang="es-CO" sz="2000" dirty="0"/>
              <a:t>UN instructor tiene UN estudiante como aconsejado</a:t>
            </a:r>
            <a:endParaRPr lang="es-CO" sz="2000" dirty="0">
              <a:solidFill>
                <a:schemeClr val="dk1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004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/>
              <a:t>Cardinalidades en Diagrama de Entidades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713" y="1617367"/>
            <a:ext cx="5409314" cy="1577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6 CuadroTexto"/>
          <p:cNvSpPr txBox="1"/>
          <p:nvPr/>
        </p:nvSpPr>
        <p:spPr>
          <a:xfrm>
            <a:off x="6507126" y="1885325"/>
            <a:ext cx="1616149" cy="4001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CO" sz="2000" dirty="0">
                <a:solidFill>
                  <a:schemeClr val="dk1"/>
                </a:solidFill>
              </a:rPr>
              <a:t> uno a uno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6156251" y="4557641"/>
            <a:ext cx="2658140" cy="4001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CO" sz="2000" dirty="0">
                <a:solidFill>
                  <a:schemeClr val="dk1"/>
                </a:solidFill>
              </a:rPr>
              <a:t> muchos a muchos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80" y="4016670"/>
            <a:ext cx="5195223" cy="1559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056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Tipos de Entidades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Fuerte</a:t>
            </a:r>
          </a:p>
          <a:p>
            <a:pPr lvl="1"/>
            <a:r>
              <a:rPr lang="es-CO"/>
              <a:t>Tiene identificador único</a:t>
            </a:r>
          </a:p>
          <a:p>
            <a:pPr lvl="2"/>
            <a:r>
              <a:rPr lang="es-CO"/>
              <a:t>Puede existir por sí sola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5611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Tipos de Entidades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Débil</a:t>
            </a:r>
          </a:p>
          <a:p>
            <a:pPr lvl="1"/>
            <a:r>
              <a:rPr lang="es-CO"/>
              <a:t>No tiene un identificador único por sí misma</a:t>
            </a:r>
          </a:p>
          <a:p>
            <a:pPr lvl="2"/>
            <a:r>
              <a:rPr lang="es-CO"/>
              <a:t>No puede tener existencia propia</a:t>
            </a:r>
          </a:p>
          <a:p>
            <a:pPr lvl="1"/>
            <a:r>
              <a:rPr lang="es-CO"/>
              <a:t>Depende de una entidad fuerte</a:t>
            </a:r>
          </a:p>
          <a:p>
            <a:pPr lvl="1"/>
            <a:r>
              <a:rPr lang="es-CO"/>
              <a:t>Tiene un identificador parcial</a:t>
            </a:r>
          </a:p>
          <a:p>
            <a:pPr lvl="2"/>
            <a:r>
              <a:rPr lang="es-CO"/>
              <a:t>El identificador de la entidad fuerte y el identificador parcial forman el identificador único de la entidad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0356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Tipos de Relaciones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Identificantes</a:t>
            </a:r>
          </a:p>
          <a:p>
            <a:pPr lvl="1"/>
            <a:r>
              <a:rPr lang="es-CO"/>
              <a:t>Vincula entidades fuertes a débiles</a:t>
            </a:r>
          </a:p>
          <a:p>
            <a:r>
              <a:rPr lang="es-CO"/>
              <a:t>No identificantes</a:t>
            </a:r>
          </a:p>
          <a:p>
            <a:pPr lvl="1"/>
            <a:r>
              <a:rPr lang="es-CO"/>
              <a:t>Vincula entidades fuertes entre sí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9972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Relación Identificante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6640" y="1750053"/>
            <a:ext cx="53816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6 CuadroTexto"/>
          <p:cNvSpPr txBox="1"/>
          <p:nvPr/>
        </p:nvSpPr>
        <p:spPr>
          <a:xfrm>
            <a:off x="1268478" y="3644149"/>
            <a:ext cx="7195038" cy="28623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es-CO" sz="2000" dirty="0"/>
              <a:t>En la relación la línea vertical que acompaña a la “pata de gallina” indica que dicha relación es IDENTIFICANTE</a:t>
            </a:r>
          </a:p>
          <a:p>
            <a:endParaRPr lang="es-CO" sz="2000" dirty="0"/>
          </a:p>
          <a:p>
            <a:r>
              <a:rPr lang="es-CO" sz="2000" dirty="0"/>
              <a:t>Aunque no se muestra explícitamente el atributo “course_id” es parte del identificador único de la entidad “section”</a:t>
            </a:r>
          </a:p>
          <a:p>
            <a:endParaRPr lang="es-CO" sz="2000" i="1" u="sng" dirty="0">
              <a:solidFill>
                <a:schemeClr val="dk1"/>
              </a:solidFill>
            </a:endParaRPr>
          </a:p>
          <a:p>
            <a:r>
              <a:rPr lang="es-CO" sz="2000" dirty="0"/>
              <a:t>Observe que la entidad “section” siempre deberá pertenecer a una entidad  “course”</a:t>
            </a:r>
            <a:endParaRPr lang="es-CO" sz="2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817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/>
              <a:t>Bibliografía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Modern Database Management.10th </a:t>
            </a:r>
            <a:r>
              <a:rPr lang="en-US" dirty="0" err="1"/>
              <a:t>Edition.Jeffrey</a:t>
            </a:r>
            <a:r>
              <a:rPr lang="en-US" dirty="0"/>
              <a:t> A. Hoffer, V. Ramesh, </a:t>
            </a:r>
            <a:r>
              <a:rPr lang="en-US" dirty="0" err="1"/>
              <a:t>Heikki</a:t>
            </a:r>
            <a:r>
              <a:rPr lang="en-US" dirty="0"/>
              <a:t> Topi.2021 Pearson Education, Inc.  Publishing as Prentice Hall.</a:t>
            </a:r>
          </a:p>
          <a:p>
            <a:pPr eaLnBrk="1" hangingPunct="1">
              <a:defRPr/>
            </a:pPr>
            <a:r>
              <a:rPr lang="en-US" dirty="0"/>
              <a:t>Database System Concepts.</a:t>
            </a:r>
            <a:r>
              <a:rPr lang="en-GB" dirty="0" err="1"/>
              <a:t>Avi</a:t>
            </a:r>
            <a:r>
              <a:rPr lang="en-GB" dirty="0"/>
              <a:t> </a:t>
            </a:r>
            <a:r>
              <a:rPr lang="en-GB" dirty="0" err="1"/>
              <a:t>Silberschatz</a:t>
            </a:r>
            <a:r>
              <a:rPr lang="en-GB" dirty="0"/>
              <a:t> , Henry F. </a:t>
            </a:r>
            <a:r>
              <a:rPr lang="en-GB" dirty="0" err="1"/>
              <a:t>Korth</a:t>
            </a:r>
            <a:r>
              <a:rPr lang="en-GB" dirty="0"/>
              <a:t> , S. </a:t>
            </a:r>
            <a:r>
              <a:rPr lang="en-GB" dirty="0" err="1"/>
              <a:t>Sudarshan.McGraw</a:t>
            </a:r>
            <a:r>
              <a:rPr lang="en-GB" dirty="0"/>
              <a:t>-Hill.  2019</a:t>
            </a:r>
            <a:r>
              <a:rPr lang="es-ES" dirty="0"/>
              <a:t>.</a:t>
            </a:r>
          </a:p>
          <a:p>
            <a:pPr eaLnBrk="1" hangingPunct="1">
              <a:defRPr/>
            </a:pPr>
            <a:r>
              <a:rPr lang="es-ES" dirty="0"/>
              <a:t>Sistemas de Bases de Datos. Thomas M. </a:t>
            </a:r>
            <a:r>
              <a:rPr lang="es-ES" dirty="0" err="1"/>
              <a:t>Conolly</a:t>
            </a:r>
            <a:r>
              <a:rPr lang="es-ES" dirty="0"/>
              <a:t>, </a:t>
            </a:r>
            <a:r>
              <a:rPr lang="es-ES" dirty="0" err="1"/>
              <a:t>Carolyn</a:t>
            </a:r>
            <a:r>
              <a:rPr lang="es-ES" dirty="0"/>
              <a:t> E. </a:t>
            </a:r>
            <a:r>
              <a:rPr lang="es-ES" dirty="0" err="1"/>
              <a:t>Begg</a:t>
            </a:r>
            <a:r>
              <a:rPr lang="es-ES" dirty="0"/>
              <a:t>. </a:t>
            </a:r>
            <a:r>
              <a:rPr lang="es-ES" dirty="0" err="1"/>
              <a:t>Addison</a:t>
            </a:r>
            <a:r>
              <a:rPr lang="es-ES" dirty="0"/>
              <a:t> </a:t>
            </a:r>
            <a:r>
              <a:rPr lang="es-ES" dirty="0" err="1"/>
              <a:t>Wesley</a:t>
            </a:r>
            <a:r>
              <a:rPr lang="es-ES" dirty="0"/>
              <a:t>. 4 edición. </a:t>
            </a:r>
            <a:r>
              <a:rPr lang="en-GB" dirty="0"/>
              <a:t>2018</a:t>
            </a:r>
            <a:r>
              <a:rPr lang="es-ES" dirty="0"/>
              <a:t>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dvantage">
    <a:dk1>
      <a:sysClr val="windowText" lastClr="000000"/>
    </a:dk1>
    <a:lt1>
      <a:sysClr val="window" lastClr="FFFFFF"/>
    </a:lt1>
    <a:dk2>
      <a:srgbClr val="2B142D"/>
    </a:dk2>
    <a:lt2>
      <a:srgbClr val="C3AFCC"/>
    </a:lt2>
    <a:accent1>
      <a:srgbClr val="663366"/>
    </a:accent1>
    <a:accent2>
      <a:srgbClr val="330F42"/>
    </a:accent2>
    <a:accent3>
      <a:srgbClr val="666699"/>
    </a:accent3>
    <a:accent4>
      <a:srgbClr val="999966"/>
    </a:accent4>
    <a:accent5>
      <a:srgbClr val="F7901E"/>
    </a:accent5>
    <a:accent6>
      <a:srgbClr val="A3A101"/>
    </a:accent6>
    <a:hlink>
      <a:srgbClr val="BC5FBC"/>
    </a:hlink>
    <a:folHlink>
      <a:srgbClr val="9775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10960</TotalTime>
  <Words>605</Words>
  <Application>Microsoft Office PowerPoint</Application>
  <PresentationFormat>On-screen Show (4:3)</PresentationFormat>
  <Paragraphs>100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Bookman Old Style</vt:lpstr>
      <vt:lpstr>Garamond</vt:lpstr>
      <vt:lpstr>Gill Sans MT</vt:lpstr>
      <vt:lpstr>Helvetica</vt:lpstr>
      <vt:lpstr>Rockwell</vt:lpstr>
      <vt:lpstr>Times New Roman</vt:lpstr>
      <vt:lpstr>Wingdings</vt:lpstr>
      <vt:lpstr>Wingdings 3</vt:lpstr>
      <vt:lpstr>Advantage</vt:lpstr>
      <vt:lpstr>1_Advantage</vt:lpstr>
      <vt:lpstr>Origen</vt:lpstr>
      <vt:lpstr>Bases de Datos Modelo Conceptual</vt:lpstr>
      <vt:lpstr>Plan</vt:lpstr>
      <vt:lpstr>Entidad</vt:lpstr>
      <vt:lpstr>Entidad</vt:lpstr>
      <vt:lpstr>Relaciones</vt:lpstr>
      <vt:lpstr>Atributos</vt:lpstr>
      <vt:lpstr>Diagrama de Entidades</vt:lpstr>
      <vt:lpstr>Atributos</vt:lpstr>
      <vt:lpstr>Identificadores</vt:lpstr>
      <vt:lpstr>Diagrama de Entidades</vt:lpstr>
      <vt:lpstr>Relaciones en Diagrama de Entidades</vt:lpstr>
      <vt:lpstr>Cardinalidad de relaciones</vt:lpstr>
      <vt:lpstr>Cardinalidad de relaciones</vt:lpstr>
      <vt:lpstr>Cardinalidad uno a muchos en Diagrama de Entidades</vt:lpstr>
      <vt:lpstr>Cardinalidades en Diagrama de Entidades</vt:lpstr>
      <vt:lpstr>Tipos de Entidades</vt:lpstr>
      <vt:lpstr>Tipos de Entidades</vt:lpstr>
      <vt:lpstr>Tipos de Relaciones</vt:lpstr>
      <vt:lpstr>Relación Identificante</vt:lpstr>
      <vt:lpstr>Bibliografía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Julio Carreño</dc:creator>
  <cp:lastModifiedBy>Julio Ernesto Carreno Vargas</cp:lastModifiedBy>
  <cp:revision>478</cp:revision>
  <cp:lastPrinted>2005-01-10T21:51:57Z</cp:lastPrinted>
  <dcterms:created xsi:type="dcterms:W3CDTF">1999-11-04T20:50:09Z</dcterms:created>
  <dcterms:modified xsi:type="dcterms:W3CDTF">2023-08-31T20:27:05Z</dcterms:modified>
</cp:coreProperties>
</file>