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10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8D66-3A6B-D785-AC15-53F2D8FD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38616-A499-182F-62D8-C5F5F7CA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75B7A-3825-FD63-0F1A-2A19F1751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6E110-461D-9F52-9BC3-56CFC1EA4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50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68680" y="658368"/>
            <a:ext cx="310896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68680" y="658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 de Datos III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2852928"/>
            <a:ext cx="5029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  ·  </a:t>
            </a:r>
            <a:r>
              <a:rPr lang="en-US" sz="1500" dirty="0">
                <a:solidFill>
                  <a:srgbClr val="C8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XAMPP  ·  </a:t>
            </a: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Ing.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206240"/>
            <a:ext cx="8229600" cy="685800"/>
          </a:xfrm>
          <a:prstGeom prst="rect">
            <a:avLst/>
          </a:prstGeom>
          <a:solidFill>
            <a:srgbClr val="0F2D5C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05840" y="4233672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1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los tipos de diseño y elementos que conforman las bases de datos: atributos, cardinalidad, ER, formas normales y sentencias SQL DML en MariaDB/XAMPP.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"/>
            <a:ext cx="1828800" cy="18288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8638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56032" y="786384"/>
            <a:ext cx="603504" cy="9326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6032" y="786384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1389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0976" y="84124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XAMPP y MariaDB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117043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trabajo, acceso por phpMyAdmin y consola.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8638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690872" y="786384"/>
            <a:ext cx="603504" cy="93268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90872" y="786384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90872" y="1389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85816" y="84124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117043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notación ER y restricciones.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810512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56032" y="1810512"/>
            <a:ext cx="603504" cy="9326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56032" y="1810512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" y="2414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50976" y="186537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" y="219456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N:M — reglas y ejemplos.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1810512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F2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1810512"/>
            <a:ext cx="603504" cy="932688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690872" y="1810512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90872" y="241401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85816" y="186537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E-R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85816" y="219456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Simbología, construcción paso a paso.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283464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56032" y="2834640"/>
            <a:ext cx="603504" cy="9326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56032" y="2834640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56032" y="343814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50976" y="288950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Normales 1FN-3FN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0976" y="3218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y reducción de redundancia.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283464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690872" y="2834640"/>
            <a:ext cx="603504" cy="9326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690872" y="2834640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690872" y="343814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85816" y="288950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INSERT·UPDATE·DELETE·SELECT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85816" y="3218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ejemplos y buenas prácticas.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385876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256032" y="3858768"/>
            <a:ext cx="603504" cy="9326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256032" y="3858768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56032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50976" y="391363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+ Buenas Prácticas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50976" y="4242816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evitar errores típicos.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90872" y="385876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690872" y="3858768"/>
            <a:ext cx="603504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4690872" y="3858768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690872" y="4462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85816" y="391363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Práctico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85816" y="4242816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en clase con MariaDB/XAMPP.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Entorno de Trabajo: XAMPP +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XAMPP es el paquete AMP (Apache · MariaDB · PHP · Perl) más usado para desarrollo local en Windows, Linux y macOS.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15179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XAMPP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desde apachefriends.org. Incluye MariaDB 10.x (compatible 100% con MySQL 5.7).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215798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servicios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XAMPP Control Panel → Start Apache + Start MySQL (que en realidad es MariaDB).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743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27980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phpMyAdmin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navegador → http://localhost/phpmyadmin — interfaz gráfica para gestionar bases de datos.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432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34381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MariaDB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XAMPP → Shell → mysql -u root -p (sin contraseña por defecto en instalación local).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8678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7432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40782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base de datos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→ Nueva → Nombre de BD → Cotejamiento utf8mb4_spanish_ci → Crear.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45152"/>
            <a:ext cx="8595360" cy="237744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20624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MariaDB es un fork open-source de MySQL mantenido por la comunidad. Toda sintaxis SQL de este curso es válida en ambos.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– Definición y Tipos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Atributo: propiedad o característica que describe a una entidad o relación en el modelo 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032" y="1444752"/>
            <a:ext cx="2816352" cy="3657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" y="14447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/ Atómico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865376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divisible. El valor más básico.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edad, precio, stock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444752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00400" y="1444752"/>
            <a:ext cx="2816352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91840" y="14447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Compuesto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865376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descompone en sub-atributos.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4871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dirección → calle+ciudad+CP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1444752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44768" y="1444752"/>
            <a:ext cx="2816352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236208" y="14447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1865376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desde otro atributo.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24871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antigüedad ← fecha_ingreso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108960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56032" y="3108960"/>
            <a:ext cx="2816352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47472" y="3108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Multivaluado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3529584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valores por instancia.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41513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teléfonos: cel / fijo / trabajo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200400" y="3108960"/>
            <a:ext cx="2816352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291840" y="3108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(PK)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529584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unívocamente cada fila.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41513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id_cliente, código_producto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3108960"/>
            <a:ext cx="281635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144768" y="3108960"/>
            <a:ext cx="2816352" cy="36576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236208" y="3108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Nulo (NULL)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36208" y="3529584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estar vacío para una instancia.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41513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segundo_nombre, fax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 – Tipos y Reglas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cardinalidad define cuántas instancias de una entidad pueden relacionarse con instancias de otra entidad.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1234440" cy="104241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: 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9344" y="14630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de A → exactamente una de B.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9344" y="184708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PERSONA ← posee → CÉDULA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9344" y="212140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frecuente. A veces se fusionan.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2706624" cy="822960"/>
          </a:xfrm>
          <a:prstGeom prst="rect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44768" y="15087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SQL: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77393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en tabla secundaria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8595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74320" y="2523744"/>
            <a:ext cx="1234440" cy="104241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74320" y="2523744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: 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9344" y="261518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A → muchas de B; cada B → una sola 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9344" y="299923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DEPARTAMENTO ← tiene → EMPLEADOS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9344" y="327355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común. FK en el lado 'muchos'.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633472"/>
            <a:ext cx="2706624" cy="822960"/>
          </a:xfrm>
          <a:prstGeom prst="rect">
            <a:avLst/>
          </a:prstGeom>
          <a:solidFill>
            <a:srgbClr val="0288D1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44768" y="26609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SQL: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4768" y="29260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en tabla del lado 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8595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1234440" cy="10424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4320" y="3675888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: 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09344" y="376732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de A → muchas de B y viceversa.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9344" y="4151376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ESTUDIANTE ← cursa → MATERIAS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09344" y="442569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tabla intermedia (pivot).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785616"/>
            <a:ext cx="2706624" cy="82296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44768" y="38130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SQL: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40782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PUENTE con dos FK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Entidad-Relación – Simbología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diagrama E-R (Chen 1976) usa símbolos estándar para representar entidades, atributos y relaciones de forma visual.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08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032" y="1408176"/>
            <a:ext cx="1417320" cy="71323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10896" y="140817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RECTÁNGULO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64792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(fuerte)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64792" y="1773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CLIENTE, PRODUCTO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0872" y="1408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690872" y="1408176"/>
            <a:ext cx="1417320" cy="7132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745736" y="140817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RECT. DOBLE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9632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débil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9632" y="1773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ÍTEM_PEDIDO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2128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56032" y="221284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10896" y="2212848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ELIPSE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64792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 simple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764792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nombre, precio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22128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90872" y="221284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45736" y="2212848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ELIPSE SUBR.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9632" y="2267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 clave (PK)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9632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id_cliente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0175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56032" y="3017520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10896" y="3017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ELIPSE DOBLE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64792" y="3072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 multivaluado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764792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teléfonos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30175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4690872" y="3017520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45736" y="301752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ELIPSE PUNT.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99632" y="3072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 derivado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99632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antigüedad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38221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56032" y="3822192"/>
            <a:ext cx="141732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310896" y="3822192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ROMBO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64792" y="3877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Relación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764792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realiza, contiene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90872" y="38221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690872" y="3822192"/>
            <a:ext cx="1417320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745736" y="3822192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99632" y="3877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Conexión entidad↔rel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199632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—————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E-R – Pasos de Construcción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80467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89611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entidades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sustantivos relevantes del dominio: CLIENTE, PRODUCTO, ORDEN, EMPLEADO.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1481328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148132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" y="157276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atributos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entidad, listá sus propiedades y marcá la clave primaria (subrayada en ER).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57984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74320" y="21579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" y="224942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relaciones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Conectá entidades con verbos: CLIENTE realiza ORDEN, ORDEN contiene PRODUCTO.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283464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29260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cardinalidades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Determiná si cada relación es 1:1, 1:N o N:M y anotalo en las líneas del diagrama.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74320" y="3511296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7824" y="36027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reportes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 que cada consulta requerida pueda ejecutarse con el modelo diseñado.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502920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4320" y="4187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7824" y="427939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a modelo lógico 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Convertí cada entidad en tabla, cada atributo en columna y cada N:M en tabla pivot.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solidFill>
            <a:srgbClr val="00796B">
              <a:alpha val="18000"/>
            </a:srgbClr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11480" y="48554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Visual sugerida: Diagrama ER completo del sistema de tienda (CLIENTE, ORDEN, PRODUCTO, CATEGORÍA) con simbología de Chen.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Práctico – ER Sistema de Tienda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completo: entidades, atributos y relaciones del sistema de tienda en línea.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41605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F2D5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6032" y="1389888"/>
            <a:ext cx="4160520" cy="3474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1737360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5760" y="1764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(PK)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04825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386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670048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5760" y="3008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291840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65760" y="3319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 (FK)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38988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45152" y="1389888"/>
            <a:ext cx="4160520" cy="3474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36592" y="13898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45152" y="1737360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0" y="1764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 (PK)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204825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0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fecha_orden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2359152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0" y="2386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2670048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2980944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54880" y="3008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(FK)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054096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256032" y="3054096"/>
            <a:ext cx="416052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47472" y="30540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56032" y="3401568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36576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id_producto (PK)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71246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65760" y="3739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023360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365760" y="4050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33425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365760" y="4361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6032" y="4645152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65760" y="4672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id_categoria (FK)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45152" y="3054096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4645152" y="3054096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736592" y="30540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645152" y="3401568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id_categoria (PK)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45152" y="371246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754880" y="3739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45152" y="4023360"/>
            <a:ext cx="416052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0" y="4050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20624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CLIENTE 1:N ORDEN  |  ORDEN N:M PRODUCTO (→ DETALLE_ORDEN)  |  PRODUCTO N:1 CATEGORÍA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Normales – Introducción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normalización es el proceso de organizar los datos para reducir redundancia, evitar anomalías y mejorar la integridad.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Redundancia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84708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almacenado en múltiples filas. Si cambia uno, hay que actualizar todos.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44475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0060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Anomalía de inserción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84708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insertar un dato sin insertar otro que no está disponible aún.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65760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Anomalía de eliminación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borrar una fila, se pierden datos que no deberían borrarse.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9806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00600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Anomalía de actualización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un dato requiere modificar múltiples filas, riesgo de inconsistencia.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512064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20624" y="43251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Formas Normales (1FN → 2FN → 3FN)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más usadas en diseño práctico. Cada forma elimina un tipo específico de anomalía y requiere que la anterior ya se cumpla.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Forma Normal (1FN) – Atomicidad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1FN: Cada celda contiene un único valor atómico (indivisible). No listas, no grupos repetidos, no duplicados de filas.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402336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1FN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975360" cy="292608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" y="1801368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249680" y="1773936"/>
            <a:ext cx="975360" cy="292608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304544" y="1801368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25040" y="1773936"/>
            <a:ext cx="975360" cy="292608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279904" y="1801368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97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9184" y="2130552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49680" y="2103120"/>
            <a:ext cx="97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304544" y="2130552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Ruiz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25040" y="2103120"/>
            <a:ext cx="97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279904" y="2130552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311-1111, 312-2222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432304"/>
            <a:ext cx="975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29184" y="2459736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49680" y="2432304"/>
            <a:ext cx="975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304544" y="2459736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Paz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25040" y="2432304"/>
            <a:ext cx="97536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279904" y="2459736"/>
            <a:ext cx="86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300-3333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2798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'teléfonos' tiene MÚLTIPLES valores en una celda.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389888"/>
            <a:ext cx="42976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681728" y="13898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1FN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1773936"/>
            <a:ext cx="1042416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626864" y="18013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50992" y="1773936"/>
            <a:ext cx="1042416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705856" y="18013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9984" y="1773936"/>
            <a:ext cx="1042416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784848" y="18013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id_telefono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08976" y="1773936"/>
            <a:ext cx="1042416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863840" y="18013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2084832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626864" y="21122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50992" y="2084832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705856" y="21122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Ruiz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29984" y="2084832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784848" y="21122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08976" y="2084832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7863840" y="211226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311-1111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2395728"/>
            <a:ext cx="1042416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626864" y="24231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50992" y="2395728"/>
            <a:ext cx="1042416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705856" y="24231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Ruiz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29984" y="2395728"/>
            <a:ext cx="1042416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6784848" y="24231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808976" y="2395728"/>
            <a:ext cx="1042416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7863840" y="24231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312-2222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0" y="2706624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626864" y="27340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650992" y="2706624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5705856" y="27340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Paz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29984" y="2706624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6784848" y="27340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808976" y="2706624"/>
            <a:ext cx="10424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863840" y="27340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300-3333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72000" y="3035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Tabla TELEFONOS separada: un valor por celda.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74320" y="3246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de 1FN: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74320" y="3566160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27432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86384" y="35844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contiene valores atómicos (no listas ni conjuntos).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74320" y="3986784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2743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86384" y="40050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grupos de columnas repetidas (ej: tel1, tel2, tel3 → tabla separada).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74320" y="4407408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27432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86384" y="44256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única — definir una clave primaria válida.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Segunda Forma Normal (2FN) – Dependencia Total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 = 1FN + Todo atributo no clave depende de la CLAVE COMPLETA, no de una parte de ella. Solo aplica a claves compuestas.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114800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2FN – Tabla DETALLE_ORDEN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786384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" y="17647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id_orden(PK)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97280" y="1737360"/>
            <a:ext cx="786384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152144" y="17647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id_prod(PK)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20240" y="1737360"/>
            <a:ext cx="786384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975104" y="17647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0" y="1737360"/>
            <a:ext cx="786384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98064" y="17647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66160" y="1737360"/>
            <a:ext cx="786384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21024" y="17647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precio_unit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2048256"/>
            <a:ext cx="786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918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97280" y="2048256"/>
            <a:ext cx="786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15214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20240" y="2048256"/>
            <a:ext cx="786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97510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500g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0" y="2048256"/>
            <a:ext cx="786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79806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66160" y="2048256"/>
            <a:ext cx="786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621024" y="2075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359152"/>
            <a:ext cx="786384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9184" y="23865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2359152"/>
            <a:ext cx="786384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1152144" y="23865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20240" y="2359152"/>
            <a:ext cx="786384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975104" y="23865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1kg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0" y="2359152"/>
            <a:ext cx="786384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2798064" y="23865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66160" y="2359152"/>
            <a:ext cx="786384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621024" y="238658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1752" y="28708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'nombre_prod' depende solo de id_prod, NO de id_orden+id_prod (clave </a:t>
            </a:r>
            <a:r>
              <a:rPr lang="en-US" sz="950" i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</a:t>
            </a: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                                                                                               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1371600"/>
            <a:ext cx="429768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681728" y="13716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2FN – Tablas separadas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1737360"/>
            <a:ext cx="1042416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626864" y="17647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id_orden(PK)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50992" y="1737360"/>
            <a:ext cx="1042416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705856" y="17647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id_prod(PK)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29984" y="1737360"/>
            <a:ext cx="1042416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6784848" y="17647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08976" y="1737360"/>
            <a:ext cx="1042416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7863840" y="17647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precio_unit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029968"/>
            <a:ext cx="10424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626864" y="205740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650992" y="2029968"/>
            <a:ext cx="10424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5705856" y="205740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9984" y="2029968"/>
            <a:ext cx="10424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6784848" y="205740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808976" y="2029968"/>
            <a:ext cx="104241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7863840" y="205740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0" y="2322576"/>
            <a:ext cx="1042416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4626864" y="23500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650992" y="2322576"/>
            <a:ext cx="1042416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5705856" y="23500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729984" y="2322576"/>
            <a:ext cx="1042416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6784848" y="23500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808976" y="2322576"/>
            <a:ext cx="1042416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7863840" y="23500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572000" y="1682496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DETALLE_ORDEN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0" y="270662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 (separada)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0" y="2944368"/>
            <a:ext cx="139903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4626864" y="297180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id_prod(PK)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007608" y="2944368"/>
            <a:ext cx="139903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6062472" y="297180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443216" y="2944368"/>
            <a:ext cx="139903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7498080" y="297180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precio_base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0" y="3218688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4626864" y="324612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007608" y="3218688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6062472" y="324612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500g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443216" y="3218688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7498080" y="324612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0" y="3493008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4626864" y="35204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007608" y="3493008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4"/>
          <p:cNvSpPr/>
          <p:nvPr/>
        </p:nvSpPr>
        <p:spPr>
          <a:xfrm>
            <a:off x="6062472" y="35204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1kg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443216" y="3493008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Text 86"/>
          <p:cNvSpPr/>
          <p:nvPr/>
        </p:nvSpPr>
        <p:spPr>
          <a:xfrm>
            <a:off x="7498080" y="35204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74320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2FN: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627632" y="3931920"/>
            <a:ext cx="7205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PK es compuesta, cada atributo no clave debe depender de TODA la clave, no de una parte. Si depende solo de una parte → moverlo a una tabla separada.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Tercera Forma Normal (3FN) – Dependencia Transitiva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 = 2FN + Ningún atributo no clave depende de otro atributo no clave (eliminar dependencias transitivas).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1148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3FN – Tabla EMPLEADO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987552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" y="17465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98448" y="1719072"/>
            <a:ext cx="987552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353312" y="17465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22576" y="1719072"/>
            <a:ext cx="987552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377440" y="17465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46704" y="1719072"/>
            <a:ext cx="987552" cy="274320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401568" y="17465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nombre_depto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29968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9184" y="2057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98448" y="2029968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353312" y="2057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22576" y="2029968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377440" y="2057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46704" y="2029968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401568" y="2057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340864"/>
            <a:ext cx="987552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29184" y="2368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98448" y="2340864"/>
            <a:ext cx="987552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353312" y="2368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22576" y="2340864"/>
            <a:ext cx="987552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377440" y="2368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46704" y="2340864"/>
            <a:ext cx="987552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401568" y="2368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65176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29184" y="26791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98448" y="265176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1353312" y="26791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22576" y="265176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377440" y="26791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46704" y="2651760"/>
            <a:ext cx="9875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401568" y="26791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2999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'nombre_depto' depende de id_depto (no clave), no de id_emp (clave). → Dependencia transitiva.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1371600"/>
            <a:ext cx="4297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681728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3FN – Tablas separadas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1719072"/>
            <a:ext cx="1399032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626864" y="17465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07608" y="1719072"/>
            <a:ext cx="1399032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6062472" y="17465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43216" y="1719072"/>
            <a:ext cx="1399032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7498080" y="17465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id_depto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0" y="1993392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626864" y="202082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07608" y="1993392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6062472" y="202082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43216" y="1993392"/>
            <a:ext cx="1399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498080" y="202082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0" y="2267712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4626864" y="229514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07608" y="2267712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6062472" y="229514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443216" y="2267712"/>
            <a:ext cx="1399032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498080" y="229514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72000" y="166420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EMPLEADO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0" y="2779776"/>
            <a:ext cx="2112264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626864" y="2807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id_depto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20840" y="2779776"/>
            <a:ext cx="2112264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6775704" y="2807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nombre_depto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0" y="3054096"/>
            <a:ext cx="211226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626864" y="308152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720840" y="3054096"/>
            <a:ext cx="211226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6775704" y="308152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0" y="3328416"/>
            <a:ext cx="2112264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626864" y="335584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720840" y="3328416"/>
            <a:ext cx="2112264" cy="237744"/>
          </a:xfrm>
          <a:prstGeom prst="rect">
            <a:avLst/>
          </a:prstGeom>
          <a:solidFill>
            <a:srgbClr val="EEF4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6775704" y="335584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0" y="272491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DEPARTAMENTO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9184" y="3610633"/>
            <a:ext cx="8595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420624" y="3569485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 las 3 Formas Normales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20624" y="3858768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80"/>
          <p:cNvSpPr/>
          <p:nvPr/>
        </p:nvSpPr>
        <p:spPr>
          <a:xfrm>
            <a:off x="420624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932688" y="387705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atómicos. Sin grupos repetidos.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20624" y="4169664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420624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32688" y="418795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+ Todo attr no clave depende de TODA la clave (PK compuesta).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20624" y="4480560"/>
            <a:ext cx="402336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Text 86"/>
          <p:cNvSpPr/>
          <p:nvPr/>
        </p:nvSpPr>
        <p:spPr>
          <a:xfrm>
            <a:off x="420624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932688" y="44988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+ Ningún attr no clave depende de otro attr no clave.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INSERT: Insertar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INTO permite agregar nuevas filas a una tabla. Es una sentencia DML (Data Manipulation Language).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INSERT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83759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Sintaxis básica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nombre_tabla (col1, col2, col3) VALUES (val1, val2, val3);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Insertar múltiples filas (más eficiente)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nombre_tabla (col1, col2) VALUES (v1a, v2a), (v1b, v2b), (v1c, v2c);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85953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 en MariaDB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054096"/>
            <a:ext cx="8375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Ejemplo: insertar un 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cliente (nombre, apellido, email, telefono)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('Ana', 'García', 'ana@email.com', '3101234567');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Ejemplo: insertar varios productos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producto (nombre, precio, stock, id_categoria)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('Café 500g', 15000, 100, 1), ('Azúcar 1kg', 4500, 200, 2);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16966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42245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Orden de columnas: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listás columnas, los VALUES deben ir en el mismo orden.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416966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18888" y="42245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AUTO_INCREMENT: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incluyas la PK si es AUTO_INCREMENT, MariaDB la asigna sola.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" y="46268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Tipos de datos: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entre comillas simples '…', fechas 'YYYY-MM-DD', números sin comillas.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45720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18888" y="46268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NULL explícito: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insertar NULL escribe NULL sin comillas: INSERT INTO ... VALUES (NULL, 'texto').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UPDATE: Modificar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modifica valores existentes en una tabla. SIEMPRE usar WHERE para no afectar todas las filas accidentalmente.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UPDATE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8375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Sintaxis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nombre_tabla SET col1=val1, col2=val2 WHERE condición;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 sz="1600"/>
          </a:p>
        </p:txBody>
      </p:sp>
      <p:sp>
        <p:nvSpPr>
          <p:cNvPr id="14" name="Text 12"/>
          <p:cNvSpPr/>
          <p:nvPr/>
        </p:nvSpPr>
        <p:spPr>
          <a:xfrm>
            <a:off x="384048" y="237744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 en MariaDB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83759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Actualizar el email de un cliente específico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cliente SET email='nuevo@email.com' WHERE id_cliente=1;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Aumentar un 10% el precio de todos los productos de categoría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precio = precio * 1.10 WHERE id_categoria = 1;</a:t>
            </a:r>
            <a:endParaRPr lang="en-US" sz="800" dirty="0"/>
          </a:p>
          <a:p>
            <a:pPr marL="0" indent="0" algn="ctr">
              <a:buNone/>
            </a:pPr>
            <a:endParaRPr lang="en-US" sz="300" dirty="0"/>
          </a:p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Actualizar múltiples columnas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empleado SET salario=2500000, cargo='Senior' WHERE id_empleado=5;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00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5084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DELETE: Eliminar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elimina filas de una tabla. Es irreversible sin respaldo. SIEMPRE verificar con SELECT antes de ejecutar.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DELETE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8375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Sintaxis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nombre_tabla WHERE condición;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nombre_tabla;  -- ⚠️ Borra TODAS las filas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95360" cy="1472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37744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 en MariaDB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615184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Eliminar un cliente específico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cliente WHERE id_cliente = 5;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Eliminar órdenes canceladas de 2022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orden WHERE estado='cancelada' AND YEAR(fecha_orden)=2022;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Verificar ANTES: SELECT * FROM orden WHERE estado='cancelada' AND YEAR(fecha_orden)=2022;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7AED-F92D-AFB2-0F63-06C0D52A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FEB6C4B-A707-506D-53A9-C7CB941D9369}"/>
              </a:ext>
            </a:extLst>
          </p:cNvPr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UPDATE: Modificar Datos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2011F7-DEDD-72C9-AC37-80A0AD39DBFC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83D710-23D1-11E2-28C6-011E5AAA2868}"/>
              </a:ext>
            </a:extLst>
          </p:cNvPr>
          <p:cNvSpPr/>
          <p:nvPr/>
        </p:nvSpPr>
        <p:spPr>
          <a:xfrm>
            <a:off x="393192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modifica valores existentes en una tabla. SIEMPRE usar WHERE para no afectar todas las filas accidentalmente.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AFB9554-B1AE-923A-6CA8-283F9942F20D}"/>
              </a:ext>
            </a:extLst>
          </p:cNvPr>
          <p:cNvSpPr/>
          <p:nvPr/>
        </p:nvSpPr>
        <p:spPr>
          <a:xfrm>
            <a:off x="18288" y="159812"/>
            <a:ext cx="8595360" cy="512064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3E84D2-E056-02AD-F244-F5ADDF35F321}"/>
              </a:ext>
            </a:extLst>
          </p:cNvPr>
          <p:cNvSpPr/>
          <p:nvPr/>
        </p:nvSpPr>
        <p:spPr>
          <a:xfrm>
            <a:off x="164592" y="1872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PELIGRO: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producto SET precio=0  (sin WHERE) → actualiza TODOS los productos. Usar siempre WHERE. Antes de ejecutar, probar con SELECT.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D97410B-B019-48A9-EC1C-D37A6D7D8036}"/>
              </a:ext>
            </a:extLst>
          </p:cNvPr>
          <p:cNvSpPr/>
          <p:nvPr/>
        </p:nvSpPr>
        <p:spPr>
          <a:xfrm>
            <a:off x="18288" y="781604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2A2844C-516C-507B-B772-9748FE3A9D54}"/>
              </a:ext>
            </a:extLst>
          </p:cNvPr>
          <p:cNvSpPr/>
          <p:nvPr/>
        </p:nvSpPr>
        <p:spPr>
          <a:xfrm>
            <a:off x="18288" y="7816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35C772-3AA2-BB96-022C-08965746B2F6}"/>
              </a:ext>
            </a:extLst>
          </p:cNvPr>
          <p:cNvSpPr/>
          <p:nvPr/>
        </p:nvSpPr>
        <p:spPr>
          <a:xfrm>
            <a:off x="548640" y="79989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antes: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Ejecutá el SELECT con el mismo WHERE para ver qué filas se van a afectar.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5ECA52A-0B6E-B737-463D-53C1DC1AEDFE}"/>
              </a:ext>
            </a:extLst>
          </p:cNvPr>
          <p:cNvSpPr/>
          <p:nvPr/>
        </p:nvSpPr>
        <p:spPr>
          <a:xfrm>
            <a:off x="18288" y="1165652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427A4E-7102-D0A2-C2EF-7450DBAF0AE3}"/>
              </a:ext>
            </a:extLst>
          </p:cNvPr>
          <p:cNvSpPr/>
          <p:nvPr/>
        </p:nvSpPr>
        <p:spPr>
          <a:xfrm>
            <a:off x="18288" y="1165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A79784B-A606-12B7-B230-2CB0558C4847}"/>
              </a:ext>
            </a:extLst>
          </p:cNvPr>
          <p:cNvSpPr/>
          <p:nvPr/>
        </p:nvSpPr>
        <p:spPr>
          <a:xfrm>
            <a:off x="548640" y="11839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Transacciones: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START TRANSACTION; UPDATE ...; COMMIT; o ROLLBACK si algo sale mal.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6513522-DB92-04C7-D013-88712958DDCC}"/>
              </a:ext>
            </a:extLst>
          </p:cNvPr>
          <p:cNvSpPr/>
          <p:nvPr/>
        </p:nvSpPr>
        <p:spPr>
          <a:xfrm>
            <a:off x="18288" y="1549700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022897D-CE18-E89F-5FEB-A7AAC2BEB0DE}"/>
              </a:ext>
            </a:extLst>
          </p:cNvPr>
          <p:cNvSpPr/>
          <p:nvPr/>
        </p:nvSpPr>
        <p:spPr>
          <a:xfrm>
            <a:off x="18288" y="15497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56AC34A-BA99-882A-67B9-3B9CD1134A7C}"/>
              </a:ext>
            </a:extLst>
          </p:cNvPr>
          <p:cNvSpPr/>
          <p:nvPr/>
        </p:nvSpPr>
        <p:spPr>
          <a:xfrm>
            <a:off x="548640" y="15679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previo:  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UPDATE masivos, hacé un respaldo de la tabla.</a:t>
            </a:r>
            <a:endParaRPr lang="en-US" sz="1100" dirty="0"/>
          </a:p>
        </p:txBody>
      </p:sp>
      <p:sp>
        <p:nvSpPr>
          <p:cNvPr id="27" name="Text 14"/>
          <p:cNvSpPr/>
          <p:nvPr/>
        </p:nvSpPr>
        <p:spPr>
          <a:xfrm>
            <a:off x="182880" y="27947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vs TRUNCATE vs DROP:</a:t>
            </a:r>
            <a:endParaRPr lang="en-US" sz="1200" dirty="0"/>
          </a:p>
        </p:txBody>
      </p:sp>
      <p:sp>
        <p:nvSpPr>
          <p:cNvPr id="28" name="Shape 15"/>
          <p:cNvSpPr/>
          <p:nvPr/>
        </p:nvSpPr>
        <p:spPr>
          <a:xfrm>
            <a:off x="137160" y="3106467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16"/>
          <p:cNvSpPr/>
          <p:nvPr/>
        </p:nvSpPr>
        <p:spPr>
          <a:xfrm>
            <a:off x="283464" y="3133899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Borra filas según WHERE. Con transacciones. Lento en tablas grandes.</a:t>
            </a:r>
            <a:endParaRPr lang="en-US" sz="1100" dirty="0"/>
          </a:p>
        </p:txBody>
      </p:sp>
      <p:sp>
        <p:nvSpPr>
          <p:cNvPr id="30" name="Shape 17"/>
          <p:cNvSpPr/>
          <p:nvPr/>
        </p:nvSpPr>
        <p:spPr>
          <a:xfrm>
            <a:off x="137160" y="3453939"/>
            <a:ext cx="859536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18"/>
          <p:cNvSpPr/>
          <p:nvPr/>
        </p:nvSpPr>
        <p:spPr>
          <a:xfrm>
            <a:off x="283464" y="3481371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Borra TODAS las filas. Más rápido. No se puede usar WHERE. Reinicia AUTO_INCREMENT.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137160" y="3801411"/>
            <a:ext cx="8595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0"/>
          <p:cNvSpPr/>
          <p:nvPr/>
        </p:nvSpPr>
        <p:spPr>
          <a:xfrm>
            <a:off x="283464" y="3828843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</a:t>
            </a: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Elimina la tabla COMPLETA (estructura + datos). Irreversible.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963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SELECT: Consultar Datos (Básico)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1206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es la sentencia más usada en SQL. Recupera datos de una o más tablas según condiciones, ordenamientos y agrupaciones.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SELECT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 FROM tabla WHERE condición ORDER BY col1 ASC LIMIT n;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8595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596896"/>
            <a:ext cx="8375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Todos los clientes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cliente;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Solo nombre y email, filtrado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email FROM cliente WHERE id_ciudad = 3;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Ordenado por apellido descendente, solo primeros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apellido, email FROM cliente ORDER BY apellido DESC LIMIT 10;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 alias de columna y tabla calculada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precio, precio*1.19 AS precio_con_iva FROM producto WHERE stock &gt; 0;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3941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filas según condición. Operadores: =, !=, &lt;, &gt;, &lt;=, &gt;=, BETWEEN, IN, LIKE, IS NULL.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8862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18888" y="3941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el resultado. ASC (ascendente, defecto) o DESC (descendente).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28853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" y="434340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número de filas retornadas. Esencial en paginación: LIMIT 10 OFFSET 20.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428853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18888" y="434340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 </a:t>
            </a: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para renombrar columnas o tablas en el resultado. Mejora legibilidad.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 – SELECT Avanzado: GROUP BY, HAVING, JOIN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84048" y="82296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y HAVING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60704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GROUP BY: agrupar y agregar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id_categoria, COUNT(*) AS total, AVG(precio) AS precio_prom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producto GROUP BY id_categoria HAVING COUNT(*) &gt; 5;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HAVING filtra grupos (como WHERE pero para agregados)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859536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2048256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– El más común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286000"/>
            <a:ext cx="8375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INNER JOIN: solo filas que coinciden en ambas tablas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c.nombre, o.fecha_orden, o.total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orden o INNER JOIN cliente c ON o.id_cliente = c.id_cliente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o.total &gt; 100000 ORDER BY o.fecha_orden DESC;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859536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3145536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8375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LEFT JOIN: todas las filas de la izquierda + coincidencias de la derecha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c.nombre, COUNT(o.id_orden) AS total_ordenes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cliente c LEFT JOIN orden o ON c.id_cliente = o.id_cliente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c.id_cliente, c.nombre;  -- Incluye clientes SIN órdenes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18795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20624" y="42245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de agregación más usadas: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Cuenta filas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47088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SUM(col)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Suma valores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3552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AVG(col)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Promedio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MAX(col)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Máximo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MIN(col)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Mínimo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52944" y="44805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CONCAT(a,b)</a:t>
            </a: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Une cadenas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Integrador – CRUD Completo en MariaDB/XAMPP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Tienda. Crear tabla, insertar, consultar, actualizar y eliminar datos desde phpMyAdmin.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95360" cy="3310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09344"/>
            <a:ext cx="83759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CREAR tabla en MariaDB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producto 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id_producto INT AUTO_INCREMENT PRIMARY KEY,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VARCHAR(100) NOT NULL,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      DECIMAL(12,2) NOT NULL DEFAULT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       INT NOT NULL DEFAULT 0,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      TINYINT(1) DEFAULT 1,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ck_precio CHECK (precio &gt;= 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 DEFAULT CHARSET=utf8mb4;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INSERT - Agregar productos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producto (nombre, precio, stock) VALUES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('Café Colombiano 500g', 18500, 150),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('Azúcar Morena 1kg',    4800,  300),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('Chocolate 200g',       9200,   80);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SELECT - Consultar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producto WHERE stock &lt; 100 ORDER BY precio DESC;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-- 4. UPDATE - Actualizar precio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precio = precio * 1.05 WHERE id_producto = 1;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-- 5. DELETE - Desactivar (soft delete)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activo = 0 WHERE id_producto = 3;  -- ✓ Preferido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FROM producto WHERE id_producto = 3;          -- ✗ Evitar en producción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en MariaDB / SQL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9052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905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Siempre PK AUTO_INCREMENT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debe tener un id INT AUTO_INCREMENT PRIMARY KEY como primera columna.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00600" y="9052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905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Nombres en snake_case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49240" y="11887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minúsculas y guiones bajos: id_cliente, fecha_orden. Evita espacios, tildes y mayúsculas.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192938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1929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Charset utf8mb4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crear BD y tablas usa: DEFAULT CHARSET=utf8mb4 para soportar emojis y caracteres especiales.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84708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00600" y="192938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1929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en UPDATE/DELETE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22128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Jamás ejecutes UPDATE o DELETE sin WHERE en producción. Siempre verificar con SELECT primero.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65760" y="29535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FOREIGN KEY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323697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FK enforza integridad referencial. InnoDB en XAMPP/MariaDB las soporta nativamente.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871216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00600" y="29535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4924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Hacer backup antes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49240" y="323697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cambios masivos: mysqldump -u root nombd &gt; backup.sql desde la consola de XAMPP.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9534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65760" y="39776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440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Indexar columnas de búsqueda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2611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usadas en WHERE, JOIN y ORDER BY frecuentes deben tener índice: CREATE INDEX...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89534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800600" y="39776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4924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Probar en desarrollo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49240" y="42611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BD de prueba separada. Nunca practicar sentencias destructivas en datos reales.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y Cómo Evitarlos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38912" y="896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UPDATE/DELETE sin WHERE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1887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TODAS las filas. Solución: siempre incluir WHERE. Antes ejecutar SELECT con la misma condición.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73752" y="896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NULL vs cadena vacía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1887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es ausencia de valor. '' es una cadena vacía. Son distintos. Usar IS NULL, no = NULL.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8912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Tipos de datos incorrectos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5786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precios como VARCHAR genera errores. Usar DECIMAL(12,2) para dinero, DATE para fechas.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73752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Omitir comillas en strings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25786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... VALUES (Juan) → error. Debe ser VALUES ('Juan'). Las cadenas van entre comillas simples.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3891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usar utf8mb4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9684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especiales (ñ, tildes, emojis) pueden corromperse si el charset es latin1 o utf8 básico.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7375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Olvidar FK + ON DELETE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39684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FK puedes insertar id_ciudad inexistente. Sin ON DELETE, borrar padre deja huérfanos.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Explicado – Consultas con JOIN y Agregación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Consultas reales: reporte de ventas por cliente, productos sin ventas y top 5 más vendidos.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95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por cliente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09344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Reporte: total de órdenes y monto por 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c.nombre, c.apellido, COUNT(o.id_orden) AS cant_ordenes, SUM(o.total) AS monto_total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cliente c LEFT JOIN orden o ON c.id_cliente = o.id_cliente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c.id_cliente ORDER BY monto_total DESC;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859536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4871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sin ventas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724912"/>
            <a:ext cx="8375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Productos que nunca se han vendido (LEFT JOIN + IS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p.stock FROM producto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detalle_orden d ON p.id_producto = d.id_producto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d.id_producto IS NULL;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859536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347472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productos más vendidos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712464"/>
            <a:ext cx="8375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5 productos más vendidos (cantidad total)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SUM(d.cantidad) AS total_vendido, SUM(d.precio_unit*d.cantidad) AS ingresos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detalle_orden d JOIN producto p ON d.id_producto = p.id_producto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p.id_producto ORDER BY total_vendido DESC LIMIT 5;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07408"/>
            <a:ext cx="8595360" cy="402336"/>
          </a:xfrm>
          <a:prstGeom prst="rect">
            <a:avLst/>
          </a:prstGeom>
          <a:solidFill>
            <a:srgbClr val="00796B">
              <a:alpha val="18000"/>
            </a:srgbClr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0624" y="44256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Consejo: Para practicar estas consultas en phpMyAdmin → seleccioná la BD → pestaña SQL → escribí y ejecutá con Ctrl+Enter.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Completo – Normalización 1FN→2FN→3FN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inicial desnormalizada → aplicar las 3 formas normales paso a paso.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859536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20624" y="13167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ORIGINAL (desnormalizada): VENTA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9184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#venta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53312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408176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32304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487168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11296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566160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nom_cli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90288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645152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ciudad_cli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669280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724144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prods_códigos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48272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803136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prods_nombres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827264" y="1645920"/>
            <a:ext cx="1042416" cy="237744"/>
          </a:xfrm>
          <a:prstGeom prst="rect">
            <a:avLst/>
          </a:prstGeom>
          <a:solidFill>
            <a:srgbClr val="0F2D5C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882128" y="1673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29184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53312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408176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32304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487168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511296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566160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90288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645152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669280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724144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P01,P02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48272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803136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Café,Azúcar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27264" y="1920240"/>
            <a:ext cx="104241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7882128" y="19476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29184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353312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1408176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32304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2487168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511296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566160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90288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645152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69280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724144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48272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6803136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827264" y="2194560"/>
            <a:ext cx="1042416" cy="237744"/>
          </a:xfrm>
          <a:prstGeom prst="rect">
            <a:avLst/>
          </a:prstGeom>
          <a:solidFill>
            <a:srgbClr val="FFF0F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7882128" y="22219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52374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274320" y="2523744"/>
            <a:ext cx="73152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274320" y="252374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1FN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97280" y="25603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prods_códigos, prods_nombres, cantidades → tabla DETALLE_VENTA con una fila por producto.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07238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274320" y="3072384"/>
            <a:ext cx="731520" cy="4937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274320" y="307238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2FN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97280" y="310896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nom_cli y ciudad_cli → tabla CLIENTE (dependen de id_cli, no de #venta).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362102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274320" y="3621024"/>
            <a:ext cx="731520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274320" y="362102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3FN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97280" y="365760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ciudad a tabla CIUDAD: ciudad_cli depende del cliente, no directamente de la venta.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420624" y="4233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3FN: 5 tablas limpias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20624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(id_venta, fecha, id_cliente)  </a:t>
            </a: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DETALLE_VENTA (id_venta, id_prod, cantidad)  </a:t>
            </a: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CLIENTE (id_cli, nombre)  </a:t>
            </a: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CIUDAD (id_ciudad, nombre)  </a:t>
            </a: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PRODUCTO (id_prod, nombre, precio)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EN CLASE – Sesión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676656"/>
          </a:xfrm>
          <a:prstGeom prst="rect">
            <a:avLst/>
          </a:prstGeom>
          <a:solidFill>
            <a:srgbClr val="0F2D5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78638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Caso: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una Biblioteca Universitaria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8412480" cy="914400"/>
          </a:xfrm>
          <a:prstGeom prst="rect">
            <a:avLst/>
          </a:prstGeom>
          <a:solidFill>
            <a:srgbClr val="1A2C42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biblioteca universitaria necesita registrar libros, autores, estudiantes y préstamos. Un libro puede tener varios autores. Un estudiante puede tomar prestados varios libros. Cada préstamo registra fecha de inicio y devolución.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(Tiempo: 45 min — en parejas):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entidades y sus atributos. Marcar la PK y atributos compuestos o multivaluados.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8412480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1912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con su nombre (verbo), cardinalidad (1:1, 1:N, N:M) y participación.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3483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E-R con la simbología de Chen (entidades, rombos, elipses).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PRESTAMO desnormalizada hasta 3FN mostrando cada paso.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biblioteca en MariaDB/XAMPP con todas las tablas y restricciones.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34256"/>
            <a:ext cx="8412480" cy="256032"/>
          </a:xfrm>
          <a:prstGeom prst="rect">
            <a:avLst/>
          </a:prstGeom>
          <a:solidFill>
            <a:srgbClr val="0F2D5C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3 autores, 5 libros y 4 estudiantes con sus respectivos préstamos.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46542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</a:t>
            </a: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consultas: todos los libros prestados, estudiantes con más préstamos, libros no devueltos.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Diagrama ER + script SQL (.sql) + capturas de phpMyAdmin con datos.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– SQL Biblioteca en MariaDB (Solución Parcial)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Modelamiento BD III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39867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FA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84048" y="82296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– Creación e inserción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60704"/>
            <a:ext cx="837590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BD y tablas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biblioteca CHARACTER SET utf8mb4;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biblioteca;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autor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id_autor INT AUTO_INCREMENT PRIMARY KEY,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VARCHAR(80) NOT NULL,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pais     VARCHAR(60)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libro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id_libro   INT AUTO_INCREMENT PRIMARY KEY,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     VARCHAR(200) NOT NULL,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isbn       VARCHAR(20) UNIQUE,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año        YEAR,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      INT DEFAULT 1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Tabla puente N:M (un libro puede tener varios autores)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libro_autor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id_libro INT, id_autor INT,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(id_libro, id_autor),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(id_libro) REFERENCES libro(id_libro) ON DELETE CASCADE,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(id_autor) REFERENCES autor(id_autor) ON DELETE RESTRICT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inicial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autor (nombre,pais) VALUES ('Gabriel García Márquez','Colombia'),('Isabel Allende','Chile');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libro (titulo,isbn,año,stock) VALUES ('Cien años de soledad','978-0307474728',1967,3);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libro_autor VALUES (1,1);  -- García Márquez escribió "Cien años..."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Consultar libros con sus autores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l.titulo, a.nombre AS autor FROM libro 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libro_autor la ON l.id_libro=la.id_libro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autor a ON la.id_autor=a.id_autor ORDER BY l.titulo;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68680" y="1645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937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aprendiste en la Sesión 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969264"/>
            <a:ext cx="32004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68680" y="117043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compuesto, derivado, multivaluado, clave (PK) y nulo.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N:M definen cómo se implementan las FK y tablas pivot.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35915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E-R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pasos: entidades → atributos → relaciones → cardinalidades → validar → lógico.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35915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1FN–2FN–3FN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Atomicidad, dependencia total y eliminación de dependencias transitivas.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54787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INSERT/UPDATE/DELETE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para agregar, modificar y eliminar. SIEMPRE WHERE en UPDATE/DELETE.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547872"/>
            <a:ext cx="4023360" cy="1078992"/>
          </a:xfrm>
          <a:prstGeom prst="rect">
            <a:avLst/>
          </a:prstGeom>
          <a:solidFill>
            <a:srgbClr val="0F2D5C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+ JOIN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simples, GROUP BY, HAVING, INNER JOIN y LEFT JOIN.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SQL avanzado – Subconsultas, Vistas y Procedimientos Almacenados en MariaDB.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5053</Words>
  <Application>Microsoft Office PowerPoint</Application>
  <PresentationFormat>Presentación en pantalla (16:9)</PresentationFormat>
  <Paragraphs>671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 – Modelamiento de Bases de Datos III</dc:title>
  <dc:subject>PptxGenJS Presentation</dc:subject>
  <dc:creator>PptxGenJS</dc:creator>
  <cp:lastModifiedBy>Sergio A Burbano M</cp:lastModifiedBy>
  <cp:revision>2</cp:revision>
  <dcterms:created xsi:type="dcterms:W3CDTF">2026-04-12T16:45:18Z</dcterms:created>
  <dcterms:modified xsi:type="dcterms:W3CDTF">2026-04-12T17:29:47Z</dcterms:modified>
</cp:coreProperties>
</file>