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641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272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75488" y="0"/>
            <a:ext cx="164592" cy="51435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68680" y="658368"/>
            <a:ext cx="3474720" cy="40233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" y="65836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170432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Gestión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Bases de Datos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68680" y="2761488"/>
            <a:ext cx="5029200" cy="457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68680" y="28895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Estructurado  ·  </a:t>
            </a:r>
            <a:r>
              <a:rPr lang="en-US" sz="1400" dirty="0">
                <a:solidFill>
                  <a:srgbClr val="B3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Interactivo/Inmerso  ·  </a:t>
            </a: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POO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 |  Ing. Sistemas – 4.° Semestre  |  Universitaria de Colombia  | 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4041648"/>
            <a:ext cx="8229600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024128" y="4078224"/>
            <a:ext cx="7973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0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el lenguaje SQL en profundidad, diferenciar el SQL interactivo del inmerso, e identificar las características de programación orientada a objetos aplicadas en sistemas de gestión de bases de datos con MariaDB/XAMPP.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"/>
            <a:ext cx="1828800" cy="1828800"/>
          </a:xfrm>
          <a:prstGeom prst="ellipse">
            <a:avLst/>
          </a:prstGeom>
          <a:solidFill>
            <a:srgbClr val="0D47A1">
              <a:alpha val="20000"/>
            </a:srgbClr>
          </a:solidFill>
          <a:ln w="12700">
            <a:solidFill>
              <a:srgbClr val="0D47A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 la Sesión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0277B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56032" y="804672"/>
            <a:ext cx="621792" cy="124358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56032" y="8046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" y="16093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9264" y="8778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SGBD?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12618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componentes y rol del SGBD en el ecosistema.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8046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690872" y="804672"/>
            <a:ext cx="621792" cy="124358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690872" y="8046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0872" y="16093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04104" y="8778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Lenguaje SQL Estructurado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04104" y="12618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Historia, versiones, categorías DDL/DML/DCL/TCL y tipos de datos.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1762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56032" y="2176272"/>
            <a:ext cx="621792" cy="1243584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56032" y="21762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" y="29809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9264" y="22494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Interactivo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" y="26334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en tiempo real: consola MariaDB y phpMyAdmin.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1762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2176272"/>
            <a:ext cx="621792" cy="124358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690872" y="21762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90872" y="29809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20min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04104" y="22494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Inmerso (Embedded)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04104" y="26334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dentro de código de aplicación: PHP, Python, Node.js.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5478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4A148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256032" y="3547872"/>
            <a:ext cx="621792" cy="124358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256032" y="35478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6032" y="43525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20min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9264" y="36210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de POO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9264" y="40050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Abstracción, encapsulamiento, herencia y polimorfismo en SQL.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90872" y="35478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4690872" y="3547872"/>
            <a:ext cx="621792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690872" y="35478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90872" y="43525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30min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04104" y="36210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 + Taller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04104" y="40050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y ejercicio práctico con MariaDB/XAMPP.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Sistema de Gestión de Bases de Datos (SGBD)?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SGBD: Software que actúa como intermediario entre los usuarios/aplicaciones y los datos almacenados, gestionando acceso, integridad, seguridad y concurrencia.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44752"/>
            <a:ext cx="822960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66928" y="14447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Aplicaciones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44475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· Python · Java · Node.js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029968"/>
            <a:ext cx="7863840" cy="51206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49808" y="202996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(Interfaz)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20299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· DML · DCL · TCL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2615184"/>
            <a:ext cx="7498080" cy="51206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32688" y="261518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SGBD (MariaDB)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61518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· Optimizer · Engine · Buffer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3200400"/>
            <a:ext cx="7132320" cy="512064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115568" y="32004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 de Almacenamiento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· MyISAM · Memory · CSV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88720" y="3785616"/>
            <a:ext cx="6766560" cy="5120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298448" y="378561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Archivos Físicos en Disco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37856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.ibd · .frm · binlog · redo log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462272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277B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20624" y="4498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7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MariaDB en XAMPP: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" y="471830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10.x </a:t>
            </a: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SGBD relacional. </a:t>
            </a: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</a:t>
            </a: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interfaz gráfica web. </a:t>
            </a: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</a:t>
            </a: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motor de almacenamiento con soporte ACID, FK y transacciones.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– Historia, Versiones y Estándares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(Structured Query Language) es el lenguaje universal para gestionar bases de datos relacionales, estandarizado por ANSI e ISO desde 1986.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7B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1097280" cy="36576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4320" y="13898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1970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1463040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E.F. Codd propone el Modelo Relacional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74320" y="1810512"/>
            <a:ext cx="1097280" cy="3657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" y="18105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1974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1883664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desarrolla SEQUEL (precursor de SQL)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231136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74320" y="2231136"/>
            <a:ext cx="1097280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274320" y="22311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1986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2304288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publica el primer estándar SQL-86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651760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148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74320" y="2651760"/>
            <a:ext cx="1097280" cy="3657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7432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2724912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SQL-92 (SQL2): versión más adoptada, base de MySQL/MariaDB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072384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74320" y="3072384"/>
            <a:ext cx="1097280" cy="36576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274320" y="30723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63040" y="3145536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SQL:1999 agrega procedimientos, triggers y tipos de objetos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493008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274320" y="3493008"/>
            <a:ext cx="109728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74320" y="3493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63040" y="3566160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SQL:2003 introduce funciones de ventana (WINDOW)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913632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274320" y="3913632"/>
            <a:ext cx="1097280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274320" y="39136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63040" y="3986784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SQL:2016 agrega soporte JSON nativo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334256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274320" y="4334256"/>
            <a:ext cx="10972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274320" y="43342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463040" y="4407408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10.11 LTS – compatible SQL:2016 + extensiones propias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Estructurado – Las 4 Categorías Principales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56032" y="804672"/>
            <a:ext cx="4206240" cy="402336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47472" y="8046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 DDL – Data Definition Language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2435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 modifica la estructura de la BD.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1481328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(TABLE, DATABASE, VIEW, INDEX, PROCEDURE)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(ADD, MODIFY, DROP, RENAME)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/ DATABASE / VIEW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TABLE (vaciar sin log de transacción)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90872" y="8046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690872" y="804672"/>
            <a:ext cx="4206240" cy="402336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782312" y="8046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 DML – Data Manipulation Language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82312" y="12435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 los datos almacenados.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82312" y="1481328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… FROM … WHERE … GROUP BY … HAVING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tabla (cols) VALUES (vals)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tabla SET col=val WHERE condición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tabla WHERE condición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889504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148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56032" y="2889504"/>
            <a:ext cx="4206240" cy="40233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47472" y="28895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DCL – Data Control Language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33284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permisos y seguridad.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3566160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privilegios ON objeto TO usuario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privilegios ON objeto FROM usuario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'user'@'host' IDENTIFIED BY 'pass'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GRANTS FOR usuario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90872" y="2889504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360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690872" y="2889504"/>
            <a:ext cx="4206240" cy="40233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782312" y="28895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TCL – Transaction Control Language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82312" y="33284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transacciones ACID.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82312" y="3566160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 (iniciar transacción)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(confirmar cambios permanentemente)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(deshacer cambios desde START)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nombre / ROLLBACK TO nombre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Interactivo – Definición y Características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Interactivo: sentencias SQL escritas y ejecutadas directamente por el usuario en tiempo real, sin intermediación de código de aplicación. El resultado se muestra inmediatamente.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444752"/>
            <a:ext cx="28163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4747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7824" y="15361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Ejecución inmediata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" y="1847088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escribe SQL y el resultado aparece al instante sin compilación previa.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444752"/>
            <a:ext cx="28163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918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22192" y="15361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 ad-hoc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22192" y="1847088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puntuales para análisis, depuración, administración o exploración de datos.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4768" y="1444752"/>
            <a:ext cx="28163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23620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15361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 directo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1847088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SGBD muestra el resultado (tabla, filas afectadas, error) directamente al usuario.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798064"/>
            <a:ext cx="28163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47472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77824" y="28895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compilación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3200400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 lenguaje huésped. El SQL se interpreta directamente por el SGBD.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798064"/>
            <a:ext cx="28163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291840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22192" y="28895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22192" y="3200400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(web), consola MariaDB (CLI), MySQL Workbench, DBeaver, HeidiSQL.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2798064"/>
            <a:ext cx="28163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236208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66560" y="28895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de uso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3200400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DBA: administración, mantenimiento. Analistas: reportes. Desarrolladores: depuración.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Interactivo en MariaDB/XAMPP – Herramientas y Uso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20624" y="78638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Consola MariaDB (CLI) – Modo Interactivo desde XAMPP Shell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078992"/>
            <a:ext cx="8595360" cy="131673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13385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MariaDB – Comandos esenciales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353312"/>
            <a:ext cx="8375904" cy="950976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Acceder a MariaDB desde XAMPP Shell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-u root -p              -- Solicita contraseña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-u root                 -- Sin contraseña (instalación local)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Comandos básicos del modo interactivo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DATABASES;               -- Listar todas las BDs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nombre_db;                -- Seleccionar BD activa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TABLES;                  -- Listar tablas de la BD activa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nombre_tabla;        -- Ver estructura de una tabla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CREATE TABLE nombre;     -- Ver DDL completo de la tabla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STATUS;                       -- Info del servidor y conexión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QUIT; o EXIT;                 -- Salir del cliente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487168"/>
            <a:ext cx="8595360" cy="256032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20624" y="250545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phpMyAdmin – Interfaz Web Interactiva (http://localhost/phpmyadmin)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2816352"/>
            <a:ext cx="281635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47472" y="288950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Pestaña SQL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" y="318211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y ejecutar cualquier sentencia SQL con Ctrl+Enter. Historial de consultas.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2816352"/>
            <a:ext cx="281635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91840" y="288950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Pestaña Estructura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91840" y="318211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Ver, agregar, modificar y eliminar columnas visualmente. Equivalente a ALTER TABLE.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44768" y="2816352"/>
            <a:ext cx="281635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236208" y="288950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Pestaña Buscar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36208" y="318211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visuales de datos sin escribir WHERE. Genera el SQL automáticamente.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3822192"/>
            <a:ext cx="281635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47472" y="38953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Exportar / Importar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7472" y="418795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la BD como .sql, .csv, .json. Importar scripts SQL completos.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3822192"/>
            <a:ext cx="281635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291840" y="38953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Consultas rápidas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91840" y="418795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una tabla → 'Examinar' muestra los datos con paginación automática.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4768" y="3822192"/>
            <a:ext cx="281635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236208" y="38953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Gestión de usuarios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36208" y="418795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usuarios con GRANT específicos por tabla. Interfaz para DCL.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1 – SQL Interactivo: Consultas Complejas en MariaDB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Consultas avanzadas que demuestran el poder del SQL interactivo: variables, funciones de ventana y CTE.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93268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1673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usuario – SQL interactivo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36192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Variables de usuario en SQL interactivo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@limite = 5;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@categoria = 'Electrónica';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precio FROM producto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categoria = @categoria ORDER BY precio DESC LIMIT @limite;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8595360" cy="102412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Ventana (WINDOW FUNCTIONS)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578608"/>
            <a:ext cx="8375904" cy="65836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Funciones de ventana (MariaDB 10.2+) – Ranking sin subquery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categoria, precio,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RANK()     OVER (PARTITION BY categoria ORDER BY precio DESC) AS ranking,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ROW_NUMBER() OVER (ORDER BY precio DESC) AS fila_global,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LAG(precio, 1) OVER (ORDER BY precio) AS precio_anterior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producto WHERE activo = 1;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3438144"/>
            <a:ext cx="8595360" cy="93268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84048" y="349300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– Common Table Expression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3712464"/>
            <a:ext cx="8375904" cy="676656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CTE (Common Table Expression) – Consulta legible y reutilizable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ventas_cliente AS 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id_cliente, SUM(total) AS total_comprado, COUNT(*) AS num_ordenes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orden WHERE estado = 'entregada' GROUP BY id_cliente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c.nombre, vc.total_comprado, vc.num_ordenes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cliente c JOIN ventas_cliente vc ON c.id_cliente = vc.id_cliente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vc.total_comprado &gt; 500000 ORDER BY vc.total_comprado DESC;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237744"/>
          </a:xfrm>
          <a:prstGeom prst="rect">
            <a:avLst/>
          </a:prstGeom>
          <a:solidFill>
            <a:srgbClr val="00BFA5">
              <a:alpha val="18000"/>
            </a:srgbClr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20624" y="44988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Los CTEs (WITH) hacen el SQL más legible que las subqueries anidadas. Son especialmente útiles en SQL interactivo para reportes complejos ad-hoc.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Inmerso (Embedded SQL) – Definición y Contexto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Inmerso: sentencias SQL escritas dentro del código fuente de una aplicación (PHP, Python, Java, etc.) para ser ejecutadas dinámicamente en tiempo de ejecución.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426464"/>
            <a:ext cx="4206240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56032" y="1426464"/>
            <a:ext cx="4206240" cy="402336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47472" y="14264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SQL INTERACTIVO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1883664"/>
            <a:ext cx="40233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 por humanos en tiempo real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 en CLI o phpMyAdmin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visible inmediatamente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Propósito: análisis, administración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lenguaje huésped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es el 'ejecutor'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90872" y="1426464"/>
            <a:ext cx="4206240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690872" y="1426464"/>
            <a:ext cx="4206240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782312" y="14264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SQL INMERSO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82312" y="1883664"/>
            <a:ext cx="40233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 en código de aplicación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 desde PHP, Python, Java...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procesado programáticamente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Propósito: lógica de negocio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driver/conector de BD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es el 'ejecutor'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49884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20624" y="453542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MariaDB en XAMPP: </a:t>
            </a: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→ PDO o mysqli  |  Python → mysql-connector-python  |  Node.js → mysql2  |  Java → JDBC Connector/J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Inmerso en PHP – PDO con MariaDB/XAMPP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212140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84048" y="82296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PDO – Conexión, SELECT e INSERT seguros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42416"/>
            <a:ext cx="8375904" cy="175564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═══ CONEXIÓN PDO A MARIADB (XAMPP) ═══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$dsn = "mysql:host=localhost;dbname=mi_tienda;charset=utf8mb4";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$pdo = new PDO($dsn, 'root', '', [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PDO::ATTR_ERRMODE            =&gt; PDO::ERRMODE_EXCEPTION,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PDO::ATTR_DEFAULT_FETCH_MODE =&gt; PDO::FETCH_ASSOC,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PDO::ATTR_EMULATE_PREPARES   =&gt; false,   // Prepared statements reales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(PDOException $e)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die("Error de conexión: " . $e-&gt;getMessage());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═══ SELECT con Prepared Statement (evita SQL Injection) ═══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$pdo-&gt;prepare("SELECT nombre, precio FROM producto WHERE id_categoria=:cat AND activo=1");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$stmt-&gt;execute([':cat' =&gt; $_GET['categoria']]);  // Parámetro del usuario: SEGURO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$productos = $stmt-&gt;fetchAll();                  // Array asociativo con todos los resultados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($productos as $p)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"&lt;li&gt;{$p['nombre']}: $" . number_format($p['precio']) . "&lt;/li&gt;";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═══ INSERT con Prepared Statement ═══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$pdo-&gt;prepare("INSERT INTO producto (nombre, precio, stock, id_categoria) VALUES (?,?,?,?)");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$stmt-&gt;execute([$_POST['nombre'], $_POST['precio'], 100, 1]);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"Producto creado. ID: " . $pdo-&gt;lastInsertId();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2999232"/>
            <a:ext cx="8595360" cy="129844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84048" y="305409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PDO – Transacción completa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3273552"/>
            <a:ext cx="8375904" cy="93268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═══ TRANSACCIÓN en SQL Inmerso ═══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$pdo-&gt;beginTransaction();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$pdo-&gt;prepare("UPDATE cuenta SET saldo=saldo-:monto WHERE id=:origen")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-&gt;execute([':monto'=&gt;500000, ':origen'=&gt;101]);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$pdo-&gt;prepare("UPDATE cuenta SET saldo=saldo+:monto WHERE id=:destino")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-&gt;execute([':monto'=&gt;500000, ':destino'=&gt;202]);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$pdo-&gt;commit();  // Confirmar ambas actualizaciones juntas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(Exception $e)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$pdo-&gt;rollBack();  // Deshacer todo si algo falla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"Transacción fallida: " . $e-&gt;getMessage();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" y="4407408"/>
            <a:ext cx="8595360" cy="237744"/>
          </a:xfrm>
          <a:prstGeom prst="rect">
            <a:avLst/>
          </a:prstGeom>
          <a:solidFill>
            <a:srgbClr val="B71C1C">
              <a:alpha val="12000"/>
            </a:srgbClr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20624" y="44256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NUNCA: $sql = "SELECT * FROM users WHERE id=".$_GET['id']; → SQL Injection. SIEMPRE usar Prepared Statements con parámetros.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Inmerso en Python y Node.js – MariaDB/XAMPP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4206240" cy="2542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84048" y="82296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– mysql-connector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42416"/>
            <a:ext cx="3986784" cy="2176272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– mysql-connector-python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mysql.connector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 = mysql.connector.connect(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host='localhost', port=3306,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database='mi_tienda',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user='root', password='',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charset='utf8mb4'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 = conn.cursor(dictionary=True)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con parámetro seguro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* FROM producto WHERE precio &lt; %s",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(50000,)    # Tupla con parámetro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 = cursor.fetchall()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productos: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print(f"{p['nombre']}: {p['precio']}")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INSERT + confirmar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"INSERT INTO producto(nombre,precio,id_categoria)"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VALUES(%s,%s,%s)",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('Leche 1L', 3500, 2)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conn.commit()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print(f"ID generado: {cursor.lastrowid}")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cursor.close()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conn.close()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63440" y="768096"/>
            <a:ext cx="4206240" cy="2542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73168" y="82296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– mysql2 async/await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73168" y="1042416"/>
            <a:ext cx="3986784" cy="2176272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Node.js – mysql2 (async/await)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mysql = require('mysql2/promise');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main()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conn = await mysql.createConnection({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host: 'localhost',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database: 'mi_tienda',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user: 'root',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password: '',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charset: 'utf8mb4'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SELECT con placeholders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[rows] = await conn.execute(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'SELECT * FROM producto WHERE activo=?',[1]);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console.log(rows);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Transacción async/await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conn.beginTransaction();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conn.execute(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'UPDATE stock SET cant=cant-? WHERE id=?',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[5, 1]);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conn.execute(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'INSERT INTO movimiento(tipo,cant,id_prod)'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 VALUES(?,?,?)',['salida',5,1]);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conn.commit();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catch(e)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conn.rollback();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console.error(e.message);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conn.end();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main();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" y="3419856"/>
            <a:ext cx="8595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20624" y="34564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Comparativa de Conectores para MariaDB: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" y="3749040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(PDO):  </a:t>
            </a:r>
            <a:r>
              <a:rPr lang="en-US" sz="9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PDO MySQL – $dsn='mysql:host=localhost;...'; new PDO($dsn, $u, $p)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18304" y="3749040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 </a:t>
            </a:r>
            <a:r>
              <a:rPr lang="en-US" sz="9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mysql-connector-python → import mysql.connector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" y="3950208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Node.js:  </a:t>
            </a:r>
            <a:r>
              <a:rPr lang="en-US" sz="9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mysql2 → require('mysql2/promise')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18304" y="3950208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 </a:t>
            </a:r>
            <a:r>
              <a:rPr lang="en-US" sz="9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Descargar Connector/J .jar → Class.forName('com.mysql.cj.jdbc.Driver')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2 – Aplicación PHP Completa con SQL Inmerso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CRUD completo de productos en PHP con SQL Inmerso, PDO y buenas prácticas de seguridad.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349300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1673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OOP + PDO – Repository Pattern completo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36192"/>
            <a:ext cx="8375904" cy="312724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ProductoRepository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PDO $db;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__construct(PDO $connection)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$this-&gt;db = $connection;  // Inyección de dependencia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READ – Listar productos con filtro opcional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findAll(int $categoriaId = null): array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$sql = "SELECT p.*, c.nombre AS categoria FROM producto p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JOIN categoria c ON p.id_categoria=c.id_categoria WHERE p.activo=1";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$params = [];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($categoriaId !== null)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$sql .= " AND p.id_categoria = :cat";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$params[':cat'] = $categoriaId;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$sql .= " ORDER BY p.nombre";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$stmt = $this-&gt;db-&gt;prepare($sql);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$stmt-&gt;execute($params);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$stmt-&gt;fetchAll();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CREATE – Insertar con validación y transacción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create(array $data): int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$this-&gt;db-&gt;beginTransaction();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$stmt = $this-&gt;db-&gt;prepare(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"INSERT INTO producto (nombre, precio, stock, id_categoria) VALUES (:nombre, :precio, :stock, :cat)"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$stmt-&gt;execute([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':nombre' =&gt; trim($data['nombre']),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':precio' =&gt; floatval($data['precio']),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':stock'  =&gt; intval($data['stock']),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':cat'    =&gt; intval($data['id_categoria']),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$newId = (int)$this-&gt;db-&gt;lastInsertId();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Log de auditoría dentro de la misma transacción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$this-&gt;db-&gt;prepare("INSERT INTO log_producto (id_prod, accion, fecha) VALUES (?,?,NOW())")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-&gt;execute([$newId, 'CREATE']);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$this-&gt;db-&gt;commit();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$newId;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catch (Exception $e)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$this-&gt;db-&gt;rollBack();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$e;  // Reenviar excepción al controlador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UPDATE – Soft delete (marcar inactivo en lugar de eliminar)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softDelete(int $id): bool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(bool)$this-&gt;db-&gt;prepare("UPDATE producto SET activo=0 WHERE id_producto=:id")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-&gt;execute([':id' =&gt; $id]);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del repositorio: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$repo = new ProductoRepository($pdo);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$productos = $repo-&gt;findAll(categoriaId: 1);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$nuevoId   = $repo-&gt;create(['nombre'=&gt;'Café 500g', 'precio'=&gt;18500, 'stock'=&gt;100, 'id_categoria'=&gt;1]);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Programación Orientada a Objetos en Bases de Datos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BD relacionales modernas (MariaDB, PostgreSQL) incorporan características de POO: abstracción, encapsulamiento, herencia y polimorfismo aplicados al manejo de datos.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444752"/>
            <a:ext cx="4206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4206240" cy="38404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47472" y="14447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🎭  ABSTRACCIÓN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188366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(VIEW): ocultan complejidad. El usuario ve una 'tabla' simple que en realidad es una consulta compleja. También las funciones almacenadas.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651760"/>
            <a:ext cx="4023360" cy="310896"/>
          </a:xfrm>
          <a:prstGeom prst="rect">
            <a:avLst/>
          </a:prstGeom>
          <a:solidFill>
            <a:srgbClr val="0D47A1">
              <a:alpha val="12000"/>
            </a:srgbClr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20624" y="267004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v_resumen_ventas AS SELECT …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90872" y="1444752"/>
            <a:ext cx="4206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690872" y="1444752"/>
            <a:ext cx="4206240" cy="384048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782312" y="14447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ENCAPSULAMIENTO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82312" y="188366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y FUNCIONES: encapsulan lógica de negocio en la BD. El consumidor solo invoca el nombre sin conocer la implementación.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82312" y="2651760"/>
            <a:ext cx="4023360" cy="310896"/>
          </a:xfrm>
          <a:prstGeom prst="rect">
            <a:avLst/>
          </a:prstGeom>
          <a:solidFill>
            <a:srgbClr val="004D40">
              <a:alpha val="12000"/>
            </a:srgbClr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55464" y="267004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sp_procesar_pago(id_orden, monto)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163824"/>
            <a:ext cx="4206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56032" y="3163824"/>
            <a:ext cx="420624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47472" y="31638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🧬  HERENCIA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360273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Simulada con tablas padre-hijo (FK + tabla base + tablas especializadas). También con herencia de privilegios via ROLE en usuarios.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370832"/>
            <a:ext cx="4023360" cy="310896"/>
          </a:xfrm>
          <a:prstGeom prst="rect">
            <a:avLst/>
          </a:prstGeom>
          <a:solidFill>
            <a:srgbClr val="1A237E">
              <a:alpha val="12000"/>
            </a:srgbClr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20624" y="43891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 usuario → TABLA cliente, empleado, admin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3163824"/>
            <a:ext cx="4206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4A148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690872" y="3163824"/>
            <a:ext cx="4206240" cy="38404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782312" y="31638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🔀  POLIMORFISMO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82312" y="360273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SOBRECARGADAS: misma función con diferentes parámetros. También TRIGGERS que reaccionan diferente según el evento (INSERT/UPDATE/DELETE).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82312" y="4370832"/>
            <a:ext cx="4023360" cy="310896"/>
          </a:xfrm>
          <a:prstGeom prst="rect">
            <a:avLst/>
          </a:prstGeom>
          <a:solidFill>
            <a:srgbClr val="4A148C">
              <a:alpha val="12000"/>
            </a:srgbClr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55464" y="43891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que audita diferente según accion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 en BD – Abstracción: Vistas y Funciones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abstracción oculta la complejidad. Las VISTAS exponen una interfaz simple; las FUNCIONES encapsulan cálculos reutilizables.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8595360" cy="1170432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5331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– Abstracción de JOIN complejo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72768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VISTA: Abstrae un JOIN complejo en una "tabla" simple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v_detalle_ventas AS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o.id_orden, c.nombre AS cliente, p.nombre AS producto,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d.cantidad, d.precio_unit, d.cantidad*d.precio_unit AS subtotal,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o.fecha, o.estado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orden o JOIN cliente c ON o.id_cliente=c.id_cliente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detalle_orden d ON o.id_orden=d.id_orden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producto p ON d.id_producto=p.id_producto;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Ahora cualquier usuario puede hacer: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v_detalle_ventas WHERE cliente='Ana García' ORDER BY fecha DESC;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8595360" cy="1060704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263347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– Abstracción de cálculo de IVA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852928"/>
            <a:ext cx="8375904" cy="694944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FUNCIÓN almacenada: Abstrae un cálculo de negocio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//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FUNCTION fn_precio_con_iva(precio DECIMAL(12,2), pct_iva DECIMAL(5,2))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DECIMAL(12,2) DETERMINISTIC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ROUND(precio * (1 + pct_iva / 100), 2);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Uso transparente en cualquier SELECT: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precio, fn_precio_con_iva(precio, 19) AS precio_iva FROM producto;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8595360" cy="969264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84048" y="380390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seguridad – Ocultar columnas sensibles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4023360"/>
            <a:ext cx="8375904" cy="626461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VISTA con seguridad: Muestra solo columnas permitidas (abstracción + seguridad)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v_empleados_publico AS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nombre, apellido, cargo, departamento FROM empleado;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El rol 'rrhh_lector' solo puede SELECT en v_empleados_publico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Nunca ve: salario, datos_bancarios, contraseña_acceso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empresa.v_empleados_publico TO 'rrhh_lector'@'localhost';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 en BD – Encapsulamiento: Stored Procedures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Stored Procedures encapsulan lógica de negocio compleja dentro de la BD. La aplicación solo invoca el procedimiento sin conocer su implementación.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8595360" cy="341985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5331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– Encapsulamiento completo de lógica de venta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72768"/>
            <a:ext cx="8375904" cy="3054096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//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sp_procesar_venta(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  p_cliente  INT,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  p_producto INT,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  p_cantidad INT,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p_resultado VARCHAR(100)   -- Parámetro de salida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DECLARE v_stock     INT DEFAULT 0;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DECLARE v_precio    DECIMAL(12,2) DEFAULT 0;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DECLARE v_id_orden  INT DEFAULT 0;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Manejador de errores: ROLLBACK automático ante excepción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DECLARE EXIT HANDLER FOR SQLEXCEPTION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BEGIN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ROLLBACK;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 p_resultado = 'ERROR: Transacción revertida';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Encapsulamiento: toda la lógica de negocio dentro del SP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TRANSACTION;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-- 1. Verificar stock disponible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stock, precio INTO v_stock, v_precio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producto WHERE id_producto = p_producto FOR UPDATE;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v_stock &lt; p_cantidad THEN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SIGNAL SQLSTATE '45000' SET MESSAGE_TEXT = 'Stock insuficiente';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-- 2. Crear la orden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INTO orden (fecha, estado, id_cliente) VALUES (NOW(), 'pendiente', p_cliente);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v_id_orden = LAST_INSERT_ID();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-- 3. Registrar el detalle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INTO detalle_orden (id_orden, id_producto, cantidad, precio_unit)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(v_id_orden, p_producto, p_cantidad, v_precio);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-- 4. Actualizar stock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producto SET stock = stock - p_cantidad WHERE id_producto = p_producto;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COMMIT;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p_resultado = CONCAT('OK: Orden #', v_id_orden, ' creada exitosamente');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Invocación desde SQL interactivo: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sp_procesar_venta(1, 5, 3, @resultado);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@resultado;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Invocación desde PHP (SQL inmerso):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$stmt = $pdo-&gt;prepare("CALL sp_procesar_venta(?,?,?,@res)");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$stmt-&gt;execute([$clienteId, $prodId, $cant]);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 en BD – Herencia: Jerarquía de Tablas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BD relacionales no tienen herencia nativa, pero se puede simular con tres patrones: tabla única, tabla por tipo y tabla por jerarquía.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8595360" cy="23774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20624" y="133502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Patrón 1: Table Per Type (TPT) – Una tabla base + tablas especializadas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09344"/>
            <a:ext cx="8595360" cy="138988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84048" y="166420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TPT – Tabla por tipo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1883664"/>
            <a:ext cx="8375904" cy="102412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Tabla BASE (superclase): atributos comunes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persona 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id_persona INT AUTO_INCREMENT PRIMARY KEY,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VARCHAR(80) NOT NULL, email VARCHAR(120) UNIQUE,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tipo ENUM('cliente','empleado','proveedor') NOT NULL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Tablas ESPECIALIZADAS (subclases): atributos propios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cliente 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id_persona INT PRIMARY KEY,     -- Misma PK que persona (1:1)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fecha_registro DATE,  limite_credito DECIMAL(12,2),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(id_persona) REFERENCES persona(id_persona) ON DELETE CASCADE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empleado 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id_persona INT PRIMARY KEY,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cargo VARCHAR(60),  salario DECIMAL(12,2),  fecha_ingreso DATE,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(id_persona) REFERENCES persona(id_persona) ON DELETE CASCADE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274320" y="3090672"/>
            <a:ext cx="8595360" cy="23774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20624" y="31089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Patrón 2: Single Table Inheritance (STI) – Todo en una tabla con discriminador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859536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84048" y="343814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STI – Tabla única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3657600"/>
            <a:ext cx="8375904" cy="621792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persona 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id_persona INT AUTO_INCREMENT PRIMARY KEY,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tipo ENUM('cliente','empleado') NOT NULL,  -- Discriminador (como en POO)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VARCHAR(80) NOT NULL, email VARCHAR(120),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Cols de Cliente:  limite_credito DECIMAL(12,2) NULL,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Cols de Empleado: cargo VARCHAR(60) NULL, salario DECIMAL(12,2) NULL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Ventaja: un solo JOIN. Desventaja: muchos NULLs para columnas no aplican.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4480560"/>
            <a:ext cx="8595360" cy="256032"/>
          </a:xfrm>
          <a:prstGeom prst="rect">
            <a:avLst/>
          </a:prstGeom>
          <a:solidFill>
            <a:srgbClr val="00BFA5">
              <a:alpha val="18000"/>
            </a:srgbClr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20624" y="449884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TPT es el patrón preferido: mejor integridad, sin NULLs. STI es más simple pero genera NULLs para columnas de subtipos distintos.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 en BD – Polimorfismo: Triggers y Funciones Sobrecargadas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polimorfismo en BD se manifiesta en triggers que reaccionan diferente según el evento, y en funciones que se comportan diferente según los tipos de parámetros.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6"/>
            <a:ext cx="4096512" cy="3575304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5331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polimórficos – INSERT/UPDATE/DELETE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72767"/>
            <a:ext cx="3986784" cy="3248003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/>
          <a:lstStyle/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polimórfico: mismo propósito,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comportamiento diferente por evento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//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AFTER INSERT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tg_after_insert_prod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ON producto FOR EACH ROW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INTO audit_producto (accion,id_prod,datos,usuario,fecha)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('INSERT', NEW.id_producto,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JSON_OBJECT('nombre',NEW.nombre,'precio',NEW.precio),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USER(), NOW());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AFTER UPDATE (mismo objetivo, distinto comportamiento)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tg_after_update_prod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UPDATE ON producto FOR EACH ROW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INTO audit_producto (accion,id_prod,datos,usuario,fecha)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('UPDATE', NEW.id_producto,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JSON_OBJECT(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'precio_antes',OLD.precio,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'precio_ahora',NEW.precio,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'nombre_antes',OLD.nombre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 USER(), NOW());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BEFORE DELETE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tg_before_delete_prod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DELETE ON producto FOR EACH ROW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OLD.activo = 1 THEN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SIGNAL SQLSTATE '45000'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 MESSAGE_TEXT='No eliminar prod. activo';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4663440" y="1298447"/>
            <a:ext cx="4206240" cy="3575303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773168" y="135331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polimórficas – Descuento por tipo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572768"/>
            <a:ext cx="4005072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FUNCIONES con comportamiento "polimórfico"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misma firma, diferentes tipos de entrada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//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Función para calcular descuento por tipo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FUNCTION fn_calcular_descuento(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precio      DECIMAL(12,2),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tipo_cliente ENUM('regular','premium','vip')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RETURNS DECIMAL(12,2) DETERMINISTIC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DECLARE v_pct DECIMAL(5,2);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Polimorfismo: comportamiento según tipo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v_pct = CASE tipo_cliente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'regular' THEN 0.00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'premium' THEN 5.00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'vip'     THEN 15.00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0.00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ROUND(precio * (1 - v_pct/100), 2);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Resultado según tipo de cliente: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fn_calcular_descuento(100000, 'regular') → 100000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fn_calcular_descuento(100000, 'premium') → 95000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fn_calcular_descuento(100000, 'vip')     → 85000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precio,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fn_calcular_descuento(precio, tipo_cliente) AS precio_final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producto p JOIN cliente c ON c.tipo_cliente = c.tipo_cliente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c.id_cliente = 1;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3 – Sistema Completo con POO en MariaDB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bancario que combina los 4 pilares de POO en BD: abstracción, encapsulamiento, herencia y polimorfismo.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358444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1673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Bancario – Los 4 pilares de POO en MariaDB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36192"/>
            <a:ext cx="8375904" cy="321868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══ HERENCIA: Tabla jerarquía de cuentas ══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cuenta_base (id_cuenta INT AUTO_INCREMENT PRIMARY KEY,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numero_cuenta VARCHAR(20) UNIQUE, saldo DECIMAL(15,2) DEFAULT 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tipo ENUM('corriente','ahorro','plazo') NOT NULL, id_cliente INT NOT NULL,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KEY(id_cliente) REFERENCES cliente(id_cliente)) ENGINE=InnoDB;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cuenta_corriente (id_cuenta INT PRIMARY KEY, limite_sobregiro DECIMAL(12,2),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KEY(id_cuenta) REFERENCES cuenta_base(id_cuenta) ON DELETE CASCADE) ENGINE=InnoDB;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cuenta_ahorro   (id_cuenta INT PRIMARY KEY, tasa_interes DECIMAL(5,4),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KEY(id_cuenta) REFERENCES cuenta_base(id_cuenta) ON DELETE CASCADE) ENGINE=InnoDB;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══ ABSTRACCIÓN: Vista que une la jerarquía ══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v_cuentas AS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cb.*, 'Corriente' as tipo_detalle, cc.limite_sobregiro, NULL as tasa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cuenta_base cb JOIN cuenta_corriente cc USING(id_cuenta)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UNION ALL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cb.*, 'Ahorro', NULL, ca.tasa_interes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cuenta_base cb JOIN cuenta_ahorro ca USING(id_cuenta);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══ ENCAPSULAMIENTO: SP para transferencia ══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//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sp_transferir(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origen INT, IN destino INT, IN monto DECIMAL(15,2),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 resultado VARCHAR(100))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v_saldo_origen DECIMAL(15,2);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EXIT HANDLER FOR SQLEXCEPTION BEGIN ROLLBACK; SET resultado='ERROR'; END;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 TRANSACTION;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saldo INTO v_saldo_origen FROM cuenta_base WHERE id_cuenta=origen FOR UPDATE;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v_saldo_origen &lt; monto THEN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 SQLSTATE '45000' SET MESSAGE_TEXT='Saldo insuficiente';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cuenta_base SET saldo=saldo-monto WHERE id_cuenta=origen;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cuenta_base SET saldo=saldo+monto WHERE id_cuenta=destino;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movimiento(tipo,monto,id_origen,id_destino,fecha) VALUES('transferencia',monto,origen,destino,NOW());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COMMIT; SET resultado=CONCAT('OK: Transferencia de $',monto,' exitosa');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══ POLIMORFISMO: Trigger diferente por operación ══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tg_after_movimiento AFTER INSERT ON movimiento FOR EACH ROW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NEW.tipo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'deposito'       THEN UPDATE cuenta_base SET saldo=saldo+NEW.monto WHERE id_cuenta=NEW.id_destino;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'retiro'         THEN UPDATE cuenta_base SET saldo=saldo-NEW.monto WHERE id_cuenta=NEW.id_origen;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'transferencia'  THEN INSERT INTO notificacion(msg,id_cuenta) VALUES(CONCAT('Transferencia: $',NEW.monto),NEW.id_origen);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CASE;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4 – Comparativa: SQL Interactivo vs SQL Inmerso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Mismo objetivo (buscar productos), implementado de dos formas distintas según el contexto de uso.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60520" cy="237744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20624" y="12984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SQL INTERACTIVO (phpMyAdmin / CLI)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72768"/>
            <a:ext cx="4160520" cy="195681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84048" y="1664208"/>
            <a:ext cx="394106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Análisis puntual: ¿qué productos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tienen stock crítico?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p.nombre, p.stock,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c.nombre AS categoria,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p.precio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producto p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categoria c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p.id_categoria = c.id_categoria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p.stock &lt;= 10 AND p.activo = 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p.stock ASC;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Resultado inmediato en pantalla: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| Café 500g | 3 | Bebidas | 18500 |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| Azúcar 1kg| 8 | Alim.   |  4800 |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4160520" cy="23774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818888" y="12984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SQL INMERSO (PHP → Web App)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572768"/>
            <a:ext cx="4160520" cy="195681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773168" y="1664208"/>
            <a:ext cx="3941064" cy="1773936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Búsqueda dinámica del usuario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$term = $_GET['q'] ?? '';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 p.nombre, p.stock, p.precio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FROM producto 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p.nombre LIKE :term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p.activo = 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ORDER BY p.nombre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LIMIT 20"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':term' =&gt; '%'.$term.'%'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$productos = $stmt-&gt;fetchAll();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Resultado renderizado en HTML: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foreach($productos as $p)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"&lt;tr&gt;&lt;td&gt;{$p['nombre']}&lt;/td&gt;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&lt;td&gt;{$p['precio']}&lt;/td&gt;&lt;/tr&gt;";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621024"/>
            <a:ext cx="8595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277B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65760" y="3657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06624" y="3657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Interactivo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79008" y="3657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Inmerso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859536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65760" y="39502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06624" y="395020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(DBA/analista)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79008" y="395020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/ programa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133088"/>
            <a:ext cx="85953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65760" y="415137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06624" y="415137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Escritos manualmente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79008" y="415137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Tomados de inputs del usuario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334256"/>
            <a:ext cx="859536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65760" y="435254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06624" y="435254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Mostrado en interfaz SQL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79008" y="435254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 por el código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535424"/>
            <a:ext cx="85953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365760" y="455371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06624" y="455371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depuración, reportes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79008" y="455371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de la aplicación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Datos Avanzados en MariaDB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MariaDB soporta tipos de datos avanzados que habilitan características de POO y manejo moderno de información.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102412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1673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– Almacenamiento de objetos en MariaDB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36192"/>
            <a:ext cx="8375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JSON nativo (MariaDB 10.2+): almacenar objetos estructurados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producto ADD COLUMN atributos JSON;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producto SET atributos = '{"color":"rojo","talla":"M","material":"algodón"}' WHERE id_producto=1;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Consultar campo JSON con funciones nativas: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JSON_EXTRACT(atributos,'$.color') AS color,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JSON_VALUE(atributos,'$.talla') AS talla FROM producto WHERE id_producto=1;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395728"/>
            <a:ext cx="859536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245059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y SET – Tipos de valor controlado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670048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ENUM: Lista de valores válidos (similar a constantes de clase)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usuario ADD COLUMN rol ENUM('admin','editor','viewer','invitado') DEFAULT 'invitado';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SET: Múltiples valores (como un campo de bits)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empleado ADD COLUMN permisos SET('leer','escribir','borrar','administrar') DEFAULT 'leer';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permisos FROM empleado WHERE FIND_IN_SET('escribir', permisos);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3419856"/>
            <a:ext cx="859536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84048" y="347472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Virtuales – Derivadas automáticas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3694176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VIRTUAL COLUMNS (columnas generadas automáticamente)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producto ADD COLUMN precio_iva DECIMAL(12,2)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(ROUND(precio * 1.19, 2)) STORED;  -- STORED: calculada y guardada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persona ADD COLUMN nombre_completo VARCHAR(170)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(CONCAT(nombre, ' ', apellido)) VIRTUAL;  -- VIRTUAL: calculada en consulta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nombre_completo, precio_iva FROM producto JOIN persona ...;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274320" y="4443984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20624" y="447141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COLUMNS  </a:t>
            </a: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eliminan la necesidad de triggers para cálculos derivados simples. Las columnas VIRTUAL no ocupan espacio en disco; las STORED se almacenan y pueden indexarse.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 – SQL, Inmerso y POO en MariaDB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9184" y="8961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87782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Prepared Statements SIEMPRE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15214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Jamás concatenar inputs del usuario en SQL. Usar PDO/mysqli parámetros, mysql-connector, etc.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82296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64024" y="8961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800" y="87782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Usar VISTAS para abstracción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15214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JOINs complejos. Simplifica el código de la app y centraliza la lógica de presentación.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64592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29184" y="171907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170078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Encapsular en Stored Procedures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197510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compleja (pagos, transferencias, descuentos) debe vivir en la BD, no en la app.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164592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764024" y="171907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170078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Nombrar con convención clara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97510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 para procedures, fn_ para funciones, tg_ para triggers, v_ para vistas. Documenta parámetros.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46888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29184" y="254203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Optimizar EXPLAIN ANALYZE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279806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poner en producción: EXPLAIN SELECT... para verificar que usa índices. Sin full scan.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246888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764024" y="254203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57800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Transacciones en operaciones compuestas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279806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operación que toque 2+ tablas relacionadas debe ir en START TRANSACTION ... COMMIT.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29184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29184" y="336499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2960" y="33467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Charset utf8mb4 en todo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362102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y tablas con utf8mb4. Conexión PHP/Python también debe especificar charset.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90872" y="329184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764024" y="336499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257800" y="33467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Probar Triggers con cuidado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362102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triggers ejecutan implícitamente. Probar en BD de desarrollo antes de producción.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11480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329184" y="41879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22960" y="416966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antes de indexar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444398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crear índices 'por si acaso'. EXPLAIN revela qué columnas necesitan índice realmente.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90872" y="411480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4764024" y="41879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257800" y="416966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Vistas con seguridad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444398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vistas que expongan solo columnas necesarias. GRANT SELECT a vistas, no a tablas directas.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– SQL, Embedded y POO en BD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6400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20624" y="877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SQL Injection por concatenación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" y="117043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$sql = 'SELECT * FROM users WHERE id='.$_GET['id'] → Vulnerabilidad crítica. Prepared Statements siempre.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8229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690872" y="822960"/>
            <a:ext cx="6400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855464" y="877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Stored Procedure sin manejo de errores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55464" y="117043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SP sin DECLARE EXIT HANDLER deja la BD en estado inconsistente si falla. Siempre incluir el manejador.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84708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56032" y="1847088"/>
            <a:ext cx="6400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20624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Trigger que genera cascadas infinitas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" y="219456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TRIGGER que hace UPDATE y ese UPDATE activa otro TRIGGER que vuelve a hacer UPDATE → bucle infinito.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184708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690872" y="1847088"/>
            <a:ext cx="6400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55464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Vista sobre vista (múltiples capas)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5464" y="219456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Vista1 → Vista2 → Vista3 → tabla. El optimizer pierde eficiencia. Máximo 2 niveles de vistas encadenadas.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87121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256032" y="2871216"/>
            <a:ext cx="6400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20624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Lógica de negocio duplicada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" y="321868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regla de descuento en la app Y en el SP. Al cambiar la regla, hay que actualizar en 2 lugares → inconsistencia.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287121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690872" y="2871216"/>
            <a:ext cx="6400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855464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JSON sin índice en campos consultados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55464" y="321868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JSON_EXTRACT en WHERE sin índice generado = full table scan en cada consulta. Crear GENERATED COLUMN + INDEX.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89534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256032" y="3895344"/>
            <a:ext cx="6400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20624" y="3950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ENUM sin migración al ampliar valores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" y="424281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para agregar un valor al ENUM en una tabla grande puede bloquear toda la tabla en producción.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90872" y="389534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4690872" y="3895344"/>
            <a:ext cx="6400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4855464" y="3950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Conectar a BD como root en producción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55464" y="424281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de producción NUNCA debe conectarse como root. Crear usuario con solo los privilegios necesarios.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13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TALLER PRÁCTICO – Sesión 10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8412480" cy="585216"/>
          </a:xfrm>
          <a:prstGeom prst="rect">
            <a:avLst/>
          </a:prstGeom>
          <a:solidFill>
            <a:srgbClr val="0B1F3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78638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🏦  Caso: </a:t>
            </a: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Gestión de una Cooperativa de Ahorro y Crédito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950976"/>
          </a:xfrm>
          <a:prstGeom prst="rect">
            <a:avLst/>
          </a:prstGeom>
          <a:solidFill>
            <a:srgbClr val="1A2C42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8229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cooperativa maneja socios, cuentas de ahorro, préstamos y pagos de cuotas. Los socios tienen una categoría (regular, preferencial, VIP). Las cuentas tienen diferentes tipos y tasas. Los préstamos calculan interés automáticamente. Se debe auditar todos los movimientos y encapsular la lógica de cobro en stored procedures.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871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Actividades (2 horas — en parejas):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79776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02920" y="27980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</a:t>
            </a:r>
            <a:r>
              <a:rPr lang="en-US" sz="10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BD cooperativa en MariaDB/XAMPP con tablas para socios, cuentas (TPT herencia), préstamos y cuotas.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54096"/>
            <a:ext cx="8412480" cy="237744"/>
          </a:xfrm>
          <a:prstGeom prst="rect">
            <a:avLst/>
          </a:prstGeom>
          <a:solidFill>
            <a:srgbClr val="0B1F3A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</a:t>
            </a:r>
            <a:r>
              <a:rPr lang="en-US" sz="10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VISTA v_resumen_socio que abstraiga el saldo, deudas y cuotas pendientes de cada socio.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33467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</a:t>
            </a:r>
            <a:r>
              <a:rPr lang="en-US" sz="10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fn_calcular_interes(monto, tasa, meses) que encapsule el cálculo de interés compuesto.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02736"/>
            <a:ext cx="8412480" cy="237744"/>
          </a:xfrm>
          <a:prstGeom prst="rect">
            <a:avLst/>
          </a:prstGeom>
          <a:solidFill>
            <a:srgbClr val="0B1F3A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36210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</a:t>
            </a:r>
            <a:r>
              <a:rPr lang="en-US" sz="10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 sp_pagar_cuota(id_prestamo, monto) que registre el pago y actualice el saldo, con transacción.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02920" y="38953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</a:t>
            </a:r>
            <a:r>
              <a:rPr lang="en-US" sz="10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polimórficos para auditar INSERT, UPDATE y DELETE en la tabla socio.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151376"/>
            <a:ext cx="8412480" cy="237744"/>
          </a:xfrm>
          <a:prstGeom prst="rect">
            <a:avLst/>
          </a:prstGeom>
          <a:solidFill>
            <a:srgbClr val="0B1F3A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02920" y="41696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</a:t>
            </a:r>
            <a:r>
              <a:rPr lang="en-US" sz="10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PHP con PDO: listar socios con sus saldos usando SQL inmerso y prepared statements.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425696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44439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</a:t>
            </a:r>
            <a:r>
              <a:rPr lang="en-US" sz="10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herencia para cuentas: tabla base cuenta + cuenta_ahorro y cuenta_corriente especializadas.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Taller10_Apellido.sql + taller10.php + capturas phpMyAdmin.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Referencia Rápida – SQL + POO en MariaDB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2816352" cy="310896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9184" y="8046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115568"/>
            <a:ext cx="281635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29184" y="11521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/ DATABASE / VIEW / INDEX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517904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29184" y="1554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(ADD/MODIFY/DROP COLUMN)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1920240"/>
            <a:ext cx="281635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9184" y="19568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PROCEDURE / FUNCTION / TRIGGER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322576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29184" y="23591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/ VIEW / PROCEDURE / TRIGGER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804672"/>
            <a:ext cx="2816352" cy="310896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73552" y="8046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DML Avanzado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1115568"/>
            <a:ext cx="281635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273552" y="11521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... WITH (CTE) / WINDOW FUNCTIONS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1517904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273552" y="1554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... SELECT / ON DUPLICATE KEY UPDATE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1920240"/>
            <a:ext cx="281635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273552" y="19568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... JOIN / DELETE ... JOIN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2322576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273552" y="23591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SELECT ... (análisis de query)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44768" y="804672"/>
            <a:ext cx="2816352" cy="31089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217920" y="8046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 – Abstracción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44768" y="1115568"/>
            <a:ext cx="281635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217920" y="11521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 nombre AS SELECT ...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44768" y="1517904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6217920" y="1554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FUNCTION fn_nombre(...) RETURNS tipo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44768" y="1920240"/>
            <a:ext cx="281635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217920" y="19568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COLUMNS (VIRTUAL / STORED)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44768" y="2322576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6217920" y="23591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CREATE VIEW / PROCEDURE nombre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852928"/>
            <a:ext cx="2816352" cy="31089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329184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 – Encapsulamiento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6032" y="3163824"/>
            <a:ext cx="281635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329184" y="3200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PROCEDURE sp_nombre(IN/OUT params)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" y="3566160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329184" y="36027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// ... END // DELIMITER ;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6032" y="3968496"/>
            <a:ext cx="281635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329184" y="4005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sp_nombre(args); / SELECT fn_()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" y="4370832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329184" y="4407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HANDLER FOR SQLEXCEPTION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0" y="2852928"/>
            <a:ext cx="2816352" cy="31089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3273552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 – Polimorfismo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200400" y="3163824"/>
            <a:ext cx="281635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3273552" y="3200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TRIGGER tg_nombre AFTER INSERT ON ...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0" y="3566160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3273552" y="36027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ROW BEGIN ... END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0" y="3968496"/>
            <a:ext cx="281635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3273552" y="4005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NEW.campo / OLD.campo (triggers)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0" y="4370832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3273552" y="4407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SQLSTATE '45000' SET MESSAGE_TEXT=...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44768" y="2852928"/>
            <a:ext cx="2816352" cy="310896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6217920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Inmerso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144768" y="3163824"/>
            <a:ext cx="281635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6217920" y="3200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PHP: $pdo-&gt;prepare($sql); $stmt-&gt;execute([$p])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44768" y="3566160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6217920" y="36027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PHP: beginTransaction() / commit() / rollBack()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44768" y="3968496"/>
            <a:ext cx="281635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6217920" y="4005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cursor.execute(sql, (param,))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44768" y="4370832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6217920" y="4407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conn.execute(sql, [param])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5 – JSON + Columnas Virtuales + Índices Generados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SGBD – SQL · POO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catálogo de productos con atributos variables por categoría, indexados para búsqueda eficiente.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358444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1673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Columnas Virtuales + Índices Generados en MariaDB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36192"/>
            <a:ext cx="837590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producto 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id_producto  INT AUTO_INCREMENT PRIMARY KEY,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    VARCHAR(100) NOT NULL,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precio       DECIMAL(12,2) NOT NULL,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atributos    JSON,          -- Almacena características variables por categoría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Columnas virtuales derivadas de JSON (para facilitar búsqueda y visualización):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        VARCHAR(30)  AS (JSON_UNQUOTE(JSON_EXTRACT(atributos,'$.color')))    VIRTUAL,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talla        VARCHAR(10)  AS (JSON_UNQUOTE(JSON_EXTRACT(atributos,'$.talla')))    VIRTUAL,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peso_kg      DECIMAL(8,2) AS (JSON_EXTRACT(atributos,'$.peso_kg'))                STORED,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precio_iva   DECIMAL(12,2) AS (ROUND(precio * 1.19, 2))                          STORED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Crear índice en columna virtual STORED (para búsqueda rápida por color)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idx_color ON producto(color);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Insertar productos con atributos JSON por categoría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producto (nombre, precio, atributos) VALUES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('Camisa Polo', 89000, '{"color":"azul","talla":"M","material":"algodón","peso_kg":0.3}'),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('Laptop HP',  2490000, '{"ram":"16GB","almacenamiento":"512GB SSD","peso_kg":1.8}'),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('Café 500g',   18500, '{"origen":"Colombia","tueste":"medio","peso_kg":0.5}');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Consultar por columna virtual (usa índice si es STORED):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precio, precio_iva, color, talla, peso_kg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producto WHERE color = 'azul';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Buscar en JSON directamente: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JSON_VALUE(atributos, '$.ram') AS ram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producto WHERE JSON_VALUE(atributos, '$.peso_kg') &gt; 1.0;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Actualizar un campo específico del JSON: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producto SET atributos = JSON_SET(atributos, '$.color', 'rojo') WHERE id_producto = 1;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Verificar la estructura del JSON almacenado: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JSON_PRETTY(atributos) AS atributos_formateados FROM producto WHERE id_producto = 1;</a:t>
            </a: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75488" y="0"/>
            <a:ext cx="164592" cy="51435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868680" y="1645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937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aprendiste en la Sesión 10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969264"/>
            <a:ext cx="3200400" cy="457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68680" y="1170432"/>
            <a:ext cx="4023360" cy="1078992"/>
          </a:xfrm>
          <a:prstGeom prst="rect">
            <a:avLst/>
          </a:prstGeom>
          <a:solidFill>
            <a:srgbClr val="0B1F3A">
              <a:alpha val="75000"/>
            </a:srgbClr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68680" y="117043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6868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2618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SGBD y 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157276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como SGBD, SQL categorías: DDL, DML, DCL, TCL.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170432"/>
            <a:ext cx="4023360" cy="1078992"/>
          </a:xfrm>
          <a:prstGeom prst="rect">
            <a:avLst/>
          </a:prstGeom>
          <a:solidFill>
            <a:srgbClr val="0B1F3A">
              <a:alpha val="75000"/>
            </a:srgbClr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074920" y="117043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7492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2618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Interactivo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57276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phpMyAdmin, CLI, CTEs, funciones de ventana ad-hoc.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2359152"/>
            <a:ext cx="4023360" cy="1078992"/>
          </a:xfrm>
          <a:prstGeom prst="rect">
            <a:avLst/>
          </a:prstGeom>
          <a:solidFill>
            <a:srgbClr val="0B1F3A">
              <a:alpha val="75000"/>
            </a:srgbClr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868680" y="235915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68680" y="23591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24505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Inmerso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276148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PDO, Python, Node.js con prepared statements seguros.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2359152"/>
            <a:ext cx="4023360" cy="1078992"/>
          </a:xfrm>
          <a:prstGeom prst="rect">
            <a:avLst/>
          </a:prstGeom>
          <a:solidFill>
            <a:srgbClr val="0B1F3A">
              <a:alpha val="75000"/>
            </a:srgbClr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074920" y="235915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74920" y="23591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24505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Abstracción (POO)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276148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y FUNCIONES que ocultan complejidad.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" y="3547872"/>
            <a:ext cx="4023360" cy="1078992"/>
          </a:xfrm>
          <a:prstGeom prst="rect">
            <a:avLst/>
          </a:prstGeom>
          <a:solidFill>
            <a:srgbClr val="0B1F3A">
              <a:alpha val="75000"/>
            </a:srgbClr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868680" y="354787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868680" y="354787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Encapsulamiento (POO)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395020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con lógica de negocio protegida.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3547872"/>
            <a:ext cx="4023360" cy="1078992"/>
          </a:xfrm>
          <a:prstGeom prst="rect">
            <a:avLst/>
          </a:prstGeom>
          <a:solidFill>
            <a:srgbClr val="0B1F3A">
              <a:alpha val="75000"/>
            </a:srgbClr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5074920" y="354787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5074920" y="354787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Herencia y Polimorfismo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0" y="395020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TPT para jerarquías. TRIGGERS por evento (AFTER INSERT/UPDATE/DELETE).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SQL Avanzado – Optimización, Índices, Particionamiento y Replicación en MariaDB.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8337</Words>
  <Application>Microsoft Office PowerPoint</Application>
  <PresentationFormat>Presentación en pantalla (16:9)</PresentationFormat>
  <Paragraphs>916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10 – Sistema de Gestión de Base de Datos</dc:title>
  <dc:subject>PptxGenJS Presentation</dc:subject>
  <dc:creator>PptxGenJS</dc:creator>
  <cp:lastModifiedBy>Sergio Alejandro Burbano Mena</cp:lastModifiedBy>
  <cp:revision>3</cp:revision>
  <dcterms:created xsi:type="dcterms:W3CDTF">2026-04-12T18:25:19Z</dcterms:created>
  <dcterms:modified xsi:type="dcterms:W3CDTF">2026-04-17T20:41:13Z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dff26-5887-4e5c-8426-6e404c233df0_Enabled">
    <vt:lpwstr>true</vt:lpwstr>
  </property>
  <property fmtid="{D5CDD505-2E9C-101B-9397-08002B2CF9AE}" pid="3" name="MSIP_Label_71bdff26-5887-4e5c-8426-6e404c233df0_SetDate">
    <vt:lpwstr>2026-04-17T20:41:12Z</vt:lpwstr>
  </property>
  <property fmtid="{D5CDD505-2E9C-101B-9397-08002B2CF9AE}" pid="4" name="MSIP_Label_71bdff26-5887-4e5c-8426-6e404c233df0_Method">
    <vt:lpwstr>Standard</vt:lpwstr>
  </property>
  <property fmtid="{D5CDD505-2E9C-101B-9397-08002B2CF9AE}" pid="5" name="MSIP_Label_71bdff26-5887-4e5c-8426-6e404c233df0_Name">
    <vt:lpwstr>71bdff26-5887-4e5c-8426-6e404c233df0</vt:lpwstr>
  </property>
  <property fmtid="{D5CDD505-2E9C-101B-9397-08002B2CF9AE}" pid="6" name="MSIP_Label_71bdff26-5887-4e5c-8426-6e404c233df0_SiteId">
    <vt:lpwstr>b5e244bd-c492-495b-8b10-61bfd453e423</vt:lpwstr>
  </property>
  <property fmtid="{D5CDD505-2E9C-101B-9397-08002B2CF9AE}" pid="7" name="MSIP_Label_71bdff26-5887-4e5c-8426-6e404c233df0_ActionId">
    <vt:lpwstr>4abc088c-7eb3-45ee-a3a2-51b36fbe0d41</vt:lpwstr>
  </property>
  <property fmtid="{D5CDD505-2E9C-101B-9397-08002B2CF9AE}" pid="8" name="MSIP_Label_71bdff26-5887-4e5c-8426-6e404c233df0_ContentBits">
    <vt:lpwstr>0</vt:lpwstr>
  </property>
  <property fmtid="{D5CDD505-2E9C-101B-9397-08002B2CF9AE}" pid="9" name="MSIP_Label_71bdff26-5887-4e5c-8426-6e404c233df0_Tag">
    <vt:lpwstr>10, 3, 0, 1</vt:lpwstr>
  </property>
</Properties>
</file>