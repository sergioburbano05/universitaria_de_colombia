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7" d="100"/>
          <a:sy n="147" d="100"/>
        </p:scale>
        <p:origin x="56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42726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" cy="514350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475488" y="0"/>
            <a:ext cx="164592" cy="5143500"/>
          </a:xfrm>
          <a:prstGeom prst="rect">
            <a:avLst/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868680" y="658368"/>
            <a:ext cx="3474720" cy="402336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868680" y="658368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131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SESIÓN 10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1170432"/>
            <a:ext cx="82296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Sistema de Gestión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 Bases de Datos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868680" y="2761488"/>
            <a:ext cx="5029200" cy="45720"/>
          </a:xfrm>
          <a:prstGeom prst="rect">
            <a:avLst/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868680" y="2889504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BFA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Estructurado  ·  </a:t>
            </a:r>
            <a:r>
              <a:rPr lang="en-US" sz="1400" dirty="0">
                <a:solidFill>
                  <a:srgbClr val="B3D9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Interactivo/Inmerso  ·  </a:t>
            </a:r>
            <a:r>
              <a:rPr lang="en-US" sz="14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Características POO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3364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Mg. Sergio Alejandro Burbano Mena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363931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Lenguajes de Última Generación  |  Ing. Sistemas – 4.° Semestre  |  Universitaria de Colombia  |  2025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8680" y="4041648"/>
            <a:ext cx="8229600" cy="749808"/>
          </a:xfrm>
          <a:prstGeom prst="rect">
            <a:avLst/>
          </a:prstGeom>
          <a:solidFill>
            <a:srgbClr val="0B1F3A"/>
          </a:solidFill>
          <a:ln w="12700">
            <a:solidFill>
              <a:srgbClr val="0D47A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1024128" y="4078224"/>
            <a:ext cx="7973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</a:t>
            </a:r>
            <a:r>
              <a:rPr lang="en-US" sz="1050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Comprender el lenguaje SQL en profundidad, diferenciar el SQL interactivo del inmerso, e identificar las características de programación orientada a objetos aplicadas en sistemas de gestión de bases de datos con MariaDB/XAMPP.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06640" y="182880"/>
            <a:ext cx="1828800" cy="1828800"/>
          </a:xfrm>
          <a:prstGeom prst="ellipse">
            <a:avLst/>
          </a:prstGeom>
          <a:solidFill>
            <a:srgbClr val="0D47A1">
              <a:alpha val="20000"/>
            </a:srgbClr>
          </a:solidFill>
          <a:ln w="12700">
            <a:solidFill>
              <a:srgbClr val="0D47A1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F5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29184" y="0"/>
            <a:ext cx="8631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Agenda de la Sesión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SGBD – SQL · POO  |  MariaDB/XAMPP  |  Ing. Sistemas – 4.° Sem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092440" y="4910328"/>
            <a:ext cx="8229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804672"/>
            <a:ext cx="420624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0277BD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256032" y="804672"/>
            <a:ext cx="621792" cy="1243584"/>
          </a:xfrm>
          <a:prstGeom prst="rect">
            <a:avLst/>
          </a:prstGeom>
          <a:solidFill>
            <a:srgbClr val="0277BD"/>
          </a:solidFill>
          <a:ln w="12700">
            <a:solidFill>
              <a:srgbClr val="0277B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256032" y="804672"/>
            <a:ext cx="621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56032" y="1609344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10min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69264" y="877824"/>
            <a:ext cx="3401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¿Qué es un SGBD?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9264" y="1261872"/>
            <a:ext cx="3401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Arquitectura, componentes y rol del SGBD en el ecosistema.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90872" y="804672"/>
            <a:ext cx="420624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0D47A1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4690872" y="804672"/>
            <a:ext cx="621792" cy="1243584"/>
          </a:xfrm>
          <a:prstGeom prst="rect">
            <a:avLst/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4690872" y="804672"/>
            <a:ext cx="621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690872" y="1609344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20min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404104" y="877824"/>
            <a:ext cx="3401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Lenguaje SQL Estructurado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04104" y="1261872"/>
            <a:ext cx="3401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Historia, versiones, categorías DDL/DML/DCL/TCL y tipos de datos.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56032" y="2176272"/>
            <a:ext cx="420624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004D40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Shape 19"/>
          <p:cNvSpPr/>
          <p:nvPr/>
        </p:nvSpPr>
        <p:spPr>
          <a:xfrm>
            <a:off x="256032" y="2176272"/>
            <a:ext cx="621792" cy="1243584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20"/>
          <p:cNvSpPr/>
          <p:nvPr/>
        </p:nvSpPr>
        <p:spPr>
          <a:xfrm>
            <a:off x="256032" y="2176272"/>
            <a:ext cx="621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56032" y="2980944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20min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969264" y="2249424"/>
            <a:ext cx="3401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Interactivo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69264" y="2633472"/>
            <a:ext cx="3401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Ejecución en tiempo real: consola MariaDB y phpMyAdmin.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90872" y="2176272"/>
            <a:ext cx="420624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1A237E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7" name="Shape 25"/>
          <p:cNvSpPr/>
          <p:nvPr/>
        </p:nvSpPr>
        <p:spPr>
          <a:xfrm>
            <a:off x="4690872" y="2176272"/>
            <a:ext cx="621792" cy="1243584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Text 26"/>
          <p:cNvSpPr/>
          <p:nvPr/>
        </p:nvSpPr>
        <p:spPr>
          <a:xfrm>
            <a:off x="4690872" y="2176272"/>
            <a:ext cx="621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690872" y="2980944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20min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404104" y="2249424"/>
            <a:ext cx="3401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Inmerso (Embedded)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04104" y="2633472"/>
            <a:ext cx="3401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dentro de código de aplicación: PHP, Python, Node.js.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56032" y="3547872"/>
            <a:ext cx="420624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4A148C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3" name="Shape 31"/>
          <p:cNvSpPr/>
          <p:nvPr/>
        </p:nvSpPr>
        <p:spPr>
          <a:xfrm>
            <a:off x="256032" y="3547872"/>
            <a:ext cx="621792" cy="1243584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4" name="Text 32"/>
          <p:cNvSpPr/>
          <p:nvPr/>
        </p:nvSpPr>
        <p:spPr>
          <a:xfrm>
            <a:off x="256032" y="3547872"/>
            <a:ext cx="621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256032" y="4352544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20min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969264" y="3621024"/>
            <a:ext cx="3401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Características de POO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69264" y="4005072"/>
            <a:ext cx="3401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Abstracción, encapsulamiento, herencia y polimorfismo en SQL.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690872" y="3547872"/>
            <a:ext cx="420624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9" name="Shape 37"/>
          <p:cNvSpPr/>
          <p:nvPr/>
        </p:nvSpPr>
        <p:spPr>
          <a:xfrm>
            <a:off x="4690872" y="3547872"/>
            <a:ext cx="621792" cy="124358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0" name="Text 38"/>
          <p:cNvSpPr/>
          <p:nvPr/>
        </p:nvSpPr>
        <p:spPr>
          <a:xfrm>
            <a:off x="4690872" y="3547872"/>
            <a:ext cx="621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4690872" y="4352544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30min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404104" y="3621024"/>
            <a:ext cx="3401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Buenas Prácticas + Taller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404104" y="4005072"/>
            <a:ext cx="3401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y ejercicio práctico con MariaDB/XAMPP.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F5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0277BD"/>
          </a:solidFill>
          <a:ln w="12700">
            <a:solidFill>
              <a:srgbClr val="0277B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29184" y="0"/>
            <a:ext cx="8631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¿Qué es un Sistema de Gestión de Bases de Datos (SGBD)?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SGBD – SQL · POO  |  MariaDB/XAMPP  |  Ing. Sistemas – 4.° Sem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092440" y="4910328"/>
            <a:ext cx="8229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3/26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749808"/>
            <a:ext cx="8412480" cy="5486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502920" y="768096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SGBD: Software que actúa como intermediario entre los usuarios/aplicaciones y los datos almacenados, gestionando acceso, integridad, seguridad y concurrencia.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444752"/>
            <a:ext cx="8229600" cy="5120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566928" y="1444752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Aplicaciones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97680" y="1444752"/>
            <a:ext cx="4206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· Python · Java · Node.js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029968"/>
            <a:ext cx="7863840" cy="512064"/>
          </a:xfrm>
          <a:prstGeom prst="rect">
            <a:avLst/>
          </a:prstGeom>
          <a:solidFill>
            <a:srgbClr val="0277BD"/>
          </a:solidFill>
          <a:ln w="12700">
            <a:solidFill>
              <a:srgbClr val="0277BD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749808" y="2029968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(Interfaz)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480560" y="2029968"/>
            <a:ext cx="3840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DDL · DML · DCL · TCL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22960" y="2615184"/>
            <a:ext cx="7498080" cy="512064"/>
          </a:xfrm>
          <a:prstGeom prst="rect">
            <a:avLst/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932688" y="2615184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SGBD (MariaDB)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63440" y="2615184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Parser · Optimizer · Engine · Buffer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005840" y="3200400"/>
            <a:ext cx="7132320" cy="512064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1115568" y="3200400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Motor de Almacenamiento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46320" y="320040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InnoDB · MyISAM · Memory · CSV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188720" y="3785616"/>
            <a:ext cx="6766560" cy="512064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3" name="Text 21"/>
          <p:cNvSpPr/>
          <p:nvPr/>
        </p:nvSpPr>
        <p:spPr>
          <a:xfrm>
            <a:off x="1298448" y="3785616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Archivos Físicos en Disco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029200" y="378561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.ibd · .frm · binlog · redo log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74320" y="4462272"/>
            <a:ext cx="85953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0277BD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6" name="Text 24"/>
          <p:cNvSpPr/>
          <p:nvPr/>
        </p:nvSpPr>
        <p:spPr>
          <a:xfrm>
            <a:off x="420624" y="449884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77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MariaDB en XAMPP: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20624" y="4718304"/>
            <a:ext cx="8321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MariaDB 10.x </a:t>
            </a: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SGBD relacional. </a:t>
            </a:r>
            <a:r>
              <a:rPr lang="en-US" sz="1100" b="1" dirty="0">
                <a:solidFill>
                  <a:srgbClr val="004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phpMyAdmin </a:t>
            </a: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interfaz gráfica web. </a:t>
            </a:r>
            <a:r>
              <a:rPr lang="en-US" sz="11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InnoDB </a:t>
            </a: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motor de almacenamiento con soporte ACID, FK y transacciones.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5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29184" y="0"/>
            <a:ext cx="8631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– Historia, Versiones y Estándares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SGBD – SQL · POO  |  MariaDB/XAMPP  |  Ing. Sistemas – 4.° Sem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092440" y="4910328"/>
            <a:ext cx="8229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4/26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749808"/>
            <a:ext cx="8412480" cy="502920"/>
          </a:xfrm>
          <a:prstGeom prst="rect">
            <a:avLst/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502920" y="768096"/>
            <a:ext cx="82296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(Structured Query Language) es el lenguaje universal para gestionar bases de datos relacionales, estandarizado por ANSI e ISO desde 1986.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1389888"/>
            <a:ext cx="859536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0277BD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274320" y="1389888"/>
            <a:ext cx="1097280" cy="365760"/>
          </a:xfrm>
          <a:prstGeom prst="rect">
            <a:avLst/>
          </a:prstGeom>
          <a:solidFill>
            <a:srgbClr val="0277BD"/>
          </a:solidFill>
          <a:ln w="12700">
            <a:solidFill>
              <a:srgbClr val="0277B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274320" y="138988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1970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63040" y="1463040"/>
            <a:ext cx="7296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E.F. Codd propone el Modelo Relacional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1810512"/>
            <a:ext cx="859536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0D47A1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274320" y="1810512"/>
            <a:ext cx="1097280" cy="365760"/>
          </a:xfrm>
          <a:prstGeom prst="rect">
            <a:avLst/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274320" y="181051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1974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463040" y="1883664"/>
            <a:ext cx="7296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desarrolla SEQUEL (precursor de SQL)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2231136"/>
            <a:ext cx="859536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237E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274320" y="2231136"/>
            <a:ext cx="1097280" cy="36576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274320" y="223113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1986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463040" y="2304288"/>
            <a:ext cx="7296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 publica el primer estándar SQL-86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2651760"/>
            <a:ext cx="859536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148C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3" name="Shape 21"/>
          <p:cNvSpPr/>
          <p:nvPr/>
        </p:nvSpPr>
        <p:spPr>
          <a:xfrm>
            <a:off x="274320" y="2651760"/>
            <a:ext cx="1097280" cy="36576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274320" y="26517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1992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463040" y="2724912"/>
            <a:ext cx="7296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SQL-92 (SQL2): versión más adoptada, base de MySQL/MariaDB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74320" y="3072384"/>
            <a:ext cx="859536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4D40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7" name="Shape 25"/>
          <p:cNvSpPr/>
          <p:nvPr/>
        </p:nvSpPr>
        <p:spPr>
          <a:xfrm>
            <a:off x="274320" y="3072384"/>
            <a:ext cx="1097280" cy="36576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Text 26"/>
          <p:cNvSpPr/>
          <p:nvPr/>
        </p:nvSpPr>
        <p:spPr>
          <a:xfrm>
            <a:off x="274320" y="307238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1999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463040" y="3145536"/>
            <a:ext cx="7296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SQL:1999 agrega procedimientos, triggers y tipos de objetos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74320" y="3493008"/>
            <a:ext cx="859536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5E20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Shape 29"/>
          <p:cNvSpPr/>
          <p:nvPr/>
        </p:nvSpPr>
        <p:spPr>
          <a:xfrm>
            <a:off x="274320" y="3493008"/>
            <a:ext cx="1097280" cy="36576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Text 30"/>
          <p:cNvSpPr/>
          <p:nvPr/>
        </p:nvSpPr>
        <p:spPr>
          <a:xfrm>
            <a:off x="274320" y="349300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2003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463040" y="3566160"/>
            <a:ext cx="7296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SQL:2003 introduce funciones de ventana (WINDOW)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74320" y="3913632"/>
            <a:ext cx="859536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BFA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5" name="Shape 33"/>
          <p:cNvSpPr/>
          <p:nvPr/>
        </p:nvSpPr>
        <p:spPr>
          <a:xfrm>
            <a:off x="274320" y="3913632"/>
            <a:ext cx="1097280" cy="36576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6" name="Text 34"/>
          <p:cNvSpPr/>
          <p:nvPr/>
        </p:nvSpPr>
        <p:spPr>
          <a:xfrm>
            <a:off x="274320" y="391363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2016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463040" y="3986784"/>
            <a:ext cx="7296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SQL:2016 agrega soporte JSON nativo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74320" y="4334256"/>
            <a:ext cx="859536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9" name="Shape 37"/>
          <p:cNvSpPr/>
          <p:nvPr/>
        </p:nvSpPr>
        <p:spPr>
          <a:xfrm>
            <a:off x="274320" y="4334256"/>
            <a:ext cx="1097280" cy="3657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0" name="Text 38"/>
          <p:cNvSpPr/>
          <p:nvPr/>
        </p:nvSpPr>
        <p:spPr>
          <a:xfrm>
            <a:off x="274320" y="433425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Hoy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463040" y="4407408"/>
            <a:ext cx="7296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MariaDB 10.11 LTS – compatible SQL:2016 + extensiones propias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F5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29184" y="0"/>
            <a:ext cx="8631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Estructurado – Las 4 Categorías Principales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SGBD – SQL · POO  |  MariaDB/XAMPP  |  Ing. Sistemas – 4.° Sem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092440" y="4910328"/>
            <a:ext cx="8229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5/26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804672"/>
            <a:ext cx="420624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0D47A1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256032" y="804672"/>
            <a:ext cx="4206240" cy="402336"/>
          </a:xfrm>
          <a:prstGeom prst="rect">
            <a:avLst/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347472" y="804672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🏗️  DDL – Data Definition Language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7472" y="1243584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y modifica la estructura de la BD.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47472" y="1481328"/>
            <a:ext cx="40233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(TABLE, DATABASE, VIEW, INDEX, PROCEDURE)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 TABLE (ADD, MODIFY, DROP, RENAME)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TABLE / DATABASE / VIEW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TRUNCATE TABLE (vaciar sin log de transacción)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90872" y="804672"/>
            <a:ext cx="420624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4D40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4690872" y="804672"/>
            <a:ext cx="4206240" cy="402336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4782312" y="804672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✏️  DML – Data Manipulation Language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82312" y="1243584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4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Manipula los datos almacenados.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82312" y="1481328"/>
            <a:ext cx="40233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… FROM … WHERE … GROUP BY … HAVING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INTO tabla (cols) VALUES (vals)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tabla SET col=val WHERE condición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FROM tabla WHERE condición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56032" y="2889504"/>
            <a:ext cx="420624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148C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256032" y="2889504"/>
            <a:ext cx="4206240" cy="402336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347472" y="2889504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🔐  DCL – Data Control Language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47472" y="3328416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 permisos y seguridad.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7472" y="3566160"/>
            <a:ext cx="40233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privilegios ON objeto TO usuario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REVOKE privilegios ON objeto FROM usuario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USER 'user'@'host' IDENTIFIED BY 'pass'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GRANTS FOR usuario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690872" y="2889504"/>
            <a:ext cx="420624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360C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4" name="Shape 22"/>
          <p:cNvSpPr/>
          <p:nvPr/>
        </p:nvSpPr>
        <p:spPr>
          <a:xfrm>
            <a:off x="4690872" y="2889504"/>
            <a:ext cx="4206240" cy="402336"/>
          </a:xfrm>
          <a:prstGeom prst="rect">
            <a:avLst/>
          </a:prstGeom>
          <a:solidFill>
            <a:srgbClr val="BF360C"/>
          </a:solidFill>
          <a:ln w="12700">
            <a:solidFill>
              <a:srgbClr val="BF360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5" name="Text 23"/>
          <p:cNvSpPr/>
          <p:nvPr/>
        </p:nvSpPr>
        <p:spPr>
          <a:xfrm>
            <a:off x="4782312" y="2889504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🔄  TCL – Transaction Control Language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782312" y="3328416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F36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 transacciones ACID.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782312" y="3566160"/>
            <a:ext cx="40233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TRANSACTION (iniciar transacción)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(confirmar cambios permanentemente)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(deshacer cambios desde START)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SAVEPOINT nombre / ROLLBACK TO nombre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F5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29184" y="0"/>
            <a:ext cx="8631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Interactivo – Definición y Características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SGBD – SQL · POO  |  MariaDB/XAMPP  |  Ing. Sistemas – 4.° Sem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092440" y="4910328"/>
            <a:ext cx="8229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6/26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749808"/>
            <a:ext cx="8412480" cy="54864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502920" y="768096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Interactivo: sentencias SQL escritas y ejecutadas directamente por el usuario en tiempo real, sin intermediación de código de aplicación. El resultado se muestra inmediatamente.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6032" y="1444752"/>
            <a:ext cx="2816352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4D40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347472" y="1536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77824" y="153619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Ejecución inmediata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77824" y="1847088"/>
            <a:ext cx="2103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usuario escribe SQL y el resultado aparece al instante sin compilación previa.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0" y="1444752"/>
            <a:ext cx="2816352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4D40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3291840" y="1536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822192" y="153619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Propósito ad-hoc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822192" y="1847088"/>
            <a:ext cx="2103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puntuales para análisis, depuración, administración o exploración de datos.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44768" y="1444752"/>
            <a:ext cx="2816352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4D40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6236208" y="1536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👁️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766560" y="153619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Resultado directo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766560" y="1847088"/>
            <a:ext cx="2103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SGBD muestra el resultado (tabla, filas afectadas, error) directamente al usuario.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56032" y="2798064"/>
            <a:ext cx="2816352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4D40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3" name="Text 21"/>
          <p:cNvSpPr/>
          <p:nvPr/>
        </p:nvSpPr>
        <p:spPr>
          <a:xfrm>
            <a:off x="347472" y="2889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🔧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77824" y="28895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 compilación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77824" y="3200400"/>
            <a:ext cx="2103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necesita lenguaje huésped. El SQL se interpreta directamente por el SGBD.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00400" y="2798064"/>
            <a:ext cx="2816352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4D40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7" name="Text 25"/>
          <p:cNvSpPr/>
          <p:nvPr/>
        </p:nvSpPr>
        <p:spPr>
          <a:xfrm>
            <a:off x="3291840" y="2889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🖥️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3822192" y="28895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Herramientas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822192" y="3200400"/>
            <a:ext cx="2103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phpMyAdmin (web), consola MariaDB (CLI), MySQL Workbench, DBeaver, HeidiSQL.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44768" y="2798064"/>
            <a:ext cx="2816352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4D40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Text 29"/>
          <p:cNvSpPr/>
          <p:nvPr/>
        </p:nvSpPr>
        <p:spPr>
          <a:xfrm>
            <a:off x="6236208" y="2889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766560" y="28895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Casos de uso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766560" y="3200400"/>
            <a:ext cx="2103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DBA: administración, mantenimiento. Analistas: reportes. Desarrolladores: depuración.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F5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29184" y="0"/>
            <a:ext cx="8631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Interactivo en MariaDB/XAMPP – Herramientas y Uso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SGBD – SQL · POO  |  MariaDB/XAMPP  |  Ing. Sistemas – 4.° Sem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092440" y="4910328"/>
            <a:ext cx="8229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7/26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768096"/>
            <a:ext cx="8595360" cy="25603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420624" y="786384"/>
            <a:ext cx="8321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🖥️  Consola MariaDB (CLI) – Modo Interactivo desde XAMPP Shell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1078992"/>
            <a:ext cx="8595360" cy="1316736"/>
          </a:xfrm>
          <a:prstGeom prst="rect">
            <a:avLst/>
          </a:prstGeom>
          <a:solidFill>
            <a:srgbClr val="0D1117"/>
          </a:solidFill>
          <a:ln w="12700">
            <a:solidFill>
              <a:srgbClr val="00BFA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384048" y="1133856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MariaDB – Comandos esenciales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84048" y="1353312"/>
            <a:ext cx="8375904" cy="950976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Acceder a MariaDB desde XAMPP Shell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mysql -u root -p              -- Solicita contraseña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mysql -u root                 -- Sin contraseña (instalación local)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Comandos básicos del modo interactivo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 DATABASES;               -- Listar todas las BDs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nombre_db;                -- Seleccionar BD activa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 TABLES;                  -- Listar tablas de la BD activa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DESCRIBE nombre_tabla;        -- Ver estructura de una tabla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 CREATE TABLE nombre;     -- Ver DDL completo de la tabla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STATUS;                       -- Info del servidor y conexión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QUIT; o EXIT;                 -- Salir del cliente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4320" y="2487168"/>
            <a:ext cx="8595360" cy="256032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420624" y="2505456"/>
            <a:ext cx="8321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🌐  phpMyAdmin – Interfaz Web Interactiva (http://localhost/phpmyadmin)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56032" y="2816352"/>
            <a:ext cx="2816352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004D40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347472" y="288950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📝 Pestaña SQL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47472" y="3182112"/>
            <a:ext cx="2633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Escribir y ejecutar cualquier sentencia SQL con Ctrl+Enter. Historial de consultas.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0" y="2816352"/>
            <a:ext cx="2816352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004D40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3291840" y="288950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📊 Pestaña Estructura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291840" y="3182112"/>
            <a:ext cx="2633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Ver, agregar, modificar y eliminar columnas visualmente. Equivalente a ALTER TABLE.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144768" y="2816352"/>
            <a:ext cx="2816352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004D40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2" name="Text 20"/>
          <p:cNvSpPr/>
          <p:nvPr/>
        </p:nvSpPr>
        <p:spPr>
          <a:xfrm>
            <a:off x="6236208" y="288950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🔍 Pestaña Buscar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236208" y="3182112"/>
            <a:ext cx="2633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visuales de datos sin escribir WHERE. Genera el SQL automáticamente.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56032" y="3822192"/>
            <a:ext cx="2816352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004D40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5" name="Text 23"/>
          <p:cNvSpPr/>
          <p:nvPr/>
        </p:nvSpPr>
        <p:spPr>
          <a:xfrm>
            <a:off x="347472" y="389534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📤 Exportar / Importar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47472" y="4187952"/>
            <a:ext cx="2633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 la BD como .sql, .csv, .json. Importar scripts SQL completos.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200400" y="3822192"/>
            <a:ext cx="2816352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004D40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8" name="Text 26"/>
          <p:cNvSpPr/>
          <p:nvPr/>
        </p:nvSpPr>
        <p:spPr>
          <a:xfrm>
            <a:off x="3291840" y="389534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⚡ Consultas rápidas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3291840" y="4187952"/>
            <a:ext cx="2633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 en una tabla → 'Examinar' muestra los datos con paginación automática.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144768" y="3822192"/>
            <a:ext cx="2816352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004D40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Text 29"/>
          <p:cNvSpPr/>
          <p:nvPr/>
        </p:nvSpPr>
        <p:spPr>
          <a:xfrm>
            <a:off x="6236208" y="389534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🔐 Gestión de usuarios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236208" y="4187952"/>
            <a:ext cx="2633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usuarios con GRANT específicos por tabla. Interfaz para DCL.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F5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29184" y="0"/>
            <a:ext cx="8631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Ejemplo 1 – SQL Interactivo: Consultas Complejas en MariaDB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SGBD – SQL · POO  |  MariaDB/XAMPP  |  Ing. Sistemas – 4.° Sem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092440" y="4910328"/>
            <a:ext cx="8229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8/26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749808"/>
            <a:ext cx="8412480" cy="43891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502920" y="768096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Consultas avanzadas que demuestran el poder del SQL interactivo: variables, funciones de ventana y CTE.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1261872"/>
            <a:ext cx="8595360" cy="932688"/>
          </a:xfrm>
          <a:prstGeom prst="rect">
            <a:avLst/>
          </a:prstGeom>
          <a:solidFill>
            <a:srgbClr val="0D1117"/>
          </a:solidFill>
          <a:ln w="12700">
            <a:solidFill>
              <a:srgbClr val="00BFA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384048" y="1316736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de usuario – SQL interactivo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84048" y="1536192"/>
            <a:ext cx="83759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Variables de usuario en SQL interactivo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 @limite = 5;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 @categoria = 'Electrónica';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nombre, precio FROM producto 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categoria = @categoria ORDER BY precio DESC LIMIT @limite;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4320" y="2304288"/>
            <a:ext cx="8595360" cy="1024128"/>
          </a:xfrm>
          <a:prstGeom prst="rect">
            <a:avLst/>
          </a:prstGeom>
          <a:solidFill>
            <a:srgbClr val="0D1117"/>
          </a:solidFill>
          <a:ln w="12700">
            <a:solidFill>
              <a:srgbClr val="00BFA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384048" y="2359152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 de Ventana (WINDOW FUNCTIONS)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84048" y="2578608"/>
            <a:ext cx="8375904" cy="658368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Funciones de ventana (MariaDB 10.2+) – Ranking sin subquery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nombre, categoria, precio,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RANK()     OVER (PARTITION BY categoria ORDER BY precio DESC) AS ranking,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ROW_NUMBER() OVER (ORDER BY precio DESC) AS fila_global,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LAG(precio, 1) OVER (ORDER BY precio) AS precio_anterior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producto WHERE activo = 1;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3438144"/>
            <a:ext cx="8595360" cy="932688"/>
          </a:xfrm>
          <a:prstGeom prst="rect">
            <a:avLst/>
          </a:prstGeom>
          <a:solidFill>
            <a:srgbClr val="0D1117"/>
          </a:solidFill>
          <a:ln w="12700">
            <a:solidFill>
              <a:srgbClr val="00BFA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384048" y="3493008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CTE – Common Table Expression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84048" y="3712464"/>
            <a:ext cx="8375904" cy="676656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CTE (Common Table Expression) – Consulta legible y reutilizable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ventas_cliente AS 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SELECT id_cliente, SUM(total) AS total_comprado, COUNT(*) AS num_ordenes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FROM orden WHERE estado = 'entregada' GROUP BY id_cliente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c.nombre, vc.total_comprado, vc.num_ordenes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cliente c JOIN ventas_cliente vc ON c.id_cliente = vc.id_cliente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vc.total_comprado &gt; 500000 ORDER BY vc.total_comprado DESC;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74320" y="4480560"/>
            <a:ext cx="8595360" cy="237744"/>
          </a:xfrm>
          <a:prstGeom prst="rect">
            <a:avLst/>
          </a:prstGeom>
          <a:solidFill>
            <a:srgbClr val="00BFA5">
              <a:alpha val="18000"/>
            </a:srgbClr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420624" y="449884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Los CTEs (WITH) hacen el SQL más legible que las subqueries anidadas. Son especialmente útiles en SQL interactivo para reportes complejos ad-hoc.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F5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29184" y="0"/>
            <a:ext cx="8631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Inmerso (Embedded SQL) – Definición y Contexto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SGBD – SQL · POO  |  MariaDB/XAMPP  |  Ing. Sistemas – 4.° Sem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092440" y="4910328"/>
            <a:ext cx="8229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9/26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749808"/>
            <a:ext cx="8412480" cy="5486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502920" y="768096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Inmerso: sentencias SQL escritas dentro del código fuente de una aplicación (PHP, Python, Java, etc.) para ser ejecutadas dinámicamente en tiempo de ejecución.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6032" y="1426464"/>
            <a:ext cx="4206240" cy="2962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04D40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256032" y="1426464"/>
            <a:ext cx="4206240" cy="402336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347472" y="1426464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🖥️ SQL INTERACTIVO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7472" y="1883664"/>
            <a:ext cx="4023360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Escrito por humanos en tiempo real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Ejecutado en CLI o phpMyAdmin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visible inmediatamente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Propósito: análisis, administración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lenguaje huésped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usuario es el 'ejecutor'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90872" y="1426464"/>
            <a:ext cx="4206240" cy="2962656"/>
          </a:xfrm>
          <a:prstGeom prst="rect">
            <a:avLst/>
          </a:prstGeom>
          <a:solidFill>
            <a:srgbClr val="FFFFFF"/>
          </a:solidFill>
          <a:ln w="12700">
            <a:solidFill>
              <a:srgbClr val="1A237E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4690872" y="1426464"/>
            <a:ext cx="4206240" cy="402336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4782312" y="1426464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🔧 SQL INMERSO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82312" y="1883664"/>
            <a:ext cx="4023360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Escrito en código de aplicación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Ejecutado desde PHP, Python, Java...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procesado programáticamente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Propósito: lógica de negocio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Requiere driver/conector de BD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app es el 'ejecutor'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4498848"/>
            <a:ext cx="8595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1A237E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420624" y="4535424"/>
            <a:ext cx="8321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Conectores MariaDB en XAMPP: </a:t>
            </a: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→ PDO o mysqli  |  Python → mysql-connector-python  |  Node.js → mysql2  |  Java → JDBC Connector/J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F5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29184" y="0"/>
            <a:ext cx="8631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Inmerso en PHP – PDO con MariaDB/XAMPP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SGBD – SQL · POO  |  MariaDB/XAMPP  |  Ing. Sistemas – 4.° Sem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092440" y="4910328"/>
            <a:ext cx="8229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10/26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768096"/>
            <a:ext cx="8595360" cy="2121408"/>
          </a:xfrm>
          <a:prstGeom prst="rect">
            <a:avLst/>
          </a:prstGeom>
          <a:solidFill>
            <a:srgbClr val="0D1117"/>
          </a:solidFill>
          <a:ln w="12700">
            <a:solidFill>
              <a:srgbClr val="00BFA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384048" y="822960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PDO – Conexión, SELECT e INSERT seguros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84048" y="1042416"/>
            <a:ext cx="8375904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&lt;?php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═══ CONEXIÓN PDO A MARIADB (XAMPP) ═══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$dsn = "mysql:host=localhost;dbname=mi_tienda;charset=utf8mb4";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$pdo = new PDO($dsn, 'root', '', [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PDO::ATTR_ERRMODE            =&gt; PDO::ERRMODE_EXCEPTION,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PDO::ATTR_DEFAULT_FETCH_MODE =&gt; PDO::FETCH_ASSOC,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PDO::ATTR_EMULATE_PREPARES   =&gt; false,   // Prepared statements reales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]);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catch (PDOException $e)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die("Error de conexión: " . $e-&gt;getMessage());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═══ SELECT con Prepared Statement (evita SQL Injection) ═══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$stmt = $pdo-&gt;prepare("SELECT nombre, precio FROM producto WHERE id_categoria=:cat AND activo=1");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$stmt-&gt;execute([':cat' =&gt; $_GET['categoria']]);  // Parámetro del usuario: SEGURO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$productos = $stmt-&gt;fetchAll();                  // Array asociativo con todos los resultados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foreach ($productos as $p)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echo "&lt;li&gt;{$p['nombre']}: $" . number_format($p['precio']) . "&lt;/li&gt;";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═══ INSERT con Prepared Statement ═══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$stmt = $pdo-&gt;prepare("INSERT INTO producto (nombre, precio, stock, id_categoria) VALUES (?,?,?,?)");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$stmt-&gt;execute([$_POST['nombre'], $_POST['precio'], 100, 1]);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"Producto creado. ID: " . $pdo-&gt;lastInsertId();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2999232"/>
            <a:ext cx="8595360" cy="1298448"/>
          </a:xfrm>
          <a:prstGeom prst="rect">
            <a:avLst/>
          </a:prstGeom>
          <a:solidFill>
            <a:srgbClr val="0D1117"/>
          </a:solidFill>
          <a:ln w="12700">
            <a:solidFill>
              <a:srgbClr val="00BFA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384048" y="3054096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PDO – Transacción completa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84048" y="3273552"/>
            <a:ext cx="8375904" cy="932688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═══ TRANSACCIÓN en SQL Inmerso ═══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{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$pdo-&gt;beginTransaction();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$pdo-&gt;prepare("UPDATE cuenta SET saldo=saldo-:monto WHERE id=:origen")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-&gt;execute([':monto'=&gt;500000, ':origen'=&gt;101]);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$pdo-&gt;prepare("UPDATE cuenta SET saldo=saldo+:monto WHERE id=:destino")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-&gt;execute([':monto'=&gt;500000, ':destino'=&gt;202]);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$pdo-&gt;commit();  // Confirmar ambas actualizaciones juntas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catch (Exception $e) {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$pdo-&gt;rollBack();  // Deshacer todo si algo falla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echo "Transacción fallida: " . $e-&gt;getMessage();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274320" y="4407408"/>
            <a:ext cx="8595360" cy="237744"/>
          </a:xfrm>
          <a:prstGeom prst="rect">
            <a:avLst/>
          </a:prstGeom>
          <a:solidFill>
            <a:srgbClr val="B71C1C">
              <a:alpha val="12000"/>
            </a:srgbClr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420624" y="44256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NUNCA: $sql = "SELECT * FROM users WHERE id=".$_GET['id']; → SQL Injection. SIEMPRE usar Prepared Statements con parámetros.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8F5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29184" y="0"/>
            <a:ext cx="8631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Inmerso en Python y Node.js – MariaDB/XAMPP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SGBD – SQL · POO  |  MariaDB/XAMPP  |  Ing. Sistemas – 4.° Sem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092440" y="4910328"/>
            <a:ext cx="8229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11/26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768096"/>
            <a:ext cx="4206240" cy="2542032"/>
          </a:xfrm>
          <a:prstGeom prst="rect">
            <a:avLst/>
          </a:prstGeom>
          <a:solidFill>
            <a:srgbClr val="0D1117"/>
          </a:solidFill>
          <a:ln w="12700">
            <a:solidFill>
              <a:srgbClr val="00BFA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384048" y="822960"/>
            <a:ext cx="3986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– mysql-connector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84048" y="1042416"/>
            <a:ext cx="3986784" cy="2176272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Python – mysql-connector-python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mysql.connector</a:t>
            </a:r>
            <a:endParaRPr lang="en-US" sz="700" dirty="0"/>
          </a:p>
          <a:p>
            <a:pPr marL="0" indent="0">
              <a:buNone/>
            </a:pP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 = mysql.connector.connect(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host='localhost', port=3306,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database='mi_tienda',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user='root', password='',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charset='utf8mb4'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cursor = conn.cursor(dictionary=True)</a:t>
            </a:r>
            <a:endParaRPr lang="en-US" sz="700" dirty="0"/>
          </a:p>
          <a:p>
            <a:pPr marL="0" indent="0">
              <a:buNone/>
            </a:pP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SELECT con parámetro seguro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cursor.execute(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"SELECT * FROM producto WHERE precio &lt; %s",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(50000,)    # Tupla con parámetro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productos = cursor.fetchall()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p in productos: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print(f"{p['nombre']}: {p['precio']}")</a:t>
            </a:r>
            <a:endParaRPr lang="en-US" sz="700" dirty="0"/>
          </a:p>
          <a:p>
            <a:pPr marL="0" indent="0">
              <a:buNone/>
            </a:pP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INSERT + confirmar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cursor.execute(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"INSERT INTO producto(nombre,precio,id_categoria)"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 VALUES(%s,%s,%s)",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('Leche 1L', 3500, 2)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conn.commit()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print(f"ID generado: {cursor.lastrowid}")</a:t>
            </a:r>
            <a:endParaRPr lang="en-US" sz="700" dirty="0"/>
          </a:p>
          <a:p>
            <a:pPr marL="0" indent="0">
              <a:buNone/>
            </a:pP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cursor.close()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conn.close()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4663440" y="768096"/>
            <a:ext cx="4206240" cy="2542032"/>
          </a:xfrm>
          <a:prstGeom prst="rect">
            <a:avLst/>
          </a:prstGeom>
          <a:solidFill>
            <a:srgbClr val="0D1117"/>
          </a:solidFill>
          <a:ln w="12700">
            <a:solidFill>
              <a:srgbClr val="00BFA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4773168" y="822960"/>
            <a:ext cx="3986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– mysql2 async/await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73168" y="1042416"/>
            <a:ext cx="3986784" cy="2176272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Node.js – mysql2 (async/await)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mysql = require('mysql2/promise');</a:t>
            </a:r>
            <a:endParaRPr lang="en-US" sz="700" dirty="0"/>
          </a:p>
          <a:p>
            <a:pPr marL="0" indent="0">
              <a:buNone/>
            </a:pP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function main() {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conn = await mysql.createConnection({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host: 'localhost',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database: 'mi_tienda',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user: 'root',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password: '',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charset: 'utf8mb4'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700" dirty="0"/>
          </a:p>
          <a:p>
            <a:pPr marL="0" indent="0">
              <a:buNone/>
            </a:pP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SELECT con placeholders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[rows] = await conn.execute(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'SELECT * FROM producto WHERE activo=?',[1]);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console.log(rows);</a:t>
            </a:r>
            <a:endParaRPr lang="en-US" sz="700" dirty="0"/>
          </a:p>
          <a:p>
            <a:pPr marL="0" indent="0">
              <a:buNone/>
            </a:pP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Transacción async/await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try {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conn.beginTransaction();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conn.execute(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'UPDATE stock SET cant=cant-? WHERE id=?',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[5, 1]);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conn.execute(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'INSERT INTO movimiento(tipo,cant,id_prod)'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' VALUES(?,?,?)',['salida',5,1]);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conn.commit();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catch(e) {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conn.rollback();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console.error(e.message);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conn.end();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main();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274320" y="3419856"/>
            <a:ext cx="85953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1A237E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420624" y="3456432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Comparativa de Conectores para MariaDB: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20624" y="3749040"/>
            <a:ext cx="41330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(PDO):  </a:t>
            </a:r>
            <a:r>
              <a:rPr lang="en-US" sz="900" dirty="0">
                <a:solidFill>
                  <a:srgbClr val="0D21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PDO MySQL – $dsn='mysql:host=localhost;...'; new PDO($dsn, $u, $p)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18304" y="3749040"/>
            <a:ext cx="41330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Python:  </a:t>
            </a:r>
            <a:r>
              <a:rPr lang="en-US" sz="900" dirty="0">
                <a:solidFill>
                  <a:srgbClr val="0D21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mysql-connector-python → import mysql.connector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20624" y="3950208"/>
            <a:ext cx="41330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Node.js:  </a:t>
            </a:r>
            <a:r>
              <a:rPr lang="en-US" sz="900" dirty="0">
                <a:solidFill>
                  <a:srgbClr val="0D21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 mysql2 → require('mysql2/promise')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18304" y="3950208"/>
            <a:ext cx="41330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Java:  </a:t>
            </a:r>
            <a:r>
              <a:rPr lang="en-US" sz="900" dirty="0">
                <a:solidFill>
                  <a:srgbClr val="0D21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Descargar Connector/J .jar → Class.forName('com.mysql.cj.jdbc.Driver')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8F5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29184" y="0"/>
            <a:ext cx="8631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Ejemplo 2 – Aplicación PHP Completa con SQL Inmerso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SGBD – SQL · POO  |  MariaDB/XAMPP  |  Ing. Sistemas – 4.° Sem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092440" y="4910328"/>
            <a:ext cx="8229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12/26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749808"/>
            <a:ext cx="8412480" cy="43891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502920" y="768096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Caso: CRUD completo de productos en PHP con SQL Inmerso, PDO y buenas prácticas de seguridad.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1261872"/>
            <a:ext cx="8595360" cy="3493008"/>
          </a:xfrm>
          <a:prstGeom prst="rect">
            <a:avLst/>
          </a:prstGeom>
          <a:solidFill>
            <a:srgbClr val="0D1117"/>
          </a:solidFill>
          <a:ln w="12700">
            <a:solidFill>
              <a:srgbClr val="00BFA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384048" y="1316736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OOP + PDO – Repository Pattern completo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84048" y="1536192"/>
            <a:ext cx="8375904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&lt;?php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ProductoRepository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PDO $db;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function __construct(PDO $connection)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$this-&gt;db = $connection;  // Inyección de dependencia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READ – Listar productos con filtro opcional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function findAll(int $categoriaId = null): array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$sql = "SELECT p.*, c.nombre AS categoria FROM producto p 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JOIN categoria c ON p.id_categoria=c.id_categoria WHERE p.activo=1";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$params = [];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($categoriaId !== null)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$sql .= " AND p.id_categoria = :cat";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$params[':cat'] = $categoriaId;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$sql .= " ORDER BY p.nombre";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$stmt = $this-&gt;db-&gt;prepare($sql);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$stmt-&gt;execute($params);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$stmt-&gt;fetchAll();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CREATE – Insertar con validación y transacción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function create(array $data): int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$this-&gt;db-&gt;beginTransaction();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try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$stmt = $this-&gt;db-&gt;prepare(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"INSERT INTO producto (nombre, precio, stock, id_categoria) VALUES (:nombre, :precio, :stock, :cat)"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$stmt-&gt;execute([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':nombre' =&gt; trim($data['nombre']),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':precio' =&gt; floatval($data['precio']),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':stock'  =&gt; intval($data['stock']),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':cat'    =&gt; intval($data['id_categoria']),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]);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$newId = (int)$this-&gt;db-&gt;lastInsertId();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// Log de auditoría dentro de la misma transacción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$this-&gt;db-&gt;prepare("INSERT INTO log_producto (id_prod, accion, fecha) VALUES (?,?,NOW())")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-&gt;execute([$newId, 'CREATE']);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$this-&gt;db-&gt;commit();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$newId;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catch (Exception $e)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$this-&gt;db-&gt;rollBack();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$e;  // Reenviar excepción al controlador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UPDATE – Soft delete (marcar inactivo en lugar de eliminar)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function softDelete(int $id): bool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(bool)$this-&gt;db-&gt;prepare("UPDATE producto SET activo=0 WHERE id_producto=:id")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-&gt;execute([':id' =&gt; $id]);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Uso del repositorio: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$repo = new ProductoRepository($pdo);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$productos = $repo-&gt;findAll(categoriaId: 1);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$nuevoId   = $repo-&gt;create(['nombre'=&gt;'Café 500g', 'precio'=&gt;18500, 'stock'=&gt;100, 'id_categoria'=&gt;1]);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8F5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29184" y="0"/>
            <a:ext cx="8631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Programación Orientada a Objetos en Bases de Datos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SGBD – SQL · POO  |  MariaDB/XAMPP  |  Ing. Sistemas – 4.° Sem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092440" y="4910328"/>
            <a:ext cx="8229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13/26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749808"/>
            <a:ext cx="8412480" cy="54864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502920" y="768096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Las BD relacionales modernas (MariaDB, PostgreSQL) incorporan características de POO: abstracción, encapsulamiento, herencia y polimorfismo aplicados al manejo de datos.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6032" y="1444752"/>
            <a:ext cx="4206240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0D47A1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256032" y="1444752"/>
            <a:ext cx="4206240" cy="384048"/>
          </a:xfrm>
          <a:prstGeom prst="rect">
            <a:avLst/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347472" y="144475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🎭  ABSTRACCIÓN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7472" y="1883664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VISTAS (VIEW): ocultan complejidad. El usuario ve una 'tabla' simple que en realidad es una consulta compleja. También las funciones almacenadas.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47472" y="2651760"/>
            <a:ext cx="4023360" cy="310896"/>
          </a:xfrm>
          <a:prstGeom prst="rect">
            <a:avLst/>
          </a:prstGeom>
          <a:solidFill>
            <a:srgbClr val="0D47A1">
              <a:alpha val="12000"/>
            </a:srgbClr>
          </a:solidFill>
          <a:ln w="12700">
            <a:solidFill>
              <a:srgbClr val="0D47A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420624" y="2670048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VIEW v_resumen_ventas AS SELECT …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90872" y="1444752"/>
            <a:ext cx="4206240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004D40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Shape 15"/>
          <p:cNvSpPr/>
          <p:nvPr/>
        </p:nvSpPr>
        <p:spPr>
          <a:xfrm>
            <a:off x="4690872" y="1444752"/>
            <a:ext cx="4206240" cy="384048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4782312" y="144475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🔒  ENCAPSULAMIENTO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782312" y="1883664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PROCEDURES y FUNCIONES: encapsulan lógica de negocio en la BD. El consumidor solo invoca el nombre sin conocer la implementación.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82312" y="2651760"/>
            <a:ext cx="4023360" cy="310896"/>
          </a:xfrm>
          <a:prstGeom prst="rect">
            <a:avLst/>
          </a:prstGeom>
          <a:solidFill>
            <a:srgbClr val="004D40">
              <a:alpha val="12000"/>
            </a:srgbClr>
          </a:solidFill>
          <a:ln w="12700">
            <a:solidFill>
              <a:srgbClr val="004D4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4855464" y="2670048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 sp_procesar_pago(id_orden, monto)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56032" y="3163824"/>
            <a:ext cx="4206240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1A237E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3" name="Shape 21"/>
          <p:cNvSpPr/>
          <p:nvPr/>
        </p:nvSpPr>
        <p:spPr>
          <a:xfrm>
            <a:off x="256032" y="3163824"/>
            <a:ext cx="4206240" cy="384048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347472" y="316382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🧬  HERENCIA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47472" y="3602736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Simulada con tablas padre-hijo (FK + tabla base + tablas especializadas). También con herencia de privilegios via ROLE en usuarios.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472" y="4370832"/>
            <a:ext cx="4023360" cy="310896"/>
          </a:xfrm>
          <a:prstGeom prst="rect">
            <a:avLst/>
          </a:prstGeom>
          <a:solidFill>
            <a:srgbClr val="1A237E">
              <a:alpha val="12000"/>
            </a:srgbClr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5"/>
          <p:cNvSpPr/>
          <p:nvPr/>
        </p:nvSpPr>
        <p:spPr>
          <a:xfrm>
            <a:off x="420624" y="4389120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TABLA usuario → TABLA cliente, empleado, admin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90872" y="3163824"/>
            <a:ext cx="4206240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4A148C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9" name="Shape 27"/>
          <p:cNvSpPr/>
          <p:nvPr/>
        </p:nvSpPr>
        <p:spPr>
          <a:xfrm>
            <a:off x="4690872" y="3163824"/>
            <a:ext cx="4206240" cy="384048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0" name="Text 28"/>
          <p:cNvSpPr/>
          <p:nvPr/>
        </p:nvSpPr>
        <p:spPr>
          <a:xfrm>
            <a:off x="4782312" y="316382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🔀  POLIMORFISMO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782312" y="3602736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 SOBRECARGADAS: misma función con diferentes parámetros. También TRIGGERS que reaccionan diferente según el evento (INSERT/UPDATE/DELETE).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82312" y="4370832"/>
            <a:ext cx="4023360" cy="310896"/>
          </a:xfrm>
          <a:prstGeom prst="rect">
            <a:avLst/>
          </a:prstGeom>
          <a:solidFill>
            <a:srgbClr val="4A148C">
              <a:alpha val="12000"/>
            </a:srgbClr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3" name="Text 31"/>
          <p:cNvSpPr/>
          <p:nvPr/>
        </p:nvSpPr>
        <p:spPr>
          <a:xfrm>
            <a:off x="4855464" y="4389120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TRIGGER que audita diferente según accion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8F5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29184" y="0"/>
            <a:ext cx="8631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POO en BD – Abstracción: Vistas y Funciones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SGBD – SQL · POO  |  MariaDB/XAMPP  |  Ing. Sistemas – 4.° Sem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092440" y="4910328"/>
            <a:ext cx="8229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14/26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749808"/>
            <a:ext cx="8412480" cy="475488"/>
          </a:xfrm>
          <a:prstGeom prst="rect">
            <a:avLst/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502920" y="768096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abstracción oculta la complejidad. Las VISTAS exponen una interfaz simple; las FUNCIONES encapsulan cálculos reutilizables.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1298448"/>
            <a:ext cx="8595360" cy="1170432"/>
          </a:xfrm>
          <a:prstGeom prst="rect">
            <a:avLst/>
          </a:prstGeom>
          <a:solidFill>
            <a:srgbClr val="0D1117"/>
          </a:solidFill>
          <a:ln w="12700">
            <a:solidFill>
              <a:srgbClr val="00BFA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384048" y="1353312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– Abstracción de JOIN complejo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84048" y="1572768"/>
            <a:ext cx="8375904" cy="804672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VISTA: Abstrae un JOIN complejo en una "tabla" simple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VIEW v_detalle_ventas AS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SELECT o.id_orden, c.nombre AS cliente, p.nombre AS producto,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d.cantidad, d.precio_unit, d.cantidad*d.precio_unit AS subtotal,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o.fecha, o.estado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FROM orden o JOIN cliente c ON o.id_cliente=c.id_cliente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JOIN detalle_orden d ON o.id_orden=d.id_orden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JOIN producto p ON d.id_producto=p.id_producto;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Ahora cualquier usuario puede hacer: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v_detalle_ventas WHERE cliente='Ana García' ORDER BY fecha DESC;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2578608"/>
            <a:ext cx="8595360" cy="1060704"/>
          </a:xfrm>
          <a:prstGeom prst="rect">
            <a:avLst/>
          </a:prstGeom>
          <a:solidFill>
            <a:srgbClr val="0D1117"/>
          </a:solidFill>
          <a:ln w="12700">
            <a:solidFill>
              <a:srgbClr val="00BFA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384048" y="2633472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– Abstracción de cálculo de IVA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84048" y="2852928"/>
            <a:ext cx="8375904" cy="694944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FUNCIÓN almacenada: Abstrae un cálculo de negocio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DELIMITER //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FUNCTION fn_precio_con_iva(precio DECIMAL(12,2), pct_iva DECIMAL(5,2))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RETURNS DECIMAL(12,2) DETERMINISTIC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ROUND(precio * (1 + pct_iva / 100), 2);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//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DELIMITER 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Uso transparente en cualquier SELECT: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nombre, precio, fn_precio_con_iva(precio, 19) AS precio_iva FROM producto;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274320" y="3749040"/>
            <a:ext cx="8595360" cy="969264"/>
          </a:xfrm>
          <a:prstGeom prst="rect">
            <a:avLst/>
          </a:prstGeom>
          <a:solidFill>
            <a:srgbClr val="0D1117"/>
          </a:solidFill>
          <a:ln w="12700">
            <a:solidFill>
              <a:srgbClr val="00BFA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384048" y="3803904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de seguridad – Ocultar columnas sensibles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84048" y="4023360"/>
            <a:ext cx="8375904" cy="626461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VISTA con seguridad: Muestra solo columnas permitidas (abstracción + seguridad)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VIEW v_empleados_publico AS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SELECT nombre, apellido, cargo, departamento FROM empleado;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El rol 'rrhh_lector' solo puede SELECT en v_empleados_publico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Nunca ve: salario, datos_bancarios, contraseña_acceso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GRANT SELECT ON empresa.v_empleados_publico TO 'rrhh_lector'@'localhost';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8F5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29184" y="0"/>
            <a:ext cx="8631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POO en BD – Encapsulamiento: Stored Procedures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SGBD – SQL · POO  |  MariaDB/XAMPP  |  Ing. Sistemas – 4.° Sem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092440" y="4910328"/>
            <a:ext cx="8229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15/26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749808"/>
            <a:ext cx="8412480" cy="475488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502920" y="768096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Los Stored Procedures encapsulan lógica de negocio compleja dentro de la BD. La aplicación solo invoca el procedimiento sin conocer su implementación.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1298448"/>
            <a:ext cx="8595360" cy="3419856"/>
          </a:xfrm>
          <a:prstGeom prst="rect">
            <a:avLst/>
          </a:prstGeom>
          <a:solidFill>
            <a:srgbClr val="0D1117"/>
          </a:solidFill>
          <a:ln w="12700">
            <a:solidFill>
              <a:srgbClr val="00BFA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384048" y="1353312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Procedure – Encapsulamiento completo de lógica de venta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84048" y="1572768"/>
            <a:ext cx="8375904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DELIMITER //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PROCEDURE sp_procesar_venta(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  p_cliente  INT,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  p_producto INT,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  p_cantidad INT,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 p_resultado VARCHAR(100)   -- Parámetro de salida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DECLARE v_stock     INT DEFAULT 0;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DECLARE v_precio    DECIMAL(12,2) DEFAULT 0;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DECLARE v_id_orden  INT DEFAULT 0;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 Manejador de errores: ROLLBACK automático ante excepción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DECLARE EXIT HANDLER FOR SQLEXCEPTION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BEGIN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ROLLBACK;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SET p_resultado = 'ERROR: Transacción revertida';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END;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 Encapsulamiento: toda la lógica de negocio dentro del SP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START TRANSACTION;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-- 1. Verificar stock disponible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SELECT stock, precio INTO v_stock, v_precio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FROM producto WHERE id_producto = p_producto FOR UPDATE;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v_stock &lt; p_cantidad THEN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SIGNAL SQLSTATE '45000' SET MESSAGE_TEXT = 'Stock insuficiente';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END IF;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-- 2. Crear la orden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INSERT INTO orden (fecha, estado, id_cliente) VALUES (NOW(), 'pendiente', p_cliente);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SET v_id_orden = LAST_INSERT_ID();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-- 3. Registrar el detalle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INSERT INTO detalle_orden (id_orden, id_producto, cantidad, precio_unit)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VALUES (v_id_orden, p_producto, p_cantidad, v_precio);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-- 4. Actualizar stock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UPDATE producto SET stock = stock - p_cantidad WHERE id_producto = p_producto;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COMMIT;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SET p_resultado = CONCAT('OK: Orden #', v_id_orden, ' creada exitosamente');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//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DELIMITER 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Invocación desde SQL interactivo: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 sp_procesar_venta(1, 5, 3, @resultado);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@resultado;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Invocación desde PHP (SQL inmerso):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$stmt = $pdo-&gt;prepare("CALL sp_procesar_venta(?,?,?,@res)");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$stmt-&gt;execute([$clienteId, $prodId, $cant]);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8F5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29184" y="0"/>
            <a:ext cx="8631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POO en BD – Herencia: Jerarquía de Tablas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SGBD – SQL · POO  |  MariaDB/XAMPP  |  Ing. Sistemas – 4.° Sem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092440" y="4910328"/>
            <a:ext cx="8229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16/26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749808"/>
            <a:ext cx="8412480" cy="475488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502920" y="768096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Las BD relacionales no tienen herencia nativa, pero se puede simular con tres patrones: tabla única, tabla por tipo y tabla por jerarquía.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1316736"/>
            <a:ext cx="8595360" cy="237744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420624" y="1335024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Patrón 1: Table Per Type (TPT) – Una tabla base + tablas especializadas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1609344"/>
            <a:ext cx="8595360" cy="1389888"/>
          </a:xfrm>
          <a:prstGeom prst="rect">
            <a:avLst/>
          </a:prstGeom>
          <a:solidFill>
            <a:srgbClr val="0D1117"/>
          </a:solidFill>
          <a:ln w="12700">
            <a:solidFill>
              <a:srgbClr val="00BFA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384048" y="1664208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Herencia TPT – Tabla por tipo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84048" y="1883664"/>
            <a:ext cx="8375904" cy="1024128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0" indent="0">
              <a:buNone/>
            </a:pPr>
            <a:r>
              <a:rPr lang="en-US" sz="6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Tabla BASE (superclase): atributos comunes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persona (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id_persona INT AUTO_INCREMENT PRIMARY KEY,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nombre VARCHAR(80) NOT NULL, email VARCHAR(120) UNIQUE,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tipo ENUM('cliente','empleado','proveedor') NOT NULL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ENGINE=InnoDB;</a:t>
            </a:r>
            <a:endParaRPr lang="en-US" sz="600" dirty="0"/>
          </a:p>
          <a:p>
            <a:pPr marL="0" indent="0">
              <a:buNone/>
            </a:pP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Tablas ESPECIALIZADAS (subclases): atributos propios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cliente (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id_persona INT PRIMARY KEY,     -- Misma PK que persona (1:1)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fecha_registro DATE,  limite_credito DECIMAL(12,2),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FOREIGN KEY (id_persona) REFERENCES persona(id_persona) ON DELETE CASCADE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ENGINE=InnoDB;</a:t>
            </a:r>
            <a:endParaRPr lang="en-US" sz="600" dirty="0"/>
          </a:p>
          <a:p>
            <a:pPr marL="0" indent="0">
              <a:buNone/>
            </a:pP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empleado (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id_persona INT PRIMARY KEY,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cargo VARCHAR(60),  salario DECIMAL(12,2),  fecha_ingreso DATE,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FOREIGN KEY (id_persona) REFERENCES persona(id_persona) ON DELETE CASCADE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ENGINE=InnoDB;</a:t>
            </a:r>
            <a:endParaRPr lang="en-US" sz="600" dirty="0"/>
          </a:p>
        </p:txBody>
      </p:sp>
      <p:sp>
        <p:nvSpPr>
          <p:cNvPr id="15" name="Shape 13"/>
          <p:cNvSpPr/>
          <p:nvPr/>
        </p:nvSpPr>
        <p:spPr>
          <a:xfrm>
            <a:off x="274320" y="3090672"/>
            <a:ext cx="8595360" cy="237744"/>
          </a:xfrm>
          <a:prstGeom prst="rect">
            <a:avLst/>
          </a:prstGeom>
          <a:solidFill>
            <a:srgbClr val="0277BD"/>
          </a:solidFill>
          <a:ln w="12700">
            <a:solidFill>
              <a:srgbClr val="0277B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420624" y="3108960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Patrón 2: Single Table Inheritance (STI) – Todo en una tabla con discriminador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3383280"/>
            <a:ext cx="8595360" cy="987552"/>
          </a:xfrm>
          <a:prstGeom prst="rect">
            <a:avLst/>
          </a:prstGeom>
          <a:solidFill>
            <a:srgbClr val="0D1117"/>
          </a:solidFill>
          <a:ln w="12700">
            <a:solidFill>
              <a:srgbClr val="00BFA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384048" y="3438144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Herencia STI – Tabla única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84048" y="3657600"/>
            <a:ext cx="8375904" cy="621792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persona 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id_persona INT AUTO_INCREMENT PRIMARY KEY,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tipo ENUM('cliente','empleado') NOT NULL,  -- Discriminador (como en POO)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nombre VARCHAR(80) NOT NULL, email VARCHAR(120),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 Cols de Cliente:  limite_credito DECIMAL(12,2) NULL,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 Cols de Empleado: cargo VARCHAR(60) NULL, salario DECIMAL(12,2) NULL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ENGINE=InnoDB;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Ventaja: un solo JOIN. Desventaja: muchos NULLs para columnas no aplican.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74320" y="4480560"/>
            <a:ext cx="8595360" cy="256032"/>
          </a:xfrm>
          <a:prstGeom prst="rect">
            <a:avLst/>
          </a:prstGeom>
          <a:solidFill>
            <a:srgbClr val="00BFA5">
              <a:alpha val="18000"/>
            </a:srgbClr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420624" y="4498848"/>
            <a:ext cx="8321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TPT es el patrón preferido: mejor integridad, sin NULLs. STI es más simple pero genera NULLs para columnas de subtipos distintos.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8F5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29184" y="0"/>
            <a:ext cx="8631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POO en BD – Polimorfismo: Triggers y Funciones Sobrecargadas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SGBD – SQL · POO  |  MariaDB/XAMPP  |  Ing. Sistemas – 4.° Sem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092440" y="4910328"/>
            <a:ext cx="8229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17/26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749808"/>
            <a:ext cx="8412480" cy="475488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502920" y="768096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polimorfismo en BD se manifiesta en triggers que reaccionan diferente según el evento, y en funciones que se comportan diferente según los tipos de parámetros.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1298448"/>
            <a:ext cx="4206240" cy="2340864"/>
          </a:xfrm>
          <a:prstGeom prst="rect">
            <a:avLst/>
          </a:prstGeom>
          <a:solidFill>
            <a:srgbClr val="0D1117"/>
          </a:solidFill>
          <a:ln w="12700">
            <a:solidFill>
              <a:srgbClr val="00BFA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384048" y="1353312"/>
            <a:ext cx="3986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 polimórficos – INSERT/UPDATE/DELETE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84048" y="1572768"/>
            <a:ext cx="3986784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TRIGGER polimórfico: mismo propósito,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comportamiento diferente por evento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DELIMITER //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Trigger AFTER INSERT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TRIGGER tg_after_insert_prod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 INSERT ON producto FOR EACH ROW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INSERT INTO audit_producto (accion,id_prod,datos,usuario,fecha)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VALUES ('INSERT', NEW.id_producto,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JSON_OBJECT('nombre',NEW.nombre,'precio',NEW.precio),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USER(), NOW());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//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Trigger AFTER UPDATE (mismo objetivo, distinto comportamiento)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TRIGGER tg_after_update_prod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 UPDATE ON producto FOR EACH ROW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INSERT INTO audit_producto (accion,id_prod,datos,usuario,fecha)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VALUES ('UPDATE', NEW.id_producto,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JSON_OBJECT(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'precio_antes',OLD.precio,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'precio_ahora',NEW.precio,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'nombre_antes',OLD.nombre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), USER(), NOW());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//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Trigger BEFORE DELETE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TRIGGER tg_before_delete_prod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DELETE ON producto FOR EACH ROW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OLD.activo = 1 THEN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SIGNAL SQLSTATE '45000'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SET MESSAGE_TEXT='No eliminar prod. activo';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END IF;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//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DELIMITER ;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1298448"/>
            <a:ext cx="4206240" cy="2340864"/>
          </a:xfrm>
          <a:prstGeom prst="rect">
            <a:avLst/>
          </a:prstGeom>
          <a:solidFill>
            <a:srgbClr val="0D1117"/>
          </a:solidFill>
          <a:ln w="12700">
            <a:solidFill>
              <a:srgbClr val="00BFA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4773168" y="1353312"/>
            <a:ext cx="3986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 polimórficas – Descuento por tipo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773168" y="1572768"/>
            <a:ext cx="3986784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FUNCIONES con comportamiento "polimórfico"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misma firma, diferentes tipos de entrada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DELIMITER //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Función para calcular descuento por tipo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FUNCTION fn_calcular_descuento(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precio      DECIMAL(12,2),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tipo_cliente ENUM('regular','premium','vip')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RETURNS DECIMAL(12,2) DETERMINISTIC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DECLARE v_pct DECIMAL(5,2);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 Polimorfismo: comportamiento según tipo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SET v_pct = CASE tipo_cliente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WHEN 'regular' THEN 0.00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WHEN 'premium' THEN 5.00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WHEN 'vip'     THEN 15.00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 0.00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END;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ROUND(precio * (1 - v_pct/100), 2);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//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Resultado según tipo de cliente: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fn_calcular_descuento(100000, 'regular') → 100000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fn_calcular_descuento(100000, 'premium') → 95000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fn_calcular_descuento(100000, 'vip')     → 85000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DELIMITER 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nombre, precio,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fn_calcular_descuento(precio, tipo_cliente) AS precio_final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producto p JOIN cliente c ON c.tipo_cliente = c.tipo_cliente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c.id_cliente = 1;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8F5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29184" y="0"/>
            <a:ext cx="8631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Ejemplo 3 – Sistema Completo con POO en MariaDB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SGBD – SQL · POO  |  MariaDB/XAMPP  |  Ing. Sistemas – 4.° Sem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092440" y="4910328"/>
            <a:ext cx="8229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18/26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749808"/>
            <a:ext cx="8412480" cy="43891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502920" y="768096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Sistema bancario que combina los 4 pilares de POO en BD: abstracción, encapsulamiento, herencia y polimorfismo.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1261872"/>
            <a:ext cx="8595360" cy="3584448"/>
          </a:xfrm>
          <a:prstGeom prst="rect">
            <a:avLst/>
          </a:prstGeom>
          <a:solidFill>
            <a:srgbClr val="0D1117"/>
          </a:solidFill>
          <a:ln w="12700">
            <a:solidFill>
              <a:srgbClr val="00BFA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384048" y="1316736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Bancario – Los 4 pilares de POO en MariaDB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84048" y="1536192"/>
            <a:ext cx="8375904" cy="321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══ HERENCIA: Tabla jerarquía de cuentas ══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cuenta_base (id_cuenta INT AUTO_INCREMENT PRIMARY KEY,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numero_cuenta VARCHAR(20) UNIQUE, saldo DECIMAL(15,2) DEFAULT 0,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tipo ENUM('corriente','ahorro','plazo') NOT NULL, id_cliente INT NOT NULL,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FOREIGN KEY(id_cliente) REFERENCES cliente(id_cliente)) ENGINE=InnoDB;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cuenta_corriente (id_cuenta INT PRIMARY KEY, limite_sobregiro DECIMAL(12,2),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FOREIGN KEY(id_cuenta) REFERENCES cuenta_base(id_cuenta) ON DELETE CASCADE) ENGINE=InnoDB;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cuenta_ahorro   (id_cuenta INT PRIMARY KEY, tasa_interes DECIMAL(5,4),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FOREIGN KEY(id_cuenta) REFERENCES cuenta_base(id_cuenta) ON DELETE CASCADE) ENGINE=InnoDB;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══ ABSTRACCIÓN: Vista que une la jerarquía ══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VIEW v_cuentas AS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 cb.*, 'Corriente' as tipo_detalle, cc.limite_sobregiro, NULL as tasa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cuenta_base cb JOIN cuenta_corriente cc USING(id_cuenta)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UNION ALL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 cb.*, 'Ahorro', NULL, ca.tasa_interes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cuenta_base cb JOIN cuenta_ahorro ca USING(id_cuenta);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══ ENCAPSULAMIENTO: SP para transferencia ══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DELIMITER //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PROCEDURE sp_transferir(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 origen INT, IN destino INT, IN monto DECIMAL(15,2),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OUT resultado VARCHAR(100))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DECLARE v_saldo_origen DECIMAL(15,2);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DECLARE EXIT HANDLER FOR SQLEXCEPTION BEGIN ROLLBACK; SET resultado='ERROR'; END;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START TRANSACTION;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 saldo INTO v_saldo_origen FROM cuenta_base WHERE id_cuenta=origen FOR UPDATE;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v_saldo_origen &lt; monto THEN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SIGNAL SQLSTATE '45000' SET MESSAGE_TEXT='Saldo insuficiente';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END IF;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 cuenta_base SET saldo=saldo-monto WHERE id_cuenta=origen;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 cuenta_base SET saldo=saldo+monto WHERE id_cuenta=destino;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INSERT INTO movimiento(tipo,monto,id_origen,id_destino,fecha) VALUES('transferencia',monto,origen,destino,NOW());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COMMIT; SET resultado=CONCAT('OK: Transferencia de $',monto,' exitosa');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//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══ POLIMORFISMO: Trigger diferente por operación ══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TRIGGER tg_after_movimiento AFTER INSERT ON movimiento FOR EACH ROW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CASE NEW.tipo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WHEN 'deposito'       THEN UPDATE cuenta_base SET saldo=saldo+NEW.monto WHERE id_cuenta=NEW.id_destino;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WHEN 'retiro'         THEN UPDATE cuenta_base SET saldo=saldo-NEW.monto WHERE id_cuenta=NEW.id_origen;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WHEN 'transferencia'  THEN INSERT INTO notificacion(msg,id_cuenta) VALUES(CONCAT('Transferencia: $',NEW.monto),NEW.id_origen);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END CASE;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//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DELIMITER ;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8F5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0277BD"/>
          </a:solidFill>
          <a:ln w="12700">
            <a:solidFill>
              <a:srgbClr val="0277B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29184" y="0"/>
            <a:ext cx="8631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Ejemplo 4 – Comparativa: SQL Interactivo vs SQL Inmerso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SGBD – SQL · POO  |  MariaDB/XAMPP  |  Ing. Sistemas – 4.° Sem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092440" y="4910328"/>
            <a:ext cx="8229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749808"/>
            <a:ext cx="8412480" cy="43891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502920" y="768096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Mismo objetivo (buscar productos), implementado de dos formas distintas según el contexto de uso.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1280160"/>
            <a:ext cx="4160520" cy="237744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420624" y="1298448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🖥️  SQL INTERACTIVO (phpMyAdmin / CLI)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1572768"/>
            <a:ext cx="4160520" cy="1956816"/>
          </a:xfrm>
          <a:prstGeom prst="rect">
            <a:avLst/>
          </a:prstGeom>
          <a:solidFill>
            <a:srgbClr val="0D1117"/>
          </a:solidFill>
          <a:ln w="12700">
            <a:solidFill>
              <a:srgbClr val="00BFA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384048" y="1664208"/>
            <a:ext cx="3941064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Análisis puntual: ¿qué productos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tienen stock crítico?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p.nombre, p.stock,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c.nombre AS categoria,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p.precio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producto p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categoria c 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 p.id_categoria = c.id_categoria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p.stock &lt;= 10 AND p.activo = 1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p.stock ASC;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Resultado inmediato en pantalla: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| Café 500g | 3 | Bebidas | 18500 |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| Azúcar 1kg| 8 | Alim.   |  4800 |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1280160"/>
            <a:ext cx="4160520" cy="237744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4818888" y="1298448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🔧  SQL INMERSO (PHP → Web App)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1572768"/>
            <a:ext cx="4160520" cy="1956816"/>
          </a:xfrm>
          <a:prstGeom prst="rect">
            <a:avLst/>
          </a:prstGeom>
          <a:solidFill>
            <a:srgbClr val="0D1117"/>
          </a:solidFill>
          <a:ln w="12700">
            <a:solidFill>
              <a:srgbClr val="00BFA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4773168" y="1664208"/>
            <a:ext cx="3941064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&lt;?php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Búsqueda dinámica del usuario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$term = $_GET['q'] ?? '';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$stmt = $pdo-&gt;prepare(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"SELECT p.nombre, p.stock, p.precio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FROM producto p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WHERE p.nombre LIKE :term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AND p.activo = 1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ORDER BY p.nombre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LIMIT 20"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$stmt-&gt;execute([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':term' =&gt; '%'.$term.'%'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$productos = $stmt-&gt;fetchAll();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Resultado renderizado en HTML: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foreach($productos as $p)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echo "&lt;tr&gt;&lt;td&gt;{$p['nombre']}&lt;/td&gt;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&lt;td&gt;{$p['precio']}&lt;/td&gt;&lt;/tr&gt;";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74320" y="3621024"/>
            <a:ext cx="85953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0277BD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365760" y="365760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Criterio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706624" y="36576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4D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Interactivo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779008" y="36576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37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Inmerso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3931920"/>
            <a:ext cx="8595360" cy="182880"/>
          </a:xfrm>
          <a:prstGeom prst="rect">
            <a:avLst/>
          </a:prstGeom>
          <a:solidFill>
            <a:srgbClr val="E8F5E9"/>
          </a:solidFill>
          <a:ln w="12700">
            <a:solidFill>
              <a:srgbClr val="546E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Text 21"/>
          <p:cNvSpPr/>
          <p:nvPr/>
        </p:nvSpPr>
        <p:spPr>
          <a:xfrm>
            <a:off x="365760" y="3950208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Ejecutor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706624" y="3950208"/>
            <a:ext cx="3017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4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Humano (DBA/analista)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779008" y="3950208"/>
            <a:ext cx="3017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/ programa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74320" y="4133088"/>
            <a:ext cx="859536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46E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5"/>
          <p:cNvSpPr/>
          <p:nvPr/>
        </p:nvSpPr>
        <p:spPr>
          <a:xfrm>
            <a:off x="365760" y="4151376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Parámetros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706624" y="4151376"/>
            <a:ext cx="3017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4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Escritos manualmente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779008" y="4151376"/>
            <a:ext cx="3017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Tomados de inputs del usuario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74320" y="4334256"/>
            <a:ext cx="8595360" cy="182880"/>
          </a:xfrm>
          <a:prstGeom prst="rect">
            <a:avLst/>
          </a:prstGeom>
          <a:solidFill>
            <a:srgbClr val="E8F5E9"/>
          </a:solidFill>
          <a:ln w="12700">
            <a:solidFill>
              <a:srgbClr val="546E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Text 29"/>
          <p:cNvSpPr/>
          <p:nvPr/>
        </p:nvSpPr>
        <p:spPr>
          <a:xfrm>
            <a:off x="365760" y="4352544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706624" y="4352544"/>
            <a:ext cx="3017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4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Mostrado en interfaz SQL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779008" y="4352544"/>
            <a:ext cx="3017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Procesado por el código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74320" y="4535424"/>
            <a:ext cx="859536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46E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5" name="Text 33"/>
          <p:cNvSpPr/>
          <p:nvPr/>
        </p:nvSpPr>
        <p:spPr>
          <a:xfrm>
            <a:off x="365760" y="4553712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típico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2706624" y="4553712"/>
            <a:ext cx="3017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4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Admin, depuración, reportes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779008" y="4553712"/>
            <a:ext cx="3017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 de la aplicación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8F5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29184" y="0"/>
            <a:ext cx="8631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Tipos de Datos Avanzados en MariaDB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SGBD – SQL · POO  |  MariaDB/XAMPP  |  Ing. Sistemas – 4.° Sem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092440" y="4910328"/>
            <a:ext cx="8229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20/26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749808"/>
            <a:ext cx="8412480" cy="43891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502920" y="768096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MariaDB soporta tipos de datos avanzados que habilitan características de POO y manejo moderno de información.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1261872"/>
            <a:ext cx="8595360" cy="1024128"/>
          </a:xfrm>
          <a:prstGeom prst="rect">
            <a:avLst/>
          </a:prstGeom>
          <a:solidFill>
            <a:srgbClr val="0D1117"/>
          </a:solidFill>
          <a:ln w="12700">
            <a:solidFill>
              <a:srgbClr val="00BFA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384048" y="1316736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– Almacenamiento de objetos en MariaDB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84048" y="1536192"/>
            <a:ext cx="83759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JSON nativo (MariaDB 10.2+): almacenar objetos estructurados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 TABLE producto ADD COLUMN atributos JSON;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 producto SET atributos = '{"color":"rojo","talla":"M","material":"algodón"}' WHERE id_producto=1;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Consultar campo JSON con funciones nativas: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nombre, JSON_EXTRACT(atributos,'$.color') AS color,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JSON_VALUE(atributos,'$.talla') AS talla FROM producto WHERE id_producto=1;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2395728"/>
            <a:ext cx="8595360" cy="914400"/>
          </a:xfrm>
          <a:prstGeom prst="rect">
            <a:avLst/>
          </a:prstGeom>
          <a:solidFill>
            <a:srgbClr val="0D1117"/>
          </a:solidFill>
          <a:ln w="12700">
            <a:solidFill>
              <a:srgbClr val="00BFA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384048" y="2450592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 y SET – Tipos de valor controlado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84048" y="2670048"/>
            <a:ext cx="8375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ENUM: Lista de valores válidos (similar a constantes de clase)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 TABLE usuario ADD COLUMN rol ENUM('admin','editor','viewer','invitado') DEFAULT 'invitado';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SET: Múltiples valores (como un campo de bits)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 TABLE empleado ADD COLUMN permisos SET('leer','escribir','borrar','administrar') DEFAULT 'leer';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nombre, permisos FROM empleado WHERE FIND_IN_SET('escribir', permisos);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74320" y="3419856"/>
            <a:ext cx="8595360" cy="914400"/>
          </a:xfrm>
          <a:prstGeom prst="rect">
            <a:avLst/>
          </a:prstGeom>
          <a:solidFill>
            <a:srgbClr val="0D1117"/>
          </a:solidFill>
          <a:ln w="12700">
            <a:solidFill>
              <a:srgbClr val="00BFA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384048" y="3474720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 Virtuales – Derivadas automáticas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84048" y="3694176"/>
            <a:ext cx="8375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VIRTUAL COLUMNS (columnas generadas automáticamente)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 TABLE producto ADD COLUMN precio_iva DECIMAL(12,2)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 (ROUND(precio * 1.19, 2)) STORED;  -- STORED: calculada y guardada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 TABLE persona ADD COLUMN nombre_completo VARCHAR(170)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 (CONCAT(nombre, ' ', apellido)) VIRTUAL;  -- VIRTUAL: calculada en consulta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nombre_completo, precio_iva FROM producto JOIN persona ...;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" y="4443984"/>
            <a:ext cx="859536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420624" y="4471416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COLUMNS  </a:t>
            </a:r>
            <a:r>
              <a:rPr lang="en-US" sz="11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eliminan la necesidad de triggers para cálculos derivados simples. Las columnas VIRTUAL no ocupan espacio en disco; las STORED se almacenan y pueden indexarse.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8F5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29184" y="0"/>
            <a:ext cx="8631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Buenas Prácticas – SQL, Inmerso y POO en MariaDB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SGBD – SQL · POO  |  MariaDB/XAMPP  |  Ing. Sistemas – 4.° Sem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092440" y="4910328"/>
            <a:ext cx="8229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21/26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822960"/>
            <a:ext cx="42062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BFA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329184" y="896112"/>
            <a:ext cx="438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22960" y="877824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 Statements SIEMPRE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1152144"/>
            <a:ext cx="3547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Jamás concatenar inputs del usuario en SQL. Usar PDO/mysqli parámetros, mysql-connector, etc.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90872" y="822960"/>
            <a:ext cx="42062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BFA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4764024" y="896112"/>
            <a:ext cx="438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🎭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257800" y="877824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Usar VISTAS para abstracción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257800" y="1152144"/>
            <a:ext cx="3547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Ocultar JOINs complejos. Simplifica el código de la app y centraliza la lógica de presentación.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56032" y="1645920"/>
            <a:ext cx="42062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BFA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329184" y="1719072"/>
            <a:ext cx="438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2960" y="1700784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Encapsular en Stored Procedures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" y="1975104"/>
            <a:ext cx="3547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 de negocio compleja (pagos, transferencias, descuentos) debe vivir en la BD, no en la app.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90872" y="1645920"/>
            <a:ext cx="42062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BFA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4764024" y="1719072"/>
            <a:ext cx="438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📝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257800" y="1700784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Nombrar con convención clara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257800" y="1975104"/>
            <a:ext cx="3547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sp_ para procedures, fn_ para funciones, tg_ para triggers, v_ para vistas. Documenta parámetros.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56032" y="2468880"/>
            <a:ext cx="42062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BFA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5" name="Text 23"/>
          <p:cNvSpPr/>
          <p:nvPr/>
        </p:nvSpPr>
        <p:spPr>
          <a:xfrm>
            <a:off x="329184" y="2542032"/>
            <a:ext cx="438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822960" y="2523744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Optimizar EXPLAIN ANALYZE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2960" y="2798064"/>
            <a:ext cx="3547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poner en producción: EXPLAIN SELECT... para verificar que usa índices. Sin full scan.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90872" y="2468880"/>
            <a:ext cx="42062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BFA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9" name="Text 27"/>
          <p:cNvSpPr/>
          <p:nvPr/>
        </p:nvSpPr>
        <p:spPr>
          <a:xfrm>
            <a:off x="4764024" y="2542032"/>
            <a:ext cx="438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257800" y="2523744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Transacciones en operaciones compuestas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257800" y="2798064"/>
            <a:ext cx="3547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operación que toque 2+ tablas relacionadas debe ir en START TRANSACTION ... COMMIT.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56032" y="3291840"/>
            <a:ext cx="42062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BFA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3" name="Text 31"/>
          <p:cNvSpPr/>
          <p:nvPr/>
        </p:nvSpPr>
        <p:spPr>
          <a:xfrm>
            <a:off x="329184" y="3364992"/>
            <a:ext cx="438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🌐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22960" y="3346704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Charset utf8mb4 en todo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2960" y="3621024"/>
            <a:ext cx="3547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DATABASE y tablas con utf8mb4. Conexión PHP/Python también debe especificar charset.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690872" y="3291840"/>
            <a:ext cx="42062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BFA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7" name="Text 35"/>
          <p:cNvSpPr/>
          <p:nvPr/>
        </p:nvSpPr>
        <p:spPr>
          <a:xfrm>
            <a:off x="4764024" y="3364992"/>
            <a:ext cx="438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🧪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5257800" y="3346704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Probar Triggers con cuidado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257800" y="3621024"/>
            <a:ext cx="3547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triggers ejecutan implícitamente. Probar en BD de desarrollo antes de producción.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56032" y="4114800"/>
            <a:ext cx="42062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BFA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Text 39"/>
          <p:cNvSpPr/>
          <p:nvPr/>
        </p:nvSpPr>
        <p:spPr>
          <a:xfrm>
            <a:off x="329184" y="4187952"/>
            <a:ext cx="438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822960" y="4169664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 antes de indexar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22960" y="4443984"/>
            <a:ext cx="3547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crear índices 'por si acaso'. EXPLAIN revela qué columnas necesitan índice realmente.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690872" y="4114800"/>
            <a:ext cx="42062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BFA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5" name="Text 43"/>
          <p:cNvSpPr/>
          <p:nvPr/>
        </p:nvSpPr>
        <p:spPr>
          <a:xfrm>
            <a:off x="4764024" y="4187952"/>
            <a:ext cx="438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👁️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5257800" y="4169664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Vistas con seguridad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257800" y="4443984"/>
            <a:ext cx="3547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vistas que expongan solo columnas necesarias. GRANT SELECT a vistas, no a tablas directas.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8F5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29184" y="0"/>
            <a:ext cx="8631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Errores Comunes – SQL, Embedded y POO en BD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SGBD – SQL · POO  |  MariaDB/XAMPP  |  Ing. Sistemas – 4.° Sem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092440" y="4910328"/>
            <a:ext cx="8229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22/26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822960"/>
            <a:ext cx="4206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71C1C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256032" y="822960"/>
            <a:ext cx="64008" cy="91440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420624" y="87782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  SQL Injection por concatenación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20624" y="1170432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$sql = 'SELECT * FROM users WHERE id='.$_GET['id'] → Vulnerabilidad crítica. Prepared Statements siempre.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90872" y="822960"/>
            <a:ext cx="4206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71C1C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Shape 11"/>
          <p:cNvSpPr/>
          <p:nvPr/>
        </p:nvSpPr>
        <p:spPr>
          <a:xfrm>
            <a:off x="4690872" y="822960"/>
            <a:ext cx="64008" cy="91440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4855464" y="87782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  Stored Procedure sin manejo de errores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55464" y="1170432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SP sin DECLARE EXIT HANDLER deja la BD en estado inconsistente si falla. Siempre incluir el manejador.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56032" y="1847088"/>
            <a:ext cx="4206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71C1C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Shape 15"/>
          <p:cNvSpPr/>
          <p:nvPr/>
        </p:nvSpPr>
        <p:spPr>
          <a:xfrm>
            <a:off x="256032" y="1847088"/>
            <a:ext cx="64008" cy="91440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420624" y="190195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  Trigger que genera cascadas infinitas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" y="2194560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TRIGGER que hace UPDATE y ese UPDATE activa otro TRIGGER que vuelve a hacer UPDATE → bucle infinito.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90872" y="1847088"/>
            <a:ext cx="4206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71C1C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Shape 19"/>
          <p:cNvSpPr/>
          <p:nvPr/>
        </p:nvSpPr>
        <p:spPr>
          <a:xfrm>
            <a:off x="4690872" y="1847088"/>
            <a:ext cx="64008" cy="91440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20"/>
          <p:cNvSpPr/>
          <p:nvPr/>
        </p:nvSpPr>
        <p:spPr>
          <a:xfrm>
            <a:off x="4855464" y="190195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  Vista sobre vista (múltiples capas)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55464" y="2194560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Vista1 → Vista2 → Vista3 → tabla. El optimizer pierde eficiencia. Máximo 2 niveles de vistas encadenadas.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56032" y="2871216"/>
            <a:ext cx="4206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71C1C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5" name="Shape 23"/>
          <p:cNvSpPr/>
          <p:nvPr/>
        </p:nvSpPr>
        <p:spPr>
          <a:xfrm>
            <a:off x="256032" y="2871216"/>
            <a:ext cx="64008" cy="91440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4"/>
          <p:cNvSpPr/>
          <p:nvPr/>
        </p:nvSpPr>
        <p:spPr>
          <a:xfrm>
            <a:off x="420624" y="29260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  Lógica de negocio duplicada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20624" y="3218688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regla de descuento en la app Y en el SP. Al cambiar la regla, hay que actualizar en 2 lugares → inconsistencia.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90872" y="2871216"/>
            <a:ext cx="4206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71C1C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9" name="Shape 27"/>
          <p:cNvSpPr/>
          <p:nvPr/>
        </p:nvSpPr>
        <p:spPr>
          <a:xfrm>
            <a:off x="4690872" y="2871216"/>
            <a:ext cx="64008" cy="91440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0" name="Text 28"/>
          <p:cNvSpPr/>
          <p:nvPr/>
        </p:nvSpPr>
        <p:spPr>
          <a:xfrm>
            <a:off x="4855464" y="29260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  JSON sin índice en campos consultados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55464" y="3218688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JSON_EXTRACT en WHERE sin índice generado = full table scan en cada consulta. Crear GENERATED COLUMN + INDEX.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56032" y="3895344"/>
            <a:ext cx="4206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71C1C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3" name="Shape 31"/>
          <p:cNvSpPr/>
          <p:nvPr/>
        </p:nvSpPr>
        <p:spPr>
          <a:xfrm>
            <a:off x="256032" y="3895344"/>
            <a:ext cx="64008" cy="91440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4" name="Text 32"/>
          <p:cNvSpPr/>
          <p:nvPr/>
        </p:nvSpPr>
        <p:spPr>
          <a:xfrm>
            <a:off x="420624" y="39502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  ENUM sin migración al ampliar valores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20624" y="4242816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 TABLE para agregar un valor al ENUM en una tabla grande puede bloquear toda la tabla en producción.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690872" y="3895344"/>
            <a:ext cx="4206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71C1C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7" name="Shape 35"/>
          <p:cNvSpPr/>
          <p:nvPr/>
        </p:nvSpPr>
        <p:spPr>
          <a:xfrm>
            <a:off x="4690872" y="3895344"/>
            <a:ext cx="64008" cy="91440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8" name="Text 36"/>
          <p:cNvSpPr/>
          <p:nvPr/>
        </p:nvSpPr>
        <p:spPr>
          <a:xfrm>
            <a:off x="4855464" y="39502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  Conectar a BD como root en producción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855464" y="4242816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app de producción NUNCA debe conectarse como root. Crear usuario con solo los privilegios necesarios.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8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274320" y="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131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⚙  TALLER PRÁCTICO – Sesión 10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SGBD – SQL · POO  |  MariaDB/XAMPP  |  Ing. Sistemas – 4.° Sem  |  Mg. Sergio Burbano – Universitaria de Colombia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8092440" y="4910328"/>
            <a:ext cx="8229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65760" y="749808"/>
            <a:ext cx="8412480" cy="585216"/>
          </a:xfrm>
          <a:prstGeom prst="rect">
            <a:avLst/>
          </a:prstGeom>
          <a:solidFill>
            <a:srgbClr val="0B1F3A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502920" y="786384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🏦  Caso: </a:t>
            </a: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Sistema de Gestión de una Cooperativa de Ahorro y Crédito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1426464"/>
            <a:ext cx="8412480" cy="950976"/>
          </a:xfrm>
          <a:prstGeom prst="rect">
            <a:avLst/>
          </a:prstGeom>
          <a:solidFill>
            <a:srgbClr val="1A2C42"/>
          </a:solidFill>
          <a:ln w="12700">
            <a:solidFill>
              <a:srgbClr val="0277B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502920" y="1463040"/>
            <a:ext cx="8229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cooperativa maneja socios, cuentas de ahorro, préstamos y pagos de cuotas. Los socios tienen una categoría (regular, preferencial, VIP). Las cuentas tienen diferentes tipos y tasas. Los préstamos calculan interés automáticamente. Se debe auditar todos los movimientos y encapsular la lógica de cobro en stored procedures.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" y="248716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Actividades (2 horas — en parejas):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2779776"/>
            <a:ext cx="8412480" cy="237744"/>
          </a:xfrm>
          <a:prstGeom prst="rect">
            <a:avLst/>
          </a:prstGeom>
          <a:solidFill>
            <a:srgbClr val="1A2C42"/>
          </a:solidFill>
          <a:ln w="12700">
            <a:solidFill>
              <a:srgbClr val="0D47A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502920" y="279806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a)  </a:t>
            </a:r>
            <a:r>
              <a:rPr lang="en-US" sz="105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</a:t>
            </a:r>
            <a:r>
              <a:rPr lang="en-US" sz="1050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BD cooperativa en MariaDB/XAMPP con tablas para socios, cuentas (TPT herencia), préstamos y cuotas.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65760" y="3054096"/>
            <a:ext cx="8412480" cy="237744"/>
          </a:xfrm>
          <a:prstGeom prst="rect">
            <a:avLst/>
          </a:prstGeom>
          <a:solidFill>
            <a:srgbClr val="0B1F3A"/>
          </a:solidFill>
          <a:ln w="12700">
            <a:solidFill>
              <a:srgbClr val="0D47A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502920" y="307238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b)  </a:t>
            </a:r>
            <a:r>
              <a:rPr lang="en-US" sz="105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</a:t>
            </a:r>
            <a:r>
              <a:rPr lang="en-US" sz="1050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VISTA v_resumen_socio que abstraiga el saldo, deudas y cuotas pendientes de cada socio.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3328416"/>
            <a:ext cx="8412480" cy="237744"/>
          </a:xfrm>
          <a:prstGeom prst="rect">
            <a:avLst/>
          </a:prstGeom>
          <a:solidFill>
            <a:srgbClr val="1A2C42"/>
          </a:solidFill>
          <a:ln w="12700">
            <a:solidFill>
              <a:srgbClr val="0D47A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502920" y="334670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c)  </a:t>
            </a:r>
            <a:r>
              <a:rPr lang="en-US" sz="105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</a:t>
            </a:r>
            <a:r>
              <a:rPr lang="en-US" sz="1050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FUNCIÓN fn_calcular_interes(monto, tasa, meses) que encapsule el cálculo de interés compuesto.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5760" y="3602736"/>
            <a:ext cx="8412480" cy="237744"/>
          </a:xfrm>
          <a:prstGeom prst="rect">
            <a:avLst/>
          </a:prstGeom>
          <a:solidFill>
            <a:srgbClr val="0B1F3A"/>
          </a:solidFill>
          <a:ln w="12700">
            <a:solidFill>
              <a:srgbClr val="0D47A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502920" y="362102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d)  </a:t>
            </a:r>
            <a:r>
              <a:rPr lang="en-US" sz="105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</a:t>
            </a:r>
            <a:r>
              <a:rPr lang="en-US" sz="1050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SP sp_pagar_cuota(id_prestamo, monto) que registre el pago y actualice el saldo, con transacción.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3877056"/>
            <a:ext cx="8412480" cy="237744"/>
          </a:xfrm>
          <a:prstGeom prst="rect">
            <a:avLst/>
          </a:prstGeom>
          <a:solidFill>
            <a:srgbClr val="1A2C42"/>
          </a:solidFill>
          <a:ln w="12700">
            <a:solidFill>
              <a:srgbClr val="0D47A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502920" y="38953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e)  </a:t>
            </a:r>
            <a:r>
              <a:rPr lang="en-US" sz="105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</a:t>
            </a:r>
            <a:r>
              <a:rPr lang="en-US" sz="1050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 polimórficos para auditar INSERT, UPDATE y DELETE en la tabla socio.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65760" y="4151376"/>
            <a:ext cx="8412480" cy="237744"/>
          </a:xfrm>
          <a:prstGeom prst="rect">
            <a:avLst/>
          </a:prstGeom>
          <a:solidFill>
            <a:srgbClr val="0B1F3A"/>
          </a:solidFill>
          <a:ln w="12700">
            <a:solidFill>
              <a:srgbClr val="0D47A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Text 21"/>
          <p:cNvSpPr/>
          <p:nvPr/>
        </p:nvSpPr>
        <p:spPr>
          <a:xfrm>
            <a:off x="502920" y="416966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f)  </a:t>
            </a:r>
            <a:r>
              <a:rPr lang="en-US" sz="105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Conectar </a:t>
            </a:r>
            <a:r>
              <a:rPr lang="en-US" sz="1050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PHP con PDO: listar socios con sus saldos usando SQL inmerso y prepared statements.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65760" y="4425696"/>
            <a:ext cx="8412480" cy="237744"/>
          </a:xfrm>
          <a:prstGeom prst="rect">
            <a:avLst/>
          </a:prstGeom>
          <a:solidFill>
            <a:srgbClr val="1A2C42"/>
          </a:solidFill>
          <a:ln w="12700">
            <a:solidFill>
              <a:srgbClr val="0D47A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5" name="Text 23"/>
          <p:cNvSpPr/>
          <p:nvPr/>
        </p:nvSpPr>
        <p:spPr>
          <a:xfrm>
            <a:off x="502920" y="444398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g)  </a:t>
            </a:r>
            <a:r>
              <a:rPr lang="en-US" sz="105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</a:t>
            </a:r>
            <a:r>
              <a:rPr lang="en-US" sz="1050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herencia para cuentas: tabla base cuenta + cuenta_ahorro y cuenta_corriente especializadas.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65760" y="4864608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Entrega: Taller10_Apellido.sql + taller10.php + capturas phpMyAdmin.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8F5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29184" y="0"/>
            <a:ext cx="8631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Referencia Rápida – SQL + POO en MariaDB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SGBD – SQL · POO  |  MariaDB/XAMPP  |  Ing. Sistemas – 4.° Sem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092440" y="4910328"/>
            <a:ext cx="8229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24/26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" y="804672"/>
            <a:ext cx="2816352" cy="310896"/>
          </a:xfrm>
          <a:prstGeom prst="rect">
            <a:avLst/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329184" y="8046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DDL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6032" y="1115568"/>
            <a:ext cx="2816352" cy="365760"/>
          </a:xfrm>
          <a:prstGeom prst="rect">
            <a:avLst/>
          </a:prstGeom>
          <a:solidFill>
            <a:srgbClr val="E8F5E9"/>
          </a:solidFill>
          <a:ln w="12700">
            <a:solidFill>
              <a:srgbClr val="546E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329184" y="115214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TABLE / DATABASE / VIEW / INDEX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56032" y="1517904"/>
            <a:ext cx="2816352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546E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329184" y="15544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 TABLE (ADD/MODIFY/DROP COLUMN)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56032" y="1920240"/>
            <a:ext cx="2816352" cy="365760"/>
          </a:xfrm>
          <a:prstGeom prst="rect">
            <a:avLst/>
          </a:prstGeom>
          <a:solidFill>
            <a:srgbClr val="E8F5E9"/>
          </a:solidFill>
          <a:ln w="12700">
            <a:solidFill>
              <a:srgbClr val="546E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329184" y="195681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PROCEDURE / FUNCTION / TRIGGER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56032" y="2322576"/>
            <a:ext cx="2816352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546E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329184" y="235915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TABLE / VIEW / PROCEDURE / TRIGGER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00400" y="804672"/>
            <a:ext cx="2816352" cy="310896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3273552" y="8046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DML Avanzado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0" y="1115568"/>
            <a:ext cx="2816352" cy="365760"/>
          </a:xfrm>
          <a:prstGeom prst="rect">
            <a:avLst/>
          </a:prstGeom>
          <a:solidFill>
            <a:srgbClr val="E8F5E9"/>
          </a:solidFill>
          <a:ln w="12700">
            <a:solidFill>
              <a:srgbClr val="546E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3273552" y="115214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... WITH (CTE) / WINDOW FUNCTIONS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00400" y="1517904"/>
            <a:ext cx="2816352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546E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Text 21"/>
          <p:cNvSpPr/>
          <p:nvPr/>
        </p:nvSpPr>
        <p:spPr>
          <a:xfrm>
            <a:off x="3273552" y="15544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... SELECT / ON DUPLICATE KEY UPDATE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00400" y="1920240"/>
            <a:ext cx="2816352" cy="365760"/>
          </a:xfrm>
          <a:prstGeom prst="rect">
            <a:avLst/>
          </a:prstGeom>
          <a:solidFill>
            <a:srgbClr val="E8F5E9"/>
          </a:solidFill>
          <a:ln w="12700">
            <a:solidFill>
              <a:srgbClr val="546E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5" name="Text 23"/>
          <p:cNvSpPr/>
          <p:nvPr/>
        </p:nvSpPr>
        <p:spPr>
          <a:xfrm>
            <a:off x="3273552" y="195681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... JOIN / DELETE ... JOIN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0" y="2322576"/>
            <a:ext cx="2816352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546E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5"/>
          <p:cNvSpPr/>
          <p:nvPr/>
        </p:nvSpPr>
        <p:spPr>
          <a:xfrm>
            <a:off x="3273552" y="235915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SELECT ... (análisis de query)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144768" y="804672"/>
            <a:ext cx="2816352" cy="310896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9" name="Text 27"/>
          <p:cNvSpPr/>
          <p:nvPr/>
        </p:nvSpPr>
        <p:spPr>
          <a:xfrm>
            <a:off x="6217920" y="8046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POO – Abstracción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144768" y="1115568"/>
            <a:ext cx="2816352" cy="365760"/>
          </a:xfrm>
          <a:prstGeom prst="rect">
            <a:avLst/>
          </a:prstGeom>
          <a:solidFill>
            <a:srgbClr val="E8F5E9"/>
          </a:solidFill>
          <a:ln w="12700">
            <a:solidFill>
              <a:srgbClr val="546E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Text 29"/>
          <p:cNvSpPr/>
          <p:nvPr/>
        </p:nvSpPr>
        <p:spPr>
          <a:xfrm>
            <a:off x="6217920" y="115214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VIEW nombre AS SELECT ...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144768" y="1517904"/>
            <a:ext cx="2816352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546E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3" name="Text 31"/>
          <p:cNvSpPr/>
          <p:nvPr/>
        </p:nvSpPr>
        <p:spPr>
          <a:xfrm>
            <a:off x="6217920" y="15544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FUNCTION fn_nombre(...) RETURNS tipo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144768" y="1920240"/>
            <a:ext cx="2816352" cy="365760"/>
          </a:xfrm>
          <a:prstGeom prst="rect">
            <a:avLst/>
          </a:prstGeom>
          <a:solidFill>
            <a:srgbClr val="E8F5E9"/>
          </a:solidFill>
          <a:ln w="12700">
            <a:solidFill>
              <a:srgbClr val="546E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5" name="Text 33"/>
          <p:cNvSpPr/>
          <p:nvPr/>
        </p:nvSpPr>
        <p:spPr>
          <a:xfrm>
            <a:off x="6217920" y="195681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COLUMNS (VIRTUAL / STORED)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144768" y="2322576"/>
            <a:ext cx="2816352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546E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7" name="Text 35"/>
          <p:cNvSpPr/>
          <p:nvPr/>
        </p:nvSpPr>
        <p:spPr>
          <a:xfrm>
            <a:off x="6217920" y="235915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CREATE VIEW / PROCEDURE nombre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56032" y="2852928"/>
            <a:ext cx="2816352" cy="310896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9" name="Text 37"/>
          <p:cNvSpPr/>
          <p:nvPr/>
        </p:nvSpPr>
        <p:spPr>
          <a:xfrm>
            <a:off x="329184" y="285292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POO – Encapsulamiento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56032" y="3163824"/>
            <a:ext cx="2816352" cy="365760"/>
          </a:xfrm>
          <a:prstGeom prst="rect">
            <a:avLst/>
          </a:prstGeom>
          <a:solidFill>
            <a:srgbClr val="E8F5E9"/>
          </a:solidFill>
          <a:ln w="12700">
            <a:solidFill>
              <a:srgbClr val="546E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1" name="Text 39"/>
          <p:cNvSpPr/>
          <p:nvPr/>
        </p:nvSpPr>
        <p:spPr>
          <a:xfrm>
            <a:off x="329184" y="320040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PROCEDURE sp_nombre(IN/OUT params)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56032" y="3566160"/>
            <a:ext cx="2816352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546E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3" name="Text 41"/>
          <p:cNvSpPr/>
          <p:nvPr/>
        </p:nvSpPr>
        <p:spPr>
          <a:xfrm>
            <a:off x="329184" y="360273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DELIMITER // ... END // DELIMITER ;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6032" y="3968496"/>
            <a:ext cx="2816352" cy="365760"/>
          </a:xfrm>
          <a:prstGeom prst="rect">
            <a:avLst/>
          </a:prstGeom>
          <a:solidFill>
            <a:srgbClr val="E8F5E9"/>
          </a:solidFill>
          <a:ln w="12700">
            <a:solidFill>
              <a:srgbClr val="546E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5" name="Text 43"/>
          <p:cNvSpPr/>
          <p:nvPr/>
        </p:nvSpPr>
        <p:spPr>
          <a:xfrm>
            <a:off x="329184" y="400507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sp_nombre(args); / SELECT fn_()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56032" y="4370832"/>
            <a:ext cx="2816352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546E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7" name="Text 45"/>
          <p:cNvSpPr/>
          <p:nvPr/>
        </p:nvSpPr>
        <p:spPr>
          <a:xfrm>
            <a:off x="329184" y="440740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 HANDLER FOR SQLEXCEPTION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200400" y="2852928"/>
            <a:ext cx="2816352" cy="310896"/>
          </a:xfrm>
          <a:prstGeom prst="rect">
            <a:avLst/>
          </a:prstGeom>
          <a:solidFill>
            <a:srgbClr val="BF360C"/>
          </a:solidFill>
          <a:ln w="12700">
            <a:solidFill>
              <a:srgbClr val="BF360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9" name="Text 47"/>
          <p:cNvSpPr/>
          <p:nvPr/>
        </p:nvSpPr>
        <p:spPr>
          <a:xfrm>
            <a:off x="3273552" y="285292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POO – Polimorfismo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3200400" y="3163824"/>
            <a:ext cx="2816352" cy="365760"/>
          </a:xfrm>
          <a:prstGeom prst="rect">
            <a:avLst/>
          </a:prstGeom>
          <a:solidFill>
            <a:srgbClr val="E8F5E9"/>
          </a:solidFill>
          <a:ln w="12700">
            <a:solidFill>
              <a:srgbClr val="546E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1" name="Text 49"/>
          <p:cNvSpPr/>
          <p:nvPr/>
        </p:nvSpPr>
        <p:spPr>
          <a:xfrm>
            <a:off x="3273552" y="320040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TRIGGER tg_nombre AFTER INSERT ON ...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00400" y="3566160"/>
            <a:ext cx="2816352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546E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3" name="Text 51"/>
          <p:cNvSpPr/>
          <p:nvPr/>
        </p:nvSpPr>
        <p:spPr>
          <a:xfrm>
            <a:off x="3273552" y="360273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ROW BEGIN ... END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00400" y="3968496"/>
            <a:ext cx="2816352" cy="365760"/>
          </a:xfrm>
          <a:prstGeom prst="rect">
            <a:avLst/>
          </a:prstGeom>
          <a:solidFill>
            <a:srgbClr val="E8F5E9"/>
          </a:solidFill>
          <a:ln w="12700">
            <a:solidFill>
              <a:srgbClr val="546E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5" name="Text 53"/>
          <p:cNvSpPr/>
          <p:nvPr/>
        </p:nvSpPr>
        <p:spPr>
          <a:xfrm>
            <a:off x="3273552" y="400507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NEW.campo / OLD.campo (triggers)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200400" y="4370832"/>
            <a:ext cx="2816352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546E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7" name="Text 55"/>
          <p:cNvSpPr/>
          <p:nvPr/>
        </p:nvSpPr>
        <p:spPr>
          <a:xfrm>
            <a:off x="3273552" y="440740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SQLSTATE '45000' SET MESSAGE_TEXT=...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144768" y="2852928"/>
            <a:ext cx="2816352" cy="310896"/>
          </a:xfrm>
          <a:prstGeom prst="rect">
            <a:avLst/>
          </a:prstGeom>
          <a:solidFill>
            <a:srgbClr val="0277BD"/>
          </a:solidFill>
          <a:ln w="12700">
            <a:solidFill>
              <a:srgbClr val="0277B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9" name="Text 57"/>
          <p:cNvSpPr/>
          <p:nvPr/>
        </p:nvSpPr>
        <p:spPr>
          <a:xfrm>
            <a:off x="6217920" y="285292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Inmerso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6144768" y="3163824"/>
            <a:ext cx="2816352" cy="365760"/>
          </a:xfrm>
          <a:prstGeom prst="rect">
            <a:avLst/>
          </a:prstGeom>
          <a:solidFill>
            <a:srgbClr val="E8F5E9"/>
          </a:solidFill>
          <a:ln w="12700">
            <a:solidFill>
              <a:srgbClr val="546E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1" name="Text 59"/>
          <p:cNvSpPr/>
          <p:nvPr/>
        </p:nvSpPr>
        <p:spPr>
          <a:xfrm>
            <a:off x="6217920" y="320040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PHP: $pdo-&gt;prepare($sql); $stmt-&gt;execute([$p])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144768" y="3566160"/>
            <a:ext cx="2816352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546E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3" name="Text 61"/>
          <p:cNvSpPr/>
          <p:nvPr/>
        </p:nvSpPr>
        <p:spPr>
          <a:xfrm>
            <a:off x="6217920" y="360273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PHP: beginTransaction() / commit() / rollBack()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144768" y="3968496"/>
            <a:ext cx="2816352" cy="365760"/>
          </a:xfrm>
          <a:prstGeom prst="rect">
            <a:avLst/>
          </a:prstGeom>
          <a:solidFill>
            <a:srgbClr val="E8F5E9"/>
          </a:solidFill>
          <a:ln w="12700">
            <a:solidFill>
              <a:srgbClr val="546E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5" name="Text 63"/>
          <p:cNvSpPr/>
          <p:nvPr/>
        </p:nvSpPr>
        <p:spPr>
          <a:xfrm>
            <a:off x="6217920" y="400507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Python: cursor.execute(sql, (param,))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144768" y="4370832"/>
            <a:ext cx="2816352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546E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7" name="Text 65"/>
          <p:cNvSpPr/>
          <p:nvPr/>
        </p:nvSpPr>
        <p:spPr>
          <a:xfrm>
            <a:off x="6217920" y="440740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Node: conn.execute(sql, [param])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8F5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2179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29184" y="0"/>
            <a:ext cx="8631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Ejemplo 5 – JSON + Columnas Virtuales + Índices Generados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7772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SGBD – SQL · POO  |  MariaDB/XAMPP  |  Ing. Sistemas – 4.° Sem  |  Mg. Sergio Burbano – Universitaria de Colombia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092440" y="4910328"/>
            <a:ext cx="8229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25/26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749808"/>
            <a:ext cx="8412480" cy="43891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502920" y="768096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Caso: catálogo de productos con atributos variables por categoría, indexados para búsqueda eficiente.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1261872"/>
            <a:ext cx="8595360" cy="3584448"/>
          </a:xfrm>
          <a:prstGeom prst="rect">
            <a:avLst/>
          </a:prstGeom>
          <a:solidFill>
            <a:srgbClr val="0D1117"/>
          </a:solidFill>
          <a:ln w="12700">
            <a:solidFill>
              <a:srgbClr val="00BFA5"/>
            </a:solidFill>
            <a:prstDash val="solid"/>
          </a:ln>
          <a:effectLst>
            <a:outerShdw blurRad="889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384048" y="1316736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+ Columnas Virtuales + Índices Generados en MariaDB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84048" y="1536192"/>
            <a:ext cx="8375904" cy="321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producto (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id_producto  INT AUTO_INCREMENT PRIMARY KEY,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nombre       VARCHAR(100) NOT NULL,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precio       DECIMAL(12,2) NOT NULL,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atributos    JSON,          -- Almacena características variables por categoría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 Columnas virtuales derivadas de JSON (para facilitar búsqueda y visualización):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color        VARCHAR(30)  AS (JSON_UNQUOTE(JSON_EXTRACT(atributos,'$.color')))    VIRTUAL,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talla        VARCHAR(10)  AS (JSON_UNQUOTE(JSON_EXTRACT(atributos,'$.talla')))    VIRTUAL,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peso_kg      DECIMAL(8,2) AS (JSON_EXTRACT(atributos,'$.peso_kg'))                STORED,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precio_iva   DECIMAL(12,2) AS (ROUND(precio * 1.19, 2))                          STORED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ENGINE=InnoDB;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Crear índice en columna virtual STORED (para búsqueda rápida por color)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INDEX idx_color ON producto(color);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Insertar productos con atributos JSON por categoría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 INTO producto (nombre, precio, atributos) VALUES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('Camisa Polo', 89000, '{"color":"azul","talla":"M","material":"algodón","peso_kg":0.3}'),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('Laptop HP',  2490000, '{"ram":"16GB","almacenamiento":"512GB SSD","peso_kg":1.8}'),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('Café 500g',   18500, '{"origen":"Colombia","tueste":"medio","peso_kg":0.5}');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Consultar por columna virtual (usa índice si es STORED):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nombre, precio, precio_iva, color, talla, peso_kg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producto WHERE color = 'azul';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Buscar en JSON directamente: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nombre, JSON_VALUE(atributos, '$.ram') AS ram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producto WHERE JSON_VALUE(atributos, '$.peso_kg') &gt; 1.0;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Actualizar un campo específico del JSON: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 producto SET atributos = JSON_SET(atributos, '$.color', 'rojo') WHERE id_producto = 1;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Verificar la estructura del JSON almacenado: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D3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nombre, JSON_PRETTY(atributos) AS atributos_formateados FROM producto WHERE id_producto = 1;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8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" cy="514350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475488" y="0"/>
            <a:ext cx="164592" cy="5143500"/>
          </a:xfrm>
          <a:prstGeom prst="rect">
            <a:avLst/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868680" y="16459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00BFA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RESUMEN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68680" y="493776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 que aprendiste en la Sesión 10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68680" y="969264"/>
            <a:ext cx="3200400" cy="45720"/>
          </a:xfrm>
          <a:prstGeom prst="rect">
            <a:avLst/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868680" y="1170432"/>
            <a:ext cx="4023360" cy="1078992"/>
          </a:xfrm>
          <a:prstGeom prst="rect">
            <a:avLst/>
          </a:prstGeom>
          <a:solidFill>
            <a:srgbClr val="0B1F3A">
              <a:alpha val="75000"/>
            </a:srgbClr>
          </a:solidFill>
          <a:ln w="12700">
            <a:solidFill>
              <a:srgbClr val="0D47A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868680" y="1170432"/>
            <a:ext cx="502920" cy="107899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868680" y="1170432"/>
            <a:ext cx="502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131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63040" y="1261872"/>
            <a:ext cx="3364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FA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SGBD y SQL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463040" y="1572768"/>
            <a:ext cx="33649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MariaDB como SGBD, SQL categorías: DDL, DML, DCL, TCL.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74920" y="1170432"/>
            <a:ext cx="4023360" cy="1078992"/>
          </a:xfrm>
          <a:prstGeom prst="rect">
            <a:avLst/>
          </a:prstGeom>
          <a:solidFill>
            <a:srgbClr val="0B1F3A">
              <a:alpha val="75000"/>
            </a:srgbClr>
          </a:solidFill>
          <a:ln w="12700">
            <a:solidFill>
              <a:srgbClr val="0D47A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Shape 11"/>
          <p:cNvSpPr/>
          <p:nvPr/>
        </p:nvSpPr>
        <p:spPr>
          <a:xfrm>
            <a:off x="5074920" y="1170432"/>
            <a:ext cx="502920" cy="107899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5074920" y="1170432"/>
            <a:ext cx="502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131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669280" y="1261872"/>
            <a:ext cx="3364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FA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Interactivo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9280" y="1572768"/>
            <a:ext cx="33649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phpMyAdmin, CLI, CTEs, funciones de ventana ad-hoc.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68680" y="2359152"/>
            <a:ext cx="4023360" cy="1078992"/>
          </a:xfrm>
          <a:prstGeom prst="rect">
            <a:avLst/>
          </a:prstGeom>
          <a:solidFill>
            <a:srgbClr val="0B1F3A">
              <a:alpha val="75000"/>
            </a:srgbClr>
          </a:solidFill>
          <a:ln w="12700">
            <a:solidFill>
              <a:srgbClr val="0D47A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Shape 16"/>
          <p:cNvSpPr/>
          <p:nvPr/>
        </p:nvSpPr>
        <p:spPr>
          <a:xfrm>
            <a:off x="868680" y="2359152"/>
            <a:ext cx="502920" cy="107899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868680" y="2359152"/>
            <a:ext cx="502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131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463040" y="2450592"/>
            <a:ext cx="3364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FA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Inmerso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463040" y="2761488"/>
            <a:ext cx="33649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PDO, Python, Node.js con prepared statements seguros.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74920" y="2359152"/>
            <a:ext cx="4023360" cy="1078992"/>
          </a:xfrm>
          <a:prstGeom prst="rect">
            <a:avLst/>
          </a:prstGeom>
          <a:solidFill>
            <a:srgbClr val="0B1F3A">
              <a:alpha val="75000"/>
            </a:srgbClr>
          </a:solidFill>
          <a:ln w="12700">
            <a:solidFill>
              <a:srgbClr val="0D47A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Shape 21"/>
          <p:cNvSpPr/>
          <p:nvPr/>
        </p:nvSpPr>
        <p:spPr>
          <a:xfrm>
            <a:off x="5074920" y="2359152"/>
            <a:ext cx="502920" cy="107899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5074920" y="2359152"/>
            <a:ext cx="502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131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669280" y="2450592"/>
            <a:ext cx="3364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FA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Abstracción (POO)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669280" y="2761488"/>
            <a:ext cx="33649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VISTAS y FUNCIONES que ocultan complejidad.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68680" y="3547872"/>
            <a:ext cx="4023360" cy="1078992"/>
          </a:xfrm>
          <a:prstGeom prst="rect">
            <a:avLst/>
          </a:prstGeom>
          <a:solidFill>
            <a:srgbClr val="0B1F3A">
              <a:alpha val="75000"/>
            </a:srgbClr>
          </a:solidFill>
          <a:ln w="12700">
            <a:solidFill>
              <a:srgbClr val="0D47A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Shape 26"/>
          <p:cNvSpPr/>
          <p:nvPr/>
        </p:nvSpPr>
        <p:spPr>
          <a:xfrm>
            <a:off x="868680" y="3547872"/>
            <a:ext cx="502920" cy="107899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9" name="Text 27"/>
          <p:cNvSpPr/>
          <p:nvPr/>
        </p:nvSpPr>
        <p:spPr>
          <a:xfrm>
            <a:off x="868680" y="3547872"/>
            <a:ext cx="502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131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463040" y="3639312"/>
            <a:ext cx="3364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FA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Encapsulamiento (POO)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63040" y="3950208"/>
            <a:ext cx="33649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PROCEDURES con lógica de negocio protegida.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74920" y="3547872"/>
            <a:ext cx="4023360" cy="1078992"/>
          </a:xfrm>
          <a:prstGeom prst="rect">
            <a:avLst/>
          </a:prstGeom>
          <a:solidFill>
            <a:srgbClr val="0B1F3A">
              <a:alpha val="75000"/>
            </a:srgbClr>
          </a:solidFill>
          <a:ln w="12700">
            <a:solidFill>
              <a:srgbClr val="0D47A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3" name="Shape 31"/>
          <p:cNvSpPr/>
          <p:nvPr/>
        </p:nvSpPr>
        <p:spPr>
          <a:xfrm>
            <a:off x="5074920" y="3547872"/>
            <a:ext cx="502920" cy="107899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4" name="Text 32"/>
          <p:cNvSpPr/>
          <p:nvPr/>
        </p:nvSpPr>
        <p:spPr>
          <a:xfrm>
            <a:off x="5074920" y="3547872"/>
            <a:ext cx="502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131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669280" y="3639312"/>
            <a:ext cx="3364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FA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Herencia y Polimorfismo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669280" y="3950208"/>
            <a:ext cx="33649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3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TPT para jerarquías. TRIGGERS por evento (AFTER INSERT/UPDATE/DELETE).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6868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sesión: SQL Avanzado – Optimización, Índices, Particionamiento y Replicación en MariaDB.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8337</Words>
  <Application>Microsoft Office PowerPoint</Application>
  <PresentationFormat>Presentación en pantalla (16:9)</PresentationFormat>
  <Paragraphs>916</Paragraphs>
  <Slides>26</Slides>
  <Notes>26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26</vt:i4>
      </vt:variant>
    </vt:vector>
  </HeadingPairs>
  <TitlesOfParts>
    <vt:vector size="31" baseType="lpstr">
      <vt:lpstr>Arial</vt:lpstr>
      <vt:lpstr>Calibri</vt:lpstr>
      <vt:lpstr>Courier New</vt:lpstr>
      <vt:lpstr>Trebuchet MS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Sesión 10 – Sistema de Gestión de Base de Datos</dc:title>
  <dc:subject>PptxGenJS Presentation</dc:subject>
  <dc:creator>PptxGenJS</dc:creator>
  <cp:lastModifiedBy>Sergio A Burbano M</cp:lastModifiedBy>
  <cp:revision>2</cp:revision>
  <dcterms:created xsi:type="dcterms:W3CDTF">2026-04-12T18:25:19Z</dcterms:created>
  <dcterms:modified xsi:type="dcterms:W3CDTF">2026-04-12T20:20:21Z</dcterms:modified>
</cp:coreProperties>
</file>