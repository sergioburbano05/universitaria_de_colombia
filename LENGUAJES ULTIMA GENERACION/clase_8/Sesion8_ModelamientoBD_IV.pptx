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514350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0"/>
            <a:ext cx="164592" cy="5143500"/>
          </a:xfrm>
          <a:prstGeom prst="rect">
            <a:avLst/>
          </a:prstGeom>
          <a:solidFill>
            <a:srgbClr val="1456A0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658368"/>
            <a:ext cx="3291840" cy="38404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6583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170432"/>
            <a:ext cx="8229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Modelamiento de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 de Datos IV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68680" y="2816352"/>
            <a:ext cx="5029200" cy="45720"/>
          </a:xfrm>
          <a:prstGeom prst="rect">
            <a:avLst/>
          </a:prstGeom>
          <a:solidFill>
            <a:srgbClr val="1456A0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944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Normalización  ·  </a:t>
            </a:r>
            <a:pPr indent="0" marL="0">
              <a:buNone/>
            </a:pPr>
            <a:r>
              <a:rPr lang="en-US" sz="1500" dirty="0">
                <a:solidFill>
                  <a:srgbClr val="C8D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 → Relacional  ·  </a:t>
            </a:r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Estándar SQL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456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7673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 |  Ing. Sistemas – 4.° Semestre  |  Universitaria de Colombia  |  2025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4133088"/>
            <a:ext cx="8229600" cy="713232"/>
          </a:xfrm>
          <a:prstGeom prst="rect">
            <a:avLst/>
          </a:prstGeom>
          <a:solidFill>
            <a:srgbClr val="0C2340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4160520"/>
            <a:ext cx="7973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10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el proceso de normalización, aprender a derivar el modelo relacional desde un diagrama E-R y dominar las categorías del estándar SQL en MariaDB/XAMPP.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182880"/>
            <a:ext cx="1828800" cy="1828800"/>
          </a:xfrm>
          <a:prstGeom prst="ellipse">
            <a:avLst/>
          </a:prstGeom>
          <a:solidFill>
            <a:srgbClr val="1456A0">
              <a:alpha val="20000"/>
            </a:srgbClr>
          </a:solidFill>
          <a:ln w="12700">
            <a:solidFill>
              <a:srgbClr val="1456A0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de la Sesión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Modelamiento BD IV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804672"/>
            <a:ext cx="621792" cy="1243584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804672"/>
            <a:ext cx="621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6032" y="160934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69264" y="87782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Repaso Sesión 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9264" y="126187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DML, atributos, cardinalidad y diagrama E-R.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90872" y="804672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804672"/>
            <a:ext cx="621792" cy="124358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872" y="804672"/>
            <a:ext cx="621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90872" y="160934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04104" y="87782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Proceso de Normalización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04104" y="126187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1FN, 2FN, 3FN y BCNF completo con ejemplos.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176272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6D5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176272"/>
            <a:ext cx="621792" cy="1243584"/>
          </a:xfrm>
          <a:prstGeom prst="rect">
            <a:avLst/>
          </a:prstGeom>
          <a:solidFill>
            <a:srgbClr val="006D5B"/>
          </a:solidFill>
          <a:ln w="12700">
            <a:solidFill>
              <a:srgbClr val="006D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176272"/>
            <a:ext cx="621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56032" y="298094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69264" y="224942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 → Modelo Relacional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9264" y="263347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conversión: entidades, relaciones 1:1/1:N/N:M.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90872" y="2176272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1456A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90872" y="2176272"/>
            <a:ext cx="621792" cy="1243584"/>
          </a:xfrm>
          <a:prstGeom prst="rect">
            <a:avLst/>
          </a:prstGeom>
          <a:solidFill>
            <a:srgbClr val="1456A0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0872" y="2176272"/>
            <a:ext cx="621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90872" y="298094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04104" y="224942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Estándar SQL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04104" y="263347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DDL, DML, DCL, TCL y tipos de datos.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3547872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3547872"/>
            <a:ext cx="621792" cy="12435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3547872"/>
            <a:ext cx="621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56032" y="435254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69264" y="362102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Buenas Prácticas y Errores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9264" y="400507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diseño y errores frecuentes en MariaDB.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90872" y="3547872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90872" y="3547872"/>
            <a:ext cx="621792" cy="12435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90872" y="3547872"/>
            <a:ext cx="621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690872" y="4352544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404104" y="362102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Taller Práctico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04104" y="400507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+ ER→SQL completo en phpMyAdmin.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Repaso – Sesión 7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Modelamiento BD IV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93776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¿Recuerdas? Atributos ER, cardinalidad (1:1, 1:N, N:M), diagrama E-R de Chen y sentencias INSERT/UPDATE/DELETE/SELECT.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6032" y="1389888"/>
            <a:ext cx="28163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77824" y="1481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Atributos 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7824" y="1792224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compuesto, derivado, multivaluado, clave (PK) y nulo.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389888"/>
            <a:ext cx="28163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184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22192" y="1481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Cardinalidad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22192" y="1792224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1:1, 1:N, N:M → determina dónde va la FK y si se necesita tabla pivot.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44768" y="1389888"/>
            <a:ext cx="28163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36208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66560" y="1481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 E-R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1792224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Simbología de Chen: rectángulo=entidad, elipse=atributo, rombo=relación.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2743200"/>
            <a:ext cx="28163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7472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77824" y="28346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DML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7824" y="3145536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· UPDATE (con WHERE) · DELETE (con WHERE) · SELECT + JOIN.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2743200"/>
            <a:ext cx="28163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918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822192" y="28346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Formas Normales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22192" y="3145536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1FN (atomicidad), 2FN (dep. total), 3FN (sin dep. transitivas).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44768" y="2743200"/>
            <a:ext cx="28163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36208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766560" y="28346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XAMPP/MariaDB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66560" y="3145536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phpMyAdmin → pestaña SQL → escribir y ejecutar sentencias con Ctrl+Enter.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462272"/>
            <a:ext cx="8595360" cy="310896"/>
          </a:xfrm>
          <a:prstGeom prst="rect">
            <a:avLst/>
          </a:prstGeom>
          <a:solidFill>
            <a:srgbClr val="00B894">
              <a:alpha val="18000"/>
            </a:srgbClr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" y="44805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Hoy profundizaremos en normalización completa, convertiremos un diagrama E-R en SQL real y estudiaremos el estándar SQL en MariaDB.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Proceso de Normalización – Concepto y Objetivo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Modelamiento BD IV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Normalización: proceso sistemático de organizar atributos y tablas de una BD para reducir redundancia, anomalías y dependencias no deseadas.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63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1FN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81328" y="1536192"/>
            <a:ext cx="7114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atómicos. Sin grupos repetidos. Clave primaria válida.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solidFill>
            <a:srgbClr val="1456A0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194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2FN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38528" y="2267712"/>
            <a:ext cx="6199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1FN + Todo attr no clave depende de TODA la PK (aplica a PK compuesta).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371600" y="2926080"/>
            <a:ext cx="6400800" cy="6400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926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3FN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95728" y="2999232"/>
            <a:ext cx="5285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2FN + Sin dependencias transitivas entre atributos no clave.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28800" y="3657600"/>
            <a:ext cx="5486400" cy="64008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3657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BCNF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52928" y="3730752"/>
            <a:ext cx="4370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3FN reforzada: todo determinante debe ser superclave.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4462272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38912" y="448056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anomalías que elimina la normalización: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4700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Inserción  </a:t>
            </a:r>
            <a:pPr indent="0" marL="0">
              <a:buNone/>
            </a:pPr>
            <a:r>
              <a:rPr lang="en-US" sz="10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puedo insertar X sin Y)  |  </a:t>
            </a:r>
            <a:pPr indent="0" marL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 </a:t>
            </a:r>
            <a:pPr indent="0" marL="0">
              <a:buNone/>
            </a:pPr>
            <a:r>
              <a:rPr lang="en-US" sz="10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(cambio en 1 lugar requiere N actualizaciones)  |  </a:t>
            </a:r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 </a:t>
            </a:r>
            <a:pPr indent="0" marL="0">
              <a:buNone/>
            </a:pPr>
            <a:r>
              <a:rPr lang="en-US" sz="10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 borrar una fila pierdo datos necesarios)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Primera Forma Normal (1FN) – Atomicidad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Modelamiento BD IV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9377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1FN exige que cada celda contenga un único valor indivisible, no haya grupos de columnas repetidas y cada fila sea única (PK definida).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71600"/>
            <a:ext cx="402336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37160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VIOLA 1FN – PEDIDO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700784"/>
            <a:ext cx="10972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7373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id_pedido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1700784"/>
            <a:ext cx="146304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44752" y="173736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34640" y="1700784"/>
            <a:ext cx="146304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07792" y="173736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029968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06654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371600" y="2029968"/>
            <a:ext cx="1463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44752" y="206654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García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834640" y="2029968"/>
            <a:ext cx="1463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07792" y="206654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Café,Azúcar,Pan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359152"/>
            <a:ext cx="10972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39572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371600" y="2359152"/>
            <a:ext cx="14630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44752" y="239572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Torres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34640" y="2359152"/>
            <a:ext cx="14630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07792" y="239572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Leche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688336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724912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371600" y="2688336"/>
            <a:ext cx="1463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44752" y="272491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García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834640" y="2688336"/>
            <a:ext cx="1463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07792" y="272491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Café,Pan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4320" y="2834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'productos' contiene múltiples valores en una celda.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0" y="1371600"/>
            <a:ext cx="429768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1371600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CUMPLE 1FN – Tablas separadas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0" y="1700784"/>
            <a:ext cx="109728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45152" y="173736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id_pedido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0" y="1700784"/>
            <a:ext cx="137160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42432" y="1737360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040880" y="1700784"/>
            <a:ext cx="182880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14032" y="173736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0" y="2029968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45152" y="206654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669280" y="2029968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42432" y="206654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García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040880" y="2029968"/>
            <a:ext cx="1828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14032" y="206654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 detalle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0" y="2359152"/>
            <a:ext cx="10972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45152" y="239572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669280" y="2359152"/>
            <a:ext cx="13716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42432" y="239572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Torres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040880" y="2359152"/>
            <a:ext cx="18288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14032" y="239572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 detalle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0" y="2798064"/>
            <a:ext cx="128016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45152" y="2834640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id_pedido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852160" y="2798064"/>
            <a:ext cx="109728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25312" y="283464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id_prod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949440" y="2798064"/>
            <a:ext cx="192024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22592" y="283464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nombre_prod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0" y="3127248"/>
            <a:ext cx="12801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45152" y="316382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852160" y="3127248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25312" y="316382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949440" y="3127248"/>
            <a:ext cx="1920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22592" y="316382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572000" y="3456432"/>
            <a:ext cx="12801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45152" y="3493008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852160" y="3456432"/>
            <a:ext cx="10972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925312" y="349300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949440" y="3456432"/>
            <a:ext cx="19202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22592" y="3493008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Azúcar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572000" y="3785616"/>
            <a:ext cx="12801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645152" y="382219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852160" y="3785616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925312" y="3822192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949440" y="3785616"/>
            <a:ext cx="1920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022592" y="382219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4572000" y="38221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Tabla DETALLE_PEDIDO: un valor por celda.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274320" y="413308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Reglas 1FN: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274320" y="4425696"/>
            <a:ext cx="402336" cy="40233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74320" y="4425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786384" y="444398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columna tiene valores atómicos (sin listas ni conjuntos).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274320" y="4809744"/>
            <a:ext cx="402336" cy="40233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74320" y="4809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786384" y="482803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grupos de columnas repetidos (tel1, tel2, tel3 → tabla separada).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274320" y="5193792"/>
            <a:ext cx="402336" cy="40233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74320" y="5193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91" name="Text 89"/>
          <p:cNvSpPr/>
          <p:nvPr/>
        </p:nvSpPr>
        <p:spPr>
          <a:xfrm>
            <a:off x="786384" y="521208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fila es única — definir PK válida.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456A0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Segunda Forma Normal (2FN) – Dependencia Total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Modelamiento BD IV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93776"/>
          </a:xfrm>
          <a:prstGeom prst="rect">
            <a:avLst/>
          </a:prstGeom>
          <a:solidFill>
            <a:srgbClr val="1456A0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2FN = 1FN + Cada atributo no clave depende de TODA la clave primaria. Solo relevante cuando la PK es compuesta.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71600"/>
            <a:ext cx="859536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371600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VIOLA 2FN – DETALLE_VENTA (PK compuesta: id_venta + id_producto)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682496"/>
            <a:ext cx="137160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71907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id_venta(PK)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0" y="1682496"/>
            <a:ext cx="137160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19072" y="171907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id_prod(PK)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17520" y="1682496"/>
            <a:ext cx="20116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0672" y="1719072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nombre_prod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1682496"/>
            <a:ext cx="146304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2352" y="171907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precio_venta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1682496"/>
            <a:ext cx="10972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1719072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1682496"/>
            <a:ext cx="128016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2672" y="171907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cat_prod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011680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04825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45920" y="2011680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19072" y="204825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017520" y="2011680"/>
            <a:ext cx="2011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90672" y="20482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500g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0" y="2011680"/>
            <a:ext cx="1463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2352" y="204825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18500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92240" y="2011680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204825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589520" y="2011680"/>
            <a:ext cx="12801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62672" y="2048256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Bebidas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2340864"/>
            <a:ext cx="13716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2377440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V001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645920" y="2340864"/>
            <a:ext cx="13716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19072" y="2377440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017520" y="2340864"/>
            <a:ext cx="20116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90672" y="2377440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Azúcar 1kg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0" y="2340864"/>
            <a:ext cx="14630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02352" y="237744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4800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92240" y="2340864"/>
            <a:ext cx="10972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65392" y="237744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589520" y="2340864"/>
            <a:ext cx="12801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62672" y="2377440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2670048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270662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V002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645920" y="2670048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19072" y="270662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017520" y="2670048"/>
            <a:ext cx="2011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90672" y="270662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500g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029200" y="2670048"/>
            <a:ext cx="1463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02352" y="270662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18500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492240" y="2670048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65392" y="270662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589520" y="2670048"/>
            <a:ext cx="12801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62672" y="270662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Bebidas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274320" y="28163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'nombre_prod', 'cat_prod' dependen solo de id_producto, NO de id_venta+id_producto.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74320" y="3163824"/>
            <a:ext cx="859536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4048" y="3163824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CUMPLE 2FN – Tablas separadas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74320" y="3474720"/>
            <a:ext cx="137160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7472" y="351129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id_venta(PK)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645920" y="3474720"/>
            <a:ext cx="137160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719072" y="351129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id_prod(PK)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017520" y="3474720"/>
            <a:ext cx="146304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090672" y="351129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precio_venta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480560" y="3474720"/>
            <a:ext cx="109728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53712" y="351129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cant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74320" y="3803904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7472" y="3840480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V001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1645920" y="3803904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719072" y="3840480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017520" y="3803904"/>
            <a:ext cx="1463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090672" y="384048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18500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480560" y="3803904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53712" y="384048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274320" y="4133088"/>
            <a:ext cx="13716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47472" y="416966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V001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1645920" y="4133088"/>
            <a:ext cx="13716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719072" y="416966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3017520" y="4133088"/>
            <a:ext cx="14630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090672" y="416966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4800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4480560" y="4133088"/>
            <a:ext cx="10972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553712" y="416966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274320" y="34198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DETALLE_VENTA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754880" y="3474720"/>
            <a:ext cx="137160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828032" y="351129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id_prod(PK)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6126480" y="3474720"/>
            <a:ext cx="201168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199632" y="351129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nombre_prod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8138160" y="3474720"/>
            <a:ext cx="128016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211312" y="3511296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cat_prod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754880" y="3803904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828032" y="3840480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126480" y="3803904"/>
            <a:ext cx="2011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199632" y="3840480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500g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8138160" y="3803904"/>
            <a:ext cx="12801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211312" y="3840480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Bebidas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4754880" y="4133088"/>
            <a:ext cx="13716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828032" y="416966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6126480" y="4133088"/>
            <a:ext cx="20116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199632" y="416966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Azúcar 1kg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8138160" y="4133088"/>
            <a:ext cx="12801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211312" y="416966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4754880" y="34198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PRODUCTO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274320" y="4553712"/>
            <a:ext cx="8595360" cy="420624"/>
          </a:xfrm>
          <a:prstGeom prst="rect">
            <a:avLst/>
          </a:prstGeom>
          <a:solidFill>
            <a:srgbClr val="1456A0">
              <a:alpha val="12000"/>
            </a:srgbClr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20624" y="458114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2FN: </a:t>
            </a:r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PK es compuesta, mover todo atributo que dependa de solo UNA columna de la PK a una tabla separada con esa columna como PK.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3FN y BCNF – Dependencias Transitivas y Superclaves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Modelamiento BD IV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68096"/>
            <a:ext cx="8595360" cy="2743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8638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3FN = 2FN + Ningún atributo no clave depende de otro atributo no clave (eliminar dependencias transitivas).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115568"/>
            <a:ext cx="41148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11556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VIOLA 3FN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426464"/>
            <a:ext cx="118872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463040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id_emp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63040" y="1426464"/>
            <a:ext cx="146304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36192" y="146304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id_depto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0" y="1426464"/>
            <a:ext cx="146304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99232" y="146304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nom_depto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755648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792224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463040" y="1755648"/>
            <a:ext cx="1463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36192" y="179222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26080" y="1755648"/>
            <a:ext cx="1463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9232" y="179222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084832"/>
            <a:ext cx="118872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12140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463040" y="2084832"/>
            <a:ext cx="14630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36192" y="212140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926080" y="2084832"/>
            <a:ext cx="14630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212140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414016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450592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463040" y="2414016"/>
            <a:ext cx="1463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36192" y="245059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926080" y="2414016"/>
            <a:ext cx="1463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99232" y="245059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4320" y="2724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nom_depto depende de id_depto (no clave), no de id_emp.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1115568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CUMPLE 3FN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663440" y="1426464"/>
            <a:ext cx="118872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1463040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id_emp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852160" y="1426464"/>
            <a:ext cx="146304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25312" y="146304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id_depto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1755648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1792224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852160" y="1755648"/>
            <a:ext cx="1463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25312" y="179222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D01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2084832"/>
            <a:ext cx="118872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36592" y="212140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852160" y="2084832"/>
            <a:ext cx="14630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25312" y="212140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D01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663440" y="1371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EMPLEADO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2468880"/>
            <a:ext cx="146304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36592" y="250545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id_depto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26480" y="2468880"/>
            <a:ext cx="182880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99632" y="250545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nom_depto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663440" y="2798064"/>
            <a:ext cx="1463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36592" y="283464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D01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126480" y="2798064"/>
            <a:ext cx="1828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99632" y="283464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663440" y="3127248"/>
            <a:ext cx="14630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36592" y="316382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D02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126480" y="3127248"/>
            <a:ext cx="18288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99632" y="316382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663440" y="24140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DEPARTAMENTO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74320" y="3182112"/>
            <a:ext cx="8595360" cy="27432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0624" y="320040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BCNF (Boyce-Codd NF) = 3FN reforzada: todo determinante (X→Y) debe ser una superclave. Resuelve anomalías residuales de 3FN.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74320" y="3511296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949A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420624" y="354787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49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BCNF – MATERIA_PROFESOR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20624" y="3785616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(id_estudiante, id_materia)  </a:t>
            </a:r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Funcional: id_materia → id_profesor  </a:t>
            </a:r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id_materia no es superclave → viola BCNF.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MATERIA(id_materia, id_profesor) + INSCRIPCION(id_est, id_materia)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274320" y="4517136"/>
            <a:ext cx="8595360" cy="512064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0624" y="454456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Resumen: </a:t>
            </a:r>
            <a:pPr indent="0" marL="0">
              <a:buNone/>
            </a:pPr>
            <a:r>
              <a:rPr lang="en-US" sz="110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1FN → Atomicidad  |  </a:t>
            </a:r>
            <a:pPr indent="0" marL="0">
              <a:buNone/>
            </a:pPr>
            <a:r>
              <a:rPr lang="en-US" sz="110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2FN → Dep. total (PK compuesta)  |  </a:t>
            </a:r>
            <a:pPr indent="0" marL="0">
              <a:buNone/>
            </a:pPr>
            <a:r>
              <a:rPr lang="en-US" sz="110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3FN → Sin dep. transitiva  |  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 → Todo determinante es superclave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– Normalización Completa Paso a Paso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Modelamiento BD IV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Tabla inicial FACTURA_COMPLETA → normalizar hasta 3FN.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859536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280160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Tabla desnormalizada: FACTURA_COMPLETA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572768"/>
            <a:ext cx="137160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60934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#fac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0" y="1572768"/>
            <a:ext cx="146304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19072" y="160934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fecha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1572768"/>
            <a:ext cx="164592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82112" y="160934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id_cli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572768"/>
            <a:ext cx="164592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160934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nom_cli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1572768"/>
            <a:ext cx="91440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160934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ciudad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0" y="1572768"/>
            <a:ext cx="15544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88352" y="160934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1901952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193852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F001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45920" y="1901952"/>
            <a:ext cx="1463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19072" y="193852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2024-01-10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08960" y="1901952"/>
            <a:ext cx="1645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82112" y="193852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C01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1901952"/>
            <a:ext cx="1645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193852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G.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0" y="1901952"/>
            <a:ext cx="914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193852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Bogotá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315200" y="1901952"/>
            <a:ext cx="1554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88352" y="193852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P01:Café x2,P02:Azúcar x1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2231136"/>
            <a:ext cx="13716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226771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F002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645920" y="2231136"/>
            <a:ext cx="14630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19072" y="226771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2024-01-11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08960" y="2231136"/>
            <a:ext cx="164592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82112" y="226771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C01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2231136"/>
            <a:ext cx="164592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226771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G.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00800" y="2231136"/>
            <a:ext cx="914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226771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Bogotá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315200" y="2231136"/>
            <a:ext cx="15544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88352" y="2267712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P03:Pan x3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2761488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74320" y="2761488"/>
            <a:ext cx="731520" cy="40233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276148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1FN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97280" y="281635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'prods' → tabla DETALLE_FACTURA(id_fac, id_prod, nombre_prod, cantidad). Un producto por fila.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3218688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456A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74320" y="3218688"/>
            <a:ext cx="731520" cy="402336"/>
          </a:xfrm>
          <a:prstGeom prst="rect">
            <a:avLst/>
          </a:prstGeom>
          <a:solidFill>
            <a:srgbClr val="1456A0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321868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2FN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097280" y="327355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nombre_prod depende solo de id_prod (no de id_fac+id_prod) → separar tabla PRODUCTO(id_prod, nombre_prod).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74320" y="3675888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74320" y="3675888"/>
            <a:ext cx="731520" cy="402336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367588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3FN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097280" y="373075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nom_cli y ciudad dependen de id_cli (no de #fac) → separar tabla CLIENTE(id_cli, nom_cli, id_ciudad).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74320" y="4133088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949A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274320" y="4133088"/>
            <a:ext cx="731520" cy="402336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13308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BONUS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097280" y="418795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depende de id_ciudad → separar tabla CIUDAD(id_ciudad, nombre_ciudad). Limpieza final.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74320" y="4608576"/>
            <a:ext cx="8595360" cy="402336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0624" y="463600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3FN: 5 tablas limpias → </a:t>
            </a:r>
            <a:pPr indent="0" marL="0">
              <a:buNone/>
            </a:pPr>
            <a:r>
              <a:rPr lang="en-US" sz="110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 |  DETALLE_FACTURA  |  PRODUCTO  |  CLIENTE  |  CIUDAD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6D5B"/>
          </a:solidFill>
          <a:ln w="12700">
            <a:solidFill>
              <a:srgbClr val="006D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 → Modelo Relacional – Reglas de Conversión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Modelamiento BD IV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93776"/>
          </a:xfrm>
          <a:prstGeom prst="rect">
            <a:avLst/>
          </a:prstGeom>
          <a:solidFill>
            <a:srgbClr val="006D5B"/>
          </a:solidFill>
          <a:ln w="12700">
            <a:solidFill>
              <a:srgbClr val="006D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modelo relacional se deriva del diagrama E-R aplicando reglas sistemáticas. Cada elemento ER tiene una traducción directa en SQL.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D5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389888"/>
            <a:ext cx="475488" cy="384048"/>
          </a:xfrm>
          <a:prstGeom prst="rect">
            <a:avLst/>
          </a:prstGeom>
          <a:solidFill>
            <a:srgbClr val="006D5B"/>
          </a:solidFill>
          <a:ln w="12700">
            <a:solidFill>
              <a:srgbClr val="006D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38988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1472184"/>
            <a:ext cx="7936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 Fuerte  </a:t>
            </a:r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Tabla con los mismos atributos. La clave primaria del ER se convierte en PRIMARY KEY.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828800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828800"/>
            <a:ext cx="475488" cy="38404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82880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1911096"/>
            <a:ext cx="7936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 Débil  </a:t>
            </a:r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Tabla cuya PK incluye la FK de la entidad propietaria + su clave parcial.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267712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456A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267712"/>
            <a:ext cx="475488" cy="384048"/>
          </a:xfrm>
          <a:prstGeom prst="rect">
            <a:avLst/>
          </a:prstGeom>
          <a:solidFill>
            <a:srgbClr val="1456A0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26771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" y="2350008"/>
            <a:ext cx="7936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Compuesto  </a:t>
            </a:r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Los sub-atributos se convierten en columnas individuales de la tabla.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706624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706624"/>
            <a:ext cx="475488" cy="38404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70662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2788920"/>
            <a:ext cx="7936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Multivaluado  </a:t>
            </a:r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Nueva tabla separada con FK a la tabla principal.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145536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949A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145536"/>
            <a:ext cx="475488" cy="384048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14553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" y="3227832"/>
            <a:ext cx="7936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1:1  </a:t>
            </a:r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Añadir la FK en la tabla más conveniente (preferir la 'secundaria' o 'dependiente').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584448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456A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584448"/>
            <a:ext cx="475488" cy="384048"/>
          </a:xfrm>
          <a:prstGeom prst="rect">
            <a:avLst/>
          </a:prstGeom>
          <a:solidFill>
            <a:srgbClr val="1456A0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5844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1248" y="3666744"/>
            <a:ext cx="7936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1:N  </a:t>
            </a:r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Añadir la FK en la tabla del lado N (muchos). La FK referencia la PK del lado 1.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023360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D5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023360"/>
            <a:ext cx="475488" cy="384048"/>
          </a:xfrm>
          <a:prstGeom prst="rect">
            <a:avLst/>
          </a:prstGeom>
          <a:solidFill>
            <a:srgbClr val="006D5B"/>
          </a:solidFill>
          <a:ln w="12700">
            <a:solidFill>
              <a:srgbClr val="006D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0233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1248" y="4105656"/>
            <a:ext cx="7936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N:M  </a:t>
            </a:r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Nueva tabla pivot con las FK de ambas entidades como PK compuesta. Agregar atributos de la relación.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4462272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4462272"/>
            <a:ext cx="475488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4622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1248" y="4544568"/>
            <a:ext cx="7936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Derivado  </a:t>
            </a:r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se almacena. Se calcula en la consulta SQL (calculado en SELECT con expresiones).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6D5B"/>
          </a:solidFill>
          <a:ln w="12700">
            <a:solidFill>
              <a:srgbClr val="006D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– ER → Modelo Relacional (Sistema Académico)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Modelamiento BD IV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Sistema: ESTUDIANTE cursa MATERIA (N:M). MATERIA pertenece a DEPARTAMENTO (N:1). ESTUDIANTE tiene TELÉFONOS (multivaluado).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6032" y="1353312"/>
            <a:ext cx="4160520" cy="310896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35331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ESTUDIANTE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" y="1664208"/>
            <a:ext cx="41605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691640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id_estudiante (PK)  </a:t>
            </a:r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AI  </a:t>
            </a:r>
            <a:pPr indent="0" marL="0">
              <a:buNone/>
            </a:pPr>
            <a:r>
              <a:rPr lang="en-US" sz="850" i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entidad fuerte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1975104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002536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 </a:t>
            </a:r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VARCHAR(80)  </a:t>
            </a:r>
            <a:pPr indent="0" marL="0">
              <a:buNone/>
            </a:pPr>
            <a:r>
              <a:rPr lang="en-US" sz="850" i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simple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2286000"/>
            <a:ext cx="41605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313432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apellido  </a:t>
            </a:r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VARCHAR(80)  </a:t>
            </a:r>
            <a:pPr indent="0" marL="0">
              <a:buNone/>
            </a:pPr>
            <a:r>
              <a:rPr lang="en-US" sz="850" i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simple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596896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62432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fecha_nac  </a:t>
            </a:r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 </a:t>
            </a:r>
            <a:pPr indent="0" marL="0">
              <a:buNone/>
            </a:pPr>
            <a:r>
              <a:rPr lang="en-US" sz="850" i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simple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907792"/>
            <a:ext cx="41605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935224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id_ciudad (FK)  </a:t>
            </a:r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</a:t>
            </a:r>
            <a:pPr indent="0" marL="0">
              <a:buNone/>
            </a:pPr>
            <a:r>
              <a:rPr lang="en-US" sz="850" i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R6: relación N:1 con CIUDAD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45152" y="1353312"/>
            <a:ext cx="4160520" cy="310896"/>
          </a:xfrm>
          <a:prstGeom prst="rect">
            <a:avLst/>
          </a:prstGeom>
          <a:solidFill>
            <a:srgbClr val="006D5B"/>
          </a:solidFill>
          <a:ln w="12700">
            <a:solidFill>
              <a:srgbClr val="006D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135331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45152" y="1664208"/>
            <a:ext cx="41605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1691640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id_materia (PK)  </a:t>
            </a:r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AI  </a:t>
            </a:r>
            <a:pPr indent="0" marL="0">
              <a:buNone/>
            </a:pPr>
            <a:r>
              <a:rPr lang="en-US" sz="850" i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entidad fuerte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45152" y="1975104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2002536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 </a:t>
            </a:r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VARCHAR(100)  </a:t>
            </a:r>
            <a:pPr indent="0" marL="0">
              <a:buNone/>
            </a:pPr>
            <a:r>
              <a:rPr lang="en-US" sz="850" i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simple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45152" y="2286000"/>
            <a:ext cx="41605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2313432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creditos  </a:t>
            </a:r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TINYINT  </a:t>
            </a:r>
            <a:pPr indent="0" marL="0">
              <a:buNone/>
            </a:pPr>
            <a:r>
              <a:rPr lang="en-US" sz="850" i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simple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45152" y="2596896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262432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id_depto (FK)  </a:t>
            </a:r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</a:t>
            </a:r>
            <a:pPr indent="0" marL="0">
              <a:buNone/>
            </a:pPr>
            <a:r>
              <a:rPr lang="en-US" sz="850" i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R6: relación N:1 con DEPTO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3273552"/>
            <a:ext cx="4160520" cy="310896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27355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INSCRIPCION (pivot)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6032" y="3584448"/>
            <a:ext cx="41605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3611880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id_est (PK/FK)  </a:t>
            </a:r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</a:t>
            </a:r>
            <a:pPr indent="0" marL="0">
              <a:buNone/>
            </a:pPr>
            <a:r>
              <a:rPr lang="en-US" sz="850" i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R7: N:M → pivot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3895344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922776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id_materia (PK/FK)  </a:t>
            </a:r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</a:t>
            </a:r>
            <a:pPr indent="0" marL="0">
              <a:buNone/>
            </a:pPr>
            <a:r>
              <a:rPr lang="en-US" sz="850" i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R7: N:M → pivot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56032" y="4206240"/>
            <a:ext cx="41605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4233672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fecha_inscripcion  </a:t>
            </a:r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 </a:t>
            </a:r>
            <a:pPr indent="0" marL="0">
              <a:buNone/>
            </a:pPr>
            <a:r>
              <a:rPr lang="en-US" sz="850" i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de relación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6032" y="4517136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454456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nota_final  </a:t>
            </a:r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DECIMAL(4,2)  </a:t>
            </a:r>
            <a:pPr indent="0" marL="0">
              <a:buNone/>
            </a:pPr>
            <a:r>
              <a:rPr lang="en-US" sz="850" i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de relación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45152" y="3273552"/>
            <a:ext cx="4160520" cy="31089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327355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TELEFONO_EST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45152" y="3584448"/>
            <a:ext cx="41605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3611880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id_tel (PK)  </a:t>
            </a:r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AI  </a:t>
            </a:r>
            <a:pPr indent="0" marL="0">
              <a:buNone/>
            </a:pPr>
            <a:r>
              <a:rPr lang="en-US" sz="850" i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R4: multivaluado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45152" y="3895344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3922776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id_estudiante (FK)  </a:t>
            </a:r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</a:t>
            </a:r>
            <a:pPr indent="0" marL="0">
              <a:buNone/>
            </a:pPr>
            <a:r>
              <a:rPr lang="en-US" sz="850" i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a ESTUDIANTE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45152" y="4206240"/>
            <a:ext cx="41605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6592" y="4233672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  </a:t>
            </a:r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VARCHAR(20)  </a:t>
            </a:r>
            <a:pPr indent="0" marL="0">
              <a:buNone/>
            </a:pPr>
            <a:r>
              <a:rPr lang="en-US" sz="850" i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teléfono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6D5B"/>
          </a:solidFill>
          <a:ln w="12700">
            <a:solidFill>
              <a:srgbClr val="006D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– ER → SQL: Script DDL Completo (Sistema Académico)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Modelamiento BD IV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68096"/>
            <a:ext cx="8595360" cy="4059936"/>
          </a:xfrm>
          <a:prstGeom prst="rect">
            <a:avLst/>
          </a:prstGeom>
          <a:solidFill>
            <a:srgbClr val="0D1B2A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82296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DDL completo – Sistema Académico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42416"/>
            <a:ext cx="8375904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universidad;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R1: Entidad DEPARTAMENTO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departamento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id_depto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   VARCHAR(80) NOT NULL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R1: Entidad ESTUDIANTE + R6: FK a ciudad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estudiante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id_estudiante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        VARCHAR(80)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apellido      VARCHAR(80)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fecha_nac     DATE,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id_ciudad     INT,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(id_ciudad) REFERENCES ciudad(id_ciudad) ON DELETE SET NULL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R1: Entidad MATERIA + R6: FK a departamento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materia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id_materia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     VARCHAR(100)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creditos   TINYINT NOT NULL DEFAULT 3,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id_depto 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(id_depto) REFERENCES departamento(id_depto) ON DELETE RESTRICT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R7: Relación N:M → Tabla INSCRIPCION (pivot)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inscripcion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id_estudiante  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id_materia     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fecha_inscripcion DATE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nota_final        DECIMAL(4,2),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 KEY (id_estudiante, id_materia),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(id_estudiante) REFERENCES estudiante(id_estudiante) ON DELETE CASCADE,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(id_materia)    REFERENCES materia(id_materia)    ON DELETE RESTRICT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R4: Atributo multivaluado TELEFONOS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telefono_est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id_tel       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id_estudiante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numero        VARCHAR(20)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(id_estudiante) REFERENCES estudiante(id_estudiante) ON DELETE CASCADE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solidFill>
            <a:srgbClr val="006D5B">
              <a:alpha val="18000"/>
            </a:srgbClr>
          </a:solidFill>
          <a:ln w="12700">
            <a:solidFill>
              <a:srgbClr val="006D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4946904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Cada CREATE TABLE corresponde a una regla de conversión ER→Relacional. Los comentarios indican la regla aplicada.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Estándar SQL – Categorías y Subcategorías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Modelamiento BD IV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93776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(Structured Query Language) está organizado en 4 categorías principales. MariaDB implementa el estándar SQL:2016 con extensiones propias.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389888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1456A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389888"/>
            <a:ext cx="4206240" cy="420624"/>
          </a:xfrm>
          <a:prstGeom prst="rect">
            <a:avLst/>
          </a:prstGeom>
          <a:solidFill>
            <a:srgbClr val="1456A0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38988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🏗️  DDL – Data Definition Language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184708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 estructura de la BD.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208483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/ DATABASE / INDEX / VIEW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(agregar/modificar/eliminar columnas)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TABLE / DATABASE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TABLE (vaciar sin WHERE)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90872" y="1389888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D5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90872" y="1389888"/>
            <a:ext cx="4206240" cy="420624"/>
          </a:xfrm>
          <a:prstGeom prst="rect">
            <a:avLst/>
          </a:prstGeom>
          <a:solidFill>
            <a:srgbClr val="006D5B"/>
          </a:solidFill>
          <a:ln w="12700">
            <a:solidFill>
              <a:srgbClr val="006D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138988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✏️  DML – Data Manipulation Language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82312" y="184708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 los datos almacenados.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82312" y="208483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(consultar datos)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... VALUES (...)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tabla SET col=val WHERE ...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FROM tabla WHERE ...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3145536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145536"/>
            <a:ext cx="4206240" cy="42062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14553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🔐  DCL – Data Control Language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" y="360273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permisos y acceso.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38404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privilegios ON tabla TO usuario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privilegios ON tabla FROM usuario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 'nombre'@'host'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GRANTS FOR usuario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90872" y="3145536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90872" y="3145536"/>
            <a:ext cx="4206240" cy="42062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314553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TCL – Transaction Control Language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82312" y="360273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transacciones ACID.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82312" y="38404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TRANSACTION (iniciar transacción)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(confirmar cambios)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(deshacer cambios)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 nombre (punto intermedio)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DDL – CREATE, ALTER, DROP en MariaDB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Modelamiento BD IV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68096"/>
            <a:ext cx="8595360" cy="1353312"/>
          </a:xfrm>
          <a:prstGeom prst="rect">
            <a:avLst/>
          </a:prstGeom>
          <a:solidFill>
            <a:srgbClr val="0D1B2A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82296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 y CREATE TABLE con constraints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42416"/>
            <a:ext cx="83759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CREATE DATABASE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IF NOT EXISTS mi_empresa CHARACTER SET utf8mb4 COLLATE utf8mb4_spanish_ci;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mi_empresa;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CREATE TABLE con todos los tipos de constraint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empleado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id_empleado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      VARCHAR(80)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apellido    VARCHAR(80)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      VARCHAR(120) UNIQUE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salario     DECIMAL(12,2) NOT NULL DEFAULT 0.00,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cargo       ENUM('Junior','Senior','Lead','Manager') DEFAULT 'Junior',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activo      TINYINT(1) DEFAULT 1,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fecha_ingreso DATE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id_depto  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fk_emp_depto FOREIGN KEY (id_depto) REFERENCES departamento(id_depto)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ON DELETE RESTRICT ON UPDATE CASCADE,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ck_salario   CHECK (salario &gt;= 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 DEFAULT CHARSET=utf8mb4;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231136"/>
            <a:ext cx="4206240" cy="2542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2286000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– Modificar estructura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505456"/>
            <a:ext cx="398678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ALTER TABLE: agregar columna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empleado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COLUMN telefono VARCHAR(20);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ALTER TABLE: modificar tipo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empleado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 COLUMN nombre VARCHAR(100) NOT NULL;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ALTER TABLE: agregar índice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empleado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INDEX idx_email (email);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ALTER TABLE: eliminar columna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empleado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COLUMN telefono;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2231136"/>
            <a:ext cx="4206240" cy="2542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73168" y="2286000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/ TRUNCATE / VIEW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73168" y="2505456"/>
            <a:ext cx="398678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DROP TABLE (elimina tabla completa)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IF EXISTS empleado;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DROP DATABASE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DATABASE IF EXISTS mi_empresa;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TRUNCATE (vacía la tabla, reinicia AI)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TRUNCATE TABLE empleado;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CREATE VIEW (tabla virtual)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vista_empleados_activos 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id_empleado, nombre, apellido, cargo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empleado WHERE activo = 1;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DROP 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VIEW IF EXISTS vista_empleados_activos;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Datos en MariaDB – Referencia Completa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Modelamiento BD IV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Elegir el tipo de dato correcto impacta en almacenamiento, rendimiento e integridad de la información.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371600"/>
            <a:ext cx="4206240" cy="256032"/>
          </a:xfrm>
          <a:prstGeom prst="rect">
            <a:avLst/>
          </a:prstGeom>
          <a:solidFill>
            <a:srgbClr val="1456A0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3716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NUMÉRICOS ENTEROS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1627632"/>
            <a:ext cx="42062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166420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5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TINYINT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17904" y="166420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byte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359152" y="16642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activo, calificación (0-10)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1956816"/>
            <a:ext cx="4206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" y="199339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5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SMALLINT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17904" y="19933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bytes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359152" y="19933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edad, año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2286000"/>
            <a:ext cx="42062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232257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5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17904" y="232257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359152" y="23225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contador (PK recomendada)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2615184"/>
            <a:ext cx="4206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" y="265176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5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BIGINT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17904" y="265176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bytes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359152" y="26517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de alta cardinalidad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90872" y="1371600"/>
            <a:ext cx="4206240" cy="256032"/>
          </a:xfrm>
          <a:prstGeom prst="rect">
            <a:avLst/>
          </a:prstGeom>
          <a:solidFill>
            <a:srgbClr val="006D5B"/>
          </a:solidFill>
          <a:ln w="12700">
            <a:solidFill>
              <a:srgbClr val="006D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13716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NUMÉRICOS DECIMALES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90872" y="1627632"/>
            <a:ext cx="42062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45736" y="166420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DECIMAL(M,D)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52744" y="166420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793992" y="16642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precio, salario, IVA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90872" y="1956816"/>
            <a:ext cx="4206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45736" y="199339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52744" y="19933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793992" y="19933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 científicos (no dinero)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90872" y="2286000"/>
            <a:ext cx="42062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45736" y="232257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52744" y="232257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bytes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793992" y="23225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estadísticas, coordenadas GPS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6032" y="3200400"/>
            <a:ext cx="4206240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32004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CADENAS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56032" y="3456432"/>
            <a:ext cx="42062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0896" y="349300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CHAR(n)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517904" y="349300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Fijo n bytes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359152" y="34930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país, género (M/F)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56032" y="3785616"/>
            <a:ext cx="4206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" y="382219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VARCHAR(n)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517904" y="38221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359152" y="3822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email, descripción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56032" y="4114800"/>
            <a:ext cx="42062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0896" y="415137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517904" y="415137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359152" y="41513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comentarios, bio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56032" y="4443984"/>
            <a:ext cx="4206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" y="448056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ENUM(v1,v2)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517904" y="448056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bytes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359152" y="44805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('activo','inactivo')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690872" y="3200400"/>
            <a:ext cx="420624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82312" y="32004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FECHA Y HORA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690872" y="3456432"/>
            <a:ext cx="42062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45736" y="349300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952744" y="349300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bytes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793992" y="34930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fecha_nacimiento, fecha_pedido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690872" y="3785616"/>
            <a:ext cx="4206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45736" y="382219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952744" y="38221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bytes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793992" y="3822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fecha_creacion, timestamp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690872" y="4114800"/>
            <a:ext cx="420624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45736" y="415137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952744" y="415137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793992" y="41513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updated_at (ON UPDATE)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690872" y="4443984"/>
            <a:ext cx="4206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45736" y="448056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952744" y="448056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byte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793992" y="44805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año_publicacion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DDL – Constraints (Restricciones de Integridad)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Modelamiento BD IV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constraints son reglas que MariaDB enforza automáticamente para garantizar la integridad de los datos.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7160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371600"/>
            <a:ext cx="420624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716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KEY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" y="175564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unívocamente cada fila. NOT NULL implícito. Una por tabla.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157984"/>
            <a:ext cx="4023360" cy="237744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17627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C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INT AUTO_INCREMENT PRIMARY KEY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137160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371600"/>
            <a:ext cx="4206240" cy="329184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3716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FOREIGN KEY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00600" y="175564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PK de otra tabla. Garantiza integridad referencial. Acciones: CASCADE, RESTRICT, SET NULL.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157984"/>
            <a:ext cx="4023360" cy="237744"/>
          </a:xfrm>
          <a:prstGeom prst="rect">
            <a:avLst/>
          </a:prstGeom>
          <a:solidFill>
            <a:srgbClr val="0288D1">
              <a:alpha val="12000"/>
            </a:srgbClr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217627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C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 (id_cat) REFERENCES categoria(id)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578608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578608"/>
            <a:ext cx="4206240" cy="32918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5786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UNIQUE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65760" y="296265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permite duplicados en la columna, pero admite un NULL. Puede haber varias por tabla.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364992"/>
            <a:ext cx="4023360" cy="237744"/>
          </a:xfrm>
          <a:prstGeom prst="rect">
            <a:avLst/>
          </a:prstGeom>
          <a:solidFill>
            <a:srgbClr val="7B2FBE">
              <a:alpha val="12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38328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C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VARCHAR(120) UNIQUE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09160" y="2578608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D5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578608"/>
            <a:ext cx="4206240" cy="329184"/>
          </a:xfrm>
          <a:prstGeom prst="rect">
            <a:avLst/>
          </a:prstGeom>
          <a:solidFill>
            <a:srgbClr val="006D5B"/>
          </a:solidFill>
          <a:ln w="12700">
            <a:solidFill>
              <a:srgbClr val="006D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5786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NULL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800600" y="296265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columna no puede quedar vacía al insertar o actualizar. Esencial en campos obligatorios.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3364992"/>
            <a:ext cx="4023360" cy="237744"/>
          </a:xfrm>
          <a:prstGeom prst="rect">
            <a:avLst/>
          </a:prstGeom>
          <a:solidFill>
            <a:srgbClr val="006D5B">
              <a:alpha val="12000"/>
            </a:srgbClr>
          </a:solidFill>
          <a:ln w="12700">
            <a:solidFill>
              <a:srgbClr val="006D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338328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C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VARCHAR(80) NOT NULL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785616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1456A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785616"/>
            <a:ext cx="4206240" cy="329184"/>
          </a:xfrm>
          <a:prstGeom prst="rect">
            <a:avLst/>
          </a:prstGeom>
          <a:solidFill>
            <a:srgbClr val="1456A0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7856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DEFAULT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65760" y="416966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por defecto cuando no se especifica el campo en el INSERT.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572000"/>
            <a:ext cx="4023360" cy="237744"/>
          </a:xfrm>
          <a:prstGeom prst="rect">
            <a:avLst/>
          </a:prstGeom>
          <a:solidFill>
            <a:srgbClr val="1456A0">
              <a:alpha val="12000"/>
            </a:srgbClr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4590288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C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activo TINYINT(1) DEFAULT 1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09160" y="3785616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785616"/>
            <a:ext cx="4206240" cy="32918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7856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800600" y="416966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que el valor cumpla una condición lógica. MariaDB 10.2.1+ lo enforza.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00600" y="4572000"/>
            <a:ext cx="4023360" cy="237744"/>
          </a:xfrm>
          <a:prstGeom prst="rect">
            <a:avLst/>
          </a:prstGeom>
          <a:solidFill>
            <a:srgbClr val="E67E22">
              <a:alpha val="12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73752" y="4590288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C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ck_sal CHECK (salario &gt;= 0)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DCL y TCL – Control de Acceso y Transacciones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Modelamiento BD IV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68096"/>
            <a:ext cx="8595360" cy="2743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8638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🔐  DCL – Data Control Language: Gestión de usuarios y permisos en MariaDB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4206240" cy="2194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1152144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 – Usuarios y permisos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371600"/>
            <a:ext cx="3986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Crear usuario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USER 'dev'@'localhost'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IDENTIFIED BY 'pass_seguro123';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Otorgar permisos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SELECT, INSERT, UPDATE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universidad.* TO 'dev'@'localhost';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Ver permisos de un usuario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GRANTS FOR 'dev'@'localhost';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Revocar permisos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 DELETE ON universidad.*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'dev'@'localhost';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Eliminar usuario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USER 'dev'@'localhost';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768096"/>
            <a:ext cx="420624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78638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TCL – Transacciones ACID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097280"/>
            <a:ext cx="4206240" cy="2194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73168" y="1152144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– Transacciones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73168" y="1371600"/>
            <a:ext cx="3986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Iniciar transacción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Operaciones dentro de la transacción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cuenta SET saldo = saldo-500000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id_cuenta = 101;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cuenta SET saldo = saldo+500000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id_cuenta = 202;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Si todo bien: confirmar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Si hay error: deshacer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Punto de control parcial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SAVEPOINT antes_transferencia;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 TO antes_transferencia;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419856"/>
            <a:ext cx="85953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0624" y="34564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Propiedades ACID de las transacciones: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0624" y="3749040"/>
            <a:ext cx="3474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9536" y="3803904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Atomicidad: </a:t>
            </a:r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nada. Si falla una operación, se deshace todo.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18304" y="3749040"/>
            <a:ext cx="347472" cy="347472"/>
          </a:xfrm>
          <a:prstGeom prst="rect">
            <a:avLst/>
          </a:prstGeom>
          <a:solidFill>
            <a:srgbClr val="006D5B"/>
          </a:solidFill>
          <a:ln w="12700">
            <a:solidFill>
              <a:srgbClr val="006D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57216" y="3803904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Consistencia: </a:t>
            </a:r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BD pasa de un estado válido a otro válido.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0624" y="4206240"/>
            <a:ext cx="347472" cy="347472"/>
          </a:xfrm>
          <a:prstGeom prst="rect">
            <a:avLst/>
          </a:prstGeom>
          <a:solidFill>
            <a:srgbClr val="1456A0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9536" y="4261104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Aislamiento: </a:t>
            </a:r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transacciones concurrentes no interfieren entre sí.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18304" y="4206240"/>
            <a:ext cx="347472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18304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57216" y="4261104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Durabilidad: </a:t>
            </a:r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cambios confirmados (COMMIT) son permanentes.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DML Avanzado – SELECT con Subconsultas y Funciones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Modelamiento BD IV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68096"/>
            <a:ext cx="8595360" cy="969264"/>
          </a:xfrm>
          <a:prstGeom prst="rect">
            <a:avLst/>
          </a:prstGeom>
          <a:solidFill>
            <a:srgbClr val="0D1B2A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82296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Subconsulta correlacionada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42416"/>
            <a:ext cx="8375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Subconsulta en WHERE: estudiantes con nota mayor al promedio de su materia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e.nombre, i.nota_final, m.nombre AS materia FROM inscripcion 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estudiante e ON i.id_estudiante=e.id_estudiante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materia m ON i.id_materia=m.id_materia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i.nota_final &gt; (SELECT AVG(nota_final) FROM inscripcion i2 WHERE i2.id_materia=i.id_materia);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847088"/>
            <a:ext cx="8595360" cy="877824"/>
          </a:xfrm>
          <a:prstGeom prst="rect">
            <a:avLst/>
          </a:prstGeom>
          <a:solidFill>
            <a:srgbClr val="0D1B2A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1901952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 texto y fecha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121408"/>
            <a:ext cx="8375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Funciones de texto y fecha muy usadas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CONCAT(nombre,' ',apellido) AS nombre_completo,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DATEDIFF(NOW(), fecha_nac)/365.25 AS edad_aprox,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UPPER(email), LENGTH(nombre) AS largo_nombre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estudiante WHERE activo=1;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8595360" cy="877824"/>
          </a:xfrm>
          <a:prstGeom prst="rect">
            <a:avLst/>
          </a:prstGeom>
          <a:solidFill>
            <a:srgbClr val="0D1B2A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2889504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– columna calculada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108960"/>
            <a:ext cx="8375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CASE: columna condicional calculada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nombre, nota_final,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WHEN nota_final &gt;= 4.5 THEN 'Excelente'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WHEN nota_final &gt;= 3.5 THEN 'Bueno'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WHEN nota_final &gt;= 3.0 THEN 'Aprobado'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ELSE 'Reprobado' END AS estado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inscripcion i JOIN estudiante e ON i.id_estudiante=e.id_estudiante;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822192"/>
            <a:ext cx="8595360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" y="3877056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 ventana (RANK, ROW_NUMBER)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4096512"/>
            <a:ext cx="8375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Funciones de ventana (MariaDB 10.2+)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nombre, nota_final,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RANK() OVER (PARTITION BY id_materia ORDER BY nota_final DESC) AS ranking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inscripcion i JOIN estudiante e ON i.id_estudiante=e.id_estudiante;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773168"/>
            <a:ext cx="8595360" cy="237744"/>
          </a:xfrm>
          <a:prstGeom prst="rect">
            <a:avLst/>
          </a:prstGeom>
          <a:solidFill>
            <a:srgbClr val="00B894">
              <a:alpha val="18000"/>
            </a:srgbClr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479145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En phpMyAdmin: File → Exportar → SQL para guardar todo tu script. File → Importar para cargar un .sql existente.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Integrador – BD Tienda Completa en MariaDB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Modelamiento BD IV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680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 tienda: DDL + constraints + datos iniciales + consultas. Listo para ejecutar en phpMyAdmin.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8595360" cy="3511296"/>
          </a:xfrm>
          <a:prstGeom prst="rect">
            <a:avLst/>
          </a:prstGeom>
          <a:solidFill>
            <a:srgbClr val="0D1B2A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1316736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Tienda completa – DDL + datos iniciales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536192"/>
            <a:ext cx="8375904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IF NOT EXISTS tienda CHARACTER SET utf8mb4;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tienda;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categoria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id_categoria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 VARCHAR(60) NOT NULL UNIQUE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producto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id_producto 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       VARCHAR(100)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precio       DECIMAL(12,2)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stock        INT NOT NULL DEFAULT 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activo       TINYINT(1) DEFAULT 1,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id_categoria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fk_prod_cat FOREIGN KEY (id_categoria) REFERENCES categoria(id_categoria)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ON DELETE RESTRICT ON UPDATE CASCADE,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ck_precio CHECK (precio &gt; 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ck_stock  CHECK (stock &gt;= 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cliente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id_cliente  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       VARCHAR(80) 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       VARCHAR(120) NOT NULL UNIQUE,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  TIMESTAMP DEFAULT CURRENT_TIMESTAMP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orden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id_orden  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fecha      DATE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estado     ENUM('pendiente','procesada','enviada','entregada') DEFAULT 'pendiente',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id_cliente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(id_cliente) REFERENCES cliente(id_cliente) ON DELETE RESTRICT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Tabla pivot N:M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detalle_orden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id_orden  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id_producto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cantidad  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precio_unit DECIMAL(12,2)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 KEY (id_orden, id_producto),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(id_orden)    REFERENCES orden(id_orden)      ON DELETE CASCADE,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(id_producto) REFERENCES producto(id_producto) ON DELETE RESTRICT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Datos de prueba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categoria (nombre) VALUES ('Bebidas'),('Alimentos'),('Electrónica');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producto (nombre,precio,stock,id_categoria)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VALUES ('Café 500g',18500,150,1),('Azúcar 1kg',4800,300,2),('Audífonos BT',89000,30,3);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cliente (nombre,email) VALUES ('Ana García','ana@test.co'),('Luis Torres','luis@test.co');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– Consultas Avanzadas sobre la BD Tienda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Modelamiento BD IV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68096"/>
            <a:ext cx="8595360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82296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ventas por cliente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42416"/>
            <a:ext cx="8375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-- 1. Reporte: ventas totales por cliente y cantidad de órdenes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c.nombre, COUNT(o.id_orden) AS cant_ordenes,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SUM(d.cantidad * d.precio_unit) AS total_comprado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cliente 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orden o ON c.id_cliente=o.id_cliente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detalle_orden d ON o.id_orden=d.id_orden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c.id_cliente ORDER BY total_comprado DESC;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901952"/>
            <a:ext cx="8595360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1956816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nunca vendidos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176272"/>
            <a:ext cx="8375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-- 2. Productos sin ventas (LEFT JOIN + IS NULL)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p.nombre, p.stock FROM producto 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detalle_orden d ON p.id_producto=d.id_producto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d.id_producto IS NULL ORDER BY p.nombre;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852928"/>
            <a:ext cx="8595360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2907792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productos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127248"/>
            <a:ext cx="8375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-- 3. Top 3 productos más vendidos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p.nombre, SUM(d.cantidad) AS total_und, SUM(d.cantidad*d.precio_unit) AS ingresos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detalle_orden d JOIN producto p ON d.id_producto=p.id_producto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p.id_producto ORDER BY total_und DESC LIMIT 3;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803904"/>
            <a:ext cx="8595360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" y="3858768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completa con transacción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4078224"/>
            <a:ext cx="8375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-- 4. Actualizar stock tras venta + transacción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orden (fecha, estado, id_cliente) VALUES (NOW(), 'pendiente', 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@nuevo_id = LAST_INSERT_ID();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detalle_orden VALUES (@nuevo_id, 1, 2, 18500);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producto SET stock = stock - 2 WHERE id_producto = 1;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754880"/>
            <a:ext cx="8595360" cy="237744"/>
          </a:xfrm>
          <a:prstGeom prst="rect">
            <a:avLst/>
          </a:prstGeom>
          <a:solidFill>
            <a:srgbClr val="006D5B">
              <a:alpha val="18000"/>
            </a:srgbClr>
          </a:solidFill>
          <a:ln w="12700">
            <a:solidFill>
              <a:srgbClr val="006D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4773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LAST_INSERT_ID() devuelve el id generado por el último AUTO_INCREMENT. Esencial para insertar filas relacionadas en cadena.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Vistas e Índices en MariaDB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Modelamiento BD IV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68096"/>
            <a:ext cx="8595360" cy="256032"/>
          </a:xfrm>
          <a:prstGeom prst="rect">
            <a:avLst/>
          </a:prstGeom>
          <a:solidFill>
            <a:srgbClr val="1456A0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86384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VISTAS (VIEWS) – Tablas virtuales que simplifican consultas complejas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078992"/>
            <a:ext cx="4206240" cy="129844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1133856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353312"/>
            <a:ext cx="39867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Crear vista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v_productos_activos 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p.nombre, p.precio, c.nombre AS categoria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producto 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categoria c ON p.id_categoria=c.id_categoria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p.activo = 1;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Usar la vista como si fuera una tabla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v_productos_activos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precio &lt; 50000;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768096"/>
            <a:ext cx="4206240" cy="256032"/>
          </a:xfrm>
          <a:prstGeom prst="rect">
            <a:avLst/>
          </a:prstGeom>
          <a:solidFill>
            <a:srgbClr val="006D5B"/>
          </a:solidFill>
          <a:ln w="12700">
            <a:solidFill>
              <a:srgbClr val="006D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7863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Ventajas de las Vistas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078992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D5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78992"/>
            <a:ext cx="64008" cy="1298448"/>
          </a:xfrm>
          <a:prstGeom prst="rect">
            <a:avLst/>
          </a:prstGeom>
          <a:solidFill>
            <a:srgbClr val="006D5B"/>
          </a:solidFill>
          <a:ln w="12700">
            <a:solidFill>
              <a:srgbClr val="006D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1133856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qué usar Vistas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18888" y="1417320"/>
            <a:ext cx="39593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 consultas complejas repetitivas.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 detalles de implementación a los usuarios.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control granular de acceso (con DCL).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usan igual que una tabla: SELECT, JOIN.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487168"/>
            <a:ext cx="8595360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50545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ÍNDICES – Aceleran las búsquedas en tablas grandes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798064"/>
            <a:ext cx="4206240" cy="148132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" y="2852928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y gestión de índices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" y="3072384"/>
            <a:ext cx="39867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Crear índice en columna de búsqueda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idx_nombre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producto(nombre);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Índice compuesto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idx_cli_estado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orden(id_cliente, estado);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Ver índices de una tabla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INDEXES FROM producto;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Eliminar índice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INDEX idx_nombre ON producto;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798064"/>
            <a:ext cx="42062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798064"/>
            <a:ext cx="64008" cy="148132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852928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Cuándo usar Índices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18888" y="3136392"/>
            <a:ext cx="395935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usadas en WHERE frecuentemente.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en JOIN (las FK ya tienen índice automático).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en ORDER BY de consultas grandes.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Cada índice ocupa espacio y frena INSERT/UPDATE.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370832"/>
            <a:ext cx="8595360" cy="347472"/>
          </a:xfrm>
          <a:prstGeom prst="rect">
            <a:avLst/>
          </a:prstGeom>
          <a:solidFill>
            <a:srgbClr val="0C2340">
              <a:alpha val="15000"/>
            </a:srgbClr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43982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</a:t>
            </a:r>
            <a:pPr indent="0" marL="0">
              <a:buNone/>
            </a:pPr>
            <a:r>
              <a:rPr lang="en-US" sz="110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y FK ya tienen índice automático en MariaDB/InnoDB. Agrega índices adicionales solo en columnas que uses frecuentemente en WHERE o JOIN.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Buenas Prácticas – Diseño y SQL en MariaDB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Modelamiento BD IV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" y="89611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87782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Diseñar antes de codificar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152144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diagrama E-R y normalizar hasta 3FN antes de escribir el primer CREATE TABLE.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90872" y="82296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64024" y="89611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76088" y="87782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PK siempre AUTO_INCREMENT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76088" y="1152144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tabla necesita id INT AUTO_INCREMENT PRIMARY KEY. Nunca usar datos del negocio como PK.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1664208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" y="1737360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" y="1719072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utf8mb4 en toda la BD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1993392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crear: CHARACTER SET utf8mb4 COLLATE utf8mb4_spanish_ci para soportar emojis y ñ/tildes.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90872" y="1664208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64024" y="1737360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76088" y="1719072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Nombres de objetos claros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76088" y="1993392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snake_case, minúsculas: cliente, detalle_orden, idx_email. Sin espacios, tildes ni CamelCase.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2505456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9184" y="257860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1248" y="2560320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Definir FOREIGN KEY siempre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" y="2834640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ON DELETE RESTRICT (defecto seguro) o CASCADE (si tiene sentido eliminar hijos con padre).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90872" y="2505456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64024" y="257860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76088" y="2560320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constraints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76088" y="2834640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CHECK para validar reglas del negocio: salario&gt;=0, precio&gt;0, stock&gt;=0.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3346704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29184" y="3419856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41248" y="3401568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antes de cambios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1248" y="3675888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mysqldump -u root nombrebd &gt; backup_$(date +%Y%m%d).sql antes de ALTER masivos.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90872" y="3346704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64024" y="3419856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276088" y="3401568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en UPDATE/DELETE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76088" y="3675888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ejecutar UPDATE o DELETE sin WHERE en producción. Siempre verificar con SELECT antes.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6032" y="4187952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29184" y="426110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41248" y="4242816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Usar transacciones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41248" y="4517136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relacionadas (ej: insertar orden + detalles + actualizar stock) deben ir en una transacción.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90872" y="4187952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764024" y="426110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276088" y="4242816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Indexar columnas clave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76088" y="4517136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usadas en WHERE, JOIN y ORDER BY frecuentes. Las FK ya tienen índice automático.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Errores Comunes y Cómo Evitarlos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Modelamiento BD IV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822960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87782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No normalizar primero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" y="1170432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tablas directamente sin diagrama E-R ni normalización genera esquemas con redundancia severa que son muy difíciles de refactorizar.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90872" y="82296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822960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87782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UPDATE/DELETE sin WHERE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55464" y="1170432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producto SET precio=0 (sin WHERE) → modifica TODOS los productos. Pérdida de datos irreversible sin backup.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1847088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1847088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190195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Mezclar DDL y DML en producción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" y="2194560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ALTER TABLE en una tabla con millones de filas puede bloquear la BD por minutos. Planificar en ventanas de mantenimiento.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90872" y="1847088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90872" y="1847088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5464" y="190195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Olvidar ON DELETE en FK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55464" y="2194560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 ON DELETE, MariaDB usa RESTRICT por defecto. Puede sorprender al intentar borrar registros padre con hijos.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2871216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2871216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292608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Guardar dinero como FLOAT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0624" y="3218688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FLOAT/DOUBLE tienen imprecisión binaria. 0.1+0.2 puede dar 0.30000000000004. Para dinero: DECIMAL(12,2) siempre.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90872" y="2871216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90872" y="2871216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5464" y="292608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Sin utf8mb4 en la BD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55464" y="3218688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la BD sin especificar charset puede usar latin1, corrompiendo caracteres especiales (ñ, tildes, emojis).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3895344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3895344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3950208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No usar transacciones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0624" y="4242816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en tablas relacionadas (orden + detalles + stock) sin transacción deja la BD en estado inconsistente si falla una sentencia.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90872" y="3895344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90872" y="3895344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5464" y="3950208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Ignorar los índices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55464" y="4242816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sobre columnas sin índice en tablas de millones de filas = consultas que tardan minutos. Las FK tienen índice, las demás no.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  TALLER PRÁCTICO – Sesión 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Modelamiento BD IV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8412480" cy="603504"/>
          </a:xfrm>
          <a:prstGeom prst="rect">
            <a:avLst/>
          </a:prstGeom>
          <a:solidFill>
            <a:srgbClr val="0C23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863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🏨  Caso: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de Gestión de un Hotel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444752"/>
            <a:ext cx="8412480" cy="960120"/>
          </a:xfrm>
          <a:prstGeom prst="rect">
            <a:avLst/>
          </a:prstGeom>
          <a:solidFill>
            <a:srgbClr val="1A2C42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81328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hotel necesita gestionar sus habitaciones, huéspedes, reservas y servicios adicionales. Una reserva puede incluir varios servicios (desayuno, spa, parqueadero). Un huésped puede tener múltiples reservas. Cada habitación tiene un tipo (individual, doble, suite) y un precio por noche.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50545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Actividades (2 horas — en parejas):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798064"/>
            <a:ext cx="8412480" cy="256032"/>
          </a:xfrm>
          <a:prstGeom prst="rect">
            <a:avLst/>
          </a:prstGeom>
          <a:solidFill>
            <a:srgbClr val="1A2C42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254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0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</a:t>
            </a:r>
            <a:pPr indent="0" marL="0">
              <a:buNone/>
            </a:pPr>
            <a:r>
              <a:rPr lang="en-US" sz="10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diagrama E-R completo con entidades, atributos (incluyendo un multivaluado) y relaciones con cardinalidades.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90672"/>
            <a:ext cx="841248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181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0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</a:t>
            </a:r>
            <a:pPr indent="0" marL="0">
              <a:buNone/>
            </a:pPr>
            <a:r>
              <a:rPr lang="en-US" sz="10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 desnormalizada RESERVA_COMPLETA hasta 3FN, mostrando cada paso.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8412480" cy="256032"/>
          </a:xfrm>
          <a:prstGeom prst="rect">
            <a:avLst/>
          </a:prstGeom>
          <a:solidFill>
            <a:srgbClr val="1A2C42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107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0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 </a:t>
            </a:r>
            <a:pPr indent="0" marL="0">
              <a:buNone/>
            </a:pPr>
            <a:r>
              <a:rPr lang="en-US" sz="10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relacional aplicando las reglas R1-R7 al diagrama E-R.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675888"/>
            <a:ext cx="841248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03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0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</a:t>
            </a:r>
            <a:pPr indent="0" marL="0">
              <a:buNone/>
            </a:pPr>
            <a:r>
              <a:rPr lang="en-US" sz="10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DDL completo en MariaDB con todas las constraints (PK, FK, UNIQUE, CHECK, DEFAULT).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968496"/>
            <a:ext cx="8412480" cy="256032"/>
          </a:xfrm>
          <a:prstGeom prst="rect">
            <a:avLst/>
          </a:prstGeom>
          <a:solidFill>
            <a:srgbClr val="1A2C42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95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 </a:t>
            </a:r>
            <a:pPr indent="0" marL="0">
              <a:buNone/>
            </a:pPr>
            <a:r>
              <a:rPr lang="en-US" sz="10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Poblar </a:t>
            </a:r>
            <a:pPr indent="0" marL="0">
              <a:buNone/>
            </a:pPr>
            <a:r>
              <a:rPr lang="en-US" sz="10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BD con al menos 3 tipos de habitación, 5 huéspedes, 8 reservas y 4 servicios.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261104"/>
            <a:ext cx="841248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885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  </a:t>
            </a:r>
            <a:pPr indent="0" marL="0">
              <a:buNone/>
            </a:pPr>
            <a:r>
              <a:rPr lang="en-US" sz="10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</a:t>
            </a:r>
            <a:pPr indent="0" marL="0">
              <a:buNone/>
            </a:pPr>
            <a:r>
              <a:rPr lang="en-US" sz="10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huéspedes con reservas activas, el ingreso total por tipo de habitación y habitaciones disponibles en una fecha.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553712"/>
            <a:ext cx="8412480" cy="256032"/>
          </a:xfrm>
          <a:prstGeom prst="rect">
            <a:avLst/>
          </a:prstGeom>
          <a:solidFill>
            <a:srgbClr val="1A2C42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5811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g)  </a:t>
            </a:r>
            <a:pPr indent="0" marL="0">
              <a:buNone/>
            </a:pPr>
            <a:r>
              <a:rPr lang="en-US" sz="10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</a:t>
            </a:r>
            <a:pPr indent="0" marL="0">
              <a:buNone/>
            </a:pPr>
            <a:r>
              <a:rPr lang="en-US" sz="10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transacción completa para crear una reserva nueva (INSERT en reserva + servicios + actualizar disponibilidad).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88289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Script SQL completo (.sql) + capturas phpMyAdmin + diagrama E-R (imagen o Workbench).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Parcial – SQL Sistema Hotel (Orientación Taller)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Modelamiento BD IV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68096"/>
            <a:ext cx="8595360" cy="3986784"/>
          </a:xfrm>
          <a:prstGeom prst="rect">
            <a:avLst/>
          </a:prstGeom>
          <a:solidFill>
            <a:srgbClr val="0D1B2A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82296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DDL Hotel – Orientación para el taller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42416"/>
            <a:ext cx="8375904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hotel CHARACTER SET utf8mb4; USE hotel;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tipo_habitacion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id_tipo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  VARCHAR(40) NOT NULL UNIQUE,       -- individual, doble, suite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precio_noche DECIMAL(10,2)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capacidad    TINYINT NOT NULL DEFAULT 2,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ck_precio CHECK (precio_noche &gt; 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habitacion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id_habitacion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numero        VARCHAR(10) NOT NULL UNIQUE,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piso          TINYINT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disponible    TINYINT(1) DEFAULT 1,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id_tipo     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(id_tipo) REFERENCES tipo_habitacion(id_tipo) ON DELETE RESTRICT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huesped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id_huesped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     VARCHAR(80)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     VARCHAR(120) UNIQUE,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documento  VARCHAR(20) NOT NULL UNIQUE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reserva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id_reserva   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fecha_entrada DATE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fecha_salida  DATE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estado        ENUM('confirmada','activa','finalizada','cancelada') DEFAULT 'confirmada',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        DECIMAL(12,2),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id_huesped  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id_habitacion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(id_huesped)    REFERENCES huesped(id_huesped)       ON DELETE RESTRICT,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(id_habitacion) REFERENCES habitacion(id_habitacion) ON DELETE RESTRICT,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ck_fechas CHECK (fecha_salida &gt; fecha_entrada)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servicio (           -- Catálogo de servicios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id_servicio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 VARCHAR(60)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precio DECIMAL(8,2) NOT NULL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reserva_servicio (   -- Tabla pivot N:M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id_reserva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id_servicio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cantidad    INT NOT NULL DEFAULT 1,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 KEY (id_reserva, id_servicio),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(id_reserva)  REFERENCES reserva(id_reserva)   ON DELETE CASCADE,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(id_servicio) REFERENCES servicio(id_servicio) ON DELETE RESTRICT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ENGINE=InnoDB;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631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Referencia Rápida – Estándar SQL en MariaDB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Modelamiento BD IV  |  MariaDB/XAMPP  |  Ing. Sistemas – 4.° Sem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92440" y="4910328"/>
            <a:ext cx="8229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2816352" cy="310896"/>
          </a:xfrm>
          <a:prstGeom prst="rect">
            <a:avLst/>
          </a:prstGeom>
          <a:solidFill>
            <a:srgbClr val="1456A0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82296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6032" y="1133856"/>
            <a:ext cx="2816352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17043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/ DATABASE / VIEW / INDEX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536192"/>
            <a:ext cx="28163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57276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(ADD/MODIFY/DROP COLUMN)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1938528"/>
            <a:ext cx="2816352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97510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TABLE / DATABASE / VIEW / INDEX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2340864"/>
            <a:ext cx="28163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3774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TABLE (vacía sin log)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822960"/>
            <a:ext cx="2816352" cy="310896"/>
          </a:xfrm>
          <a:prstGeom prst="rect">
            <a:avLst/>
          </a:prstGeom>
          <a:solidFill>
            <a:srgbClr val="006D5B"/>
          </a:solidFill>
          <a:ln w="12700">
            <a:solidFill>
              <a:srgbClr val="006D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82296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00400" y="1133856"/>
            <a:ext cx="2816352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17043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… FROM … WHERE … ORDER BY … LIMIT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1536192"/>
            <a:ext cx="28163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157276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t (cols) VALUES (vals)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1938528"/>
            <a:ext cx="2816352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197510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 SET col=val WHERE cond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2340864"/>
            <a:ext cx="28163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3774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FROM t WHERE cond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44768" y="822960"/>
            <a:ext cx="2816352" cy="310896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82296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DCL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44768" y="1133856"/>
            <a:ext cx="2816352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117043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 / DROP USER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44768" y="1536192"/>
            <a:ext cx="28163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6208" y="157276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permisos ON bd.* TO user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44768" y="1938528"/>
            <a:ext cx="2816352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197510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permisos ON bd.* FROM user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44768" y="2340864"/>
            <a:ext cx="28163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23774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GRANTS FOR user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56032" y="2852928"/>
            <a:ext cx="2816352" cy="31089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2852928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TCL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256032" y="3163824"/>
            <a:ext cx="2816352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320040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TRANSACTION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6032" y="3566160"/>
            <a:ext cx="28163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360273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(confirmar)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6032" y="3968496"/>
            <a:ext cx="2816352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400507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(deshacer todo)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56032" y="4370832"/>
            <a:ext cx="28163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440740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 nombre / ROLLBACK TO nombre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00400" y="2852928"/>
            <a:ext cx="2816352" cy="310896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0" y="2852928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Funciones útiles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3200400" y="3163824"/>
            <a:ext cx="2816352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0" y="320040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NOW() / CURDATE() / DATE_FORMAT()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00400" y="3566160"/>
            <a:ext cx="28163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91840" y="360273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CONCAT() / UPPER() / LOWER()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0" y="3968496"/>
            <a:ext cx="2816352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0" y="400507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COUNT/SUM/AVG/MAX/MIN(col)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00400" y="4370832"/>
            <a:ext cx="28163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91840" y="440740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DATEDIFF() / TIMESTAMPDIFF()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144768" y="2852928"/>
            <a:ext cx="2816352" cy="310896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36208" y="2852928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Cláusulas SELECT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6144768" y="3163824"/>
            <a:ext cx="2816352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36208" y="320040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/ AND / OR / NOT / IN / BETWEEN / LIKE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144768" y="3566160"/>
            <a:ext cx="28163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36208" y="360273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col HAVING cond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144768" y="3968496"/>
            <a:ext cx="2816352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36208" y="400507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col ASC|DESC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144768" y="4370832"/>
            <a:ext cx="281635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36208" y="440740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/ LEFT JOIN / RIGHT JOIN ON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514350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0"/>
            <a:ext cx="164592" cy="5143500"/>
          </a:xfrm>
          <a:prstGeom prst="rect">
            <a:avLst/>
          </a:prstGeom>
          <a:solidFill>
            <a:srgbClr val="1456A0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45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49377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aprendiste en la Sesión 8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969264"/>
            <a:ext cx="3200400" cy="45720"/>
          </a:xfrm>
          <a:prstGeom prst="rect">
            <a:avLst/>
          </a:prstGeom>
          <a:solidFill>
            <a:srgbClr val="1456A0"/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170432"/>
            <a:ext cx="4023360" cy="1078992"/>
          </a:xfrm>
          <a:prstGeom prst="rect">
            <a:avLst/>
          </a:prstGeom>
          <a:solidFill>
            <a:srgbClr val="0C2340">
              <a:alpha val="75000"/>
            </a:srgbClr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170432"/>
            <a:ext cx="502920" cy="10789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17043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26187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Normalización 1FN-BCNF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157276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formas normales para eliminar redundancia y anomalías.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74920" y="1170432"/>
            <a:ext cx="4023360" cy="1078992"/>
          </a:xfrm>
          <a:prstGeom prst="rect">
            <a:avLst/>
          </a:prstGeom>
          <a:solidFill>
            <a:srgbClr val="0C2340">
              <a:alpha val="75000"/>
            </a:srgbClr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1170432"/>
            <a:ext cx="502920" cy="10789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17043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126187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 → Modelo Relacional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157276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reglas sistemáticas: entidades, atributos multivaluados, relaciones.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2359152"/>
            <a:ext cx="4023360" cy="1078992"/>
          </a:xfrm>
          <a:prstGeom prst="rect">
            <a:avLst/>
          </a:prstGeom>
          <a:solidFill>
            <a:srgbClr val="0C2340">
              <a:alpha val="75000"/>
            </a:srgbClr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2359152"/>
            <a:ext cx="502920" cy="10789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35915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245059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DDL – CREATE/ALTER/DROP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63040" y="276148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estructura, tipos de datos y constraints en MariaDB.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74920" y="2359152"/>
            <a:ext cx="4023360" cy="1078992"/>
          </a:xfrm>
          <a:prstGeom prst="rect">
            <a:avLst/>
          </a:prstGeom>
          <a:solidFill>
            <a:srgbClr val="0C2340">
              <a:alpha val="75000"/>
            </a:srgbClr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4920" y="2359152"/>
            <a:ext cx="502920" cy="10789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35915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0" y="245059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DCL y TCL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276148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permisos de usuario y transacciones ACID.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8680" y="3547872"/>
            <a:ext cx="4023360" cy="1078992"/>
          </a:xfrm>
          <a:prstGeom prst="rect">
            <a:avLst/>
          </a:prstGeom>
          <a:solidFill>
            <a:srgbClr val="0C2340">
              <a:alpha val="75000"/>
            </a:srgbClr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3547872"/>
            <a:ext cx="502920" cy="10789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54787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63040" y="36393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Vistas e Índices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63040" y="395020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consultas y simplificación del acceso a datos.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74920" y="3547872"/>
            <a:ext cx="4023360" cy="1078992"/>
          </a:xfrm>
          <a:prstGeom prst="rect">
            <a:avLst/>
          </a:prstGeom>
          <a:solidFill>
            <a:srgbClr val="0C2340">
              <a:alpha val="75000"/>
            </a:srgbClr>
          </a:solidFill>
          <a:ln w="12700">
            <a:solidFill>
              <a:srgbClr val="1456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74920" y="3547872"/>
            <a:ext cx="502920" cy="10789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354787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69280" y="36393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Estándar SQL completo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69280" y="395020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· DML · DCL · TCL: cada categoría con su propósito específico.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6868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SQL avanzado – Procedimientos almacenados, Funciones y Triggers en MariaDB.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8 – Modelamiento de Bases de Datos IV</dc:title>
  <dc:subject>PptxGenJS Presentation</dc:subject>
  <dc:creator>PptxGenJS</dc:creator>
  <cp:lastModifiedBy>PptxGenJS</cp:lastModifiedBy>
  <cp:revision>1</cp:revision>
  <dcterms:created xsi:type="dcterms:W3CDTF">2026-04-12T17:05:25Z</dcterms:created>
  <dcterms:modified xsi:type="dcterms:W3CDTF">2026-04-12T17:05:25Z</dcterms:modified>
</cp:coreProperties>
</file>