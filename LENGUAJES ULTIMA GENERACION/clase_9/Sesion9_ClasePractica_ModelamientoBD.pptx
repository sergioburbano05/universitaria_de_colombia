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658368"/>
            <a:ext cx="3291840" cy="40233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65836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9  ·  CLASE PRÁCTICA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188720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Modelamiento de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 de Datos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E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Ejercicios Prácticos + Análisis de Importancia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236976"/>
            <a:ext cx="45720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3649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MariaDB/XAMPP  ·  </a:t>
            </a:r>
            <a:pPr indent="0" marL="0">
              <a:buNone/>
            </a:pPr>
            <a:r>
              <a:rPr lang="en-US" sz="1400" dirty="0">
                <a:solidFill>
                  <a:srgbClr val="C5E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phpMyAdmin  ·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 Workbench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7673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0416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 |  Ing. Sistemas – 4.° Semestre  |  Universitaria de Colombia  |  2025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4370832"/>
            <a:ext cx="8229600" cy="603504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398264"/>
            <a:ext cx="7973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10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los conceptos de modelamiento mediante ejercicios guiados, analizar la importancia del diseño de BD y desarrollar criterio para resolver casos del mundo real.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182880"/>
            <a:ext cx="1828800" cy="18288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 la Sesión Práctica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04672"/>
            <a:ext cx="621792" cy="124358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8046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" y="16093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9264" y="8778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 Integrado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12618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conceptual de todo el bloque: E-R, normalización, SQL estándar.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8046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804672"/>
            <a:ext cx="621792" cy="124358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8046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0872" y="16093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04104" y="8778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Metodología de Análisis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04104" y="12618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abordar un dominio real paso a paso.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1762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176272"/>
            <a:ext cx="621792" cy="12435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1762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6032" y="29809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69264" y="22494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Ejercicios Guiados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" y="26334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prácticos resueltos en clase: desde enunciado hasta SQL.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21762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2176272"/>
            <a:ext cx="621792" cy="12435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21762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90872" y="29809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04104" y="22494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Importancia del Modelado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04104" y="26334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real de un buen/mal diseño en rendimiento y mantenimiento.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5478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547872"/>
            <a:ext cx="621792" cy="12435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35478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6032" y="43525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69264" y="36210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 + Errores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9264" y="40050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definitivo antes de implementar cualquier BD.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90872" y="35478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90872" y="3547872"/>
            <a:ext cx="621792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35478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90872" y="43525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04104" y="36210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Práctico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04104" y="40050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Gimnasio: E-R + normalización + DDL + DML en XAMPP.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 Integrado – Mapa Conceptual del Bloque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 lo visto en sesiones 7, 8 forma un flujo único: del mundo real al SQL ejecutable en MariaDB.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53312"/>
            <a:ext cx="1298448" cy="126187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153619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MUNDO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" y="20848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91056" y="1755648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719072" y="1353312"/>
            <a:ext cx="129844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19072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19072" y="153619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73936" y="20848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35808" y="1755648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0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63824" y="1353312"/>
            <a:ext cx="1298448" cy="12618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63824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63824" y="153619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18688" y="20848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1FN→2FN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→3FN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0" y="1755648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0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08576" y="1353312"/>
            <a:ext cx="1298448" cy="12618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08576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08576" y="153619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LÓGICO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20848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FK, Tipos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25312" y="1755648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0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53328" y="1353312"/>
            <a:ext cx="1298448" cy="1261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53328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53328" y="153619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MariaDB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08192" y="20848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70064" y="1755648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0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98080" y="1353312"/>
            <a:ext cx="1298448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9808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98080" y="153619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DML 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MariaDB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52944" y="20848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2816352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2816352"/>
            <a:ext cx="1234440" cy="43891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281635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609344" y="2889504"/>
            <a:ext cx="7168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Atributos, Cardinalidad, Diagrama E-R, Simbología Chen, 1FN, 2FN, 3FN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74320" y="3319272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3319272"/>
            <a:ext cx="1234440" cy="4389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3192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609344" y="3392424"/>
            <a:ext cx="7168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ER→Relacional (R1-R8), DDL (CREATE/ALTER/DROP), Constraints, DCL, TCL, Vistas, Índices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3822192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3822192"/>
            <a:ext cx="1234440" cy="4389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82219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609344" y="3895344"/>
            <a:ext cx="7168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+ MariaDB 10.x + phpMyAdmin + MySQL Workbench (EER)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74320" y="4325112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74320" y="4325112"/>
            <a:ext cx="12344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32511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Hoy (S9)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609344" y="4398264"/>
            <a:ext cx="7168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integradora: casos reales + análisis de importancia + taller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Metodología: Cómo Abordar un Dominio Real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 cualquier enunciado de un sistema, aplica siempre este proceso de 7 pasos antes de escribir código.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3502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335024"/>
            <a:ext cx="475488" cy="5486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3502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" y="1426464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enunciado completo 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Subrayar sustantivos (candidatos a entidades) y verbos (candidatos a relaciones). No escribir SQL todavía.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847088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847088"/>
            <a:ext cx="475488" cy="5486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4708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1938528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entidades 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relevantes del negocio: ¿sobre qué cosas necesito guardar información? Descartar atributos disfrazados de entidades.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359152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59152"/>
            <a:ext cx="475488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35915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9536" y="2450592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atributos por entidad 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de cada entidad. Clasificar: simple, compuesto, derivado, multivaluado. Identificar la PK.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871216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71216"/>
            <a:ext cx="475488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87121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9536" y="2962656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relaciones 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conectan las entidades? Ponerle nombre (verbo) y definir cardinalidad (1:1, 1:N, N:M).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38328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383280"/>
            <a:ext cx="475488" cy="54864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38328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9536" y="3474720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el Diagrama E-R 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simbología de Chen o notación crow's foot (MySQL Workbench). Validar con el enunciado.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89534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895344"/>
            <a:ext cx="475488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89534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9536" y="3986784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hasta 3FN 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1FN (atomicidad), 2FN (dep. total) y 3FN (sin dep. transitiva). Crear tablas necesarias.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407408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407408"/>
            <a:ext cx="475488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40740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9536" y="4498848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el script DDL + DML 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DATABASE, CREATE TABLE con constraints, INSERT de prueba. Ejecutar en phpMyAdmin y verificar.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Guiado 1 – Sistema Hospitalario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62179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 Un hospital atiende pacientes. Cada paciente puede tener múltiples diagnósticos. Los médicos atienden pacientes y pertenecen a un departamento. Un médico puede atender muchos pacientes y un paciente puede ser atendido por varios médicos.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517904"/>
            <a:ext cx="4160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517904"/>
            <a:ext cx="4160520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5179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PACIENTE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1847088"/>
            <a:ext cx="41605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74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id_paciente (PK)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157984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854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468880"/>
            <a:ext cx="41605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963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277977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072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fecha_nac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090672"/>
            <a:ext cx="41605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181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tipo_sangre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3401568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29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id_ciudad (FK)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45152" y="1517904"/>
            <a:ext cx="416052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1517904"/>
            <a:ext cx="4160520" cy="32918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15179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MÉDICO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45152" y="1847088"/>
            <a:ext cx="41605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874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id_medico (PK)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45152" y="2157984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1854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45152" y="2468880"/>
            <a:ext cx="41605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4963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especialidad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45152" y="277977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8072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 (UQ)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45152" y="3090672"/>
            <a:ext cx="41605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1181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id_depto (FK)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3255264"/>
            <a:ext cx="416052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" y="3255264"/>
            <a:ext cx="4160520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25526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DIAGNOSTICO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56032" y="3584448"/>
            <a:ext cx="41605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11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id_diagnostico (PK)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6032" y="3895344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922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id_paciente (FK)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206240"/>
            <a:ext cx="41605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233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descripcion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451713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544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56032" y="4828032"/>
            <a:ext cx="41605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855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gravedad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45152" y="3255264"/>
            <a:ext cx="416052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45152" y="3255264"/>
            <a:ext cx="416052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6592" y="325526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(pivot N:M)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645152" y="3584448"/>
            <a:ext cx="41605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3611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id_consulta (PK)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45152" y="3895344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3922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id_paciente (FK)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45152" y="4206240"/>
            <a:ext cx="41605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4233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id_medico (FK)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645152" y="451713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4544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fecha_hora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45152" y="4828032"/>
            <a:ext cx="41605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4855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observaciones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solidFill>
            <a:srgbClr val="00BFA5">
              <a:alpha val="18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0624" y="48463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 PACIENTE tiene DIAGNOSTICO (1:N)  |  PACIENTE ↔ MÉDICO (N:M → tabla CONSULTA)  |  MÉDICO pertenece a DEPARTAMENTO (N:1)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Guiado 1 – Script DDL Sistema Hospitalario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4059936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82296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Completo – Sistema Hospitalario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42416"/>
            <a:ext cx="837590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hospital CHARACTER SET utf8mb4; USE hospital;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departamento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id_depto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 VARCHAR(80) NOT NULL UNIQUE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medico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id_medico 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    VARCHAR(80) 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especialidad VARCHAR(80)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matricula   VARCHAR(20)  NOT NULL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id_depto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(id_depto) REFERENCES departamento(id_depto) ON DELETE RESTRICT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paciente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id_paciente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     VARCHAR(80)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apellido     VARCHAR(80)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fecha_nac    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tipo_sangre  ENUM('A+','A-','B+','B-','AB+','AB-','O+','O-')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diagnostico (      -- Entidad débil: depende de paciente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id_diagnostico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descripcion    TEXT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         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gravedad       ENUM('leve','moderada','grave') DEFAULT 'leve',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id_paciente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(id_paciente) REFERENCES paciente(id_paciente) ON DELETE CASCADE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consulta (         -- Pivot N:M paciente ↔ médico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id_consulta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fecha_hora   DATETIME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observaciones TEXT,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costo        DECIMAL(10,2) DEFAULT 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id_paciente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id_medico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(id_paciente) REFERENCES paciente(id_paciente) ON DELETE RESTRICT,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(id_medico)   REFERENCES medico(id_medico)     ON DELETE RESTRICT,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ck_costo CHECK (costo &gt;= 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solidFill>
            <a:srgbClr val="00695C">
              <a:alpha val="18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4946904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Visual: Ejecutar en phpMyAdmin y verificar con el diagrama EER generado automáticamente en Database → Reverse Engineer.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Guiado 2 – Sistema E-Commerce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 Tienda en línea con clientes, productos con categorías, órdenes y pagos. Los clientes pueden tener múltiples direcciones. Una orden puede incluir varios productos (con cantidad y precio al momento de compra). Cada orden tiene un único pago.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517904"/>
            <a:ext cx="2816352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517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792224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8105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 (PK)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2066544"/>
            <a:ext cx="2816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20848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23591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(UQ)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615184"/>
            <a:ext cx="2816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26334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1517904"/>
            <a:ext cx="2816352" cy="2743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517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DIRECCION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792224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18105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id_dir (PK)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066544"/>
            <a:ext cx="2816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20848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 (FK)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2340864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23591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615184"/>
            <a:ext cx="2816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26334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2889504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29077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44768" y="1517904"/>
            <a:ext cx="2816352" cy="2743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517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44768" y="1792224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18105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id_cat (PK)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44768" y="2066544"/>
            <a:ext cx="2816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0848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44768" y="2340864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23591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descripcion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3090672"/>
            <a:ext cx="2816352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" y="3090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6032" y="3364992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33832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id_prod (PK)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6032" y="3639312"/>
            <a:ext cx="2816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3657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" y="3913632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39319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4187952"/>
            <a:ext cx="2816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" y="42062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6032" y="4462272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" y="44805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id_cat (FK)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0" y="3090672"/>
            <a:ext cx="2816352" cy="274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73552" y="3090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0" y="3364992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73552" y="33832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id_orden (PK)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0" y="3639312"/>
            <a:ext cx="2816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73552" y="3657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0" y="3913632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73552" y="39319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0" y="4187952"/>
            <a:ext cx="2816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73552" y="42062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 (FK)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0" y="4462272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73552" y="44805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id_dir (FK)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44768" y="3090672"/>
            <a:ext cx="2816352" cy="27432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0" y="3090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DETALLE_ORDEN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144768" y="3364992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33832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id_orden (PK/FK)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144768" y="3639312"/>
            <a:ext cx="2816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3657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id_prod (PK/FK)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144768" y="3913632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17920" y="39319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144768" y="4187952"/>
            <a:ext cx="2816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17920" y="42062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precio_unit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56032" y="4663440"/>
            <a:ext cx="2816352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9184" y="4663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PAGO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56032" y="4937760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9184" y="49560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id_pago (PK)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56032" y="5212080"/>
            <a:ext cx="2816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9184" y="52303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id_orden (FK) UQ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56032" y="5486400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9184" y="55046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fecha_pago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56032" y="5760720"/>
            <a:ext cx="2816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9184" y="57790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56032" y="6035040"/>
            <a:ext cx="2816352" cy="237744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9184" y="60533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solidFill>
            <a:srgbClr val="0D2137">
              <a:alpha val="15000"/>
            </a:srgbClr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20624" y="48463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Cardinalidades: </a:t>
            </a:r>
            <a:pPr indent="0" marL="0">
              <a:buNone/>
            </a:pPr>
            <a:r>
              <a:rPr lang="en-US" sz="9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1:N DIRECCION  |  CLIENTE 1:N ORDEN  |  ORDEN N:M PRODUCTO (→DETALLE)  |  ORDEN 1:1 PAGO  |  PRODUCTO N:1 CATEGORIA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Guiado 3 – Normalizar un Caso Real Paso a Paso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Sistema de Recursos Humanos. Tabla inicial EMPLEADO_COMPLETO con todas las anomalías.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859536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31673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TABLA ORIGINAL DESNORMALIZADA: EMPLEADO_COMPLETO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72768"/>
            <a:ext cx="137160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60934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id_emp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1572768"/>
            <a:ext cx="137160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9072" y="160934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1572768"/>
            <a:ext cx="137160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160934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tel_emp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1572768"/>
            <a:ext cx="137160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160934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id_proy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1572768"/>
            <a:ext cx="137160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160934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nom_proy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1572768"/>
            <a:ext cx="173736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05472" y="160934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id_ger_proy,nom_ger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1883664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19202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45920" y="1883664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19072" y="19202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17520" y="1883664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90672" y="19202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310-111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0" y="1883664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2272" y="19202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60720" y="1883664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19202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32320" y="1883664"/>
            <a:ext cx="1737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05472" y="192024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G01,Ana M.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2194560"/>
            <a:ext cx="137160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23113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645920" y="2194560"/>
            <a:ext cx="137160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19072" y="223113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R.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017520" y="2194560"/>
            <a:ext cx="137160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90672" y="223113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310-111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89120" y="2194560"/>
            <a:ext cx="137160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62272" y="223113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60720" y="2194560"/>
            <a:ext cx="137160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33872" y="223113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Corp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32320" y="2194560"/>
            <a:ext cx="173736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05472" y="223113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G02,Carlos V.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2505456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254203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645920" y="2505456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19072" y="254203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G.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17520" y="2505456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90672" y="254203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320-222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389120" y="2505456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62272" y="254203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760720" y="2505456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33872" y="254203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132320" y="2505456"/>
            <a:ext cx="1737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05472" y="254203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G01,Ana M.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74320" y="2834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Problemas: (1) teléfonos múltiples, (2) nombre/tel repite con id_emp, (3) nom_proy depende de id_proy, (4) ger depende de proy.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74320" y="320040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74320" y="3200400"/>
            <a:ext cx="713232" cy="43891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3200400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1FN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078992" y="3255264"/>
            <a:ext cx="7699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telefonos → tabla TELEFONO_EMP(id_tel PK, id_emp FK, numero). Separar gerente → tabla PROYECTO tiene id_gerente FK.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74320" y="370332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74320" y="3703320"/>
            <a:ext cx="713232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3703320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2FN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078992" y="3758184"/>
            <a:ext cx="7699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nombre_emp depende solo de id_emp (no de id_proy) → tabla EMPLEADO. nom_proy depende solo de id_proy → tabla PROYECTO.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74320" y="420624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74320" y="4206240"/>
            <a:ext cx="713232" cy="4389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206240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3FN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078992" y="4261104"/>
            <a:ext cx="7699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nom_gerente depende de id_gerente (no clave) → GERENTE ya es un EMPLEADO. Usar FK id_gerente → EMPLEADO.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74320" y="4736592"/>
            <a:ext cx="8595360" cy="31089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0624" y="47640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3FN: </a:t>
            </a:r>
            <a:pPr indent="0" marL="0">
              <a:buNone/>
            </a:pPr>
            <a:r>
              <a:rPr lang="en-US" sz="110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· TELEFONO_EMP · PROYECTO · EMPLEADO_PROYECTO (pivot) · CARGO · DEPARTAMENTO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Guiado 4 – Red Social (Modelo Complejo)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62179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 Red social donde usuarios publican posts y pueden comentar en posts de otros. Los usuarios se siguen entre sí. Un post puede tener etiquetas (hashtags).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44752"/>
            <a:ext cx="8595360" cy="3273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49961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Social – DDL completo con auto-referencia N:M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719072"/>
            <a:ext cx="837590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red_social CHARACTER SET utf8mb4; USE red_social;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usuario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id_usuario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   VARCHAR(30) NOT NULL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   VARCHAR(120) NOT NULL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bio        TEXT,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TIMESTAMP DEFAULT CURRENT_TIMESTAMP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Relación N:M: usuario sigue usuario (auto-referencia)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seguimiento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id_seguidor  INT NOT NULL,   -- quien sigue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id_seguido   INT NOT NULL,   -- a quien sigue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       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(id_seguidor, id_seguido),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(id_seguidor) REFERENCES usuario(id_usuario) ON DELETE CASCADE,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(id_seguido)  REFERENCES usuario(id_usuario) ON DELETE CASCADE,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ck_no_auto CHECK (id_seguidor != id_seguido)  -- no seguirse a sí mismo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post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id_post  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contenido  TEXT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media_url  VARCHAR(500),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TIMESTAMP DEFAULT CURRENT_TIMESTAMP,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id_usuario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(id_usuario) REFERENCES usuario(id_usuario) ON DELETE CASCADE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comentario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id_comentario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texto         TEXT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   TIMESTAMP DEFAULT CURRENT_TIMESTAMP,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id_post   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id_usuario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(id_post)    REFERENCES post(id_post)          ON DELETE CASCADE,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(id_usuario) REFERENCES usuario(id_usuario)    ON DELETE CASCADE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hashtag (id_tag INT AUTO_INCREMENT PRIMARY KEY, nombre VARCHAR(60) UNIQUE) ENGINE=InnoDB;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post_hashtag (id_post INT, id_tag INT, PRIMARY KEY(id_post,id_tag),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KEY(id_post) REFERENCES post(id_post) ON DELETE CASCADE,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KEY(id_tag)  REFERENCES hashtag(id_tag) ON DELETE CASCADE) ENGINE=InnoDB;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solidFill>
            <a:srgbClr val="283593">
              <a:alpha val="18000"/>
            </a:srgbClr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48463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Concepto clave: La tabla SEGUIMIENTO es una relación N:M auto-referencial (una entidad relacionada consigo misma). Es un patrón frecuente en redes sociales y jerarquías organizacionales.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Ejemplos de Consultas SQL en los Casos Prácticos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93268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82296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– Médicos más activos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42416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Hospital: Médicos con más de 5 consultas este 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m.nombre, m.especialidad, COUNT(c.id_consulta) AS consultas_mes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medico m JOIN consulta c ON m.id_medico=c.id_medico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c.fecha_hora &gt;= DATE_FORMAT(NOW(),'%Y-%m-01')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m.id_medico HAVING COUNT(c.id_consulta) &gt; 5 ORDER BY consultas_mes DESC;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859536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186537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– Ranking de productos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084832"/>
            <a:ext cx="8375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E-Commerce: Top 5 productos más vendidos con ingresos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p.nombre, SUM(d.cantidad) AS unidades, SUM(d.cantidad*d.precio_unit) AS ingresos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detalle_orden d JOIN producto p ON d.id_prod=p.id_prod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orden o ON d.id_orden=o.id_orden WHERE o.estado != 'cancelada'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p.id_prod ORDER BY ingresos DESC LIMIT 5;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859536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81635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Social – Posts más virales con hashtags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035808"/>
            <a:ext cx="8375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Red Social: Posts más comentados + sus hashtags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p.contenido, COUNT(DISTINCT c.id_comentario) AS num_coment,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GROUP_CONCAT(DISTINCT h.nombre ORDER BY h.nombre SEPARATOR ', ') AS hashtags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post p LEFT JOIN comentario c ON p.id_post=c.id_post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post_hashtag ph ON p.id_post=ph.id_post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hashtag h ON ph.id_tag=h.id_tag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p.id_post ORDER BY num_coment DESC LIMIT 5;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859536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376732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RR.HH – Empleados más comprometidos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3986784"/>
            <a:ext cx="8375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RR.HH: Empleados que participan en más de 2 proyectos activos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e.nombre, COUNT(ep.id_proy) AS proyectos_activos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empleado e JOIN empleado_proyecto ep ON e.id_emp=ep.id_emp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proyecto p ON ep.id_proy=p.id_proy WHERE p.estado='activo'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e.id_emp HAVING COUNT(ep.id_proy) &gt; 2 ORDER BY proyectos_activos DESC;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8595360" cy="219456"/>
          </a:xfrm>
          <a:prstGeom prst="rect">
            <a:avLst/>
          </a:prstGeom>
          <a:solidFill>
            <a:srgbClr val="00BFA5">
              <a:alpha val="18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6817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GROUP_CONCAT() es una función exclusiva de MySQL/MariaDB muy útil para concatenar valores agrupados en una sola celda del resultado.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Ejemplos – Vistas, Stored Procedures y Triggers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4206240" cy="153619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82296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– Reporte mensual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42416"/>
            <a:ext cx="3986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Vista: resumen de ventas por 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v_ventas_mes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DATE_FORMAT(o.fecha,'%Y-%m') AS mes,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COUNT(DISTINCT o.id_orden) AS total_ordenes,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SUM(d.cantidad*d.precio_unit) AS ingresos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orden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detalle_orden d ON o.id_orden=d.id_orden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o.estado='entregada'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mes;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v_ventas_mes ORDER BY mes DESC;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768096"/>
            <a:ext cx="4206240" cy="153619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82296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– Nueva orden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73168" y="1042416"/>
            <a:ext cx="3986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Stored Procedure: nueva orden completa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//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sp_nueva_orden(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p_cliente INT,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p_prod    INT,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p_cant    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EXIT HANDLER FOR SQLEXCEPTION ROLLBACK;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 TRANSACTION;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orden (fecha,estado,id_cliente)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VALUES(CURDATE(),'pendiente',p_cliente);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@id=LAST_INSERT_ID();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detalle_orden VALUES(@id,p_prod,p_cant,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(SELECT precio FROM producto WHERE id_prod=p_prod));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producto SET stock=stock-p_cant WHERE id_prod=p_prod;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14016"/>
            <a:ext cx="8595360" cy="1353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46888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– Auditoría automática de precios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2688336"/>
            <a:ext cx="83759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Trigger: auditoría automática de cambios de precio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auditoria_precio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id_audit INT AUTO_INCREMENT PRIMARY KEY, id_prod INT,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precio_anterior DECIMAL(12,2), precio_nuevo DECIMAL(12,2),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usuario VARCHAR(80) DEFAULT USER(), fecha_cambio DATETIME DEFAULT NOW()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//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tg_before_update_precio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UPDATE ON producto FOR EACH ROW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OLD.precio != NEW.precio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INTO auditoria_precio (id_prod, precio_anterior, precio_nuevo)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(OLD.id_prod, OLD.precio, NEW.precio);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Ahora cualquier UPDATE a precio queda registrado automáticamente: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producto SET precio = 20000 WHERE id_prod = 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auditoria_precio;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Importancia del Modelado – Impacto Real en Proyectos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"La calidad del modelo de datos es el factor más influyente en el rendimiento, mantenibilidad y escalabilidad de cualquier sistema."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71600"/>
            <a:ext cx="281635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371600"/>
            <a:ext cx="2816352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37160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Rendimiento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18105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Buen diseño: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2066544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eficientes con índices bien diseñados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rápidos con FK indexadas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pequeñas y bien normalizadas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30723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Mal diseño: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" y="3328416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gigantes sin normalizar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en campos sin índice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en columnas indexadas (WHERE YEAR(fecha)=2024)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371600"/>
            <a:ext cx="281635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371600"/>
            <a:ext cx="2816352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37160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Mantenibilidad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18105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Buen diseño: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2066544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tabla para actualizar un dato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localizados que no afectan otras tablas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funciones = nuevas tablas relacionadas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30723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Mal diseño: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3328416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el mismo dato en 50 filas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lógica requiere modificar toda la BD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funciones rompe el diseño existente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44768" y="1371600"/>
            <a:ext cx="281635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1371600"/>
            <a:ext cx="2816352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37160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Escalabilidad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18105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Buen diseño: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36208" y="2066544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que crece sin perder integridad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columnas sin afectar el esquema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filas sin degradación si está bien indexada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30723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Mal diseño: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36208" y="3328416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que 'se rompe' al crecer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columnas requiere refactoring total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cae linealmente con el volumen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Análisis: Casos Reales de Fallas por Mal Diseño de BD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Estos errores costaron millones o generaron pérdidas de datos en sistemas reales. Evítalos desde el diseño.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16736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316736"/>
            <a:ext cx="6400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5331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nómina con salarios como VARCHAR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59105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guardó salarios en VARCHAR(20). Al querer calcular el total de nómina: SUM() retorna 0 o errores.  </a:t>
            </a:r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Lección: </a:t>
            </a:r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DECIMAL(12,2) SIEMPRE para valores monetarios. FLOAT/DOUBLE tienen imprecisión binaria.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11680"/>
            <a:ext cx="64008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04825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E-commerce sin tabla pivot (N:M en una columna)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2860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Guardaron productos de una orden como '101,102,103' en un campo VARCHAR. Imposible hacer JOIN, búsquedas o reportes de ventas.  </a:t>
            </a:r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Lección: </a:t>
            </a:r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relación N:M DEBE resolverse con tabla pivot. Sin excepción.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06624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06624"/>
            <a:ext cx="64008" cy="6217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74320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médico sin ON DELETE RESTRICT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2980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borrar un médico, ON DELETE CASCADE eliminó su historial de consultas, diagnósticos y tratamientos.  </a:t>
            </a:r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Lección: </a:t>
            </a:r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conscientemente cada ON DELETE. En datos críticos: RESTRICT o SET NULL, nunca CASCADE.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401568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01568"/>
            <a:ext cx="6400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43814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 sin utf8mb4 en sistema de salud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367588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con tildes (José, Martínez) se almacenaron con caracteres corruptos. Bases de datos ilegibles.  </a:t>
            </a:r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Lección: </a:t>
            </a:r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SET utf8mb4 en toda BD, tabla y conexión. No es opcional en aplicaciones en español.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096512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096512"/>
            <a:ext cx="64008" cy="62179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13308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de logs sin límite de crecimiento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" y="437083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de auditoría sin LIMIT ni particionamiento llegó a 800GB en 6 meses, paralizando el servidor.  </a:t>
            </a:r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Lección: </a:t>
            </a:r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log/auditoría necesitan estrategia de archivado: particionamiento por fecha o tabla rotativa.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 Importancia – Métricas y Comparativas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2048256" cy="13533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822960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74320" y="1426464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errores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aplicaciones web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vienen de la BD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768096"/>
            <a:ext cx="2048256" cy="13533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822960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468880" y="1426464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lento con tablas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normalizadas vs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3FN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768096"/>
            <a:ext cx="2048256" cy="13533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822960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63440" y="1426464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costo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viene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mal diseño inicial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768096"/>
            <a:ext cx="2048256" cy="13533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822960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858000" y="1426464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proyectos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escalables tienen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E-R sólido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2677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Comparativa: Buen Diseño vs Mal Diseño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164592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61518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20240" y="2578608"/>
            <a:ext cx="3438144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93392" y="26151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Buen diseño de BD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58384" y="2578608"/>
            <a:ext cx="3328416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31536" y="261518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Mal diseño de BD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89504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92608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desarrollo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920240" y="2889504"/>
            <a:ext cx="343814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29260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trabaja con estructura clara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58384" y="2889504"/>
            <a:ext cx="33284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31536" y="2926080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constantes para entender el esquema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200400"/>
            <a:ext cx="16459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23697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consultas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920240" y="3200400"/>
            <a:ext cx="3438144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32369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complejos en ms con índices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58384" y="3200400"/>
            <a:ext cx="3328416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31536" y="3236976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simples tardan segundos sin índices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511296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5478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funciones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920240" y="3511296"/>
            <a:ext cx="343814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93392" y="35478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tabla + FK = funcionalidad lista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58384" y="3511296"/>
            <a:ext cx="33284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31536" y="354787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10 tablas que no debían relacionarse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3822192"/>
            <a:ext cx="16459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85876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de datos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920240" y="3822192"/>
            <a:ext cx="3438144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93392" y="3858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y constraints garantizan consistencia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358384" y="3822192"/>
            <a:ext cx="3328416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31536" y="385876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huérfanos, duplicados e inconsistentes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4133088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16966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Migración/actualización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920240" y="4133088"/>
            <a:ext cx="343814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93392" y="41696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puntual sin romper nada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358384" y="4133088"/>
            <a:ext cx="33284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31536" y="416966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requiere script de 500 líneas y downtime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" y="4443984"/>
            <a:ext cx="16459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448056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operativos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920240" y="4443984"/>
            <a:ext cx="3438144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93392" y="44805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Bajo: menos bugs, menos soporte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358384" y="4443984"/>
            <a:ext cx="3328416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4480560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Alto: bugs constantes, parches interminables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Checklist Definitivo – Antes de Implementar tu BD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 CADA punto antes de entregar o llevar a producción tu esquema de base de datos.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53312"/>
            <a:ext cx="4206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353312"/>
            <a:ext cx="420624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3533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700784"/>
            <a:ext cx="4023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¿Hice el diagrama E-R antes de escribir código?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¿Identifiqué todas las entidades y sus atributos?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¿Las relaciones tienen nombre (verbo) y cardinalidad definida?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¿Normalicé hasta 3FN? ¿No hay deps. parciales ni transitivas?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1353312"/>
            <a:ext cx="4206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353312"/>
            <a:ext cx="4206240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3533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SQL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2312" y="1700784"/>
            <a:ext cx="4023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¿Toda tabla tiene id INT AUTO_INCREMENT PRIMARY KEY?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¿Usé DECIMAL(12,2) para valores monetarios?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¿Definí FOREIGN KEY con ON DELETE apropiado?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¿Usé utf8mb4 en CREATE DATABASE y tablas?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¿Hay CHECK constraints para reglas de negocio?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980944"/>
            <a:ext cx="4206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980944"/>
            <a:ext cx="4206240" cy="31089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9809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" y="3328416"/>
            <a:ext cx="4023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¿La BD tiene un usuario dedicado (no root) con mínimos permisos?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¿Hice backup antes de cualquier cambio masivo?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¿Probé UPDATE/DELETE con SELECT primero?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¿Las operaciones relacionadas están en transacciones?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2980944"/>
            <a:ext cx="4206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2980944"/>
            <a:ext cx="4206240" cy="31089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29809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RENDIMIENTO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2312" y="3328416"/>
            <a:ext cx="4023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¿Indexé columnas de búsqueda frecuente (WHERE, JOIN)?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¿Creé VISTAS para consultas complejas repetitivas?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¿Probé con datos de volumen real antes de producción?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¿Las FK ya tienen índice automático en InnoDB?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que Cometen los Estudiantes en Práctica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04672"/>
            <a:ext cx="640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8595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Mezclar entidades con atributos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" y="11338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'Ciudad' no es una entidad si solo tiene nombre. Es un atributo. Solo crea tabla CIUDAD si vas a guardar región, código postal, población, etc.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80467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804672"/>
            <a:ext cx="640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8595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PK como dato del negocio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55464" y="11338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DNI, email o código como PK parece lógico pero es riesgoso: cambian, se duplican en casos edge o tienen formato inestable. Usar id INT AUTO_INCREMENT.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18288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828800"/>
            <a:ext cx="640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18836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Olvidar la tabla pivot en N:M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" y="215798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una línea entre dos entidades N:M y no crear la tabla intermedia. El script SQL fallará con errores de FK o violará 1FN.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18288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1828800"/>
            <a:ext cx="640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18836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ON DELETE sin pensar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5464" y="215798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ON DELETE CASCADE en todo sin analizar. Borrar un PROVEEDOR puede eliminar en cascada cientos de FACTURAS históricas. Cada FK necesita su análisis.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85292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852928"/>
            <a:ext cx="640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907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UPDATE sin WHERE en phpMyAdmin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" y="31821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UPDATE tabla SET campo='valor' sin WHERE en phpMyAdmin actualiza TODAS las filas. Usar la pestaña SQL, siempre con SELECT previo.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285292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2852928"/>
            <a:ext cx="640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2907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Atributos repetidos entre tablas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55464" y="31821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nombre_cliente en ORDEN además de en CLIENTE (redundancia). Si el cliente cambia su nombre, hay que actualizar en dos lugares.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87705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877056"/>
            <a:ext cx="640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39319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Ignorar tipos de datos correctos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" y="42062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para números, INT para emails, TEXT para PK. Un tipo de dato incorrecto genera bugs silenciosos que son muy difíciles de detectar después.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90872" y="387705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90872" y="3877056"/>
            <a:ext cx="640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39319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 probar con JOINs desde el inicio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55464" y="42062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todo y al final intentar hacer un JOIN entre 4 tablas. Si el diseño está mal, el JOIN no funciona. Probar JOINs mientras se diseña.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Complementarias al Stack XAMPP/MariaDB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4206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04672"/>
            <a:ext cx="4206240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046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🔵 MySQL Workbench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1261872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visual de diagramas EER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Forward/Reverse Engineer (ER↔SQL)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scripts SQL completos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estructura de BD visualmente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395728"/>
            <a:ext cx="4023360" cy="329184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41401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File → New Model → Add Diagram → Forward Engineer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90872" y="804672"/>
            <a:ext cx="4206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804672"/>
            <a:ext cx="4206240" cy="40233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8046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phpMyAdmin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82312" y="1261872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web de MariaDB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Importar/Exportar SQL (.sql)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consultas en la pestaña SQL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estado y estadísticas de tablas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82312" y="2395728"/>
            <a:ext cx="4023360" cy="329184"/>
          </a:xfrm>
          <a:prstGeom prst="rect">
            <a:avLst/>
          </a:prstGeom>
          <a:solidFill>
            <a:srgbClr val="00695C">
              <a:alpha val="12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241401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http://localhost/phpmyadmin | Ctrl+Enter ejecuta consulta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2926080"/>
            <a:ext cx="4206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926080"/>
            <a:ext cx="4206240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2608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draw.io / diagrams.net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33832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E-R y arquitectura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y en línea (sin instalación)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a PNG, SVG, PDF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BD incluidas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4517136"/>
            <a:ext cx="4023360" cy="329184"/>
          </a:xfrm>
          <a:prstGeom prst="rect">
            <a:avLst/>
          </a:prstGeom>
          <a:solidFill>
            <a:srgbClr val="6A1B9A">
              <a:alpha val="12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453542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draw.io → Extras → Edit Diagram para importar XML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90872" y="2926080"/>
            <a:ext cx="4206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2926080"/>
            <a:ext cx="4206240" cy="4023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292608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DBeaver (IDE de BD)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82312" y="33832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 MariaDB, MySQL, PostgreSQL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Autocompletado SQL inteligente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relaciones entre tablas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resultados a Excel/CSV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82312" y="4517136"/>
            <a:ext cx="4023360" cy="329184"/>
          </a:xfrm>
          <a:prstGeom prst="rect">
            <a:avLst/>
          </a:prstGeom>
          <a:solidFill>
            <a:srgbClr val="E65100">
              <a:alpha val="12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453542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Alternativa avanzada a phpMyAdmin para proyectos reales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Patrones de Diseño Frecuentes en Bases de Datos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Estos patrones resuelven problemas recurrentes. Reconocerlos ahorra tiempo y evita errores en cualquier proyecto.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335024"/>
            <a:ext cx="2816352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33502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Soft Delete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472" y="168249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como inactivo en lugar de eliminar físicamente. Preserva historial.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" y="2139696"/>
            <a:ext cx="2670048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57984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 TINYINT(1) DEFAULT 1  -- 0 = eliminado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tabla SET activo=0 WHERE id=X;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0" y="1335024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335024"/>
            <a:ext cx="2816352" cy="31089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33502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Audit Trail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91840" y="168249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log que registra todos los cambios con usuario y timestamp.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73552" y="2139696"/>
            <a:ext cx="2670048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2157984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log_cambios (accion ENUM('I','U','D'),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tabla VARCHAR(60), id_registro INT,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usuario VARCHAR(60), fecha DATETIME DEFAULT NOW());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44768" y="1335024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1335024"/>
            <a:ext cx="2816352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33502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Árbol Adyacente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36208" y="168249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padre-hijo en una sola tabla. Útil para categorías anidadas.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2139696"/>
            <a:ext cx="2670048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157984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categoria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PK, nombre VARCHAR(60),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id_padre INT NULL REFERENCES categoria(id));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3054096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3054096"/>
            <a:ext cx="2816352" cy="31089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0540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Tabla de Configuración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47472" y="340156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clave-valor para parámetros del sistema sin cambios de esquema.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" y="3858768"/>
            <a:ext cx="2670048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877056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configuracion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clave VARCHAR(80) PRIMARY KEY,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valor TEXT, descripcion TEXT);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0" y="3054096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054096"/>
            <a:ext cx="2816352" cy="310896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0540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· UUID vs AUTO_INCREMENT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291840" y="340156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para sistemas distribuidos/microservicios. AUTO_INCREMENT para sistemas monolíticos.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73552" y="3858768"/>
            <a:ext cx="2670048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28416" y="3877056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CHAR(36) DEFAULT (UUID())  -- UUID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INT AUTO_INCREMENT         -- AI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44768" y="3054096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44768" y="3054096"/>
            <a:ext cx="2816352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30540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· Tabla de Estado/Etapas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236208" y="340156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o tabla catálogo para registrar transiciones de estado de un objeto.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3858768"/>
            <a:ext cx="2670048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3877056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ENUM('borrador','revision','aprobado','publicado')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'borrador'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 TALLER PRÁCTICO – Sesión 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8412480" cy="585216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8638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🏋️  Caso: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Gestión de un Gimnasio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1051560"/>
          </a:xfrm>
          <a:prstGeom prst="rect">
            <a:avLst/>
          </a:prstGeom>
          <a:solidFill>
            <a:srgbClr val="1A2C42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gimnasio necesita gestionar sus socios, instructores, clases y pagos de membresía. Un socio puede inscribirse en varias clases. Cada clase tiene un instructor asignado y un límite de cupo. Las membresías tienen diferentes planes (mensual, trimestral, anual). Los instructores tienen especialidades (cardio, pesas, yoga, crossfit). Un socio puede tener múltiples números de emergencia registrados.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Actividades (2 horas — en parejas):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895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</a:t>
            </a:r>
            <a:pPr indent="0" marL="0">
              <a:buNone/>
            </a:pPr>
            <a:r>
              <a:rPr lang="en-US" sz="10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enunciado: subrayar entidades, atributos y relaciones. Identificar el atributo multivaluado.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45536"/>
            <a:ext cx="8412480" cy="237744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638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</a:t>
            </a:r>
            <a:pPr indent="0" marL="0">
              <a:buNone/>
            </a:pPr>
            <a:r>
              <a:rPr lang="en-US" sz="10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E-R completo con simbología (entidades, atributos, relaciones, cardinalidades).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38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</a:t>
            </a:r>
            <a:pPr indent="0" marL="0">
              <a:buNone/>
            </a:pPr>
            <a:r>
              <a:rPr lang="en-US" sz="10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Formas Normales sobre la tabla INSCRIPCION_COMPLETA desnormalizada del Ejercicio 2 del taller.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94176"/>
            <a:ext cx="8412480" cy="237744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124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</a:t>
            </a:r>
            <a:pPr indent="0" marL="0">
              <a:buNone/>
            </a:pPr>
            <a:r>
              <a:rPr lang="en-US" sz="10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relacional aplicando las reglas R1-R8 al diagrama E-R.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68496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867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 </a:t>
            </a:r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</a:t>
            </a:r>
            <a:pPr indent="0" marL="0">
              <a:buNone/>
            </a:pPr>
            <a:r>
              <a:rPr lang="en-US" sz="10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DDL completo en MariaDB con todas las constraints (PK, FK, UNIQUE, CHECK, DEFAULT).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242816"/>
            <a:ext cx="8412480" cy="237744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611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 </a:t>
            </a:r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Poblar </a:t>
            </a:r>
            <a:pPr indent="0" marL="0">
              <a:buNone/>
            </a:pPr>
            <a:r>
              <a:rPr lang="en-US" sz="10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BD con datos de prueba e implementar 4 consultas SELECT requeridas.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517136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5354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  </a:t>
            </a:r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</a:t>
            </a:r>
            <a:pPr indent="0" marL="0">
              <a:buNone/>
            </a:pPr>
            <a:r>
              <a:rPr lang="en-US" sz="10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transacción completa: inscribir un socio a una clase verificando cupo disponible.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Taller8_Apellido.sql + captura phpMyAdmin de consultas + Diagrama E-R.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– Ejercicio de Normalización: Tabla INSCRIPCION_COMPLETA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inicial desnormalizada que deberás normalizar hasta 3FN en el taller (Actividad c).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28016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TABLA DESNORMALIZADA: INSCRIPCION_COMPLETA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54480"/>
            <a:ext cx="109728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59105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id_soc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1554480"/>
            <a:ext cx="128016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4752" y="159105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nom_soc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1554480"/>
            <a:ext cx="128016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159105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tels_emerg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1554480"/>
            <a:ext cx="137160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05072" y="159105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id_clase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1554480"/>
            <a:ext cx="137160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159105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nom_clase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1554480"/>
            <a:ext cx="91440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159105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cupo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1554480"/>
            <a:ext cx="128016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2672" y="159105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id_instr,nom_instr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865376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190195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71600" y="1865376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44752" y="190195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51760" y="1865376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24912" y="190195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310-111,315-222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931920" y="1865376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5072" y="190195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03520" y="1865376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190195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Matutino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75120" y="1865376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48272" y="1901952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89520" y="1865376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62672" y="190195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I01,Luis R.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2176272"/>
            <a:ext cx="109728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221284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371600" y="2176272"/>
            <a:ext cx="128016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4752" y="221284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G.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651760" y="2176272"/>
            <a:ext cx="128016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24912" y="221284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310-111,315-222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931920" y="2176272"/>
            <a:ext cx="137160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05072" y="221284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303520" y="2176272"/>
            <a:ext cx="137160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76672" y="221284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Crossfit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75120" y="2176272"/>
            <a:ext cx="91440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48272" y="221284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589520" y="2176272"/>
            <a:ext cx="128016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62672" y="221284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I02,María V.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2487168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252374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371600" y="2487168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44752" y="252374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L.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651760" y="2487168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24912" y="252374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320-333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931920" y="2487168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05072" y="252374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303520" y="2487168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76672" y="252374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Matutino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675120" y="2487168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48272" y="252374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589520" y="2487168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62672" y="252374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I01,Luis R.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74320" y="2798064"/>
            <a:ext cx="109728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" y="283464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371600" y="2798064"/>
            <a:ext cx="128016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44752" y="283464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M.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651760" y="2798064"/>
            <a:ext cx="128016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24912" y="283464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330-444,335-555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931920" y="2798064"/>
            <a:ext cx="137160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05072" y="28346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C03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303520" y="2798064"/>
            <a:ext cx="137160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76672" y="28346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675120" y="2798064"/>
            <a:ext cx="91440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748272" y="283464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589520" y="2798064"/>
            <a:ext cx="128016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62672" y="283464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I03,Carlos B.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274320" y="292608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Problemas detectados: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274320" y="321868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274320" y="3218688"/>
            <a:ext cx="621792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3218688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1FN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987552" y="3273552"/>
            <a:ext cx="7790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tels_emerg contiene múltiples valores ('310-111,315-222'). También id_instr,nom_instr en una celda.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274320" y="3694176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274320" y="3694176"/>
            <a:ext cx="621792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4320" y="3694176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2FN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987552" y="3749040"/>
            <a:ext cx="7790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nom_soc y tels_emerg dependen solo de id_soc (no de id_soc+id_clase). nom_clase y cupo dependen solo de id_clase.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274320" y="4169664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274320" y="4169664"/>
            <a:ext cx="621792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4320" y="4169664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3FN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987552" y="4224528"/>
            <a:ext cx="7790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nom_instr depende de id_instr (no clave) dentro de la relación: id_clase → id_instr → nom_instr.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274320" y="4663440"/>
            <a:ext cx="8595360" cy="329184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0624" y="46908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Tablas esperadas en 3FN: SOCIO · TELEFONO_EMERGENCIA · INSTRUCTOR · CLASE · PLAN_MEMBRESIA · INSCRIPCION · MEMBRESIA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– Consultas SQL Requeridas (Actividad f)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Deberás escribir y ejecutar en phpMyAdmin las siguientes 4 consultas sobre la BD del gimnasio.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85953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35331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1 – Membresías activas con días restantes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72768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Consulta 1: Socios con su plan de membresía activo y días restantes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s.nombre, s.apellido, p.nombre AS plan,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DATEDIFF(m.fecha_fin, CURDATE()) AS dias_restantes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socio s JOIN membresia m ON s.id_socio=m.id_socio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plan_membresia p ON m.id_plan=p.id_plan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m.fecha_fin &gt;= CURDATE() ORDER BY dias_restantes ASC;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8595360" cy="768096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28600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2 – Cupo disponible por clase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505456"/>
            <a:ext cx="8375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Consulta 2: Clases con cupo disponible (cupo - inscritos activos)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c.nombre AS clase, i.nombre AS instructor,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c.cupo_max, COUNT(ins.id_socio) AS inscritos,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c.cupo_max - COUNT(ins.id_socio) AS cupo_disponible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clase c JOIN instructor i ON c.id_instructor=i.id_instructor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inscripcion ins ON c.id_clase=ins.id_clase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c.id_clase HAVING cupo_disponible &gt; 0 ORDER BY cupo_disponible DESC;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8595360" cy="768096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316382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3 – Ranking de instructores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3383280"/>
            <a:ext cx="8375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Consulta 3: Instructores con más socios (por clases asignadas)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i.nombre, i.especialidad, COUNT(DISTINCT ins.id_socio) AS total_socios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instructor i JOIN clase c ON i.id_instructor=c.id_instructor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inscripcion ins ON c.id_clase=ins.id_clase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i.id_instructor ORDER BY total_socios DESC;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986784"/>
            <a:ext cx="8595360" cy="768096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404164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4 – Socios con membresía vencida o sin membresía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" y="4261104"/>
            <a:ext cx="8375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Consulta 4: Socios con membresía vencida o sin membresía (LEFT JOIN + IS NULL o vencida)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s.nombre, s.apellido, s.email,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COALESCE(MAX(m.fecha_fin), 'Sin membresía') AS ultima_membresia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socio s LEFT JOIN membresia m ON s.id_socio=m.id_socio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s.id_socio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MAX(m.fecha_fin) &lt; CURDATE() OR MAX(m.fecha_fin) IS NULL;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Evaluación del Taller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taller tiene un valor total de 100 puntos distribuidos entre los siguientes criterios.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53312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353312"/>
            <a:ext cx="2816352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35331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pts  ·  Diagrama E-R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810512"/>
            <a:ext cx="2633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correctas identificadas (5 pts)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completos y bien tipificados (5 pts)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con nombre y cardinalidad (5 pts)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multivaluado separado (5 pts)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353312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353312"/>
            <a:ext cx="2816352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35331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pts  ·  Normalización 3FN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810512"/>
            <a:ext cx="2633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 aplicada correctamente (7 pts)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2FN aplicada correctamente (7 pts)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3FN aplicada correctamente (6 pts)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44768" y="1353312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1353312"/>
            <a:ext cx="2816352" cy="40233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35331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pts  ·  Script DDL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1810512"/>
            <a:ext cx="2633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con utf8mb4 (2 pts)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tablas con PK AUTO_INCREMENT (8 pts)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con ON DELETE justificado (8 pts)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 DEFAULT correctos (6 pts)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de datos de prueba (6 pts)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182112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182112"/>
            <a:ext cx="2816352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18211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pts  ·  Consultas SELECT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" y="3639312"/>
            <a:ext cx="2633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1 correcta y ejecutada (5 pts)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2 correcta y ejecutada (5 pts)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3 correcta y ejecutada (5 pts)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4 correcta y ejecutada (5 pts)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182112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182112"/>
            <a:ext cx="2816352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18211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pts  ·  Transacción y Buenas Prácticas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639312"/>
            <a:ext cx="2633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correcta con ROLLBACK (5 pts)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limpio, comentado y organizado (5 pts)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Guiado – Transacción: Inscripción a Clase (Taller g)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Orientación para la Actividad g del taller: transacción que verifica cupo antes de inscribir.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31673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+ Stored Procedure de inscripción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36192"/>
            <a:ext cx="83759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Transacción: inscribir socio a clase solo si hay cupo disponible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Verificar cupo disponible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c.cupo_max - COUNT(i.id_socio) INTO @cupo_libre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clase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inscripcion i ON c.id_clase = i.id_clase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c.id_clase = 2  -- Clase Crossfit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c.id_clase;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Verificar que el socio no esté ya inscrito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INTO @ya_inscrito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inscripcion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id_socio = 1 AND id_clase = 2;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-- 3. Ejecutar según condición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(En MariaDB esto se haría con un Stored Procedure; aquí lógica conceptual:)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Si @cupo_libre &gt; 0 Y @ya_inscrito = 0: INSCRIBIR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inscripcion (id_socio, id_clase, fecha_inscripcion, estado)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(1, 2, CURDATE(), 'activa');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Actualizar cupo en tabla clase (si llevas control)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(Alternativa: calcular cupo en tiempo real con COUNT - recomendado)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  -- Si todo salió bien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ROLLBACK;  -- Si alguna condición falló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─── Stored Procedure completo (patrón recomendado) 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//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sp_inscribir_socio(IN p_socio INT, IN p_clase INT)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v_cupo INT DEFAULT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v_inscrito INT DEFAULT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c.cupo_max - COUNT(i.id_socio) INTO v_cupo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clase c LEFT JOIN inscripcion i ON c.id_clase=i.id_clase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c.id_clase=p_clase GROUP BY c.id_clase;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COUNT(*) INTO v_inscrito FROM inscripcion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id_socio=p_socio AND id_clase=p_clase;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v_cupo IS NULL OR v_cupo &lt;= 0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 SQLSTATE '45000' SET MESSAGE_TEXT = 'Sin cupo disponible';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ELSEIF v_inscrito &gt; 0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 SQLSTATE '45000' SET MESSAGE_TEXT = 'Socio ya inscrito en esta clase';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TRANSACTION;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INTO inscripcion(id_socio,id_clase,fecha_inscripcion,estado)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VALUES(p_socio,p_clase,CURDATE(),'activa');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COMMIT;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'Inscripción exitosa' AS resultado;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Uso: CALL sp_inscribir_socio(1, 2);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Recursos de Referencia y Documentación Oficial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04672"/>
            <a:ext cx="2816352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046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Documentación MariaDB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170432"/>
            <a:ext cx="26334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mariadb.com/kb/en/sql-statements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completa de SQL: tipos, funciones, constraints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versión (MariaDB 10.x vs 10.11 LTS)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consultas y EXPLAIN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804672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04672"/>
            <a:ext cx="2816352" cy="32918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8046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MySQL Workbench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170432"/>
            <a:ext cx="26334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dev.mysql.com/doc/workbench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Diagrams: crear y editar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Forward/Reverse Engineer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SQL desde diagrama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4768" y="804672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804672"/>
            <a:ext cx="2816352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8046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phpMyAdmin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170432"/>
            <a:ext cx="26334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docs.phpmyadmin.net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Importar/exportar BD completas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estadísticas de tablas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usuarios y permisos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907792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907792"/>
            <a:ext cx="2816352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077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Diseño de BD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273552"/>
            <a:ext cx="26334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 (diagramas E-R gratuito)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dbdiagram.io (modelo relacional online)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Lucidchart (diagramas colaborativos)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eraser.io (modelos modernos)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907792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07792"/>
            <a:ext cx="2816352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077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Libros Recomendados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3273552"/>
            <a:ext cx="26334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for Mere Mortals – M. Hernandez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SQL – Alan Beaulieu (O'Reilly)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Antipatterns – Bill Karwin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 MySQL – 4th 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44768" y="2907792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44768" y="2907792"/>
            <a:ext cx="2816352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9077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Práctica Online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3273552"/>
            <a:ext cx="26334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sqlfiddle.com (SQL online)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leetcode.com/studyplan/sql-50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hackerrank.com/domains/sql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mode.com/sql-tutorial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Extra – Conectar MariaDB desde Código (PHP/Python/JS)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Clase Práctica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2062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BD no es el destino final: se conecta con tu aplicación. Así se integra MariaDB/XAMPP en 3 lenguajes comunes.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43584"/>
            <a:ext cx="2798064" cy="19385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2984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– Conexión PDO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17904"/>
            <a:ext cx="257860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$host='localhost';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$db  ='gimnasio';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$user='root'; $pass='';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$pdo = new PDO(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"mysql:host=$host;dbname=$db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;charset=utf8mb4",$user,$pass);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$pdo-&gt;setAttribute(PDO::ATTR_ERRMODE,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PDO::ERRMODE_EXCEPTION);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$stmt=$pdo-&gt;query(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"SELECT nombre,apellido FROM socio");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foreach($stmt as $row)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$row['nombre']."\n";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catch(PDOException $e){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"Error: ".$e-&gt;getMessage();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1243584"/>
            <a:ext cx="2798064" cy="19385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82696" y="12984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– mysql-connector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82696" y="1517904"/>
            <a:ext cx="257860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– mysql-connector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mysql.connector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 = mysql.connector.connect(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host='localhost',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database='gimnasio',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user='root', password='',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charset='utf8mb4'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 = conn.cursor(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dictionary=True)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cursor.execute(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"SELECT nombre, apellido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FROM socio WHERE activo=1")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cursor.fetchall()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rows: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print(row['nombre'])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cursor.close()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conn.close()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71616" y="1243584"/>
            <a:ext cx="2798064" cy="19385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2984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– mysql2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81344" y="1517904"/>
            <a:ext cx="257860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Node.js – mysql2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mysql=require('mysql2/promise');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main(){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conn=await mysql.createConnection({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host:'localhost',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database:'gimnasio',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user:'root',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password:'',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charset:'utf8mb4'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[rows]=await conn.execute(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'SELECT nombre,apellido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FROM socio WHERE activo=?',[1]);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rows.forEach(r=&gt;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console.log(r.nombre));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conn.end();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main().catch(console.error);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859536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3192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para todos los lenguajes: </a:t>
            </a:r>
            <a:pPr indent="0" marL="0">
              <a:buNone/>
            </a:pPr>
            <a:r>
              <a:rPr lang="en-US" sz="100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Nunca concatenar strings en SQL → usar prepared statements. (2) Cerrar conexión tras cada operación. (3) Charset utf8mb4 explícito.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21024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0624" y="365760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Completo – Insertar desde PHP con Prepared Statements (evita SQL Injection):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913632"/>
            <a:ext cx="85953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4005072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NUNCA: $sql = "INSERT INTO socio (nombre) VALUES('".$_POST['nombre']."')";  SQL Injection!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SIEMPRE: Prepared Statements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$pdo-&gt;prepare("INSERT INTO socio (nombre, apellido, email) VALUES (:nombre, :apellido, :email)");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$stmt-&gt;execute([':nombre'=&gt;$_POST['nombre'],':apellido'=&gt;$_POST['apellido'],':email'=&gt;$_POST['email']]);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"Socio creado con id: " . $pdo-&gt;lastInsertId();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45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937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 de la Sesión 9 – Clase Práctica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969264"/>
            <a:ext cx="32004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170432"/>
            <a:ext cx="4023360" cy="1078992"/>
          </a:xfrm>
          <a:prstGeom prst="rect">
            <a:avLst/>
          </a:prstGeom>
          <a:solidFill>
            <a:srgbClr val="0D2137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17043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170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26187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157276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pasos sistemáticos para abordar cualquier dominio real.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170432"/>
            <a:ext cx="4023360" cy="1078992"/>
          </a:xfrm>
          <a:prstGeom prst="rect">
            <a:avLst/>
          </a:prstGeom>
          <a:solidFill>
            <a:srgbClr val="0D2137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17043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170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26187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Ejercicios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57276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· E-Commerce · RR.HH · Red Social: E-R → DDL.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2359152"/>
            <a:ext cx="4023360" cy="1078992"/>
          </a:xfrm>
          <a:prstGeom prst="rect">
            <a:avLst/>
          </a:prstGeom>
          <a:solidFill>
            <a:srgbClr val="0D2137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235915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3591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24505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Importancia BD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276148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de errores vienen de la BD. Rendimiento, mantenibilidad y escala.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2359152"/>
            <a:ext cx="4023360" cy="1078992"/>
          </a:xfrm>
          <a:prstGeom prst="rect">
            <a:avLst/>
          </a:prstGeom>
          <a:solidFill>
            <a:srgbClr val="0D2137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235915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3591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24505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276148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diseño, DDL, seguridad y rendimiento antes de producción.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" y="3547872"/>
            <a:ext cx="4023360" cy="1078992"/>
          </a:xfrm>
          <a:prstGeom prst="rect">
            <a:avLst/>
          </a:prstGeom>
          <a:solidFill>
            <a:srgbClr val="0D2137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354787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54787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Patrones de Diseño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395020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delete, audit trail, árbol adyacente, UUID vs AI.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3547872"/>
            <a:ext cx="4023360" cy="1078992"/>
          </a:xfrm>
          <a:prstGeom prst="rect">
            <a:avLst/>
          </a:prstGeom>
          <a:solidFill>
            <a:srgbClr val="0D2137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4920" y="354787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354787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0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Gimnasio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0" y="395020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completo: E-R + 3FN + DDL + SELECT + Transacción.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SQL Avanzado – Subconsultas, Procedimientos Almacenados, Funciones y Triggers en MariaDB.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9 – Clase de Práctica: Modelamiento de Bases de Datos</dc:title>
  <dc:subject>PptxGenJS Presentation</dc:subject>
  <dc:creator>PptxGenJS</dc:creator>
  <cp:lastModifiedBy>PptxGenJS</cp:lastModifiedBy>
  <cp:revision>1</cp:revision>
  <dcterms:created xsi:type="dcterms:W3CDTF">2026-04-12T17:51:53Z</dcterms:created>
  <dcterms:modified xsi:type="dcterms:W3CDTF">2026-04-12T17:51:53Z</dcterms:modified>
</cp:coreProperties>
</file>