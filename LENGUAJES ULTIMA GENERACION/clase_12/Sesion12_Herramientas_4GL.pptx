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7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3058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438912" y="0"/>
            <a:ext cx="146304" cy="514350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804672" y="548640"/>
            <a:ext cx="384048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804672" y="548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SESIÓN 12  ·  LENGUAJES DE ÚLTIMA GENERACIÓN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04672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de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Desarrollo 4GL Oracle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F0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 · Oracle Reports · Oracle APEX · SQL Developer Data Modeler · Generadores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4672" y="2834640"/>
            <a:ext cx="4572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04672" y="29443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04672" y="321868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de Última Generación  |  Ingeniería de Sistemas – 4.° Semestre  |  Universitaria de Colombia  | 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" y="3529584"/>
            <a:ext cx="8229600" cy="786384"/>
          </a:xfrm>
          <a:prstGeom prst="rect">
            <a:avLst/>
          </a:prstGeom>
          <a:solidFill>
            <a:srgbClr val="0A1E3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950976" y="3566160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Conocer las herramientas de desarrollo de cuarta generación en el entorno Oracle: características, generadores de menús, consultas y aplicaciones (Oracle Forms, Reports, APEX, SQL Developer Data Modeler), para construir soluciones sin programación de bajo nivel.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0" y="91440"/>
            <a:ext cx="2377440" cy="237744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 – Sesión 12: Herramientas de Desarrollo 4GL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621792" cy="126187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56032" y="749808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56032" y="1591056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69264" y="822960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Evolución de Lenguajes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9264" y="1188720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1GL→5GL. Características 4GL. Por qué Oracle apostó por 4GL.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0872" y="749808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690872" y="749808"/>
            <a:ext cx="621792" cy="1261872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690872" y="749808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90872" y="1591056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04104" y="822960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04104" y="1188720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módulos, bloques, ítems, triggers de Forms.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2139696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44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56032" y="2139696"/>
            <a:ext cx="621792" cy="1261872"/>
          </a:xfrm>
          <a:prstGeom prst="rect">
            <a:avLst/>
          </a:prstGeom>
          <a:solidFill>
            <a:srgbClr val="006644"/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256032" y="2139696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56032" y="2980944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69264" y="2212848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Reports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9264" y="2578608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reportes, secciones, fórmulas, parámetros.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90872" y="2139696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4690872" y="2139696"/>
            <a:ext cx="621792" cy="12618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690872" y="2139696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90872" y="2980944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04104" y="2212848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04104" y="2578608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Workspace, App Builder, páginas, regiones, formularios, reportes.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" y="3529584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8DA9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256032" y="3529584"/>
            <a:ext cx="621792" cy="1261872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256032" y="3529584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256032" y="4370832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264" y="3602736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Dev Data Modeler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69264" y="3968496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E-R, forward/reverse engineering, DDL Oracle.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90872" y="3529584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9" name="Shape 37"/>
          <p:cNvSpPr/>
          <p:nvPr/>
        </p:nvSpPr>
        <p:spPr>
          <a:xfrm>
            <a:off x="4690872" y="3529584"/>
            <a:ext cx="621792" cy="12618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4690872" y="3529584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690872" y="4370832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404104" y="3602736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Generadores y Práctica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04104" y="3968496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Menús, consultas, aplicaciones. Comparativa 4GL vs frameworks.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Evolución de los Lenguajes de Programación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49808"/>
            <a:ext cx="8595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74320" y="749808"/>
            <a:ext cx="731520" cy="7132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74320" y="749808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1GL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15568" y="8046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Primera Generación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15568" y="10789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máquina. Código binario (0s y 1s). Específico del hardware. Sin abstracción.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0176" y="822960"/>
            <a:ext cx="2798064" cy="548640"/>
          </a:xfrm>
          <a:prstGeom prst="rect">
            <a:avLst/>
          </a:prstGeom>
          <a:solidFill>
            <a:srgbClr val="0D1117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035040" y="859536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10110000 01100001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554480"/>
            <a:ext cx="8595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274320" y="1554480"/>
            <a:ext cx="731520" cy="7132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274320" y="155448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2GL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160934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Segunda Generación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" y="188366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ensamblador. Mnemonics. Un poco más legible pero aún ligado al hardware.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0176" y="1627632"/>
            <a:ext cx="2798064" cy="548640"/>
          </a:xfrm>
          <a:prstGeom prst="rect">
            <a:avLst/>
          </a:prstGeom>
          <a:solidFill>
            <a:srgbClr val="0D1117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6035040" y="1664208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 AX, 0061h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359152"/>
            <a:ext cx="8595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274320" y="2359152"/>
            <a:ext cx="731520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274320" y="2359152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3GL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15568" y="24140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Tercera Generación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15568" y="26883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procedurales. C, Pascal, Java, Python. Portable. Foco en el HOW (cómo).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80176" y="2432304"/>
            <a:ext cx="2798064" cy="548640"/>
          </a:xfrm>
          <a:prstGeom prst="rect">
            <a:avLst/>
          </a:prstGeom>
          <a:solidFill>
            <a:srgbClr val="0D111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6035040" y="2468880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range(10): print(i)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163824"/>
            <a:ext cx="8595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274320" y="3163824"/>
            <a:ext cx="73152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274320" y="316382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4GL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15568" y="32186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Cuarta Generación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115568" y="349300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de alto nivel. Foco en el QUÉ, no en el cómo. SQL, Oracle Forms/Reports/APEX.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80176" y="3236976"/>
            <a:ext cx="2798064" cy="5486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6035040" y="3273552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 FROM empleado WHERE activo=1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3968496"/>
            <a:ext cx="8595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Shape 35"/>
          <p:cNvSpPr/>
          <p:nvPr/>
        </p:nvSpPr>
        <p:spPr>
          <a:xfrm>
            <a:off x="274320" y="3968496"/>
            <a:ext cx="731520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274320" y="3968496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5GL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11556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Quinta Generación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15568" y="42976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y lenguajes declarativos. Prolog, Lisp. El sistema resuelve el problema con restricciones.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980176" y="4041648"/>
            <a:ext cx="2798064" cy="548640"/>
          </a:xfrm>
          <a:prstGeom prst="rect">
            <a:avLst/>
          </a:prstGeom>
          <a:solidFill>
            <a:srgbClr val="0D1117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6035040" y="4078224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Prolog: parent(tom,bob).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Características de los Lenguajes de 4ª Generación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 4GL permiten desarrollar aplicaciones completas con menos código, mayor productividad y sin conocer los detalles de bajo nivel del sistema operativo o hardware.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316736"/>
            <a:ext cx="42062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316736"/>
            <a:ext cx="64008" cy="76809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20624" y="1371600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Alta Abstracción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0624" y="1682496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desarrollador describe QUÉ quiere (no CÓMO lograrlo). Oracle APEX: diseñas formularios visualmente.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0872" y="1316736"/>
            <a:ext cx="42062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690872" y="1316736"/>
            <a:ext cx="64008" cy="7680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55464" y="1371600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Alta Productividad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55464" y="1682496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10-50x menos código que 3GL. Un formulario Oracle Forms en horas vs. días en Java puro.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" y="2212848"/>
            <a:ext cx="42062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2212848"/>
            <a:ext cx="64008" cy="7680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20624" y="2267712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6D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🔗  Integración BD Nativa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0624" y="2578608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directa a Oracle sin capas intermedias. Sin JDBC/ODBC configuración manual.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90872" y="2212848"/>
            <a:ext cx="42062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690872" y="2212848"/>
            <a:ext cx="64008" cy="7680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55464" y="2267712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 Generación Automática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55464" y="2578608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Generan código DDL, formularios, reportes, menús y aplicaciones completas automáticamente.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" y="3108960"/>
            <a:ext cx="42062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256032" y="3108960"/>
            <a:ext cx="64008" cy="76809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20624" y="316382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🛠️  Herramientas Visuales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0624" y="347472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Drop, property palettes, wizards guiados. Sin memorizar APIs o sintaxis complejas.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90872" y="3108960"/>
            <a:ext cx="42062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4690872" y="3108960"/>
            <a:ext cx="64008" cy="76809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4855464" y="316382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🔄  Mantenimiento Fácil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55464" y="347472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en el modelo se propagan automáticamente. Forward/Reverse engineering integrado.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56032" y="4005072"/>
            <a:ext cx="42062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256032" y="4005072"/>
            <a:ext cx="64008" cy="768096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420624" y="4059936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30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Estándares Oracle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20624" y="4370832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Forms, Reports, APEX, Designer, JDeveloper: suite completa integrada.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90872" y="4005072"/>
            <a:ext cx="42062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9" name="Shape 37"/>
          <p:cNvSpPr/>
          <p:nvPr/>
        </p:nvSpPr>
        <p:spPr>
          <a:xfrm>
            <a:off x="4690872" y="4005072"/>
            <a:ext cx="64008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4855464" y="4059936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☁️  Cloud-Ready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55464" y="4370832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APEX disponible en Oracle Cloud. Migración a cloud sin reescribir aplicaciones.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Suite de Herramientas 4GL Oracle – Panorama General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57200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ofrece un ecosistema completo de herramientas 4GL. Cada una cubre una necesidad específica del ciclo de desarrollo.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280160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280160"/>
            <a:ext cx="2816352" cy="365760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47472" y="128016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Oracle Forms (11g)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" y="170078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de formularios de entrada de datos. Bloques basados en tablas Oracle. Ideal para aplicaciones transaccionales. Client-Server y Web.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7472" y="2615184"/>
            <a:ext cx="2633472" cy="292608"/>
          </a:xfrm>
          <a:prstGeom prst="rect">
            <a:avLst/>
          </a:prstGeom>
          <a:solidFill>
            <a:srgbClr val="0052CC">
              <a:alpha val="12000"/>
            </a:srgbClr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02336" y="2633472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Captura de datos, pantallas CRUD sobre Oracle.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0400" y="1280160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44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3200400" y="1280160"/>
            <a:ext cx="2816352" cy="365760"/>
          </a:xfrm>
          <a:prstGeom prst="rect">
            <a:avLst/>
          </a:prstGeom>
          <a:solidFill>
            <a:srgbClr val="006644"/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291840" y="128016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Oracle Reports (11g)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91840" y="170078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de reportes y listados. Tabular, maestro-detalle, matricial. Salida en PDF, HTML, Excel, RTF. Integrado con Forms.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91840" y="2615184"/>
            <a:ext cx="2633472" cy="292608"/>
          </a:xfrm>
          <a:prstGeom prst="rect">
            <a:avLst/>
          </a:prstGeom>
          <a:solidFill>
            <a:srgbClr val="006644">
              <a:alpha val="12000"/>
            </a:srgbClr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3346704" y="2633472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Informes contables, listados de inventario, facturas.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44768" y="1280160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6144768" y="1280160"/>
            <a:ext cx="2816352" cy="3657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6236208" y="128016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🌐 Oracle APEX (23c)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36208" y="170078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Express: plataforma low-code web. Crea apps completas en el navegador. Incluido en Oracle XE 21c (gratis). Activo y en evolución.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36208" y="2615184"/>
            <a:ext cx="2633472" cy="292608"/>
          </a:xfrm>
          <a:prstGeom prst="rect">
            <a:avLst/>
          </a:prstGeom>
          <a:solidFill>
            <a:srgbClr val="FF6B35">
              <a:alpha val="12000"/>
            </a:srgbClr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6291072" y="2633472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Apps web completas: dashboards, portales, CRUD web.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6032" y="3145536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8DA9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256032" y="3145536"/>
            <a:ext cx="2816352" cy="365760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347472" y="3145536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📐 SQL Dev Data Modeler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" y="3566160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visual de modelos E-R. Forward (modelo→DDL) y Reverse (BD→modelo) engineering. Versiones conceptual, lógica y física.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7472" y="4480560"/>
            <a:ext cx="2633472" cy="292608"/>
          </a:xfrm>
          <a:prstGeom prst="rect">
            <a:avLst/>
          </a:prstGeom>
          <a:solidFill>
            <a:srgbClr val="008DA9">
              <a:alpha val="12000"/>
            </a:srgbClr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402336" y="4498848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Documentar BD existentes, diseñar nuevos sistemas.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0" y="3145536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3200400" y="3145536"/>
            <a:ext cx="2816352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3291840" y="3145536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Oracle JDeveloper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291840" y="3566160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Java+ADF (Application Development Framework). Desarrollo de apps web Java sobre Oracle. Drag &amp; Drop de componentes ADF.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91840" y="4480560"/>
            <a:ext cx="2633472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3346704" y="4498848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Apps web Java empresariales con Oracle ADF.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44768" y="3145536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Shape 39"/>
          <p:cNvSpPr/>
          <p:nvPr/>
        </p:nvSpPr>
        <p:spPr>
          <a:xfrm>
            <a:off x="6144768" y="3145536"/>
            <a:ext cx="2816352" cy="36576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6236208" y="3145536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🗂️ Oracle Designer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36208" y="3566160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CASE clásica Oracle. Modelado, generación de código, repositorio centralizado. Asociada a Oracle 12C en el temario.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36208" y="4480560"/>
            <a:ext cx="2633472" cy="292608"/>
          </a:xfrm>
          <a:prstGeom prst="rect">
            <a:avLst/>
          </a:prstGeom>
          <a:solidFill>
            <a:srgbClr val="3730A3">
              <a:alpha val="12000"/>
            </a:srgbClr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43"/>
          <p:cNvSpPr/>
          <p:nvPr/>
        </p:nvSpPr>
        <p:spPr>
          <a:xfrm>
            <a:off x="6291072" y="4498848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Análisis y diseño previo a Oracle Forms/Reports.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 – Generador de Formularios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93776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 es un generador de formularios que permite crear aplicaciones de entrada de datos sobre Oracle Database sin escribir SQL complejo. Cada formulario se conecta directamente a tablas Oracle.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316736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74320" y="1316736"/>
            <a:ext cx="64008" cy="1737360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38912" y="1380744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Componentes de Oracle Forms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" y="1682496"/>
            <a:ext cx="3904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Builder: herramienta de diseño (IDE)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Compiler: convierte .FMB (fuente) → .FMX (ejecutable)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Runtime: ejecuta el formulario en el cliente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Services: capa web para ejecución en navegador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Archivos: .FMB (fuente), .FMX (compilado), .MMB (menú)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316736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709160" y="1316736"/>
            <a:ext cx="64008" cy="1737360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73752" y="1380744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Tipos de Módulos Forms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73752" y="1682496"/>
            <a:ext cx="3904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Module (.FMB): pantalla principal de captura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Module (.MMB): barra de menús de la aplicación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Module (.PLL): código PL/SQL reutilizable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Module: integración con Oracle Reports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Library (.OLB): objetos reutilizables (plantillas)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145536"/>
            <a:ext cx="416052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74320" y="3145536"/>
            <a:ext cx="64008" cy="16276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38912" y="3209544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Bloques en Oracle Forms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" y="3511296"/>
            <a:ext cx="3904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Base-Table Block: vinculado directamente a una tabla Oracle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Block: no vinculado a tabla (botones, campos calculados)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Master-Detail: relación padre-hijo entre dos bloques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bloque contiene Items (campos de la tabla)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Propiedades: Query Data Source, Key Mode, etc.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3145536"/>
            <a:ext cx="416052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709160" y="3145536"/>
            <a:ext cx="64008" cy="16276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73752" y="3209544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Triggers de Oracle Forms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73752" y="3511296"/>
            <a:ext cx="3904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WHEN-BUTTON-PRESSED: al hacer clic en un botón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WHEN-VALIDATE-ITEM: validar campo al salir de él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PRE-INSERT / POST-INSERT: antes/después de insertar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ON-QUERY: personalizar la consulta del bloque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KEY-COMMIT: cuando el usuario presiona Ctrl+S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escriben en PL/SQL (igual que Oracle BD)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 – Arquitectura y Flujo de Trabajo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49808"/>
            <a:ext cx="2779776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74320" y="749808"/>
            <a:ext cx="2779776" cy="365760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CAPA PRESENTACIÓN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118872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52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 Runtime / Forms Services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1517904"/>
            <a:ext cx="2596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visual del formulario. Muestra campos, botones, listas.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267712"/>
            <a:ext cx="2596896" cy="36576"/>
          </a:xfrm>
          <a:prstGeom prst="rect">
            <a:avLst/>
          </a:prstGeom>
          <a:solidFill>
            <a:srgbClr val="0052CC">
              <a:alpha val="40000"/>
            </a:srgbClr>
          </a:solidFill>
          <a:ln w="12700">
            <a:solidFill>
              <a:srgbClr val="0052C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65760" y="2395728"/>
            <a:ext cx="25968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interactúa aquí. En web: navegador con Java Applet o Forms Web.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36976" y="749808"/>
            <a:ext cx="2779776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3236976" y="749808"/>
            <a:ext cx="2779776" cy="36576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3328416" y="749808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CAPA LÓGICA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28416" y="118872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56D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 Runtime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28416" y="1517904"/>
            <a:ext cx="2596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 triggers PL/SQL, valida datos, coordina BD.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28416" y="2267712"/>
            <a:ext cx="2596896" cy="36576"/>
          </a:xfrm>
          <a:prstGeom prst="rect">
            <a:avLst/>
          </a:prstGeom>
          <a:solidFill>
            <a:srgbClr val="1A56DB">
              <a:alpha val="40000"/>
            </a:srgbClr>
          </a:solidFill>
          <a:ln w="12700">
            <a:solidFill>
              <a:srgbClr val="1A56D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3328416" y="2395728"/>
            <a:ext cx="25968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viven los triggers: WHEN-BUTTON-PRESSED, PRE-INSERT, etc.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99632" y="749808"/>
            <a:ext cx="2779776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6199632" y="749808"/>
            <a:ext cx="2779776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6291072" y="749808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CAPA DATOS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91072" y="118872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Database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91072" y="1517904"/>
            <a:ext cx="2596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Tablas, sequences, procedures llamados desde Forms.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91072" y="2267712"/>
            <a:ext cx="2596896" cy="36576"/>
          </a:xfrm>
          <a:prstGeom prst="rect">
            <a:avLst/>
          </a:prstGeom>
          <a:solidFill>
            <a:srgbClr val="0D9488">
              <a:alpha val="40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6291072" y="2395728"/>
            <a:ext cx="25968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Base-Table Blocks leen y escriben directamente en Oracle.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72384" y="2487168"/>
            <a:ext cx="201168" cy="2743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3054096" y="2450592"/>
            <a:ext cx="237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A56DB"/>
                </a:solidFill>
              </a:rPr>
              <a:t>⟺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035040" y="2487168"/>
            <a:ext cx="201168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6016752" y="2450592"/>
            <a:ext cx="237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D9488"/>
                </a:solidFill>
              </a:rPr>
              <a:t>⟺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274320" y="4590288"/>
            <a:ext cx="8595360" cy="274320"/>
          </a:xfrm>
          <a:prstGeom prst="rect">
            <a:avLst/>
          </a:prstGeom>
          <a:solidFill>
            <a:srgbClr val="0A1E35">
              <a:alpha val="12000"/>
            </a:srgbClr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420624" y="461772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Flujo: Usuario llena campo → WHEN-VALIDATE-ITEM (Forms Runtime) → valida contra Oracle → guarda con COMMIT.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 – Triggers PL/SQL y Ejemplo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4160520" cy="1975104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84048" y="786384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WHEN-BUTTON-PRESSED – Guardar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005840"/>
            <a:ext cx="394106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 WHEN-BUTTON-PRESSED en botón "Guardar"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Validar campo obligatorio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:BLOQUE.NOMBRE IS NULL THEN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MESSAGE('ERROR: El nombre es obligatorio');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FORM_TRIGGER_FAILURE;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Commit (guardar en Oracle)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COMMIT_FORM;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MESSAGE('Registro guardado correctamente');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OTHERS THEN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MESSAGE('Error: '||SQLERRM);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731520"/>
            <a:ext cx="4160520" cy="1975104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818888" y="786384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PRE-INSERT y validación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18888" y="1005840"/>
            <a:ext cx="394106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 PRE-INSERT: asignar PK automática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seq_cliente.NEXTVAL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INTO :BLOQUE_CLIENTE.ID_CLIENTE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DUAL;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:BLOQUE_CLIENTE.FECHA_REGISTRO := SYSDATE;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 WHEN-VALIDATE-ITEM en campo EMAIL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REGEXP_LIKE(:BLOQUE.EMAIL,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'^[A-Za-z0-9._%+-]+@[A-Za-z0-9.-]+.[A-Za-z]{2,}$') THEN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MESSAGE('Email inválido');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FORM_TRIGGER_FAILURE;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798064"/>
            <a:ext cx="8595360" cy="1481328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84048" y="285292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 Oracle Forms – funciones predefinidas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4048" y="3072384"/>
            <a:ext cx="83759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Built-ins (funciones predefinidas de Oracle Forms)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GO_BLOCK('BLOQUE_DETALLE');     -- Navegar a otro bloque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EXECUTE_QUERY;                   -- Ejecutar la consulta del bloque actual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FIRST_RECORD;                    -- Ir al primer registro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NEXT_RECORD;                     -- Ir al siguiente registro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CLEAR_FORM;                      -- Limpiar todo el formulario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SHOW_ALERT('ALERTA_CONFIRMACION');  -- Mostrar diálogo de alerta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CALL_FORM('/app/forms/pedido.fmx'); -- Llamar otro formulario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Usar variables globales entre formularios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:GLOBAL.ID_USUARIO := :BLOQUE.ID_USUARIO;  -- Guardar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v_id := :GLOBAL.ID_USUARIO;                -- Leer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6644"/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Reports – Generador de Reportes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75488"/>
          </a:xfrm>
          <a:prstGeom prst="rect">
            <a:avLst/>
          </a:prstGeom>
          <a:solidFill>
            <a:srgbClr val="006644"/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Reports es el generador de reportes de Oracle. Permite crear listados, informes y documentos complejos a partir de datos Oracle, con salida en múltiples formatos.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298448"/>
            <a:ext cx="2816352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44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298448"/>
            <a:ext cx="2816352" cy="347472"/>
          </a:xfrm>
          <a:prstGeom prst="rect">
            <a:avLst/>
          </a:prstGeom>
          <a:solidFill>
            <a:srgbClr val="006644"/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47472" y="129844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Tabular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" y="1700784"/>
            <a:ext cx="26334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y columnas. El más simple. Como una hoja de cálculo. Ej: listado de empleados, inventario.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1298448"/>
            <a:ext cx="2816352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3200400" y="1298448"/>
            <a:ext cx="2816352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291840" y="129844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📑 Maestro-Detalle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91840" y="1700784"/>
            <a:ext cx="26334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Encabezado + filas de detalle. Ej: factura (cabecera) con sus ítems (detalle).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44768" y="1298448"/>
            <a:ext cx="2816352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6144768" y="1298448"/>
            <a:ext cx="2816352" cy="34747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6236208" y="129844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🏷️ Mailing Label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36208" y="1700784"/>
            <a:ext cx="26334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en grilla. Ej: etiquetas postales de clientes en formato 3 columnas.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3035808"/>
            <a:ext cx="2816352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256032" y="3035808"/>
            <a:ext cx="2816352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347472" y="303580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📄 Form-Like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7472" y="3438144"/>
            <a:ext cx="26334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libre similar a un formulario. Ej: ficha de empleado, carnet, certificado.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0" y="3035808"/>
            <a:ext cx="2816352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3200400" y="3035808"/>
            <a:ext cx="2816352" cy="34747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3291840" y="303580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🔢 Matrix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91840" y="3438144"/>
            <a:ext cx="26334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cruzada (pivot). Ej: ventas por mes vs. producto, como tabla dinámica Excel.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44768" y="3035808"/>
            <a:ext cx="2816352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6144768" y="3035808"/>
            <a:ext cx="2816352" cy="347472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6236208" y="303580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Group-Left/Above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36208" y="3438144"/>
            <a:ext cx="26334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Agrupación por categorías. Ej: ventas por región, luego por vendedor, luego detalle.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6644"/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Reports – Secciones y Componentes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49808"/>
            <a:ext cx="859536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44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74320" y="749808"/>
            <a:ext cx="2194560" cy="676656"/>
          </a:xfrm>
          <a:prstGeom prst="rect">
            <a:avLst/>
          </a:prstGeom>
          <a:solidFill>
            <a:srgbClr val="006644"/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74320" y="749808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Header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78608" y="914400"/>
            <a:ext cx="618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imprime una sola vez al inicio. Portada, logo, título, fecha del reporte.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517904"/>
            <a:ext cx="859536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274320" y="1517904"/>
            <a:ext cx="2194560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274320" y="1517904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Header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78608" y="1682496"/>
            <a:ext cx="618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repite en cada página. Nombres de columnas, títulos de sección, número de página.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286000"/>
            <a:ext cx="859536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74320" y="2286000"/>
            <a:ext cx="2194560" cy="67665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274320" y="2286000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Body (Groups)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78608" y="2450592"/>
            <a:ext cx="618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Cuerpo principal. Aquí van los datos. Puede tener grupos anidados (maestro-detalle).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054096"/>
            <a:ext cx="859536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74320" y="3054096"/>
            <a:ext cx="2194560" cy="6766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274320" y="305409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Footer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578608" y="3218688"/>
            <a:ext cx="618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repite al final de cada página. Totales parciales, número de página, firma.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822192"/>
            <a:ext cx="859536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274320" y="3822192"/>
            <a:ext cx="2194560" cy="67665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274320" y="3822192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Footer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578608" y="3986784"/>
            <a:ext cx="618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imprime una sola vez al final. Totales generales, resumen, conclusión.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626864"/>
            <a:ext cx="8595360" cy="25603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20624" y="464515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de salida: PDF (más usado), HTML (web), RTF (Word), Excel (datos), PostScript. Se puede llamar un Report desde Oracle Forms con la función RUN_REPORT_OBJECT.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– Application Express: Low-Code Web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9377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(Application Express) es una plataforma low-code web incluida en Oracle Database. Permite crear aplicaciones web completas directamente sobre Oracle, sin servidor de aplicaciones externo.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335024"/>
            <a:ext cx="420624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335024"/>
            <a:ext cx="64008" cy="104241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20624" y="1408176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🆓  Completamente gratis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0624" y="1719072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 en Oracle XE 21c. Disponible en Oracle Cloud gratis (apex.oracle.com). No requiere licencia adicional.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0872" y="1335024"/>
            <a:ext cx="420624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690872" y="1335024"/>
            <a:ext cx="64008" cy="104241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55464" y="1408176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🌐  100% Web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55464" y="1719072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necesitas un navegador. No se instala nada en el cliente. Todo corre dentro de Oracle Database.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" y="2505456"/>
            <a:ext cx="420624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2505456"/>
            <a:ext cx="64008" cy="104241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20624" y="2578608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Desarrollo rápido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0624" y="2889504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desarrollador puede crear una app web funcional (CRUD) en menos de 1 hora con wizards.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90872" y="2505456"/>
            <a:ext cx="420624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690872" y="2505456"/>
            <a:ext cx="64008" cy="104241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55464" y="2578608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🔒  Seguridad integrada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55464" y="2889504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Autenticación, autorización por roles, protección CSRF, XSS. Esquemas Oracle para datos.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" y="3675888"/>
            <a:ext cx="420624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256032" y="3675888"/>
            <a:ext cx="64008" cy="104241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20624" y="3749040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📱  Responsive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0624" y="4059936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aplicaciones se adaptan a móviles y tablets automáticamente con Universal Theme.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90872" y="3675888"/>
            <a:ext cx="420624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4690872" y="3675888"/>
            <a:ext cx="64008" cy="104241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4855464" y="3749040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🔧  Extensible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55464" y="4059936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añadir JavaScript, CSS, PL/SQL personalizado, llamar APIs REST externas.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– Arquitectura: Todo Dentro de Oracle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57200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APEX es la arquitectura más simple posible: todo vive dentro de Oracle Database. No hay servidores de aplicaciones, frameworks ni middleware externos que mantener.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98448"/>
            <a:ext cx="2779776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74320" y="1298448"/>
            <a:ext cx="2779776" cy="384048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65760" y="129844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🌐  NAVEGADOR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1737360"/>
            <a:ext cx="25968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 páginas APEX via HTTP/HTTPS (puerto 8443 en XE). Solo necesita un browser moderno. No requiere Java, Flash ni plugins.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63824" y="1298448"/>
            <a:ext cx="2779776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3163824" y="1298448"/>
            <a:ext cx="2779776" cy="38404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255264" y="129844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🔧  ORDS / HTTP Server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55264" y="1737360"/>
            <a:ext cx="25968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REST Data Services actúa como puente web. Recibe la solicitud HTTP y la pasa a Oracle APEX Engine dentro de la BD.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53328" y="1298448"/>
            <a:ext cx="2779776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6053328" y="1298448"/>
            <a:ext cx="2779776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6144768" y="129844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🗄️  ORACLE DATABASE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44768" y="1737360"/>
            <a:ext cx="25968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Engine (procedimientos PL/SQL) genera HTML/JS. Accede a tus tablas de negocio. Todo en una sola BD.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26080" y="21031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A56DB"/>
                </a:solidFill>
              </a:rPr>
              <a:t>⟶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815584" y="21031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6B35"/>
                </a:solidFill>
              </a:rPr>
              <a:t>⟶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274320" y="3621024"/>
            <a:ext cx="8595360" cy="1170432"/>
          </a:xfrm>
          <a:prstGeom prst="rect">
            <a:avLst/>
          </a:prstGeom>
          <a:solidFill>
            <a:srgbClr val="F0FDF4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20624" y="365760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Componentes APEX dentro de Oracle DB: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" y="3968496"/>
            <a:ext cx="129844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02336" y="40050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Builder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02336" y="427939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app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792224" y="3968496"/>
            <a:ext cx="129844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1847088" y="40050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Workshop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847088" y="427939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BD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36976" y="3968496"/>
            <a:ext cx="129844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3291840" y="40050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Dev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291840" y="427939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equipo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81728" y="3968496"/>
            <a:ext cx="129844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4736592" y="40050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APEX Engine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736592" y="427939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PL/SQL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126480" y="3968496"/>
            <a:ext cx="129844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6181344" y="40050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 Apps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81344" y="427939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prediseñadas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571232" y="3968496"/>
            <a:ext cx="129844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7626096" y="40050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 Services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626096" y="427939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REST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– Páginas, Regiones e Items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3891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aplicación APEX se organiza en Páginas → Regiones → Items. Cada página tiene su propio ciclo de renderizado y procesamiento.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261872"/>
            <a:ext cx="42062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261872"/>
            <a:ext cx="4206240" cy="32918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47472" y="12618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Página (Page)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" y="1627632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básica de la app. Cada URL es una página. Tipos: Formulario, Reporte, Dashboard, Login, Master-Detail.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" y="2139696"/>
            <a:ext cx="4023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1: Login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2: Home/Dashboard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3: Formulario Empleados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4: Reporte Ventas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90872" y="1261872"/>
            <a:ext cx="42062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4690872" y="1261872"/>
            <a:ext cx="4206240" cy="3291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4782312" y="12618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Región (Region)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82312" y="1627632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de una página. Una página puede tener múltiples regiones. Define el tipo de contenido.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82312" y="2139696"/>
            <a:ext cx="4023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Report (tabla SQL)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Report (con filtros)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Region (formulario)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(gráfico)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Text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(tarjetas)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6032" y="3035808"/>
            <a:ext cx="42062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56032" y="3035808"/>
            <a:ext cx="420624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347472" y="30358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Item (Item)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" y="340156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individual dentro de una región. Cada item tiene tipo, etiqueta, source (columna BD) y validaciones.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7472" y="3913632"/>
            <a:ext cx="4023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Field (texto)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List (lista desplegable)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Picker (calendario)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Field (número)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Browse (subir archivos)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(valor oculto)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90872" y="3035808"/>
            <a:ext cx="42062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690872" y="3035808"/>
            <a:ext cx="420624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782312" y="30358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Proceso (Process)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82312" y="340156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PL/SQL que se ejecuta al enviar un formulario (submit). Maneja INSERT/UPDATE/DELETE.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3913632"/>
            <a:ext cx="4023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DML Automatic: Oracle genera el DML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PL/SQL personalizado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Procedure: llamar SP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Page: limpiar campos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Email: enviar correo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– Crear una Aplicación Paso a Paso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475488" cy="9144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56032" y="749808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822960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Acceder al Workspace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1115568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URL: http://localhost:8443/apex (XE). Iniciar sesión con admin/admin. Crear workspace: ESTUDIANTE/est2025.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90872" y="749808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4690872" y="749808"/>
            <a:ext cx="475488" cy="9144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690872" y="749808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57800" y="822960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Builder → Create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57800" y="1115568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a App Builder → Create. Elegir tipo: New Application. Dar nombre y tema (Universal Theme).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" y="1792224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1792224"/>
            <a:ext cx="475488" cy="9144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256032" y="1792224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1865376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Crear Tabla Base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215798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Workshop → SQL Commands. Crear la tabla Oracle (DDL). O usar el wizard de Table Creator en App Builder.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90872" y="1792224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4690872" y="1792224"/>
            <a:ext cx="475488" cy="9144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690872" y="1792224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257800" y="1865376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Page → Form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57800" y="215798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app: Create Page → Form. Seleccionar tabla Oracle. El wizard genera automáticamente todos los items.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2834640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256032" y="2834640"/>
            <a:ext cx="475488" cy="9144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256032" y="2834640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2960" y="2907792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Page → Report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" y="3200400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Page → Interactive Report. Seleccionar tabla y columnas. APEX genera el reporte con filtros, búsqueda y exportación.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90872" y="2834640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4690872" y="2834640"/>
            <a:ext cx="475488" cy="9144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4690872" y="2834640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257800" y="2907792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Navigation → Menu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7800" y="3200400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Builder → Shared Components → Navigation Menu. Agregar entradas al menú principal de la aplicación.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56032" y="3877056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9" name="Shape 37"/>
          <p:cNvSpPr/>
          <p:nvPr/>
        </p:nvSpPr>
        <p:spPr>
          <a:xfrm>
            <a:off x="256032" y="3877056"/>
            <a:ext cx="475488" cy="9144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256032" y="3877056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822960" y="39502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 Application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22960" y="4242816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Run (►). La app funciona en el navegador. Los datos se guardan en Oracle Database automáticamente.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90872" y="3877056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4" name="Shape 42"/>
          <p:cNvSpPr/>
          <p:nvPr/>
        </p:nvSpPr>
        <p:spPr>
          <a:xfrm>
            <a:off x="4690872" y="3877056"/>
            <a:ext cx="475488" cy="9144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43"/>
          <p:cNvSpPr/>
          <p:nvPr/>
        </p:nvSpPr>
        <p:spPr>
          <a:xfrm>
            <a:off x="4690872" y="3877056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5257800" y="39502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Personalizar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57800" y="4242816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estilos CSS, agregar validaciones JavaScript, integrar PL/SQL personalizado en procesos.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4956048"/>
            <a:ext cx="8595360" cy="164592"/>
          </a:xfrm>
          <a:prstGeom prst="rect">
            <a:avLst/>
          </a:prstGeom>
          <a:solidFill>
            <a:srgbClr val="FF6B35">
              <a:alpha val="12000"/>
            </a:srgbClr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9" name="Text 47"/>
          <p:cNvSpPr/>
          <p:nvPr/>
        </p:nvSpPr>
        <p:spPr>
          <a:xfrm>
            <a:off x="420624" y="4974336"/>
            <a:ext cx="8321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apex.oracle.com → Sign Up Gratis → Workspace listo en minutos. No requiere instalar Oracle localmente.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SQL Developer Data Modeler – Diseño Visual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57200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Developer Data Modeler (SDDM) es la herramienta oficial de Oracle para diseñar bases de datos visualmente. Incluida gratis en Oracle SQL Developer.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80160"/>
            <a:ext cx="416052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8DA9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74320" y="1280160"/>
            <a:ext cx="64008" cy="1719072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38912" y="13441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Modelos disponibles en SDDM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" y="1645920"/>
            <a:ext cx="39044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Model: entidades, atributos, relaciones sin tipos de BD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Model: tablas, columnas con tipos Oracle específicos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Model: tablespaces, particiones, almacenamiento físico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Diagram: flujo de procesos y datos del sistema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Model: BPM/diagramas de proceso del negocio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280160"/>
            <a:ext cx="416052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8DA9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709160" y="1280160"/>
            <a:ext cx="64008" cy="1719072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73752" y="13441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 Engineering (Modelo → DDL)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73752" y="1645920"/>
            <a:ext cx="39044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entidades en el modelo lógico/relacional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tipos Oracle: NUMBER(12,2), VARCHAR2(80), DATE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Establecer PK, FK, UNIQUE, CHECK desde el diagrama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→ DDL File: produce el script CREATE TABLE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SQL generado es ejecutable directo en SQL*Plus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090672"/>
            <a:ext cx="4160520" cy="1682496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74320" y="3090672"/>
            <a:ext cx="64008" cy="16824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38912" y="31546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 Engineering (BD → Modelo)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" y="3456432"/>
            <a:ext cx="3904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SDDM a Oracle XE existente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→ Import → Data Dictionary → Seleccionar tablas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SDDM lee la estructura y genera el diagrama automáticamente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para documentar BDs heredadas sin documentación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como PDF, PNG o HTML para documentación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3090672"/>
            <a:ext cx="4160520" cy="1682496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709160" y="3090672"/>
            <a:ext cx="64008" cy="16824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73752" y="31546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Notaciones y Estándares soportados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73752" y="3456432"/>
            <a:ext cx="3904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Barker: notación Oracle clásica (óvalo, cuervo's foot)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Crow's Foot (IE): estándar más usado en la industria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Bachman, IDEF1X: otras notaciones estándar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UML: diagrama de clases orientado a objetos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a: Visio, XML, ERwin, HTML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Generadores de Menús en Oracle 4GL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generador de menús permite crear la navegación de la aplicación de forma visual, sin codificar estructuras de menú manualmente. Oracle tiene varias opciones.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80160"/>
            <a:ext cx="416052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74320" y="1280160"/>
            <a:ext cx="64008" cy="16276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38912" y="13441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 Menu Builder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" y="1645920"/>
            <a:ext cx="3904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Builder dentro de Oracle Form Builder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.MMB (Menu Module Binary) visual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Tipos: pull-down (barra), pop-up (clic derecho), full-screen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Asociar comandos Oracle Forms a cada opción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acceso: deshabilitar opciones por rol/perfil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Integración: llamar formularios, ejecutar queries, abrir reportes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280160"/>
            <a:ext cx="416052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709160" y="1280160"/>
            <a:ext cx="64008" cy="162763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73752" y="13441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Navigation Menu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73752" y="1645920"/>
            <a:ext cx="3904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Components → Navigation Menu en APEX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o horizontal (hamburger en móvil)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Entradas con íconos, badges de notificación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condicional: mostrar según rol del usuario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jerárquico: menú → submenú → página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automático: genera menú desde las páginas existentes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999232"/>
            <a:ext cx="416052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74320" y="2999232"/>
            <a:ext cx="64008" cy="1664208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38912" y="30632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Designer Menu Generator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" y="3364992"/>
            <a:ext cx="3904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→ Application Design Transformer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módulos de menú desde el repositorio CASE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 en la estructura de módulos del sistema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con Oracle Forms y Developer/2000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Menús jerárquicos con acceso basado en responsabilidades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estándares corporativos automáticamente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999232"/>
            <a:ext cx="416052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709160" y="2999232"/>
            <a:ext cx="64008" cy="1664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73752" y="30632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Conceptos clave de menús 4GL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73752" y="3364992"/>
            <a:ext cx="3904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Menú: elemento clickeable con acción asociada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Submenú: menú que despliega otro nivel de opciones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Separador: línea divisoria para agrupar opciones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 de teclado: Ctrl+N, Alt+F, F5...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opción que activa/desactiva una función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Group: opciones mutuamente excluyentes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Generadores de Consultas en Herramientas 4GL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57200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generador de consultas permite construir sentencias SELECT de forma visual, sin escribir SQL manual. Ideal para usuarios finales no técnicos y para prototipado rápido.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80160"/>
            <a:ext cx="416052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74320" y="1280160"/>
            <a:ext cx="64008" cy="162763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38912" y="13441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SQL Developer – Query Builder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" y="1645920"/>
            <a:ext cx="3904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Arrastrar tablas al canvas → genera JOIN automático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columnas con checkboxes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condiciones WHERE con asistente visual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ORDER BY y GROUP BY sin escribir SQL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SQL generado se puede editar manualmente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resultados inmediatos con Run Query (F5)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280160"/>
            <a:ext cx="416052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709160" y="1280160"/>
            <a:ext cx="64008" cy="162763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73752" y="13441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– Interactive Report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73752" y="1645920"/>
            <a:ext cx="3904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final puede filtrar, ordenar y agrupar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columnas de cálculo sin SQL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vistas personalizadas (Named Reports)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a CSV, Excel, PDF con un clic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en todas las columnas automáticamente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desarrollador escribe UN SQL; el usuario lo manipula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999232"/>
            <a:ext cx="416052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44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74320" y="2999232"/>
            <a:ext cx="64008" cy="1664208"/>
          </a:xfrm>
          <a:prstGeom prst="rect">
            <a:avLst/>
          </a:prstGeom>
          <a:solidFill>
            <a:srgbClr val="006644"/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38912" y="30632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Reports – Query Builder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" y="3364992"/>
            <a:ext cx="3904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Wizard: construir consulta base del reporte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visual de tablas y columnas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de JOINs entre tablas relacionadas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parámetros (variables) en la consulta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inmediato del reporte generado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SQL generado queda editable en Data Model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999232"/>
            <a:ext cx="416052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709160" y="2999232"/>
            <a:ext cx="64008" cy="1664208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73752" y="30632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Designer – Query Manager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73752" y="3364992"/>
            <a:ext cx="3904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SELECT basado en el repositorio CASE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predefinidas por módulo del sistema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 directamente con Oracle Reports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criterios de búsqueda reutilizables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consultas del repositorio centralizado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 a analistas sin conocimiento SQL profundo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Generadores de Aplicaciones – Automatización del Desarrollo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754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generador de aplicaciones crea automáticamente pantallas, formularios, reportes y menús completos a partir de la definición de la base de datos o del repositorio CASE.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316736"/>
            <a:ext cx="4206240" cy="16093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316736"/>
            <a:ext cx="4206240" cy="32918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47472" y="131673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– App Builder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" y="1700784"/>
            <a:ext cx="40233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Application Wizard: define páginas y genera la app completa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Table-based: seleccionar una tabla → genera CRUD automático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genera página de resumen con gráficas y estadísticas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Master-Detail: genera pantalla padre-hijo automáticamente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Navigation: genera menú lateral con todas las páginas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90872" y="1316736"/>
            <a:ext cx="4206240" cy="1609344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690872" y="1316736"/>
            <a:ext cx="4206240" cy="329184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782312" y="131673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Designer – Application Generator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82312" y="1700784"/>
            <a:ext cx="40233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módulos Oracle Forms y Reports desde el repositorio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Design Transformer: convierte modelos en código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estándares y plantillas corporativas automáticamente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Genera: formularios, menús, librerías, reportes completos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Consistencia: todos los módulos siguen el mismo estándar visual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6032" y="3072384"/>
            <a:ext cx="4206240" cy="1609344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3072384"/>
            <a:ext cx="420624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347472" y="307238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JDeveloper – ADF Generator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7472" y="3456432"/>
            <a:ext cx="40233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Business Components: genera BC desde tablas Oracle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Pages wizard: seleccionar componentes y genera JSF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Faces: componentes web ricos generados automáticamente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Controls: arrastra tabla → genera tabla/formulario web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genera WAR/EAR para deploy en WebLogic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90872" y="3072384"/>
            <a:ext cx="4206240" cy="1609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690872" y="3072384"/>
            <a:ext cx="4206240" cy="3291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782312" y="307238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Características comunes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456432"/>
            <a:ext cx="40233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 del modelo de datos existente (BD o CASE)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Reducen 80-90% el tiempo de desarrollo inicial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generado es editable y extensible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Garantizan consistencia entre módulos relacionados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Facilitan el onboarding de nuevos desarrolladores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1 – Oracle Forms: Formulario de Empleados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84048" y="786384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 base para el formulario Oracle Forms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005840"/>
            <a:ext cx="83759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Paso 1: Crear la tabla Oracle (en SQL*Plus o SQL Developer)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SEQUENCE seq_empleado START WITH 1 INCREMENT BY 1 NOCACHE;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empleado (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id_empleado  NUMBER(8) GENERATED ALWAYS AS IDENTITY PRIMARY KEY,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codigo       VARCHAR2(12) UNIQUE NOT NULL,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nombre       VARCHAR2(80) NOT NULL,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apellido     VARCHAR2(80) NOT NULL,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salario      NUMBER(12,2) DEFAULT 0,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activo       NUMBER(1,0) DEFAULT 1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329184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20624" y="204825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Configuración en Oracle Form Builder (interfaz gráfica):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432304"/>
            <a:ext cx="859536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274320" y="2432304"/>
            <a:ext cx="420624" cy="329184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274320" y="243230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6384" y="2487168"/>
            <a:ext cx="7991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→ New Form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nuevo módulo de formulario (.FMB)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2798064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74320" y="2798064"/>
            <a:ext cx="420624" cy="329184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274320" y="279806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6384" y="2852928"/>
            <a:ext cx="7991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Blocks Wizard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tabla EMPLEADO → genera items automáticamente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3163824"/>
            <a:ext cx="859536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274320" y="3163824"/>
            <a:ext cx="420624" cy="329184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274320" y="316382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7991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Wizard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Form o Tabular layout → definir campos visibles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" y="3529584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274320" y="3529584"/>
            <a:ext cx="420624" cy="329184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274320" y="352958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6384" y="3584448"/>
            <a:ext cx="7991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botones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botones: Guardar, Nuevo, Eliminar, Buscar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895344"/>
            <a:ext cx="859536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274320" y="3895344"/>
            <a:ext cx="420624" cy="329184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274320" y="389534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86384" y="3950208"/>
            <a:ext cx="7991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de botones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WHEN-BUTTON-PRESSED en cada botón (ver código abajo)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4320" y="4261104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274320" y="4261104"/>
            <a:ext cx="420624" cy="329184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274320" y="426110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86384" y="4315968"/>
            <a:ext cx="7991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5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 y ejecutar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→ Administration → Compile → Run Form (Ctrl+R)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4320" y="4626864"/>
            <a:ext cx="8595360" cy="493776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384048" y="4718304"/>
            <a:ext cx="8375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 WHEN-BUTTON-PRESSED del botón GUARDAR (Código PL/SQL en Form Builder):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  IF :EMPLEADO.NOMBRE IS NULL THEN MESSAGE('Nombre obligatorio'); RAISE FORM_TRIGGER_FAILURE;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IF; COMMIT_FORM; MESSAGE('Guardado OK'); END;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2 – Oracle APEX: App de Gestión de Empleados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475488" cy="129844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56032" y="749808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80467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Crear Workspace y Tabla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1133856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Acceder a apex.oracle.com → Create Workspace: EMPRESA / empresa123. En SQL Workshop → SQL Commands ejecutar el DDL de la tabla EMPLEADO.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90872" y="749808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4690872" y="749808"/>
            <a:ext cx="475488" cy="129844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690872" y="749808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57800" y="80467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Application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57800" y="1133856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Builder → Create. Nombre: Gestión Empleados. Tema: Universal Theme 42. APEX crea una app base con navegación y login.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" y="2176272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2176272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256032" y="2176272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223113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Crear Página Reporte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2560320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Page → Interactive Report. SQL: SELECT id_empleado,codigo,nombre,apellido,salario,CASE activo WHEN 1 THEN 'Activo' ELSE 'Inactivo' END estado FROM empleado ORDER BY apellido. APEX genera el reporte con filtros automáticos.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90872" y="2176272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4690872" y="2176272"/>
            <a:ext cx="47548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690872" y="2176272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257800" y="223113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Crear Formulario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57800" y="2560320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Page → Form. Tabla: EMPLEADO. APEX genera los campos automáticamente. Proceso automático DML: INSERT/UPDATE según sea nuevo o edición.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3602736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256032" y="3602736"/>
            <a:ext cx="475488" cy="1298448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256032" y="3602736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2960" y="365760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6D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Navegación y Menú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" y="3986784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Components → Navigation Menu. Agregar entradas: Inicio, Empleados (apunta a pág. reporte), Nuevo Empleado (apunta a formulario).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90872" y="3602736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4690872" y="3602736"/>
            <a:ext cx="475488" cy="12984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4690872" y="3602736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257800" y="365760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Ejecutar y Probar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7800" y="3986784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Application → Ingresar empleados → Verificar en Oracle: SELECT * FROM empleado. La app guarda automáticamente en la base de datos Oracle.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" y="5010912"/>
            <a:ext cx="8595360" cy="155448"/>
          </a:xfrm>
          <a:prstGeom prst="rect">
            <a:avLst/>
          </a:prstGeom>
          <a:solidFill>
            <a:srgbClr val="FF6B35">
              <a:alpha val="12000"/>
            </a:srgbClr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420624" y="5020056"/>
            <a:ext cx="8321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En apex.oracle.com (cloud gratis) todo funciona igual. Solo necesitas crear el Workspace, ejecutar el DDL en SQL Workshop y seguir los mismos pasos.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3 – SQL Developer Data Modeler: Sistema Ventas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DA9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475488" cy="1298448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56032" y="749808"/>
            <a:ext cx="4754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80467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DA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Crear Modelo Lógico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1115568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→ Logical: Crear entidades CLIENTE, PRODUCTO, FACTURA, DETALLE_FACTURA. Definir atributos y tipos abstractos.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90872" y="749808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4690872" y="749808"/>
            <a:ext cx="47548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690872" y="749808"/>
            <a:ext cx="4754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57800" y="80467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Crear Modelo Relacional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57800" y="1115568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→ Relational: Desde lógico → Engineer to Relational. Definir tipos Oracle: NUMBER(8), VARCHAR2(80), DATE.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" y="2176272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2176272"/>
            <a:ext cx="475488" cy="1298448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256032" y="2176272"/>
            <a:ext cx="4754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223113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6D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Definir PKs y FKs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2542032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tabla: ID generado por SEQUENCE (en Properties). Relaciones FK: FACTURA.id_cliente → CLIENTE.id_cliente.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90872" y="2176272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4690872" y="2176272"/>
            <a:ext cx="475488" cy="129844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690872" y="2176272"/>
            <a:ext cx="4754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257800" y="223113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 Engineering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57800" y="2542032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→ Relational → Generate DDL. Guardar script .sql. El archivo contiene CREATE SEQUENCE + CREATE TABLE + CONSTRAINTS.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3602736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256032" y="3602736"/>
            <a:ext cx="475488" cy="12984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256032" y="3602736"/>
            <a:ext cx="4754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2960" y="365760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Ejecutar DDL Oracle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" y="3968496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SQL*Plus o SQL Developer. Ejecutar: @ventas_ddl.sql. Verificar con SELECT table_name FROM user_tables.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90872" y="3602736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4690872" y="3602736"/>
            <a:ext cx="475488" cy="12984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4690872" y="3602736"/>
            <a:ext cx="4754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257800" y="365760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 Engineering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7800" y="3968496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→ Import → Data Dictionary → Oracle. Seleccionar conexión y tablas. SDDM genera el diagrama automáticamente.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" y="5029200"/>
            <a:ext cx="8595360" cy="146304"/>
          </a:xfrm>
          <a:prstGeom prst="rect">
            <a:avLst/>
          </a:prstGeom>
          <a:solidFill>
            <a:srgbClr val="008DA9">
              <a:alpha val="12000"/>
            </a:srgbClr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420624" y="5038344"/>
            <a:ext cx="8321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DDL generado incluye SEQUENCES y TRIGGERS para auto-incremento. Revisar antes de ejecutar que los nombres de objetos sean correctos.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4 – APEX con PL/SQL Personalizado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4160520" cy="1956816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84048" y="786384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APEX: llamar SP Oracle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005840"/>
            <a:ext cx="39410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Proceso PL/SQL en botón "Aplicar Descuento"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(Página APEX → Process → PL/SQL Code)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v_result VARCHAR2(200);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Llamar procedure Oracle desde APEX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sp_aplicar_descuento(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:P3_ID_CLIENTE,    -- Item de la página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:P3_PORCENTAJE,    -- Otro item de la página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v_result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Mostrar mensaje al usuario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:P3_MENSAJE := v_result;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APEX_APPLICATION.G_PRINT_SUCCESS_MESSAGE :=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'Descuento aplicado: ' || v_result;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731520"/>
            <a:ext cx="4160520" cy="1956816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818888" y="786384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PL/SQL en items APEX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18888" y="1005840"/>
            <a:ext cx="39410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Validación de campo en APEX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(Page Item → Validation → PL/SQL Expression)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:P3_SALARIO &gt;= 1160000 AND :P3_SALARIO IS NOT NULL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 con función PL/SQL: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DECLARE v_ok BOOLEAN;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v_ok := fn_valida_salario(:P3_SALARIO);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v_ok THEN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APEX_ERROR.ADD_ERROR(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p_message=&gt;'Salario menor al mínimo legal',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p_display_location=&gt;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apex_error.c_inline_in_notification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779776"/>
            <a:ext cx="8595360" cy="1883664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84048" y="2834640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de reporte APEX con funciones Oracle y parámetros de página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4048" y="3054096"/>
            <a:ext cx="837590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Reporte SQL personalizado con funciones Oracle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(Interactive Report → Source SQL)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e.id_empleado,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e.codigo,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e.nombre || ' ' || e.apellido          AS nombre_completo,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TO_CHAR(e.salario,'$999,999,999.00')    AS salario_fmt,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d.nombre                                AS departamento,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e.activo WHEN 1 THEN 'Activo' ELSE 'Inactivo' END AS estado,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fn_categoria(e.id_empleado)             AS categoria,    -- Función Oracle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RANK() OVER(PARTITION BY e.id_depto ORDER BY e.salario DESC) AS ranking_dept,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TO_CHAR(e.fecha_ingreso,'DD/MM/YYYY')   AS ingreso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empleado 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JOIN departamento d ON e.id_depto = d.id_depto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e.activo = :P2_FILTRO_ACTIVO         -- Parámetro desde un item de la página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OR :P2_FILTRO_ACTIVO IS NULL            -- Si no hay filtro, mostrar todos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d.nombre, e.apellido;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4GL Oracle vs Frameworks Modernos – Comparativa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3891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Las herramientas 4GL Oracle tienen ventajas en productividad inicial pero limitaciones en flexibilidad. Los frameworks modernos ofrecen más control pero requieren más habilidades.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61872"/>
            <a:ext cx="201168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29184" y="128016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0" y="1261872"/>
            <a:ext cx="2377440" cy="2926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2340864" y="1280160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/ Forms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261872"/>
            <a:ext cx="2194560" cy="292608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718304" y="1280160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/ Angular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0" y="1261872"/>
            <a:ext cx="2011680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912864" y="1280160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Spring Boot / Django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572768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29184" y="1600200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desarrollo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0" y="1572768"/>
            <a:ext cx="237744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2340864" y="160020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Muy rápido (wizards)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1572768"/>
            <a:ext cx="219456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718304" y="160020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Medio (componentes)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1572768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6912864" y="1600200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🐢 Más lento (capas)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1865376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329184" y="1892808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aprendizaje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86000" y="1865376"/>
            <a:ext cx="23774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2340864" y="1892808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Baja (wizards intuitivos)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865376"/>
            <a:ext cx="21945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718304" y="1892808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Media (JS avanzado)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858000" y="1865376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6912864" y="1892808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Alta (frameworks)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2157984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329184" y="2185416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Oracle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286000" y="2157984"/>
            <a:ext cx="237744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2340864" y="21854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Nativa, sin config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2157984"/>
            <a:ext cx="219456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4718304" y="2185416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Requiere API/JDBC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0" y="2157984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Text 39"/>
          <p:cNvSpPr/>
          <p:nvPr/>
        </p:nvSpPr>
        <p:spPr>
          <a:xfrm>
            <a:off x="6912864" y="2185416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Requiere ORM/JDBC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74320" y="2450592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Text 41"/>
          <p:cNvSpPr/>
          <p:nvPr/>
        </p:nvSpPr>
        <p:spPr>
          <a:xfrm>
            <a:off x="329184" y="2478024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 UI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286000" y="2450592"/>
            <a:ext cx="23774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43"/>
          <p:cNvSpPr/>
          <p:nvPr/>
        </p:nvSpPr>
        <p:spPr>
          <a:xfrm>
            <a:off x="2340864" y="2478024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Limitada (temas APEX)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663440" y="2450592"/>
            <a:ext cx="21945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5"/>
          <p:cNvSpPr/>
          <p:nvPr/>
        </p:nvSpPr>
        <p:spPr>
          <a:xfrm>
            <a:off x="4718304" y="2478024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Total (CSS/JS libre)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58000" y="2450592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9" name="Text 47"/>
          <p:cNvSpPr/>
          <p:nvPr/>
        </p:nvSpPr>
        <p:spPr>
          <a:xfrm>
            <a:off x="6912864" y="2478024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Total (cualquier UI)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" y="2743200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Text 49"/>
          <p:cNvSpPr/>
          <p:nvPr/>
        </p:nvSpPr>
        <p:spPr>
          <a:xfrm>
            <a:off x="329184" y="2770632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286000" y="2743200"/>
            <a:ext cx="237744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3" name="Text 51"/>
          <p:cNvSpPr/>
          <p:nvPr/>
        </p:nvSpPr>
        <p:spPr>
          <a:xfrm>
            <a:off x="2340864" y="277063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Fácil (todo integrado)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663440" y="2743200"/>
            <a:ext cx="219456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5" name="Text 53"/>
          <p:cNvSpPr/>
          <p:nvPr/>
        </p:nvSpPr>
        <p:spPr>
          <a:xfrm>
            <a:off x="4718304" y="2770632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Gestión de paquetes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58000" y="2743200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5"/>
          <p:cNvSpPr/>
          <p:nvPr/>
        </p:nvSpPr>
        <p:spPr>
          <a:xfrm>
            <a:off x="6912864" y="2770632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Múltiples capas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74320" y="3035808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9" name="Text 57"/>
          <p:cNvSpPr/>
          <p:nvPr/>
        </p:nvSpPr>
        <p:spPr>
          <a:xfrm>
            <a:off x="329184" y="3063240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286000" y="3035808"/>
            <a:ext cx="23774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Text 59"/>
          <p:cNvSpPr/>
          <p:nvPr/>
        </p:nvSpPr>
        <p:spPr>
          <a:xfrm>
            <a:off x="2340864" y="306324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Buena (Oracle Cloud)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663440" y="3035808"/>
            <a:ext cx="21945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3" name="Text 61"/>
          <p:cNvSpPr/>
          <p:nvPr/>
        </p:nvSpPr>
        <p:spPr>
          <a:xfrm>
            <a:off x="4718304" y="306324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Alta (CDN, microserv)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8000" y="3035808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5" name="Text 63"/>
          <p:cNvSpPr/>
          <p:nvPr/>
        </p:nvSpPr>
        <p:spPr>
          <a:xfrm>
            <a:off x="6912864" y="3063240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Muy alta (microserv)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74320" y="3328416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7" name="Text 65"/>
          <p:cNvSpPr/>
          <p:nvPr/>
        </p:nvSpPr>
        <p:spPr>
          <a:xfrm>
            <a:off x="329184" y="3355848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Licencia/Costo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2286000" y="3328416"/>
            <a:ext cx="237744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7"/>
          <p:cNvSpPr/>
          <p:nvPr/>
        </p:nvSpPr>
        <p:spPr>
          <a:xfrm>
            <a:off x="2340864" y="3355848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Gratis con Oracle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663440" y="3328416"/>
            <a:ext cx="219456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1" name="Text 69"/>
          <p:cNvSpPr/>
          <p:nvPr/>
        </p:nvSpPr>
        <p:spPr>
          <a:xfrm>
            <a:off x="4718304" y="3355848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Open Source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858000" y="3328416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3" name="Text 71"/>
          <p:cNvSpPr/>
          <p:nvPr/>
        </p:nvSpPr>
        <p:spPr>
          <a:xfrm>
            <a:off x="6912864" y="3355848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Open Source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274320" y="3621024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5" name="Text 73"/>
          <p:cNvSpPr/>
          <p:nvPr/>
        </p:nvSpPr>
        <p:spPr>
          <a:xfrm>
            <a:off x="329184" y="3648456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desarrollador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286000" y="3621024"/>
            <a:ext cx="23774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7" name="Text 75"/>
          <p:cNvSpPr/>
          <p:nvPr/>
        </p:nvSpPr>
        <p:spPr>
          <a:xfrm>
            <a:off x="2340864" y="364845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/ DBA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4663440" y="3621024"/>
            <a:ext cx="21945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9" name="Text 77"/>
          <p:cNvSpPr/>
          <p:nvPr/>
        </p:nvSpPr>
        <p:spPr>
          <a:xfrm>
            <a:off x="4718304" y="3648456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858000" y="3621024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1" name="Text 79"/>
          <p:cNvSpPr/>
          <p:nvPr/>
        </p:nvSpPr>
        <p:spPr>
          <a:xfrm>
            <a:off x="6912864" y="3648456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developer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74320" y="3913632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3" name="Text 81"/>
          <p:cNvSpPr/>
          <p:nvPr/>
        </p:nvSpPr>
        <p:spPr>
          <a:xfrm>
            <a:off x="329184" y="3941064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ideales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2286000" y="3913632"/>
            <a:ext cx="237744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5" name="Text 83"/>
          <p:cNvSpPr/>
          <p:nvPr/>
        </p:nvSpPr>
        <p:spPr>
          <a:xfrm>
            <a:off x="2340864" y="3941064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internas, CRUD, reportes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4663440" y="3913632"/>
            <a:ext cx="219456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7" name="Text 85"/>
          <p:cNvSpPr/>
          <p:nvPr/>
        </p:nvSpPr>
        <p:spPr>
          <a:xfrm>
            <a:off x="4718304" y="3941064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SPAs, apps móviles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6858000" y="3913632"/>
            <a:ext cx="201168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9" name="Text 87"/>
          <p:cNvSpPr/>
          <p:nvPr/>
        </p:nvSpPr>
        <p:spPr>
          <a:xfrm>
            <a:off x="6912864" y="3941064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REST, microservicios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74320" y="4206240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1" name="Text 89"/>
          <p:cNvSpPr/>
          <p:nvPr/>
        </p:nvSpPr>
        <p:spPr>
          <a:xfrm>
            <a:off x="329184" y="4233672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 2025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2286000" y="4206240"/>
            <a:ext cx="23774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3" name="Text 91"/>
          <p:cNvSpPr/>
          <p:nvPr/>
        </p:nvSpPr>
        <p:spPr>
          <a:xfrm>
            <a:off x="2340864" y="423367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activo y evolucionando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4663440" y="4206240"/>
            <a:ext cx="21945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5" name="Text 93"/>
          <p:cNvSpPr/>
          <p:nvPr/>
        </p:nvSpPr>
        <p:spPr>
          <a:xfrm>
            <a:off x="4718304" y="4233672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domina el mercado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6858000" y="4206240"/>
            <a:ext cx="20116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7" name="Text 95"/>
          <p:cNvSpPr/>
          <p:nvPr/>
        </p:nvSpPr>
        <p:spPr>
          <a:xfrm>
            <a:off x="6912864" y="4233672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empresarial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4GL en el Contexto Actual – Low-Code / No-Code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 4GL no desaparecieron: evolucionaron. Oracle APEX 23c es uno de los líderes en el mercado de plataformas low-code empresariales en 2025.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316736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316736"/>
            <a:ext cx="64008" cy="106070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20624" y="138074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🌍  Mercado Low-Code 2025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0624" y="1700784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de plataformas low-code supera los USD $45 billones en 2025. Gartner reporta que el 65% del desarrollo de aplicaciones será low-code para 2025.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0872" y="1316736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690872" y="1316736"/>
            <a:ext cx="64008" cy="106070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55464" y="138074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Oracle APEX en el mercado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55464" y="1700784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Reconocido por Gartner como líder en plataformas de desarrollo empresarial. Más de 500,000 desarrolladores activos globalmente.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" y="2505456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2505456"/>
            <a:ext cx="64008" cy="106070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20624" y="256946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6D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🔗  Conexión con lo aprendido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0624" y="2889504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Forms y Reports siguen en producción en miles de empresas en Latinoamérica (bancos, gobierno, retail). Conocerlos es valioso profesionalmente.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90872" y="2505456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690872" y="2505456"/>
            <a:ext cx="64008" cy="10607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55464" y="256946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  Herramientas equivalentes 2025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55464" y="2889504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OutSystems, Mendix, Power Apps, Appsmith, Budibase → misma filosofía 4GL pero en plataformas modernas. Los conceptos aplican a todas.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" y="3694176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256032" y="3694176"/>
            <a:ext cx="64008" cy="106070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20624" y="375818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💼  Relevancia en Colombia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0624" y="4078224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empresas colombianas usan Oracle EBS, Oracle Financials, Siebel CRM → basados en Oracle Forms/Reports/APEX. Conocerlos abre oportunidades.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90872" y="3694176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4690872" y="3694176"/>
            <a:ext cx="64008" cy="1060704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4855464" y="375818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30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📖  Continúa aprendiendo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55464" y="4078224"/>
            <a:ext cx="3950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APEX: apex.oracle.com → tutoriales gratuitos. Oracle University: cursos de Forms y Reports. YouTube: canales Oracle Developers con demos actuales.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Buenas Prácticas – Herramientas 4GL Oracle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3840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Principios para desarrollar con calidad en Oracle Forms, Reports y APEX.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207008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207008"/>
            <a:ext cx="64008" cy="676656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20624" y="1261872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2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  ✔  Usar Object Libraries en Forms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0624" y="1536192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plantillas reutilizables (.OLB) para botones, items y ventanas. Garantiza consistencia visual.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90872" y="1207008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690872" y="1207008"/>
            <a:ext cx="64008" cy="6766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55464" y="1261872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🔒  ✔  Nunca SQL dinámico sin validar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55464" y="1536192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Concatenar inputs de usuario en SQL abre SQL Injection. Usar bind variables (:VAR) en Reports y APEX.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6032" y="1975104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1975104"/>
            <a:ext cx="64008" cy="67665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20624" y="2029968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6D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✔  PL/SQL Libraries en Forms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0624" y="2304288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reutilizable en .PLL (Librería PL/SQL). No duplicar lógica en cada trigger de cada formulario.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90872" y="1975104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690872" y="1975104"/>
            <a:ext cx="64008" cy="67665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55464" y="2029968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  ✔  Interactive Reports en APEX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55464" y="2304288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Interactive Report sobre Classic Report. El usuario puede filtrar, ordenar y exportar por su cuenta.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6032" y="2743200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08DA9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256032" y="2743200"/>
            <a:ext cx="64008" cy="676656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20624" y="279806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DA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📐  ✔  Data Modeler antes de codificar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0624" y="307238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diseñar el modelo E-R antes del DDL. SDDM genera el script. Evita cambios costosos después.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90872" y="2743200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4690872" y="2743200"/>
            <a:ext cx="64008" cy="6766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4855464" y="279806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🔑  ✔  Autorización en APEX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55464" y="307238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Authorization Schemes por roles. No mostrar botones que el usuario no puede usar.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3511296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44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256032" y="3511296"/>
            <a:ext cx="64008" cy="676656"/>
          </a:xfrm>
          <a:prstGeom prst="rect">
            <a:avLst/>
          </a:prstGeom>
          <a:solidFill>
            <a:srgbClr val="006644"/>
          </a:solidFill>
          <a:ln w="12700">
            <a:solidFill>
              <a:srgbClr val="0066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420624" y="3566160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66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 ✔  Usar Master Reports en Reports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20624" y="384048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reporte base y derivar. No crear reportes independientes idénticos para cada departamento.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90872" y="3511296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9" name="Shape 37"/>
          <p:cNvSpPr/>
          <p:nvPr/>
        </p:nvSpPr>
        <p:spPr>
          <a:xfrm>
            <a:off x="4690872" y="3511296"/>
            <a:ext cx="64008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4855464" y="3566160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💾  ✔  Control de versiones del .FMB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55464" y="384048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.FMB en Git o SVN. No depender solo del servidor Forms. El compilado .FMX no es suficiente.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56032" y="4279392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3" name="Shape 41"/>
          <p:cNvSpPr/>
          <p:nvPr/>
        </p:nvSpPr>
        <p:spPr>
          <a:xfrm>
            <a:off x="256032" y="4279392"/>
            <a:ext cx="64008" cy="67665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Text 42"/>
          <p:cNvSpPr/>
          <p:nvPr/>
        </p:nvSpPr>
        <p:spPr>
          <a:xfrm>
            <a:off x="420624" y="4334256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✔  Paginación en reportes largos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20624" y="460857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APEX usar Pagination. En Reports usar Break Groups. Nunca traer todo sin límite en produción.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90872" y="4279392"/>
            <a:ext cx="4206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7" name="Shape 45"/>
          <p:cNvSpPr/>
          <p:nvPr/>
        </p:nvSpPr>
        <p:spPr>
          <a:xfrm>
            <a:off x="4690872" y="4279392"/>
            <a:ext cx="64008" cy="67665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Text 46"/>
          <p:cNvSpPr/>
          <p:nvPr/>
        </p:nvSpPr>
        <p:spPr>
          <a:xfrm>
            <a:off x="4855464" y="4334256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🧪  ✔  Probar con datos reales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855464" y="460857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un subconjunto de datos de producción para probar reportes y formularios antes de salir a producción.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Errores Comunes en Herramientas 4GL Oracle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64008" cy="9509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420624" y="80467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Forms: FRM-40508 – Oracle error registering record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0624" y="1097280"/>
            <a:ext cx="3950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trigger PRE-INSERT falla al asignar la PK. Verificar que la SEQUENCE existe y tiene permisos. SELECT seq_emp.NEXTVAL FROM DUAL.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90872" y="749808"/>
            <a:ext cx="42062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690872" y="749808"/>
            <a:ext cx="64008" cy="9509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855464" y="80467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Forms: FRM-10102 – Cannot open module file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55464" y="1097280"/>
            <a:ext cx="3950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.FMX no se encuentra en el directorio FORMS_PATH. Verificar variable de entorno y ruta del compilado.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1828800"/>
            <a:ext cx="42062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56032" y="1828800"/>
            <a:ext cx="64008" cy="9509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20624" y="188366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Reports: REP-0069 – Internal error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0624" y="2176272"/>
            <a:ext cx="3950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conexión a Oracle falló. Verificar cadena de conexión en el Launch Properties. REPORTS_CONN_STR correcto.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90872" y="1828800"/>
            <a:ext cx="42062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4690872" y="1828800"/>
            <a:ext cx="64008" cy="9509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4855464" y="188366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APEX: ORA-20987 – APEX session expired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55464" y="2176272"/>
            <a:ext cx="3950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sesión APEX caducó (por defecto 8h). Aumentar en Instance Settings → Security → Maximum Session Duration.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6032" y="2907792"/>
            <a:ext cx="42062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256032" y="2907792"/>
            <a:ext cx="64008" cy="9509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20624" y="296265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APEX: ORA-01403 en proceso DML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0624" y="3255264"/>
            <a:ext cx="3950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automático DML falla con NO_DATA_FOUND. Verificar que el Primary Key item existe y tiene valor correcto.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90872" y="2907792"/>
            <a:ext cx="42062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4690872" y="2907792"/>
            <a:ext cx="64008" cy="9509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4855464" y="296265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SDDM: Cannot connect to Oracle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255264"/>
            <a:ext cx="3950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Modeler no puede conectarse para Reverse Engineering. Instalar Oracle JDBC (ojdbc11.jar) en SDDM classpath.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56032" y="3986784"/>
            <a:ext cx="42062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256032" y="3986784"/>
            <a:ext cx="64008" cy="9509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420624" y="404164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Forms: código PL/SQL ignorado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" y="4334256"/>
            <a:ext cx="3950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PL/SQL sin / al final en SQL*Plus para crear packages/triggers. En Form Builder no se necesita /, pero la lógica de BD sí.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90872" y="3986784"/>
            <a:ext cx="42062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Shape 35"/>
          <p:cNvSpPr/>
          <p:nvPr/>
        </p:nvSpPr>
        <p:spPr>
          <a:xfrm>
            <a:off x="4690872" y="3986784"/>
            <a:ext cx="64008" cy="9509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4855464" y="404164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APEX: no muestra datos en reporte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55464" y="4334256"/>
            <a:ext cx="3950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reporte SQL usa :ITEM pero el item no existe o está vacío. Verificar nombre exacto del item: P{n}_{NOMBRE}.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Ejercicio Propuesto – App APEX de Inventario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548640"/>
          </a:xfrm>
          <a:prstGeom prst="rect">
            <a:avLst/>
          </a:prstGeom>
          <a:solidFill>
            <a:srgbClr val="0A1E35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68096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Caso: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Inventario de una tienda de tecnología. Los productos tienen categoría, proveedor, stock y precio. Se registran entradas y salidas de inventario.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389888"/>
            <a:ext cx="859536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008DA9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74320" y="1389888"/>
            <a:ext cx="475488" cy="585216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274320" y="1389888"/>
            <a:ext cx="475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9536" y="148132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8D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 Data Modeler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E-R: CATEGORIA, PROVEEDOR, PRODUCTO, MOVIMIENTO_INVENTARIO. Forward engineering → ejecutar DDL en Oracle.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048256"/>
            <a:ext cx="859536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274320" y="2048256"/>
            <a:ext cx="475488" cy="58521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274320" y="2048256"/>
            <a:ext cx="475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9536" y="2139696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APEX básica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Workspace y app en apex.oracle.com. Configurar: Create Application → agregar páginas para cada entidad.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2706624"/>
            <a:ext cx="859536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74320" y="2706624"/>
            <a:ext cx="475488" cy="58521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274320" y="2706624"/>
            <a:ext cx="475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9536" y="2798064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y Reporte PRODUCTO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Interactive Report con columnas: código, nombre, categoría, stock, precio, proveedor. Crear Form para CRUD de productos.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3364992"/>
            <a:ext cx="859536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274320" y="3364992"/>
            <a:ext cx="475488" cy="5852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274320" y="3364992"/>
            <a:ext cx="475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59536" y="34564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Stock Crítico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Report con SQL: SELECT * FROM producto WHERE stock &lt; 10 ORDER BY stock. Formato condicional: stock &lt; 5 en rojo.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4023360"/>
            <a:ext cx="859536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274320" y="4023360"/>
            <a:ext cx="475488" cy="5852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274320" y="4023360"/>
            <a:ext cx="475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9536" y="4114800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navegación  </a:t>
            </a: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Components → Navigation Menu con entradas: Inicio, Productos, Categorías, Proveedores, Stock Crítico.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74320" y="4700016"/>
            <a:ext cx="8595360" cy="201168"/>
          </a:xfrm>
          <a:prstGeom prst="rect">
            <a:avLst/>
          </a:prstGeom>
          <a:solidFill>
            <a:srgbClr val="EA580C">
              <a:alpha val="12000"/>
            </a:srgbClr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20624" y="472744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URL pública de apex.oracle.com + capturas de pantalla del modelo SDDM. O bien: archivos .sql de DDL + script APEX export (.sql de la app).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61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  TALLER PRÁCTICO – Sesión 12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28/35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713232"/>
            <a:ext cx="8412480" cy="566928"/>
          </a:xfrm>
          <a:prstGeom prst="rect">
            <a:avLst/>
          </a:prstGeom>
          <a:solidFill>
            <a:srgbClr val="0A1E3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749808"/>
            <a:ext cx="8229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🏫  Caso: </a:t>
            </a: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APEX de Gestión Académica – Universitaria de Colombia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1371600"/>
            <a:ext cx="8412480" cy="822960"/>
          </a:xfrm>
          <a:prstGeom prst="rect">
            <a:avLst/>
          </a:prstGeom>
          <a:solidFill>
            <a:srgbClr val="1A2C42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140817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Oracle APEX (apex.oracle.com o localhost XE), construir una aplicación web que permita gestionar estudiantes, materias y matrículas del sistema académico diseñado en S11. La app debe tener formularios, reportes y menú de navegación funcional.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30428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Actividades (2 horas):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651760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502920" y="267919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[SDDM] Crear/importar el modelo E-R del sistema académico (Estudiante, Programa, Materia, Matricula). Forward engineering → DDL.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8412480" cy="237744"/>
          </a:xfrm>
          <a:prstGeom prst="rect">
            <a:avLst/>
          </a:prstGeom>
          <a:solidFill>
            <a:srgbClr val="0B1F3A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02920" y="29535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[APEX] Crear Workspace y ejecutar el DDL de S11 en SQL Workshop. Verificar con SELECT table_name FROM user_tables.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200400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502920" y="322783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[APEX] Create Application: nombre 'Sistema Académico'. Crear página Interactive Report de Estudiantes con columnas: codigo, nombre, apellido, programa, semestre.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474720"/>
            <a:ext cx="8412480" cy="237744"/>
          </a:xfrm>
          <a:prstGeom prst="rect">
            <a:avLst/>
          </a:prstGeom>
          <a:solidFill>
            <a:srgbClr val="0B1F3A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502920" y="350215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 [APEX] Crear Form de Estudiante (Create/Edit/Delete) con validaciones: código y email requeridos, email con formato válido.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749040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502920" y="377647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e) [APEX] Crear Interactive Report de Matrículas con JOIN (matricula + estudiante + materia + semestre). Formateo condicional: 'cancelada' en rojo.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4023360"/>
            <a:ext cx="8412480" cy="237744"/>
          </a:xfrm>
          <a:prstGeom prst="rect">
            <a:avLst/>
          </a:prstGeom>
          <a:solidFill>
            <a:srgbClr val="0B1F3A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502920" y="405079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f) [APEX] Menú de navegación con 4 entradas: Inicio, Estudiantes, Materias, Matrículas. Agregar ícono a cada entrada.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4297680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502920" y="43251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g) [SDDM o APEX] Generar el diagrama ER del sistema y exportar como imagen PNG para adjuntar en el entregable.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4553712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URL app APEX + captura del diagrama ER + evidencia de datos en la BD Oracle.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Criterios de Evaluación – Taller S12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281635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DA9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2816352" cy="384048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47472" y="749808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pts  ·  Modelo E-R (SDDM)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" y="1188720"/>
            <a:ext cx="263347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con entidades correctas (8)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 y cardinalidades (7)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engineering sin errores (5)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749808"/>
            <a:ext cx="281635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3200400" y="749808"/>
            <a:ext cx="2816352" cy="38404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291840" y="749808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pts  ·  Configuración APEX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1188720"/>
            <a:ext cx="263347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creado y funcional (5)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 ejecutado correctamente (8)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prueba insertados (7)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44768" y="749808"/>
            <a:ext cx="281635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6144768" y="749808"/>
            <a:ext cx="2816352" cy="384048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236208" y="749808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 pts  ·  Formularios y Reportes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36208" y="1188720"/>
            <a:ext cx="263347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Estudiante completo con CRUD (12)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Report Matrículas con JOIN (8)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condicional implementado (5)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2724912"/>
            <a:ext cx="281635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56032" y="2724912"/>
            <a:ext cx="2816352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347472" y="2724912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pts  ·  Navegación y Menú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" y="3163824"/>
            <a:ext cx="263347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con 4 entradas funcionales (8)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Íconos y etiquetas correctas (4)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entre páginas fluida (3)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724912"/>
            <a:ext cx="281635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3200400" y="2724912"/>
            <a:ext cx="2816352" cy="3840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3291840" y="2724912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pts  ·  Validaciones y Calidad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1840" y="3163824"/>
            <a:ext cx="263347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campos requeridos (8)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formato email (7)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sin errores en ejecución (5)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663440"/>
            <a:ext cx="8595360" cy="237744"/>
          </a:xfrm>
          <a:prstGeom prst="rect">
            <a:avLst/>
          </a:prstGeom>
          <a:solidFill>
            <a:srgbClr val="10B981">
              <a:alpha val="18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20624" y="4690872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</a:t>
            </a: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debe funcionar en el navegador sin errores. Las capturas de pantalla o el acceso a la URL son parte de la evidencia de entrega.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Designer y JDeveloper – CASE y RAD Oracle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49808"/>
            <a:ext cx="41605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74320" y="749808"/>
            <a:ext cx="64008" cy="2048256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438912" y="813816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Designer – Herramienta CASE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8912" y="1115568"/>
            <a:ext cx="390448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centralizado: todos los artefactos del proyecto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Diagramas: E-R, Flujo de datos, jerarquía de módulos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Design Transformer: genera Forms/Reports desde modelos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API Generator: genera procedures CRUD automáticamente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Generator: genera packages PL/SQL desde módulos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Versiones: asociado a Oracle Database 12C en el temario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legacy pero presente en proyectos gubernamentales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749808"/>
            <a:ext cx="41605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709160" y="749808"/>
            <a:ext cx="64008" cy="20482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873752" y="813816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JDeveloper – RAD Java + ADF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73752" y="1115568"/>
            <a:ext cx="390448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completo para desarrollo Java sobre Oracle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(Application Development Framework): componentes web JSF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Business Components: BC desde tablas Oracle automáticamente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Editor: arrastrar componentes ADF a la pantalla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Faces Rich Client: tablas, formularios, árboles, gráficas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WebLogic Server, Tomcat, Oracle Cloud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activo, Oracle usa JDeveloper en Oracle Fusion Apps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889504"/>
            <a:ext cx="4160520" cy="1536192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384048" y="2944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Designer: Table API Generator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" y="3163824"/>
            <a:ext cx="394106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Oracle Designer: repositorio SQL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Generar Table API (procedimientos CRUD):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Designer → Generate → Server Objects → Table API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Genera automáticamente: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PACKAGE empleado_api 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PROCEDURE ins(p_nombre VARCHAR2, p_salario NUMBER...);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PROCEDURE upd(p_id NUMBER, p_salario NUMBER...);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PROCEDURE del(p_id NUMBER);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FUNCTION sel(p_id NUMBER) RETURN empleado%ROWTYPE;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empleado_api; /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2889504"/>
            <a:ext cx="4160520" cy="1536192"/>
          </a:xfrm>
          <a:prstGeom prst="rect">
            <a:avLst/>
          </a:prstGeom>
          <a:solidFill>
            <a:srgbClr val="0D1117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818888" y="2944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JDeveloper: tabla ADF generada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18888" y="3163824"/>
            <a:ext cx="394106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JDeveloper ADF: componente de tabla generado --&gt;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&lt;af:table value="#{bindings.EmpleadoView1.collectionModel}"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var="row" rows="#{bindings.EmpleadoView1.rangeSize}"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emptyText="No hay empleados"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fetchSize="#{bindings.EmpleadoView1.rangeSize}"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rowBandingInterval="0"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id="t1"&gt;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&lt;af:column id="c1" headerText="Código"&gt;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&lt;af:outputText value="#{row.Codigo}"/&gt;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&lt;/af:column&gt;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&lt;!-- JDeveloper genera este JSF automáticamente --&gt;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&lt;/af:table&gt;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 – Funcionalidades Avanzadas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4206240" cy="32918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47472" y="7498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 APIs en APEX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" y="1133856"/>
            <a:ext cx="40233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RESTful Services: publicar tablas como API REST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módulos, plantillas y handlers GET/POST/PUT/DELETE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Consumir APIs externas con APEX_WEB_SERVICE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con servicios externos: pagos, correo, mapas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90872" y="749808"/>
            <a:ext cx="4206240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690872" y="749808"/>
            <a:ext cx="4206240" cy="3291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782312" y="7498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Gráficas y Dashboards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133856"/>
            <a:ext cx="40233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Region: barras, líneas, pastel, dispersión, mapas de calor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automático: widgets con KPIs de la BD Oracle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JET Charts: componentes de visualización modernos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automática sin recargar la página (refresh)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" y="2852928"/>
            <a:ext cx="4206240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56032" y="2852928"/>
            <a:ext cx="420624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47472" y="285292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Aplicaciones Móviles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" y="3236976"/>
            <a:ext cx="40233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Theme: diseño responsive automático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(Progressive Web App): instalar como app nativa en móvil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Notifications: alertas en dispositivo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Offline: funcionar sin conexión con sync posterior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90872" y="2852928"/>
            <a:ext cx="4206240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4690872" y="2852928"/>
            <a:ext cx="420624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4782312" y="285292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Seguridad y Roles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82312" y="3236976"/>
            <a:ext cx="40233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Schemes: Oracle DB, LDAP, Social Login, SAML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Schemes: mostrar/ocultar según rol del usuario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State Protection: proteger valores de items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Log: registrar acciones de usuarios automáticamente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 12c – Características Modernas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3891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 sigue activo y evolucionando en Forms 12c. Soporte oficial hasta 2030+. Miles de empresas lo usan en producción.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261872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261872"/>
            <a:ext cx="64008" cy="1060704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20624" y="132588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2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JavaFX Interface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0624" y="1627632"/>
            <a:ext cx="3950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12c reemplaza el Java Applet obsoleto por JavaFX. Mejor rendimiento, aspecto moderno, sin plugin de navegador.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0872" y="1261872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690872" y="1261872"/>
            <a:ext cx="64008" cy="106070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55464" y="132588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WebForms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55464" y="1627632"/>
            <a:ext cx="3950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HTML5/JavaScript de Oracle Forms. No requiere Java en el cliente. Ejecuta en cualquier navegador moderno.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" y="2450592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2450592"/>
            <a:ext cx="64008" cy="106070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20624" y="251460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 Services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0624" y="2816352"/>
            <a:ext cx="3950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puede consumir REST APIs externas. Integración con servicios modernos sin romper la arquitectura.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90872" y="2450592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690872" y="2450592"/>
            <a:ext cx="64008" cy="106070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55464" y="251460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6D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 Integration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55464" y="2816352"/>
            <a:ext cx="3950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Llamar JavaScript desde triggers PL/SQL y viceversa. Permite añadir lógica moderna a forms antiguos.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" y="3639312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256032" y="3639312"/>
            <a:ext cx="64008" cy="10607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20624" y="370332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Themes modernos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0624" y="4005072"/>
            <a:ext cx="3950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temas visuales modernos sin rediseñar los formularios. Migración visual con bajo esfuerzo.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90872" y="3639312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4690872" y="3639312"/>
            <a:ext cx="64008" cy="106070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4855464" y="370332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Cloud Compatibility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55464" y="4005072"/>
            <a:ext cx="3950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Forms se puede ejecutar en Oracle Cloud Infrastructure (OCI). Migración a cloud sin reescribir.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solidFill>
            <a:srgbClr val="0052CC">
              <a:alpha val="12000"/>
            </a:srgbClr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420624" y="4974336"/>
            <a:ext cx="8321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Forms roadmap: oracle.com/tools/forms → actualizaciones y fechas de soporte. Forms 12.2.1.4 con soporte extendido hasta 2031.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Recursos y Documentación – Herramientas 4GL Oracle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28163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35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2816352" cy="32918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47472" y="749808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🌐 Oracle APEX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" y="1133856"/>
            <a:ext cx="263347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apex.oracle.com – plataforma cloud gratuita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docs.oracle.com/en/database/oracle/apex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apex.oracle.com/en/learn/tutorials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Oracle APEX channel oficial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749808"/>
            <a:ext cx="28163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2CC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3200400" y="749808"/>
            <a:ext cx="2816352" cy="329184"/>
          </a:xfrm>
          <a:prstGeom prst="rect">
            <a:avLst/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291840" y="749808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Oracle Forms/Reports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1133856"/>
            <a:ext cx="263347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docs.oracle.com/forms → Forms 12c docs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oracle.com/tools → Developer Tools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Developer Day: videos y demos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Support: My Oracle Support (MOS)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44768" y="749808"/>
            <a:ext cx="28163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008DA9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6144768" y="749808"/>
            <a:ext cx="2816352" cy="329184"/>
          </a:xfrm>
          <a:prstGeom prst="rect">
            <a:avLst/>
          </a:prstGeom>
          <a:solidFill>
            <a:srgbClr val="008DA9"/>
          </a:solidFill>
          <a:ln w="12700">
            <a:solidFill>
              <a:srgbClr val="008D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236208" y="749808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📐 SQL Dev Data Modeler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36208" y="1133856"/>
            <a:ext cx="263347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oracle.com/tools/sql-developer → descargar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docs.oracle.com/sqldev → guía SDDM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 Smith blog: thatjeffsmith.com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Oracle SQL Developer channel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2852928"/>
            <a:ext cx="28163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56032" y="2852928"/>
            <a:ext cx="2816352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347472" y="2852928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🎓 Cursos Oracle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" y="3236976"/>
            <a:ext cx="263347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education.oracle.com → Oracle University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APEX Certification: 1Z0-770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Forms Developer Certification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Cloud Free Tier: cloud.oracle.com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852928"/>
            <a:ext cx="28163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3200400" y="2852928"/>
            <a:ext cx="2816352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3291840" y="2852928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Práctica Gratuita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1840" y="3236976"/>
            <a:ext cx="263347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apex.oracle.com → workspace gratis en 2 min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Developer Live (eventos online)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LiveLabs: workshops guiados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devgym.oracle.com → quizzes SQL/APEX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44768" y="2852928"/>
            <a:ext cx="28163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6144768" y="2852928"/>
            <a:ext cx="2816352" cy="329184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6236208" y="2852928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📚 Libros y Referencias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36208" y="3236976"/>
            <a:ext cx="263347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Oracle Application Express (Hilary/Marc)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APEX Tips and Tricks (Gietz)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Forms Developer Guide (Oracle Docs)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with Oracle Data Modeler (Dorsey)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10896" y="0"/>
            <a:ext cx="8650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Preview: Sesiones 13-14 – Práctica y Lenguajes Compatibles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8181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Herramientas 4GL Oracle  |  Ing. Sistemas 4°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34/35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57200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49808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aprendido en S12 se aplica en las siguientes sesiones. Vista previa de los próximos contenidos: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80160"/>
            <a:ext cx="4160520" cy="327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74320" y="1280160"/>
            <a:ext cx="64008" cy="32735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38912" y="13441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S13 – Clase Práctica II Oracle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" y="1645920"/>
            <a:ext cx="3904488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DDL, PL/SQL y triggers de S11 en un caso real integrador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Académico completo: DDL + Package + Trigger + Vistas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SQL Developer Data Modeler para el diseño E-R previo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en Oracle XE y probar con SQL*Plus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App APEX de este taller pueden conectarse al mismo DDL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para la evaluación de Oracle de S20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280160"/>
            <a:ext cx="4160520" cy="327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  <a:effectLst>
            <a:outerShdw blurRad="889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709160" y="1280160"/>
            <a:ext cx="64008" cy="327355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73752" y="13441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S14-S17 – Lenguajes Compatibles Oracle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73752" y="1645920"/>
            <a:ext cx="3904488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S14: Python + Oracle (oracledb, Flask REST API)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S15: Java + Oracle (JDBC, Hibernate, Spring Boot)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S16: Node.js + Oracle (oracledb npm, Express API)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S17: PHP + Oracle (OCI8), .NET + Oracle (ODP.NET)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datos del sistema que construyes en S13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apps 4GL APEX y las APIs REST pueden coexistir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híbrida: APEX para usuarios internos, API para móvil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4645152"/>
            <a:ext cx="8595360" cy="27432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20624" y="4672584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Conexión: Oracle APEX es una aplicación 4GL sobre la misma BD Oracle que usarás con Python, Java y Node.js en S14-S17. Puedes tener APEX + API REST sobre la misma BD Oracle.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61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438912" y="0"/>
            <a:ext cx="146304" cy="514350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804672" y="14630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RESUMEN S12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04672" y="457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de Desarrollo 4GL Oracle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04672" y="877824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804672" y="1060704"/>
            <a:ext cx="3931920" cy="1078992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804672" y="1060704"/>
            <a:ext cx="475488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04672" y="1060704"/>
            <a:ext cx="4754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1133856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4GL y su Evolución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1444752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1GL→5GL. Los 4GL se enfocan en el QUÉ, no en el CÓMO. Productividad 10-50x.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19472" y="1060704"/>
            <a:ext cx="3931920" cy="1078992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919472" y="1060704"/>
            <a:ext cx="475488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919472" y="1060704"/>
            <a:ext cx="4754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0" y="1133856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Forms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0" y="1444752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de formularios. Bloques basados en tablas Oracle. Triggers PL/SQL.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" y="2249424"/>
            <a:ext cx="3931920" cy="1078992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804672" y="2249424"/>
            <a:ext cx="475488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804672" y="2249424"/>
            <a:ext cx="4754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71600" y="2322576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Reports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71600" y="2633472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Tipos: tabular, maestro-detalle, matricial. Secciones, fórmulas, múltiples formatos.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19472" y="2249424"/>
            <a:ext cx="3931920" cy="1078992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919472" y="2249424"/>
            <a:ext cx="475488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919472" y="2249424"/>
            <a:ext cx="4754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0" y="2322576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APEX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0" y="2633472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Low-code web sobre Oracle. Workspace, App Builder, páginas, regiones, items, procesos.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04672" y="3438144"/>
            <a:ext cx="3931920" cy="1078992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6"/>
          <p:cNvSpPr/>
          <p:nvPr/>
        </p:nvSpPr>
        <p:spPr>
          <a:xfrm>
            <a:off x="804672" y="3438144"/>
            <a:ext cx="475488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804672" y="3438144"/>
            <a:ext cx="4754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371600" y="3511296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Dev Data Modeler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371600" y="3822192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E-R visual. Forward/Reverse engineering. Genera DDL Oracle automáticamente.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19472" y="3438144"/>
            <a:ext cx="3931920" cy="1078992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4919472" y="3438144"/>
            <a:ext cx="475488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4919472" y="3438144"/>
            <a:ext cx="4754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0" y="3511296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Generadores (menús/consultas/apps)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3822192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Builder, Query Builder, App Builder. Automatización del ciclo de desarrollo.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04672" y="47365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13: Clase Práctica II Oracle – Sistema Académico completo con DDL, PL/SQL, APEX y Data Modeler.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8417</Words>
  <Application>Microsoft Office PowerPoint</Application>
  <PresentationFormat>Presentación en pantalla (16:9)</PresentationFormat>
  <Paragraphs>928</Paragraphs>
  <Slides>35</Slides>
  <Notes>35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40" baseType="lpstr">
      <vt:lpstr>Arial</vt:lpstr>
      <vt:lpstr>Calibri</vt:lpstr>
      <vt:lpstr>Courier New</vt:lpstr>
      <vt:lpstr>Trebuchet MS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12 – Herramientas de Desarrollo de Cuarta Generación</dc:title>
  <dc:subject>PptxGenJS Presentation</dc:subject>
  <dc:creator>PptxGenJS</dc:creator>
  <cp:lastModifiedBy>Sergio A Burbano M</cp:lastModifiedBy>
  <cp:revision>2</cp:revision>
  <dcterms:created xsi:type="dcterms:W3CDTF">2026-04-19T20:33:26Z</dcterms:created>
  <dcterms:modified xsi:type="dcterms:W3CDTF">2026-04-21T18:49:27Z</dcterms:modified>
</cp:coreProperties>
</file>