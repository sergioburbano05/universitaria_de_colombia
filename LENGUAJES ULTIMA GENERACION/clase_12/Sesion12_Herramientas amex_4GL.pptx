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0"/>
            <a:ext cx="14630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548640"/>
            <a:ext cx="38404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548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SESIÓN 12  ·  LENGUAJES DE ÚLTIMA GENERACIÓN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04672" y="10058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Desarrollo 4GL Oracle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F0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· Oracle Reports · Oracle APEX · SQL Developer Data Modeler · Generadores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04672" y="2834640"/>
            <a:ext cx="4572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944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Mg. Sergio Alejandro Burbano Mena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32186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Última Generación  |  Ingeniería de Sistemas – 4.° Semestre  |  Universitaria de Colombia  |  2025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4672" y="3529584"/>
            <a:ext cx="8229600" cy="786384"/>
          </a:xfrm>
          <a:prstGeom prst="rect">
            <a:avLst/>
          </a:prstGeom>
          <a:solidFill>
            <a:srgbClr val="0A1E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3566160"/>
            <a:ext cx="7973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Conocer las herramientas de desarrollo de cuarta generación en el entorno Oracle: características, generadores de menús, consultas y aplicaciones (Oracle Forms, Reports, APEX, SQL Developer Data Modeler), para construir soluciones sin programación de bajo nivel.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0" y="91440"/>
            <a:ext cx="2377440" cy="237744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– Sesión 12: Herramientas de Desarrollo 4GL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621792" cy="126187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5603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969264" y="8229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 Lenguajes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9264" y="1188720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1GL→5GL. Características 4GL. Por qué Oracle apostó por 4GL.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749808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749808"/>
            <a:ext cx="621792" cy="126187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749808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90872" y="1591056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04104" y="822960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04104" y="1188720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módulos, bloques, ítems, triggers de Forms.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139696"/>
            <a:ext cx="621792" cy="126187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5603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69264" y="22128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" y="257860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reportes, secciones, fórmulas, parámetros.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90872" y="2139696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90872" y="2139696"/>
            <a:ext cx="621792" cy="1261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2139696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90872" y="2980944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404104" y="2212848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04104" y="2578608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Workspace, App Builder, páginas, regiones, formularios, reportes.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529584"/>
            <a:ext cx="621792" cy="126187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25603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69264" y="36027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Dev Data Modeler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69264" y="39684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E-R, forward/reverse engineering, DDL Oracle.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3529584"/>
            <a:ext cx="42062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3529584"/>
            <a:ext cx="621792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90872" y="3529584"/>
            <a:ext cx="621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690872" y="4370832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404104" y="3602736"/>
            <a:ext cx="3401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y Práctica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404104" y="3968496"/>
            <a:ext cx="3401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Menús, consultas, aplicaciones. Comparativa 4GL vs frameworks.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Evolución de los Lenguajes de Programación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49808"/>
            <a:ext cx="731520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49808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1GL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15568" y="8046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Primera Generación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15568" y="107899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máquina. Código binario (0s y 1s). Específico del hardware. Sin abstracción.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0176" y="822960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859536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10110000 01100001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5544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554480"/>
            <a:ext cx="731520" cy="71323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55448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2GL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160934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Segunda Generación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15568" y="1883664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ensamblador. Mnemonics. Un poco más legible pero aún ligado al hardware.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0176" y="1627632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66420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 AX, 0061h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3591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359152"/>
            <a:ext cx="731520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359152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3GL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5568" y="241401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Tercera Generación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15568" y="26883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procedurales. C, Pascal, Java, Python. Portable. Foco en el HOW (cómo).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980176" y="2432304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2468880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range(10): print(i)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316382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163824"/>
            <a:ext cx="7315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163824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15568" y="32186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Cuarta Generación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15568" y="349300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Lenguajes de alto nivel. Foco en el QUÉ, no en el cómo. SQL, Oracle Forms/Reports/APEX.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980176" y="3236976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35040" y="3273552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nombre FROM empleado WHERE activo=1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96849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968496"/>
            <a:ext cx="731520" cy="713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3968496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5GL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15568" y="40233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Quinta Generación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15568" y="4297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y lenguajes declarativos. Prolog, Lisp. El sistema resuelve el problema con restricciones.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980176" y="4041648"/>
            <a:ext cx="2798064" cy="54864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35040" y="4078224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Prolog: parent(tom,bob).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de los Lenguajes de 4ª Generación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4GL permiten desarrollar aplicaciones completas con menos código, mayor productividad y sin conocer los detalles de bajo nivel del sistema operativo o hardware.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16736"/>
            <a:ext cx="64008" cy="768096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3716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Alta Abstracción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682496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describe QUÉ quiere (no CÓMO lograrlo). Oracle APEX: diseñas formularios visualmente.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16736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316736"/>
            <a:ext cx="64008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37160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Alta Productividad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682496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10-50x menos código que 3GL. Un formulario Oracle Forms en horas vs. días en Java puro.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21284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212848"/>
            <a:ext cx="64008" cy="76809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267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Integración BD Nativa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578608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directa a Oracle sin capas intermedias. Sin JDBC/ODBC configuración manual.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212848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212848"/>
            <a:ext cx="64008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267712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Generación Automática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578608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Generan código DDL, formularios, reportes, menús y aplicaciones completas automáticamente.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10896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108960"/>
            <a:ext cx="64008" cy="76809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1638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🛠️  Herramientas Visuales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34747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Drop, property palettes, wizards guiados. Sin memorizar APIs o sintaxis complejas.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108960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3108960"/>
            <a:ext cx="64008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1638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Mantenimiento Fácil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3474720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el modelo se propagan automáticamente. Forward/Reverse engineering integrado.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6032" y="400507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4005072"/>
            <a:ext cx="64008" cy="768096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40599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Estándares Oracle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0624" y="437083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Forms, Reports, APEX, Designer, JDeveloper: suite completa integrada.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90872" y="4005072"/>
            <a:ext cx="42062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4005072"/>
            <a:ext cx="64008" cy="7680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405993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☁️  Cloud-Ready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55464" y="4370832"/>
            <a:ext cx="3950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disponible en Oracle Cloud. Migración a cloud sin reescribir aplicaciones.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Suite de Herramientas 4GL Oracle – Panorama General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ofrece un ecosistema completo de herramientas 4GL. Cada una cubre una necesidad específica del ciclo de desarrollo.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80160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80160"/>
            <a:ext cx="2816352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801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Oracle Forms (11g)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formularios de entrada de datos. Bloques basados en tablas Oracle. Ideal para aplicaciones transaccionales. Client-Server y Web.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" y="2615184"/>
            <a:ext cx="2633472" cy="292608"/>
          </a:xfrm>
          <a:prstGeom prst="rect">
            <a:avLst/>
          </a:prstGeom>
          <a:solidFill>
            <a:srgbClr val="0052CC">
              <a:alpha val="12000"/>
            </a:srgbClr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6334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Captura de datos, pantallas CRUD sobre Oracle.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80160"/>
            <a:ext cx="2816352" cy="365760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2801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Oracle Reports (11g)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170078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reportes y listados. Tabular, maestro-detalle, matricial. Salida en PDF, HTML, Excel, RTF. Integrado con Forms.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91840" y="2615184"/>
            <a:ext cx="2633472" cy="292608"/>
          </a:xfrm>
          <a:prstGeom prst="rect">
            <a:avLst/>
          </a:prstGeom>
          <a:solidFill>
            <a:srgbClr val="006644">
              <a:alpha val="12000"/>
            </a:srgbClr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46704" y="26334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Informes contables, listados de inventario, facturas.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44768" y="1280160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44768" y="1280160"/>
            <a:ext cx="2816352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36208" y="1280160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Oracle APEX (23c)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36208" y="1700784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Express: plataforma low-code web. Crea apps completas en el navegador. Incluido en Oracle XE 21c (gratis). Activo y en evolución.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236208" y="2615184"/>
            <a:ext cx="2633472" cy="292608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263347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Apps web completas: dashboards, portales, CRUD web.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56032" y="3145536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145536"/>
            <a:ext cx="2816352" cy="365760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1455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SQL Dev Data Modeler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47472" y="3566160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visual de modelos E-R. Forward (modelo→DDL) y Reverse (BD→modelo) engineering. Versiones conceptual, lógica y física.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7472" y="4480560"/>
            <a:ext cx="2633472" cy="292608"/>
          </a:xfrm>
          <a:prstGeom prst="rect">
            <a:avLst/>
          </a:prstGeom>
          <a:solidFill>
            <a:srgbClr val="008DA9">
              <a:alpha val="12000"/>
            </a:srgbClr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02336" y="4498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Documentar BD existentes, diseñar nuevos sistemas.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145536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145536"/>
            <a:ext cx="28163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31455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Oracle JDeveloper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3566160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Java+ADF (Application Development Framework). Desarrollo de apps web Java sobre Oracle. Drag &amp; Drop de componentes ADF.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91840" y="4480560"/>
            <a:ext cx="2633472" cy="292608"/>
          </a:xfrm>
          <a:prstGeom prst="rect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46704" y="4498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Apps web Java empresariales con Oracle ADF.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44768" y="3145536"/>
            <a:ext cx="2816352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44768" y="3145536"/>
            <a:ext cx="2816352" cy="36576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3145536"/>
            <a:ext cx="2633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🗂️ Oracle Designer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36208" y="3566160"/>
            <a:ext cx="263347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CASE clásica Oracle. Modelado, generación de código, repositorio centralizado. Asociada a Oracle 12C en el temario.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4480560"/>
            <a:ext cx="2633472" cy="292608"/>
          </a:xfrm>
          <a:prstGeom prst="rect">
            <a:avLst/>
          </a:prstGeom>
          <a:solidFill>
            <a:srgbClr val="3730A3">
              <a:alpha val="12000"/>
            </a:srgbClr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91072" y="4498848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Análisis y diseño previo a Oracle Forms/Reports.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– Generador de Formularios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9377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es un generador de formularios que permite crear aplicaciones de entrada de datos sobre Oracle Database sin escribir SQL complejo. Cada formulario se conecta directamente a tablas Oracle.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16736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16736"/>
            <a:ext cx="64008" cy="17373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807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de Oracle Forms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82496"/>
            <a:ext cx="3904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Builder: herramienta de diseño (IDE)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Compiler: convierte .FMB (fuente) → .FMX (ejecutable)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Runtime: ejecuta el formulario en el cliente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Services: capa web para ejecución en navegador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Archivos: .FMB (fuente), .FMX (compilado), .MMB (menú)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316736"/>
            <a:ext cx="41605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316736"/>
            <a:ext cx="64008" cy="17373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3807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Módulos 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82496"/>
            <a:ext cx="3904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Module (.FMB): pantalla principal de captura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Module (.MMB): barra de menús de la aplicación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Module (.PLL): código PL/SQL reutilizable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Module: integración con Oracle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Library (.OLB): objetos reutilizables (plantillas)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145536"/>
            <a:ext cx="64008" cy="16276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2095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Bloques en Oracle Forms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511296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Base-Table Block: vinculado directamente a una tabla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Block: no vinculado a tabla (botones, campos calculados)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Master-Detail: relación padre-hijo entre dos bloques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bloque contiene Items (campos de la tabla)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Propiedades: Query Data Source, Key Mode, etc.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145536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145536"/>
            <a:ext cx="64008" cy="1627632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209544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Triggers de Oracle Forms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511296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WHEN-BUTTON-PRESSED: al hacer clic en un botón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WHEN-VALIDATE-ITEM: validar campo al salir de él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PRE-INSERT / POST-INSERT: antes/después de insertar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ON-QUERY: personalizar la consulta del bloque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KEY-COMMIT: cuando el usuario presiona Ctrl+S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escriben en PL/SQL (igual que Oracle BD)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– Arquitectura y Flujo de Trabajo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277977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49808"/>
            <a:ext cx="2779776" cy="365760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749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PRESENTACIÓN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1887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 Runtime / Forms Services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1517904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visual del formulario. Muestra campos, botones, listas.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67712"/>
            <a:ext cx="2596896" cy="36576"/>
          </a:xfrm>
          <a:prstGeom prst="rect">
            <a:avLst/>
          </a:prstGeom>
          <a:solidFill>
            <a:srgbClr val="0052CC">
              <a:alpha val="40000"/>
            </a:srgbClr>
          </a:solidFill>
          <a:ln w="12700">
            <a:solidFill>
              <a:srgbClr val="0052CC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9572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interactúa aquí. En web: navegador con Java Applet o Forms Web.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36976" y="749808"/>
            <a:ext cx="277977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36976" y="749808"/>
            <a:ext cx="2779776" cy="365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28416" y="749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LÓGICA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28416" y="11887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328416" y="1517904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 triggers PL/SQL, valida datos, coordina BD.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28416" y="2267712"/>
            <a:ext cx="2596896" cy="36576"/>
          </a:xfrm>
          <a:prstGeom prst="rect">
            <a:avLst/>
          </a:prstGeom>
          <a:solidFill>
            <a:srgbClr val="1A56DB">
              <a:alpha val="40000"/>
            </a:srgbClr>
          </a:solidFill>
          <a:ln w="12700">
            <a:solidFill>
              <a:srgbClr val="1A56DB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28416" y="239572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viven los triggers: WHEN-BUTTON-PRESSED, PRE-INSERT, etc.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99632" y="749808"/>
            <a:ext cx="2779776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99632" y="749808"/>
            <a:ext cx="2779776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74980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 DATOS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91072" y="118872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Database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291072" y="1517904"/>
            <a:ext cx="25968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sequences, procedures llamados desde Forms.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91072" y="2267712"/>
            <a:ext cx="2596896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91072" y="2395728"/>
            <a:ext cx="25968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Base-Table Blocks leen y escriben directamente en Oracle.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72384" y="2487168"/>
            <a:ext cx="201168" cy="2743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54096" y="2450592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</a:rPr>
              <a:t>⟺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035040" y="2487168"/>
            <a:ext cx="201168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2450592"/>
            <a:ext cx="237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9488"/>
                </a:solidFill>
              </a:rPr>
              <a:t>⟺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74320" y="4590288"/>
            <a:ext cx="8595360" cy="274320"/>
          </a:xfrm>
          <a:prstGeom prst="rect">
            <a:avLst/>
          </a:prstGeom>
          <a:solidFill>
            <a:srgbClr val="0A1E35">
              <a:alpha val="12000"/>
            </a:srgbClr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6177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Usuario llena campo → WHEN-VALIDATE-ITEM (Forms Runtime) → valida contra Oracle → guarda con COMMIT.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– Triggers PL/SQL y Ejemplo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751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WHEN-BUTTON-PRESSED – Guardar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WHEN-BUTTON-PRESSED en botón "Guardar"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Validar campo obligatorio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:BLOQUE.NOMBRE IS NULL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MESSAGE('ERROR: El nombre es obligatorio');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FORM_TRIGGER_FAILURE;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Commit (guardar en Oracle)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COMMIT_FORM;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MESSAGE('Registro guardado correctamente');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OTHERS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MESSAGE('Error: '||SQLERRM);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1975104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PRE-INSERT y validación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PRE-INSERT: asignar PK automática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seq_cliente.NEXTVAL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INTO :BLOQUE_CLIENTE.ID_CLIENTE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DUAL;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:BLOQUE_CLIENTE.FECHA_REGISTRO := SYSDATE;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WHEN-VALIDATE-ITEM en campo EMAIL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REGEXP_LIKE(:BLOQUE.EMAIL,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'^[A-Za-z0-9._%+-]+@[A-Za-z0-9.-]+.[A-Za-z]{2,}$')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MESSAGE('Email inválido');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FORM_TRIGGER_FAILURE;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98064"/>
            <a:ext cx="8595360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52928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Built-ins Oracle Forms – funciones predefinidas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072384"/>
            <a:ext cx="837590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Built-ins (funciones predefinidas de Oracle Forms)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GO_BLOCK('BLOQUE_DETALLE');     -- Navegar a otro bloque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EXECUTE_QUERY;                   -- Ejecutar la consulta del bloque actual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FIRST_RECORD;                    -- Ir al primer registro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NEXT_RECORD;                     -- Ir al siguiente registro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CLEAR_FORM;                      -- Limpiar todo el formulario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SHOW_ALERT('ALERTA_CONFIRMACION');  -- Mostrar diálogo de alerta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CALL_FORM('/app/forms/pedido.fmx'); -- Llamar otro formulario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Usar variables globales entre formularios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:GLOBAL.ID_USUARIO := :BLOQUE.ID_USUARIO;  -- Guardar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v_id := :GLOBAL.ID_USUARIO;                -- Leer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– Generador de Reportes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es el generador de reportes de Oracle. Permite crear listados, informes y documentos complejos a partir de datos Oracle, con salida en múltiples formatos.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9844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98448"/>
            <a:ext cx="2816352" cy="34747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Tabular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y columnas. El más simple. Como una hoja de cálculo. Ej: listado de empleados, inventario.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298448"/>
            <a:ext cx="2816352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📑 Maestro-Detalle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170078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 + filas de detalle. Ej: factura (cabecera) con sus ítems (detalle).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44768" y="129844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44768" y="1298448"/>
            <a:ext cx="2816352" cy="3474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29844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🏷️ Mailing Label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70078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en grilla. Ej: etiquetas postales de clientes en formato 3 columnas.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56032" y="303580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56032" y="3035808"/>
            <a:ext cx="281635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📄 Form-Like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" y="343814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libre similar a un formulario. Ej: ficha de empleado, carnet, certificado.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03580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0" y="3035808"/>
            <a:ext cx="2816352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91840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🔢 Matrix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91840" y="343814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cruzada (pivot). Ej: ventas por mes vs. producto, como tabla dinámica Excel.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44768" y="3035808"/>
            <a:ext cx="2816352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3035808"/>
            <a:ext cx="2816352" cy="34747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3035808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Group-Left/Above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36208" y="3438144"/>
            <a:ext cx="2633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por categorías. Ej: ventas por región, luego por vendedor, luego detalle.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– Secciones y Componentes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49808"/>
            <a:ext cx="2194560" cy="676656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749808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Header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78608" y="914400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imprime una sola vez al inicio. Portada, logo, título, fecha del reporte.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17904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517904"/>
            <a:ext cx="2194560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517904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Header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78608" y="1682496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en cada página. Nombres de columnas, títulos de sección, número de página.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286000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86000"/>
            <a:ext cx="2194560" cy="67665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2860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Body (Groups)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78608" y="2450592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principal. Aquí van los datos. Puede tener grupos anidados (maestro-detalle).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54096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54096"/>
            <a:ext cx="2194560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54096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Page Footer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78608" y="3218688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repite al final de cada página. Totales parciales, número de página, firma.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22192"/>
            <a:ext cx="859536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822192"/>
            <a:ext cx="2194560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822192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 Footer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78608" y="3986784"/>
            <a:ext cx="6181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imprime una sola vez al final. Totales generales, resumen, conclusión.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4626864"/>
            <a:ext cx="8595360" cy="256032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645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de salida: PDF (más usado), HTML (web), RTF (Word), Excel (datos), PostScript. Se puede llamar un Report desde Oracle Forms con la función RUN_REPORT_OBJECT.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Application Express: Low-Code Web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937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(Application Express) es una plataforma low-code web incluida en Oracle Database. Permite crear aplicaciones web completas directamente sobre Oracle, sin servidor de aplicaciones externo.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35024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40817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🆓  Completamente gratis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71907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Oracle XE 21c. Disponible en Oracle Cloud gratis (apex.oracle.com). No requiere licencia adicional.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35024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335024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408176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100% Web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719072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necesitas un navegador. No se instala nada en el cliente. Todo corre dentro de Oracle Database.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505456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5786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Desarrollo rápido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desarrollador puede crear una app web funcional (CRUD) en menos de 1 hora con wizards.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505456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505456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578608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Seguridad integrada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Autenticación, autorización por roles, protección CSRF, XSS. Esquemas Oracle para datos.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675888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675888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749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Responsive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059936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aplicaciones se adaptan a móviles y tablets automáticamente con Universal Theme.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75888"/>
            <a:ext cx="4206240" cy="10424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3675888"/>
            <a:ext cx="64008" cy="10424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749040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Extensible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4059936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añadir JavaScript, CSS, PL/SQL personalizado, llamar APIs REST externas.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Arquitectura: Todo Dentro de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es la arquitectura más simple posible: todo vive dentro de Oracle Database. No hay servidores de aplicaciones, frameworks ni middleware externos que mantener.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98448"/>
            <a:ext cx="277977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98448"/>
            <a:ext cx="2779776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984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 NAVEGADOR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737360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Solicita páginas APEX via HTTP/HTTPS (puerto 8443 en XE). Solo necesita un browser moderno. No requiere Java, Flash ni plugins.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63824" y="1298448"/>
            <a:ext cx="277977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63824" y="1298448"/>
            <a:ext cx="2779776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55264" y="12984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🔧  ORDS / HTTP Server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55264" y="1737360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REST Data Services actúa como puente web. Recibe la solicitud HTTP y la pasa a Oracle APEX Engine dentro de la BD.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53328" y="1298448"/>
            <a:ext cx="2779776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53328" y="1298448"/>
            <a:ext cx="2779776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298448"/>
            <a:ext cx="2596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🗄️  ORACLE DATABASE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44768" y="1737360"/>
            <a:ext cx="2596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Engine (procedimientos PL/SQL) genera HTML/JS. Accede a tus tablas de negocio. Todo en una sola BD.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26080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56DB"/>
                </a:solidFill>
              </a:rPr>
              <a:t>⟶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815584" y="210312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6B35"/>
                </a:solidFill>
              </a:rPr>
              <a:t>⟶</a:t>
            </a:r>
            <a:endParaRPr lang="en-US" sz="2800" dirty="0"/>
          </a:p>
        </p:txBody>
      </p:sp>
      <p:sp>
        <p:nvSpPr>
          <p:cNvPr id="24" name="Shape 22"/>
          <p:cNvSpPr/>
          <p:nvPr/>
        </p:nvSpPr>
        <p:spPr>
          <a:xfrm>
            <a:off x="274320" y="3621024"/>
            <a:ext cx="8595360" cy="1170432"/>
          </a:xfrm>
          <a:prstGeom prst="rect">
            <a:avLst/>
          </a:prstGeom>
          <a:solidFill>
            <a:srgbClr val="F0FDF4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0624" y="3657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Componentes APEX dentro de Oracle DB: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02336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Builder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app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792224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847088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Workshop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47088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BD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36976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291840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Dev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91840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equipo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81728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36592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APEX Engine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36592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PL/SQL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26480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181344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Packaged Apps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81344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prediseñadas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571232" y="3968496"/>
            <a:ext cx="1298448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626096" y="4005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 Services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7626096" y="42793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Páginas, Regiones e Items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3891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Una aplicación APEX se organiza en Páginas → Regiones → Items. Cada página tiene su propio ciclo de renderizado y procesamiento.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61872"/>
            <a:ext cx="420624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261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Página (Page)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6276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básica de la app. Cada URL es una página. Tipos: Formulario, Reporte, Dashboard, Login, Master-Detail.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" y="213969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1: Login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2: Home/Dashboard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3: Formulario Empleados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4: Reporte Ventas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90872" y="1261872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90872" y="1261872"/>
            <a:ext cx="420624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261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Región (Region)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62763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una página. Una página puede tener múltiples regiones. Define el tipo de contenido.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82312" y="213969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Report (tabla SQL)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(con filtros)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Region (formulario)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(gráfico)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Text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(tarjetas)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6032" y="3035808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3035808"/>
            <a:ext cx="420624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035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Item (Item)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4015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individual dentro de una región. Cada item tiene tipo, etiqueta, source (columna BD) y validaciones.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391363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Field (texto)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List (lista desplegable)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Picker (calendario)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Field (número)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Browse (subir archivos)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(valor oculto)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90872" y="3035808"/>
            <a:ext cx="420624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90872" y="3035808"/>
            <a:ext cx="4206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82312" y="3035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Proceso (Process)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82312" y="3401568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PL/SQL que se ejecuta al enviar un formulario (submit). Maneja INSERT/UPDATE/DELETE.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82312" y="391363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Automatic: Oracle genera el DML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PL/SQL personalizado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Procedure: llamar SP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Page: limpiar campos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Email: enviar correo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Crear una Aplicación Paso a Paso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49808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8229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Acceder al Workspace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1155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URL: http://localhost:8443/apex (XE). Iniciar sesión con admin/admin. Crear workspace: ESTUDIANTE/est2025.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749808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749808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57800" y="822960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Builder → Create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115568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a App Builder → Create. Elegir tipo: New Application. Dar nombre y tema (Universal Theme).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179222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1792224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179222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186537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Tabla Base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15798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Workshop → SQL Commands. Crear la tabla Oracle (DDL). O usar el wizard de Table Creator en App Builder.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1792224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1792224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1792224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257800" y="1865376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Page → 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157984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app: Create Page → Form. Seleccionar tabla Oracle. El wizard genera automáticamente todos los items.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2834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2834640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283464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29077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Page →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20040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 → Interactive Report. Seleccionar tabla y columnas. APEX genera el reporte con filtros, búsqueda y exportación.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2834640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2834640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2834640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5257800" y="2907792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Navigation → Menu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200400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→ Shared Components → Navigation Menu. Agregar entradas al menú principal de la aplicación.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56032" y="3877056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6032" y="387705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822960" y="39502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Run Application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2960" y="424281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Run (►). La app funciona en el navegador. Los datos se guardan en Oracle Database automáticamente.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90872" y="3877056"/>
            <a:ext cx="4206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90872" y="3877056"/>
            <a:ext cx="475488" cy="9144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90872" y="3877056"/>
            <a:ext cx="475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5257800" y="395020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Personalizar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4242816"/>
            <a:ext cx="3547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 estilos CSS, agregar validaciones JavaScript, integrar PL/SQL personalizado en procesos.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956048"/>
            <a:ext cx="8595360" cy="164592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0624" y="4974336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apex.oracle.com → Sign Up Gratis → Workspace listo en minutos. No requiere instalar Oracle localmente.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SQL Developer Data Modeler – Diseño Visual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Developer Data Modeler (SDDM) es la herramienta oficial de Oracle para diseñar bases de datos visualmente. Incluida gratis en Oracle SQL Developer.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80160"/>
            <a:ext cx="64008" cy="171907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Modelos disponibles en SDDM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Model: entidades, atributos, relaciones sin tipos de BD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Model: tablas, columnas con tipos Oracle específicos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Model: tablespaces, particiones, almacenamiento físico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Diagram: flujo de procesos y datos del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Model: BPM/diagramas de proceso del negocio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80160"/>
            <a:ext cx="64008" cy="171907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Engineering (Modelo → DDL)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entidades en el modelo lógico/relacional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tipos Oracle: NUMBER(12,2), VARCHAR2(80), DATE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PK, FK, UNIQUE, CHECK desde el diagrama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→ DDL File: produce el script CREATE TABLE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SQL generado es ejecutable directo en SQL*Plus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090672"/>
            <a:ext cx="41605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090672"/>
            <a:ext cx="64008" cy="168249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1546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Engineering (BD → Modelo)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456432"/>
            <a:ext cx="3904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Conectar SDDM a Oracle XE existente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Import → Data Dictionary → Seleccionar tablas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SDDM lee la estructura y genera el diagrama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Útil para documentar BDs heredadas sin documentación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como PDF, PNG o HTML para documentación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90672"/>
            <a:ext cx="4160520" cy="168249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90672"/>
            <a:ext cx="64008" cy="168249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15468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Notaciones y Estándares soportados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456432"/>
            <a:ext cx="390448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Barker: notación Oracle clásica (óvalo, cuervo's foot)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Crow's Foot (IE): estándar más usado en la industria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Bachman, IDEF1X: otras notaciones estándar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UML: diagrama de clases orientado a objetos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 a: Visio, XML, ERwin, HTML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Menús en Oracle 4GL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generador de menús permite crear la navegación de la aplicación de forma visual, sin codificar estructuras de menú manualmente. Oracle tiene varias opciones.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80160"/>
            <a:ext cx="64008" cy="16276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Menu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Builder dentro de Oracle Form Builder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.MMB (Menu Module Binary) visual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pull-down (barra), pop-up (clic derecho), full-screen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Asociar comandos Oracle Forms a cada opción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acceso: deshabilitar opciones por rol/perfil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Integración: llamar formularios, ejecutar queries, abrir reportes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80160"/>
            <a:ext cx="64008" cy="16276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Navigation Menu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→ Navigation Menu en APEX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o horizontal (hamburger en móvil)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 con íconos, badges de notificación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condicional: mostrar según rol del usuario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jerárquico: menú → submenú → página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automático: genera menú desde las páginas existentes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9232"/>
            <a:ext cx="64008" cy="166420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Menu Generator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→ Application Design Transformer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módulos de menú desde el repositorio 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la estructura de módulos del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con Oracle Forms y Developer/2000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Menús jerárquicos con acceso basado en responsabilidades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estándares corporativos automáticamente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99232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Conceptos clave de menús 4GL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de Menú: elemento clickeable con acción asociada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Submenú: menú que despliega otro nivel de opciones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Separador: línea divisoria para agrupar opciones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Atajo de teclado: Ctrl+N, Alt+F, F5...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opción que activa/desactiva una función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Group: opciones mutuamente excluyentes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Consultas en Herramientas 4GL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generador de consultas permite construir sentencias SELECT de forma visual, sin escribir SQL manual. Ideal para usuarios finales no técnicos y para prototipado rápido.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80160"/>
            <a:ext cx="64008" cy="162763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SQL Developer – Query Builder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Arrastrar tablas al canvas → genera JOIN automático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columnas con checkboxes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condiciones WHERE con asistente visual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ORDER BY y GROUP BY sin escribir 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SQL generado se puede editar manualmente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resultados inmediatos con Run Query (F5)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80160"/>
            <a:ext cx="64008" cy="162763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Interactive Report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final puede filtrar, ordenar y agrupar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columnas de cálculo sin SQL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vistas personalizadas (Named Reports)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 a CSV, Excel, PDF con un clic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en todas las columnas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desarrollador escribe UN SQL; el usuario lo manipula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99232"/>
            <a:ext cx="64008" cy="1664208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 – Query Builder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Wizard: construir consulta base del reporte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visual de tablas y columnas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Asistente de JOINs entre tablas relacionadas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parámetros (variables) en la consulta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inmediato del reporte generado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SQL generado queda editable en Data Model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999232"/>
            <a:ext cx="416052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999232"/>
            <a:ext cx="64008" cy="1664208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73752" y="3063240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– Query Manager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73752" y="3364992"/>
            <a:ext cx="39044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SELECT basado en el repositorio CASE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predefinidas por módulo del sistema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directamente con Oracle Reports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 criterios de búsqueda reutilizables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consultas del repositorio centralizado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analistas sin conocimiento SQL profundo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de Aplicaciones – Automatización del Desarrollo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generador de aplicaciones crea automáticamente pantallas, formularios, reportes y menús completos a partir de la definición de la base de datos o del repositorio CASE.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16736"/>
            <a:ext cx="420624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3167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App Builder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" y="1700784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Application Wizard: define páginas y genera la app completa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Table-based: seleccionar una tabla → genera CRUD automático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genera página de resumen con gráficas y estadísticas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Master-Detail: genera pantalla padre-hijo automáticamente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genera menú lateral con todas las páginas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316736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316736"/>
            <a:ext cx="4206240" cy="32918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13167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– Application Generator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82312" y="1700784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módulos Oracle Forms y Reports desde el repositorio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Design Transformer: convierte modelos en código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estándares y plantillas corporativas automáticamente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Genera: formularios, menús, librerías, reportes completos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Consistencia: todos los módulos siguen el mismo estándar visual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3072384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3072384"/>
            <a:ext cx="4206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0723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JDeveloper – ADF Generator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" y="3456432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Business Components: genera BC desde tablas Oracle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Pages wizard: seleccionar componentes y genera JSF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Faces: componentes web ricos generados automáticamente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Controls: arrastra tabla → genera tabla/formulario web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Deployment: genera WAR/EAR para deploy en WebLogic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3072384"/>
            <a:ext cx="4206240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3072384"/>
            <a:ext cx="420624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0723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 comunes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82312" y="3456432"/>
            <a:ext cx="402336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Parten del modelo de datos existente (BD o CASE)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Reducen 80-90% el tiempo de desarrollo inicial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código generado es editable y extensible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Garantizan consistencia entre módulos relacionados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Facilitan el onboarding de nuevos desarrolladores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1 – Oracle Forms: Formulario de Empleados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1188720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base para el formulario Oracle Forms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8375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Paso 1: Crear la tabla Oracle (en SQL*Plus o SQL Developer)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SEQUENCE seq_empleado START WITH 1 INCREMENT BY 1 NOCACHE;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empleado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id_empleado  NUMBER(8) GENERATED ALWAYS AS IDENTITY PRIMARY KEY,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codigo       VARCHAR2(12) UNIQUE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nombre       VARCHAR2(80)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apellido     VARCHAR2(80) NOT NULL,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salario      NUMBER(12,2) DEFAULT 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activo       NUMBER(1,0) DEFAULT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8595360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20482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 en Oracle Form Builder (interfaz gráfica):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432304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43230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4323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" y="248716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New Form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nuevo módulo de formulario (.FMB)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79806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79806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79806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86384" y="285292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Blocks Wizard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tabla EMPLEADO → genera items automáticamente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163824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16382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316382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6384" y="321868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Wizard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Form o Tabular layout → definir campos visibles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4320" y="352958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352958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52958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58444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botones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Insertar botones: Guardar, Nuevo, Eliminar, Buscar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895344"/>
            <a:ext cx="8595360" cy="329184"/>
          </a:xfrm>
          <a:prstGeom prst="rect">
            <a:avLst/>
          </a:prstGeom>
          <a:solidFill>
            <a:srgbClr val="EFF6FF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89534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9534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86384" y="395020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de botones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WHEN-BUTTON-PRESSED en cada botón (ver código abajo)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74320" y="4261104"/>
            <a:ext cx="859536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261104"/>
            <a:ext cx="420624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261104"/>
            <a:ext cx="420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86384" y="4315968"/>
            <a:ext cx="7991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 y ejecutar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Administration → Compile → Run Form (Ctrl+R)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626864"/>
            <a:ext cx="8595360" cy="493776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4048" y="4718304"/>
            <a:ext cx="8375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Trigger WHEN-BUTTON-PRESSED del botón GUARDAR (Código PL/SQL en Form Builder):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 IF :EMPLEADO.NOMBRE IS NULL THEN MESSAGE('Nombre obligatorio'); RAISE FORM_TRIGGER_FAILURE;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IF; COMMIT_FORM; MESSAGE('Guardado OK'); END;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2 – Oracle APEX: App de Gestión de Empleados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4980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Workspace y Tabla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Acceder a apex.oracle.com → Create Workspace: EMPRESA / empresa123. En SQL Workshop → SQL Commands ejecutar el DDL de la tabla EMPLEADO.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749808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80467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Application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13385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Builder → Create. Nombre: Gestión Empleados. Tema: Universal Theme 42. APEX crea una app base con navegación y login.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762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Página Reporte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 → Interactive Report. SQL: SELECT id_empleado,codigo,nombre,apellido,salario,CASE activo WHEN 1 THEN 'Activo' ELSE 'Inactivo' END estado FROM empleado ORDER BY apellido. APEX genera el reporte con filtros automáticos.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176272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Formulario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560320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Page → Form. Tabla: EMPLEADO. APEX genera los campos automáticamente. Proceso automático DML: INSERT/UPDATE según sea nuevo o edición.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60273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Navegación y Menú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→ Navigation Menu. Agregar entradas: Inicio, Empleados (apunta a pág. reporte), Nuevo Empleado (apunta a formulario).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602736"/>
            <a:ext cx="475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57800" y="365760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Ejecutar y Probar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986784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Application → Ingresar empleados → Verificar en Oracle: SELECT * FROM empleado. La app guarda automáticamente en la base de datos Oracle.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5010912"/>
            <a:ext cx="8595360" cy="155448"/>
          </a:xfrm>
          <a:prstGeom prst="rect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5020056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En apex.oracle.com (cloud gratis) todo funciona igual. Solo necesitas crear el Workspace, ejecutar el DDL en SQL Workshop y seguir los mismos pasos.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3 – SQL Developer Data Modeler: Sistema Ventas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749808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8046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D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Modelo Lógico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1115568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Logical: Crear entidades CLIENTE, PRODUCTO, FACTURA, DETALLE_FACTURA. Definir atributos y tipos abstractos.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90872" y="749808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90872" y="749808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57800" y="804672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Modelo Relacional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115568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Relational: Desde lógico → Engineer to Relational. Definir tipos Oracle: NUMBER(8), VARCHAR2(80), DATE.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" y="2176272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22311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Definir PKs y FKs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254203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tabla: ID generado por SEQUENCE (en Properties). Relaciones FK: FACTURA.id_cliente → CLIENTE.id_cliente.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2176272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176272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2231136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 Engineering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542032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→ Relational → Generate DDL. Guardar script .sql. El archivo contiene CREATE SEQUENCE + CREATE TABLE + CONSTRAINTS.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56032" y="3602736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Ejecutar DDL Oracle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2960" y="396849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SQL*Plus o SQL Developer. Ejecutar: @ventas_ddl.sql. Verificar con SELECT table_name FROM user_tables.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90872" y="3602736"/>
            <a:ext cx="42062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3602736"/>
            <a:ext cx="475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57800" y="3657600"/>
            <a:ext cx="3547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Engineering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3968496"/>
            <a:ext cx="35478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→ Import → Data Dictionary → Oracle. Seleccionar conexión y tablas. SDDM genera el diagrama automáticamente.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5029200"/>
            <a:ext cx="8595360" cy="146304"/>
          </a:xfrm>
          <a:prstGeom prst="rect">
            <a:avLst/>
          </a:prstGeom>
          <a:solidFill>
            <a:srgbClr val="008DA9">
              <a:alpha val="12000"/>
            </a:srgbClr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0624" y="5038344"/>
            <a:ext cx="8321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DDL generado incluye SEQUENCES y TRIGGERS para auto-incremento. Revisar antes de ejecutar que los nombres de objetos sean correctos.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4 – APEX con PL/SQL Personalizado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404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APEX: llamar SP Oracle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4048" y="1005840"/>
            <a:ext cx="3941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Proceso PL/SQL en botón "Aplicar Descuento"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(Página APEX → Process → PL/SQL Code)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v_result VARCHAR2(200);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Llamar procedure Oracle desde APEX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sp_aplicar_descuento(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:P3_ID_CLIENTE,    -- Item de la página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:P3_PORCENTAJE,    -- Otro item de la página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v_result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 Mostrar mensaje al usuario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:P3_MENSAJE := v_result;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APEX_APPLICATION.G_PRINT_SUCCESS_MESSAGE :=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'Descuento aplicado: ' || v_result;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731520"/>
            <a:ext cx="4160520" cy="1956816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18888" y="786384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PL/SQL en items APEX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18888" y="1005840"/>
            <a:ext cx="39410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Validación de campo en APEX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(Page Item → Validation → PL/SQL Expression)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:P3_SALARIO &gt;= 1160000 AND :P3_SALARIO IS NOT NULL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 con función PL/SQL: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 v_ok BOOLEAN;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v_ok := fn_valida_salario(:P3_SALARIO);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v_ok THEN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APEX_ERROR.ADD_ERROR(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p_message=&gt;'Salario menor al mínimo legal',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p_display_location=&gt;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apex_error.c_inline_in_notification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END IF;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END;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79776"/>
            <a:ext cx="8595360" cy="1883664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2834640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de reporte APEX con funciones Oracle y parámetros de página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3054096"/>
            <a:ext cx="837590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Reporte SQL personalizado con funciones Oracle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(Interactive Report → Source SQL)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e.id_empleado,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e.codigo,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e.nombre || ' ' || e.apellido          AS nombre_completo,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TO_CHAR(e.salario,'$999,999,999.00')    AS salario_fmt,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d.nombre                                AS departamento,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e.activo WHEN 1 THEN 'Activo' ELSE 'Inactivo' END AS estado,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fn_categoria(e.id_empleado)             AS categoria,    -- Función Oracle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RANK() OVER(PARTITION BY e.id_depto ORDER BY e.salario DESC) AS ranking_dept,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TO_CHAR(e.fecha_ingreso,'DD/MM/YYYY')   AS ingreso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empleado 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departamento d ON e.id_depto = d.id_depto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e.activo = :P2_FILTRO_ACTIVO         -- Parámetro desde un item de la página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OR :P2_FILTRO_ACTIVO IS NULL            -- Si no hay filtro, mostrar todos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d.nombre, e.apellido;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 Oracle vs Frameworks Modernos – Comparativa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3891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Las herramientas 4GL Oracle tienen ventajas en productividad inicial pero limitaciones en flexibilidad. Los frameworks modernos ofrecen más control pero requieren más habilidades.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011680" cy="2926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280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Aspecto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1261872"/>
            <a:ext cx="2377440" cy="2926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40864" y="1280160"/>
            <a:ext cx="2267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/ Forms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61872"/>
            <a:ext cx="2194560" cy="29260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280160"/>
            <a:ext cx="2084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/ Angular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0" y="1261872"/>
            <a:ext cx="201168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12864" y="12801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Spring Boot / Django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1572768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" y="16002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desarrollo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0" y="1572768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40864" y="160020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Muy rápido (wizards)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572768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18304" y="160020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🔨 Medio (componentes)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1572768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12864" y="160020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Más lento (capas)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186537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" y="189280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aprendizaje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286000" y="1865376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40864" y="189280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Baja (wizards intuitivos)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1865376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189280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Media (JS avanzado)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186537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189280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Alta (frameworks)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2157984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9184" y="21854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Oracle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286000" y="2157984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40864" y="218541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Nativa, sin config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157984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218541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Requiere API/JDBC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58000" y="2157984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12864" y="218541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Requiere ORM/JDBC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2450592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" y="2478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Flexibilidad UI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286000" y="2450592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340864" y="247802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Limitada (temas APEX)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2450592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2478024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Total (CSS/JS libre)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2450592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12864" y="247802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Total (cualquier UI)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74320" y="2743200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27706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286000" y="2743200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340864" y="277063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Fácil (todo integrado)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63440" y="2743200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277063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Gestión de paquetes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858000" y="2743200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12864" y="277063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Múltiples capas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74320" y="3035808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29184" y="30632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2286000" y="3035808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40864" y="3063240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Buena (Oracle Cloud)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663440" y="3035808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18304" y="3063240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Alta (CDN, microserv)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858000" y="3035808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912864" y="3063240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Muy alta (microserv)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274320" y="3328416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9184" y="33558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Licencia/Costo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286000" y="3328416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40864" y="3355848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Gratis con Oracle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663440" y="3328416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18304" y="3355848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Open Source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6858000" y="3328416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912864" y="335584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Open Source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274320" y="3621024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9184" y="364845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desarrollador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2286000" y="3621024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340864" y="3648456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/ DBA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663440" y="3621024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18304" y="3648456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developer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858000" y="3621024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912864" y="364845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developer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274320" y="3913632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29184" y="39410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ideales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286000" y="3913632"/>
            <a:ext cx="237744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40864" y="3941064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internas, CRUD, reportes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4663440" y="3913632"/>
            <a:ext cx="219456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18304" y="3941064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SPAs, apps móviles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6858000" y="3913632"/>
            <a:ext cx="2011680" cy="256032"/>
          </a:xfrm>
          <a:prstGeom prst="rect">
            <a:avLst/>
          </a:prstGeom>
          <a:solidFill>
            <a:srgbClr val="EFF6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912864" y="394106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REST, microservicios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74320" y="4206240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2918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 2025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2286000" y="4206240"/>
            <a:ext cx="23774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340864" y="4233672"/>
            <a:ext cx="22677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activo y evolucionando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4663440" y="4206240"/>
            <a:ext cx="21945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718304" y="4233672"/>
            <a:ext cx="2084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domina el mercado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6858000" y="4206240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912864" y="42336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empresarial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 en el Contexto Actual – Low-Code / No-Code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4GL no desaparecieron: evolucionaron. Oracle APEX 23c es uno de los líderes en el mercado de plataformas low-code empresariales en 2025.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31673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316736"/>
            <a:ext cx="64008" cy="10607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38074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🌍  Mercado Low-Code 2025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70078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mercado de plataformas low-code supera los USD $45 billones en 2025. Gartner reporta que el 65% del desarrollo de aplicaciones será low-code para 2025.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31673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316736"/>
            <a:ext cx="64008" cy="106070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38074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 Oracle APEX en el mercado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70078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Reconocido por Gartner como líder en plataformas de desarrollo empresarial. Más de 500,000 desarrolladores activos globalmente.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50545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505456"/>
            <a:ext cx="64008" cy="10607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56946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Conexión con lo aprendido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y Reports siguen en producción en miles de empresas en Latinoamérica (bancos, gobierno, retail). Conocerlos es valioso profesionalmente.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50545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505456"/>
            <a:ext cx="64008" cy="10607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56946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🚀  Herramientas equivalentes 2025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88950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OutSystems, Mendix, Power Apps, Appsmith, Budibase → misma filosofía 4GL pero en plataformas modernas. Los conceptos aplican a todas.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69417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694176"/>
            <a:ext cx="64008" cy="106070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7581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Relevancia en Colombia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07822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Muchas empresas colombianas usan Oracle EBS, Oracle Financials, Siebel CRM → basados en Oracle Forms/Reports/APEX. Conocerlos abre oportunidades.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94176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3694176"/>
            <a:ext cx="64008" cy="106070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75818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30A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📖  Continúa aprendiendo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4078224"/>
            <a:ext cx="3950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APEX: apex.oracle.com → tutoriales gratuitos. Oracle University: cursos de Forms y Reports. YouTube: canales Oracle Developers con demos actuales.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– Herramientas 4GL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Principios para desarrollar con calidad en Oracle Forms, Reports y APEX.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0700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07008"/>
            <a:ext cx="64008" cy="676656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2618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📦  ✔  Usar Object Libraries en Forms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53619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plantillas reutilizables (.OLB) para botones, items y ventanas. Garantiza consistencia visual.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90872" y="1207008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207008"/>
            <a:ext cx="64008" cy="6766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261872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🔒  ✔  Nunca SQL dinámico sin validar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536192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Concatenar inputs de usuario en SQL abre SQL Injection. Usar bind variables (:VAR) en Reports y APEX.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" y="197510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1975104"/>
            <a:ext cx="64008" cy="67665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02996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✔  PL/SQL Libraries en Forms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30428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reutilizable en .PLL (Librería PL/SQL). No duplicar lógica en cada trigger de cada formulario.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90872" y="1975104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1975104"/>
            <a:ext cx="64008" cy="67665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029968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✔  Interactive Reports en APEX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304288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Interactive Report sobre Classic Report. El usuario puede filtrar, ordenar y exportar por su cuenta.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6032" y="274320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2743200"/>
            <a:ext cx="64008" cy="676656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27980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DA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✔  Data Modeler antes de codificar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307238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diseñar el modelo E-R antes del DDL. SDDM genera el script. Evita cambios costosos después.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90872" y="2743200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2743200"/>
            <a:ext cx="64008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2798064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✔  Autorización en APEX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3072384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Authorization Schemes por roles. No mostrar botones que el usuario no puede usar.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56032" y="351129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64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56032" y="3511296"/>
            <a:ext cx="64008" cy="676656"/>
          </a:xfrm>
          <a:prstGeom prst="rect">
            <a:avLst/>
          </a:prstGeom>
          <a:solidFill>
            <a:srgbClr val="006644"/>
          </a:solidFill>
          <a:ln w="12700">
            <a:solidFill>
              <a:srgbClr val="0066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356616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6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✔  Usar Master Reports en Reports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20624" y="384048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reporte base y derivar. No crear reportes independientes idénticos para cada departamento.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690872" y="3511296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90872" y="3511296"/>
            <a:ext cx="64008" cy="6766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5464" y="3566160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💾  ✔  Control de versiones del .FMB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855464" y="3840480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.FMB en Git o SVN. No depender solo del servidor Forms. El compilado .FMX no es suficiente.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427939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256032" y="4279392"/>
            <a:ext cx="64008" cy="67665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0624" y="433425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✔  Paginación en reportes largos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0624" y="4608576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APEX usar Pagination. En Reports usar Break Groups. Nunca traer todo sin límite en produción.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90872" y="4279392"/>
            <a:ext cx="420624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90872" y="4279392"/>
            <a:ext cx="64008" cy="67665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334256"/>
            <a:ext cx="39502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🧪  ✔  Probar con datos reales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55464" y="4608576"/>
            <a:ext cx="3950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un subconjunto de datos de producción para probar reportes y formularios antes de salir a producción.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en Herramientas 4GL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" y="804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Forms: FRM-40508 – Oracle error registering record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0624" y="1097280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trigger PRE-INSERT falla al asignar la PK. Verificar que la SEQUENCE existe y tiene permisos. SELECT seq_emp.NEXTVAL FROM DUAL.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749808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5464" y="804672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Forms: FRM-10102 – Cannot open module 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55464" y="1097280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archivo .FMX no se encuentra en el directorio FORMS_PATH. Verificar variable de entorno y ruta del compilado.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56032" y="1828800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1828800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0624" y="18836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Reports: REP-0069 – Internal error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0624" y="2176272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conexión a Oracle falló. Verificar cadena de conexión en el Launch Properties. REPORTS_CONN_STR correcto.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90872" y="1828800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1828800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55464" y="1883664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APEX: ORA-20987 – APEX session expired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5464" y="2176272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sesión APEX caducó (por defecto 8h). Aumentar en Instance Settings → Security → Maximum Session Duration.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56032" y="2907792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907792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96265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APEX: ORA-01403 en proceso DML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0624" y="3255264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automático DML falla con NO_DATA_FOUND. Verificar que el Primary Key item existe y tiene valor correcto.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90872" y="2907792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90872" y="2907792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55464" y="2962656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SDDM: Cannot connect to Oracle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55464" y="3255264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Modeler no puede conectarse para Reverse Engineering. Instalar Oracle JDBC (ojdbc11.jar) en SDDM classpath.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56032" y="3986784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56032" y="3986784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40416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Forms: código PL/SQL ignorado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20624" y="4334256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PL/SQL sin / al final en SQL*Plus para crear packages/triggers. En Form Builder no se necesita /, pero la lógica de BD sí.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90872" y="3986784"/>
            <a:ext cx="420624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90872" y="3986784"/>
            <a:ext cx="64008" cy="9509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5464" y="4041648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APEX: no muestra datos en reporte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55464" y="4334256"/>
            <a:ext cx="3950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reporte SQL usa :ITEM pero el item no existe o está vacío. Verificar nombre exacto del item: P{n}_{NOMBRE}.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Propuesto – App APEX de Inventario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548640"/>
          </a:xfrm>
          <a:prstGeom prst="rect">
            <a:avLst/>
          </a:prstGeom>
          <a:solidFill>
            <a:srgbClr val="0A1E3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68096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Caso: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Inventario de una tienda de tecnología. Los productos tienen categoría, proveedor, stock y precio. Se registran entradas y salidas de inventario.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89888"/>
            <a:ext cx="475488" cy="585216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389888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59536" y="1481328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8D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 Data Modeler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E-R: CATEGORIA, PROVEEDOR, PRODUCTO, MOVIMIENTO_INVENTARIO. Forward engineering → ejecutar DDL en Oracle.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048256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048256"/>
            <a:ext cx="475488" cy="58521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048256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9536" y="2139696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APEX básica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Workspace y app en apex.oracle.com. Configurar: Create Application → agregar páginas para cada entidad.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706624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706624"/>
            <a:ext cx="475488" cy="585216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706624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" y="2798064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y Reporte PRODUCTO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Interactive Report con columnas: código, nombre, categoría, stock, precio, proveedor. Crear Form para CRUD de productos.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364992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364992"/>
            <a:ext cx="475488" cy="5852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364992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" y="3456432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Stock Crítico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con SQL: SELECT * FROM producto WHERE stock &lt; 10 ORDER BY stock. Formato condicional: stock &lt; 5 en rojo.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023360"/>
            <a:ext cx="859536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023360"/>
            <a:ext cx="475488" cy="5852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023360"/>
            <a:ext cx="4754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59536" y="4114800"/>
            <a:ext cx="7900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navegación  </a:t>
            </a:r>
            <a:pPr indent="0" marL="0">
              <a:buNone/>
            </a:pPr>
            <a:r>
              <a:rPr lang="en-US" sz="10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Components → Navigation Menu con entradas: Inicio, Productos, Categorías, Proveedores, Stock Crítico.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700016"/>
            <a:ext cx="8595360" cy="201168"/>
          </a:xfrm>
          <a:prstGeom prst="rect">
            <a:avLst/>
          </a:prstGeom>
          <a:solidFill>
            <a:srgbClr val="EA580C">
              <a:alpha val="12000"/>
            </a:srgbClr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727448"/>
            <a:ext cx="8321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URL pública de apex.oracle.com + capturas de pantalla del modelo SDDM. O bien: archivos .sql de DDL + script APEX export (.sql de la app).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  TALLER PRÁCTICO – Sesión 12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28/35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713232"/>
            <a:ext cx="8412480" cy="566928"/>
          </a:xfrm>
          <a:prstGeom prst="rect">
            <a:avLst/>
          </a:prstGeom>
          <a:solidFill>
            <a:srgbClr val="0A1E35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74980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🏫  Caso: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APEX de Gestión Académica – Universitaria de Colombia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1371600"/>
            <a:ext cx="8412480" cy="822960"/>
          </a:xfrm>
          <a:prstGeom prst="rect">
            <a:avLst/>
          </a:prstGeom>
          <a:solidFill>
            <a:srgbClr val="1A2C42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408176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Usando Oracle APEX (apex.oracle.com o localhost XE), construir una aplicación web que permita gestionar estudiantes, materias y matrículas del sistema académico diseñado en S11. La app debe tener formularios, reportes y menú de navegación funcional.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Actividades (2 horas):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5176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791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[SDDM] Crear/importar el modelo E-R del sistema académico (Estudiante, Programa, Materia, Matricula). Forward engineering → DDL.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535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[APEX] Crear Workspace y ejecutar el DDL de S11 en SQL Workshop. Verificar con SELECT table_name FROM user_tables.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22783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[APEX] Create Application: nombre 'Sistema Académico'. Crear página Interactive Report de Estudiantes con columnas: codigo, nombre, apellido, programa, semestre.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474720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5021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[APEX] Crear Form de Estudiante (Create/Edit/Delete) con validaciones: código y email requeridos, email con formato válido.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74904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76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[APEX] Crear Interactive Report de Matrículas con JOIN (matricula + estudiante + materia + semestre). Formateo condicional: 'cancelada' en rojo.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023360"/>
            <a:ext cx="8412480" cy="237744"/>
          </a:xfrm>
          <a:prstGeom prst="rect">
            <a:avLst/>
          </a:prstGeom>
          <a:solidFill>
            <a:srgbClr val="0B1F3A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05079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f) [APEX] Menú de navegación con 4 entradas: Inicio, Estudiantes, Materias, Matrículas. Agregar ícono a cada entrada.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297680"/>
            <a:ext cx="8412480" cy="237744"/>
          </a:xfrm>
          <a:prstGeom prst="rect">
            <a:avLst/>
          </a:prstGeom>
          <a:solidFill>
            <a:srgbClr val="1A2C42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32511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g) [SDDM o APEX] Generar el diagrama ER del sistema y exportar como imagen PNG para adjuntar en el entregable.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65760" y="455371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URL app APEX + captura del diagrama ER + evidencia de datos en la BD Oracle.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Criterios de Evaluación – Taller S12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2816352" cy="384048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Modelo E-R (SDDM)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88720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con entidades correctas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 y cardinalidades (7)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engineering sin errores (5)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49808"/>
            <a:ext cx="2816352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Configuración APEX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188720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creado y funcional (5)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ejecutado correctamente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prueba insertados (7)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749808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749808"/>
            <a:ext cx="2816352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749808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 pts  ·  Formularios y Reportes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188720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Estudiante completo con CRUD (12)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Report Matrículas con JOIN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 implementado (5)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724912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724912"/>
            <a:ext cx="2816352" cy="38404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7249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pts  ·  Navegación y Menú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163824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con 4 entradas funcionales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Íconos y etiquetas correctas (4)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entre páginas fluida (3)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724912"/>
            <a:ext cx="281635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724912"/>
            <a:ext cx="2816352" cy="38404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72491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pts  ·  Validaciones y Calidad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163824"/>
            <a:ext cx="26334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campos requeridos (8)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formato email (7)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sin errores en ejecución (5)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4663440"/>
            <a:ext cx="8595360" cy="237744"/>
          </a:xfrm>
          <a:prstGeom prst="rect">
            <a:avLst/>
          </a:prstGeom>
          <a:solidFill>
            <a:srgbClr val="10B981">
              <a:alpha val="18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0624" y="469087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Nota: </a:t>
            </a:r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debe funcionar en el navegador sin errores. Las capturas de pantalla o el acceso a la URL son parte de la evidencia de entrega.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y JDeveloper – CASE y RAD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49808"/>
            <a:ext cx="41605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749808"/>
            <a:ext cx="64008" cy="2048256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81381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Designer – Herramienta CASE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115568"/>
            <a:ext cx="3904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centralizado: todos los artefactos del proyecto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Diagramas: E-R, Flujo de datos, jerarquía de módulos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Design Transformer: genera Forms/Reports desde modelos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API Generator: genera procedures CRUD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Generator: genera packages PL/SQL desde módulos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Versiones: asociado a Oracle Database 12C en el temario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legacy pero presente en proyectos gubernamentales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749808"/>
            <a:ext cx="4160520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749808"/>
            <a:ext cx="64008" cy="20482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73752" y="813816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JDeveloper – RAD Java + ADF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73752" y="1115568"/>
            <a:ext cx="3904488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completo para desarrollo Java sobre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(Application Development Framework): componentes web JSF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Business Components: BC desde tablas Oracle automáticamente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Editor: arrastrar componentes ADF a la pantalla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Faces Rich Client: tablas, formularios, árboles, gráficas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WebLogic Server, Tomcat, Oracle Cloud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activo, Oracle usa JDeveloper en Oracle Fusion Apps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89504"/>
            <a:ext cx="4160520" cy="1536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94436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Designer: Table API Generator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84048" y="3163824"/>
            <a:ext cx="3941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Oracle Designer: repositorio SQL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Generar Table API (procedimientos CRUD):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Designer → Generate → Server Objects → Table API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Genera automáticamente: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PACKAGE empleado_api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ins(p_nombre VARCHAR2, p_salario NUMBER...);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upd(p_id NUMBER, p_salario NUMBER...);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PROCEDURE del(p_id NUMBER);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FUNCTION sel(p_id NUMBER) RETURN empleado%ROWTYPE;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empleado_api; /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889504"/>
            <a:ext cx="4160520" cy="1536192"/>
          </a:xfrm>
          <a:prstGeom prst="rect">
            <a:avLst/>
          </a:prstGeom>
          <a:solidFill>
            <a:srgbClr val="0D111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18888" y="2944368"/>
            <a:ext cx="3941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JDeveloper: tabla ADF generada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18888" y="3163824"/>
            <a:ext cx="394106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JDeveloper ADF: componente de tabla generado --&gt;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&lt;af:table value="#{bindings.EmpleadoView1.collectionModel}"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var="row" rows="#{bindings.EmpleadoView1.rangeSize}"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emptyText="No hay empleados"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fetchSize="#{bindings.EmpleadoView1.rangeSize}"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rowBandingInterval="0"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id="t1"&gt;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&lt;af:column id="c1" headerText="Código"&gt;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&lt;af:outputText value="#{row.Codigo}"/&gt;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&lt;/af:column&gt;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&lt;!-- JDeveloper genera este JSF automáticamente --&gt;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&lt;/af:table&gt;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 – Funcionalidades Avanzadas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4206240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49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APIs en APEX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3385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RESTful Services: publicar tablas como API REST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módulos, plantillas y handlers GET/POST/PUT/DELETE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Consumir APIs externas con APEX_WEB_SERVICE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con servicios externos: pagos, correo, mapas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90872" y="74980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90872" y="749808"/>
            <a:ext cx="4206240" cy="32918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7498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Gráficas y Dashboards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82312" y="113385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Region: barras, líneas, pastel, dispersión, mapas de calor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automático: widgets con KPIs de la BD Oracle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JET Charts: componentes de visualización modernos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automática sin recargar la página (refresh)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56032" y="285292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" y="2852928"/>
            <a:ext cx="4206240" cy="3291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8529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Aplicaciones Móviles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Theme: diseño responsive automático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(Progressive Web App): instalar como app nativa en móvil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Notifications: alertas en dispositivo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Offline: funcionar sin conexión con sync posterior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90872" y="2852928"/>
            <a:ext cx="420624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90872" y="2852928"/>
            <a:ext cx="420624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285292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y Roles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3236976"/>
            <a:ext cx="40233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Schemes: Oracle DB, LDAP, Social Login, SAML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Schemes: mostrar/ocultar según rol del usuario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State Protection: proteger valores de items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Log: registrar acciones de usuarios automáticamente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12c – Características Modernas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3891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 sigue activo y evolucionando en Forms 12c. Soporte oficial hasta 2030+. Miles de empresas lo usan en producción.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" y="1261872"/>
            <a:ext cx="64008" cy="106070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0624" y="13258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C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JavaFX Interface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" y="162763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12c reemplaza el Java Applet obsoleto por JavaFX. Mejor rendimiento, aspecto moderno, sin plugin de navegador.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90872" y="126187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90872" y="1261872"/>
            <a:ext cx="64008" cy="106070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55464" y="132588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WebForms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55464" y="162763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HTML5/JavaScript de Oracle Forms. No requiere Java en el cliente. Ejecuta en cualquier navegador moderno.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" y="245059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" y="2450592"/>
            <a:ext cx="64008" cy="106070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251460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RESTful Services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" y="281635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puede consumir REST APIs externas. Integración con servicios modernos sin romper la arquitectura.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90872" y="245059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90872" y="2450592"/>
            <a:ext cx="64008" cy="1060704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55464" y="251460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6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Integration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55464" y="281635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Llamar JavaScript desde triggers PL/SQL y viceversa. Permite añadir lógica moderna a forms antiguos.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6032" y="363931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" y="3639312"/>
            <a:ext cx="64008" cy="10607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7033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Themes modernos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0624" y="400507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temas visuales modernos sin rediseñar los formularios. Migración visual con bajo esfuerzo.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90872" y="3639312"/>
            <a:ext cx="420624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90872" y="3639312"/>
            <a:ext cx="64008" cy="1060704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55464" y="3703320"/>
            <a:ext cx="39502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Cloud Compatibility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55464" y="4005072"/>
            <a:ext cx="39502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se puede ejecutar en Oracle Cloud Infrastructure (OCI). Migración a cloud sin reescribir.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solidFill>
            <a:srgbClr val="0052CC">
              <a:alpha val="12000"/>
            </a:srgbClr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0624" y="4974336"/>
            <a:ext cx="8321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roadmap: oracle.com/tools/forms → actualizaciones y fechas de soporte. Forms 12.2.1.4 con soporte extendido hasta 2031.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Recursos y Documentación – Herramientas 4GL Oracle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4980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49808"/>
            <a:ext cx="2816352" cy="329184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749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 Oracle APEX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13385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apex.oracle.com – plataforma cloud gratuita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docs.oracle.com/en/database/oracle/apex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apex.oracle.com/en/learn/tutorials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Oracle APEX channel oficial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74980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52C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749808"/>
            <a:ext cx="2816352" cy="329184"/>
          </a:xfrm>
          <a:prstGeom prst="rect">
            <a:avLst/>
          </a:prstGeom>
          <a:solidFill>
            <a:srgbClr val="0052CC"/>
          </a:solidFill>
          <a:ln w="12700">
            <a:solidFill>
              <a:srgbClr val="0052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749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Oracle Forms/Reports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13385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docs.oracle.com/forms → Forms 12c docs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oracle.com/tools → Developer Tools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Developer Day: videos y demos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Support: My Oracle Support (MOS)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4768" y="74980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008DA9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749808"/>
            <a:ext cx="2816352" cy="329184"/>
          </a:xfrm>
          <a:prstGeom prst="rect">
            <a:avLst/>
          </a:prstGeom>
          <a:solidFill>
            <a:srgbClr val="008DA9"/>
          </a:solidFill>
          <a:ln w="12700">
            <a:solidFill>
              <a:srgbClr val="008DA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36208" y="74980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SQL Dev Data Modeler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36208" y="113385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oracle.com/tools/sql-developer → descargar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docs.oracle.com/sqldev → guía SDDM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Jeff Smith blog: thatjeffsmith.com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Oracle SQL Developer channel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6032" y="285292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6032" y="2852928"/>
            <a:ext cx="2816352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28529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🎓 Cursos Oracle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" y="323697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education.oracle.com → Oracle University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Certification: 1Z0-770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Developer Certification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Cloud Free Tier: cloud.oracle.com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85292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52928"/>
            <a:ext cx="2816352" cy="329184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8529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💻 Práctica Gratuita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23697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apex.oracle.com → workspace gratis en 2 min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Developer Live (eventos online)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LiveLabs: workshops guiados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devgym.oracle.com → quizzes SQL/APEX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44768" y="2852928"/>
            <a:ext cx="2816352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3730A3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44768" y="2852928"/>
            <a:ext cx="2816352" cy="329184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36208" y="2852928"/>
            <a:ext cx="2633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📚 Libros y Referencias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236208" y="3236976"/>
            <a:ext cx="263347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Oracle Application Express (Hilary/Marc)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APEX Tips and Tricks (Gietz)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Forms Developer Guide (Oracle Docs)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 with Oracle Data Modeler (Dorsey)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D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0896" y="0"/>
            <a:ext cx="865022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Preview: Sesiones 13-14 – Práctica y Lenguajes Compatibles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81812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Herramientas 4GL Oracle  |  Ing. Sistemas 4°  |  Mg. Sergio Burbano – Universitaria de Colombia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8138160" y="4910328"/>
            <a:ext cx="78638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34/35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731520"/>
            <a:ext cx="8595360" cy="457200"/>
          </a:xfrm>
          <a:prstGeom prst="rect">
            <a:avLst/>
          </a:prstGeom>
          <a:solidFill>
            <a:srgbClr val="0A1E35"/>
          </a:solidFill>
          <a:ln w="12700">
            <a:solidFill>
              <a:srgbClr val="0A1E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749808"/>
            <a:ext cx="8321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aprendido en S12 se aplica en las siguientes sesiones. Vista previa de los próximos contenidos: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280160"/>
            <a:ext cx="416052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280160"/>
            <a:ext cx="64008" cy="3273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S13 – Clase Práctica II Oracle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645920"/>
            <a:ext cx="39044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DDL, PL/SQL y triggers de S11 en un caso real integrador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Académico completo: DDL + Package + Trigger + Vistas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SQL Developer Data Modeler para el diseño E-R previo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en Oracle XE y probar con SQL*Plus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 APEX de este taller pueden conectarse al mismo DDL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la evaluación de Oracle de S20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4160520" cy="3273552"/>
          </a:xfrm>
          <a:prstGeom prst="rect">
            <a:avLst/>
          </a:prstGeom>
          <a:solidFill>
            <a:srgbClr val="FFFFFF"/>
          </a:solidFill>
          <a:ln w="12700">
            <a:solidFill>
              <a:srgbClr val="1A56DB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9160" y="1280160"/>
            <a:ext cx="64008" cy="327355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1344168"/>
            <a:ext cx="3904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E3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S14-S17 – Lenguajes Compatibles Oracle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73752" y="1645920"/>
            <a:ext cx="3904488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S14: Python + Oracle (oracledb, Flask REST API)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S15: Java + Oracle (JDBC, Hibernate, Spring Boot)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S16: Node.js + Oracle (oracledb npm, Express API)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S17: PHP + Oracle (OCI8), .NET + Oracle (ODP.NET)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datos del sistema que construyes en S13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4GL APEX y las APIs REST pueden coexistir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híbrida: APEX para usuarios internos, API para móvil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4645152"/>
            <a:ext cx="8595360" cy="274320"/>
          </a:xfrm>
          <a:prstGeom prst="rect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4672584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Conexión: Oracle APEX es una aplicación 4GL sobre la misma BD Oracle que usarás con Python, Java y Node.js en S14-S17. Puedes tener APEX + API REST sobre la misma BD Oracle.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0"/>
            <a:ext cx="146304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" y="1463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 S12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04672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Herramientas de Desarrollo 4GL Oracle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804672" y="877824"/>
            <a:ext cx="2743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06070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106070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06070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113385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4GL y su Evolución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144475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1GL→5GL. Los 4GL se enfocan en el QUÉ, no en el CÓMO. Productividad 10-50x.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19472" y="106070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19472" y="106070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106070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113385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Forms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0" y="144475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formularios. Bloques basados en tablas Oracle. Triggers PL/SQL.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4672" y="224942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224942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24942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23225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Reports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63347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Tipos: tabular, maestro-detalle, matricial. Secciones, fórmulas, múltiples formatos.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19472" y="224942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19472" y="224942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224942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0" y="232257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APEX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263347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web sobre Oracle. Workspace, App Builder, páginas, regiones, items, procesos.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4672" y="343814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343814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43814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71600" y="351129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Dev Data Modeler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71600" y="382219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E-R visual. Forward/Reverse engineering. Genera DDL Oracle automáticamente.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19472" y="3438144"/>
            <a:ext cx="3931920" cy="1078992"/>
          </a:xfrm>
          <a:prstGeom prst="rect">
            <a:avLst/>
          </a:prstGeom>
          <a:solidFill>
            <a:srgbClr val="0A1E35">
              <a:alpha val="72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9472" y="3438144"/>
            <a:ext cx="475488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438144"/>
            <a:ext cx="47548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111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0" y="3511296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Generadores (menús/consultas/apps)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0" y="3822192"/>
            <a:ext cx="32735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F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Builder, Query Builder, App Builder. Automatización del ciclo de desarrollo.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04672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 13: Clase Práctica II Oracle – Sistema Académico completo con DDL, PL/SQL, APEX y Data Modeler.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12 – Herramientas de Desarrollo de Cuarta Generación</dc:title>
  <dc:subject>PptxGenJS Presentation</dc:subject>
  <dc:creator>PptxGenJS</dc:creator>
  <cp:lastModifiedBy>PptxGenJS</cp:lastModifiedBy>
  <cp:revision>1</cp:revision>
  <dcterms:created xsi:type="dcterms:W3CDTF">2026-04-19T20:33:26Z</dcterms:created>
  <dcterms:modified xsi:type="dcterms:W3CDTF">2026-04-19T20:33:26Z</dcterms:modified>
</cp:coreProperties>
</file>