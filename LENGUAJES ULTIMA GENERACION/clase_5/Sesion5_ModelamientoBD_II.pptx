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0"/>
            <a:ext cx="29260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43584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 de Datos II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5029200" cy="457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54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Tablas  ·  </a:t>
            </a:r>
            <a:pPr indent="0" marL="0">
              <a:buNone/>
            </a:pPr>
            <a:r>
              <a:rPr lang="en-US" sz="1500" dirty="0">
                <a:solidFill>
                  <a:srgbClr val="D0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Claves y Llaves  ·  </a:t>
            </a:r>
            <a:pPr indent="0" marL="0">
              <a:buNone/>
            </a:pPr>
            <a:r>
              <a:rPr lang="en-US" sz="15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Relaciones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|  4.° Semestre  |  2025  |  2 Horas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096512"/>
            <a:ext cx="795528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3308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15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los tipos de diseño y elementos que conforman las bases de datos.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182880"/>
            <a:ext cx="1828800" cy="1828800"/>
          </a:xfrm>
          <a:prstGeom prst="ellipse">
            <a:avLst/>
          </a:prstGeom>
          <a:solidFill>
            <a:srgbClr val="2D3A8C">
              <a:alpha val="22000"/>
            </a:srgbClr>
          </a:solidFill>
          <a:ln w="12700">
            <a:solidFill>
              <a:srgbClr val="2D3A8C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474720"/>
            <a:ext cx="914400" cy="914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658368" cy="1234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89611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Sesión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29844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conceptual, entidades y relaciones 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658368" cy="12344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22960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155448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58968" y="89611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Modelo Conceptual al Lógico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129844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transforman las entidades en tablas.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12848"/>
            <a:ext cx="658368" cy="123444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12848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24128" y="22860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Tablas en MySQL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2688336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Principales, intermedias, catálogos y de auditoría.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12848"/>
            <a:ext cx="658368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212848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709160" y="2944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58968" y="22860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Claves y Llaves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58968" y="2688336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UK, CK: definición y diferencias.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02736"/>
            <a:ext cx="658368" cy="1234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02736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74320" y="4334256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4128" y="367588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Relaciones en el Modelo Lógico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128" y="407822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N:M y su implementación en SQL.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602736"/>
            <a:ext cx="658368" cy="123444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602736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709160" y="4334256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58968" y="367588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Práctico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58968" y="407822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modelo lógico del sistema de clínica en MySQL Workbench.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– Sesión 5: Modelo Conceptual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¿Recuerdas? El modelo conceptual describe el dominio del negocio sin detalles técnicos ni tipos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5727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15727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01952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del mundo real (CLIENTE, PRODUCTO). Se dibujan como rectángulos en el diagrama 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481328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5727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67528" y="15727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67528" y="1901952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cada entidad: simples, compuestos, derivados, multivaluados, clave (PK).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26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2688" y="29260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255264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Vínculos entre entidades con nombre (verbo), cardinalidad (1:1, 1:N, N:M) y participación.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926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67528" y="29260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Primaria (PK)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67528" y="3255264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que identifica de forma única cada instancia de una entidad. Subrayado en 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62272"/>
            <a:ext cx="8412480" cy="329184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Hoy convertiremos ese modelo conceptual en un modelo lógico: tablas reales con claves y relaciones implementadas.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Modelo Conceptual al Modelo Lógico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3840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384048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CONCEPTUAL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31673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Candidata a tabla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Columna de la tabla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15798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(PK)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PRIMARY 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57860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1:N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FK en la tabla 'muchos'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99923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N:M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Tabla intermedia (pivot)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41985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1:1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FK en cualquiera de las 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8404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débil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FK + PK parcial compuesta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79776"/>
            <a:ext cx="914400" cy="0"/>
          </a:xfrm>
          <a:prstGeom prst="line">
            <a:avLst/>
          </a:prstGeom>
          <a:noFill/>
          <a:ln w="38100">
            <a:solidFill>
              <a:srgbClr val="2D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25146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A8C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96512" y="299923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777240"/>
            <a:ext cx="3840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777240"/>
            <a:ext cx="3840480" cy="43891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LÓGICO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38928" y="1316736"/>
            <a:ext cx="3611880" cy="384048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3167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TABLA: CLIENTE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38928" y="1755648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17922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38928" y="2139696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21762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38928" y="2523744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25603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38928" y="2907792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9443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VARCHAR(120)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38928" y="3291840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332841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38928" y="3675888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712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Tablas en una Base de Datos Relacional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todas las tablas tienen el mismo propósito. Conocer su clasificación ayuda a diseñar una BD más clara, escalable y mantenible.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4206240" cy="402336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8132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01 · Tabla Principal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(Entidad)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193852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los objetos centrales del negocio. Corresponde directamente a una entidad del modelo 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59689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CLIENTE, PRODUCTO, EMPLEADO, ORDEN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481328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481328"/>
            <a:ext cx="4206240" cy="402336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48132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02 · Tabla Intermedia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(Pivot / Bridge)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relaciones N:M entre dos entidades. Contiene las FK de ambas tablas y puede tener atributos propios.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2596896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ORDEN_PRODUCTO, ESTUDIANTE_MATERIA, EXAMEN_TRATAMIENTO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45536"/>
            <a:ext cx="4206240" cy="40233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4553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03 · Tabla Catálogo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(Lookup)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60273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valores predefinidos y de referencia que otras tablas usan como FK para garantizar consistencia.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26110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CIUDAD, CATEGORIA, TIPO_DOCUMENTO, ESTADO_ORDEN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145536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45536"/>
            <a:ext cx="4206240" cy="402336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14553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🕵️  04 · Tabla de Auditoría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(Log / Histórico)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360273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cambios sobre otras tablas: quién hizo qué y cuándo. Esencial para trazabilidad y cumplimiento.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426110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LOG_CAMBIOS, HISTORIAL_PRECIOS, AUDITORIA_ACCESOS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Principal – Estructura y Características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tabla principal nace directamente de una entidad fuerte del modelo ER. Es el núcleo del esquema relacional.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502920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44752"/>
            <a:ext cx="5029200" cy="402336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447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5029200" cy="347472"/>
          </a:xfrm>
          <a:prstGeom prst="rect">
            <a:avLst/>
          </a:prstGeom>
          <a:solidFill>
            <a:srgbClr val="F8F9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2938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PK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id_producto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VARCHAR(100)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5029200" cy="347472"/>
          </a:xfrm>
          <a:prstGeom prst="rect">
            <a:avLst/>
          </a:prstGeom>
          <a:solidFill>
            <a:srgbClr val="F8F9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9748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81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DECIMAL(12,2)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5029200" cy="347472"/>
          </a:xfrm>
          <a:prstGeom prst="rect">
            <a:avLst/>
          </a:prstGeom>
          <a:solidFill>
            <a:srgbClr val="F8F9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6557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84962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fecha_ingreso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5029200" cy="347472"/>
          </a:xfrm>
          <a:prstGeom prst="rect">
            <a:avLst/>
          </a:prstGeom>
          <a:solidFill>
            <a:srgbClr val="F8F9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3367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FK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id_categoria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1444752"/>
            <a:ext cx="32186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1444752"/>
            <a:ext cx="64008" cy="7772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149961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primaria obligatoria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79008" y="177393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principal debe tener un campo PK, preferiblemente de tipo INT AUTO_INCREMENT.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2340864"/>
            <a:ext cx="32186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23560" y="2340864"/>
            <a:ext cx="64008" cy="7772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239572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Columnas NOT NULL críticas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79008" y="26700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que siempre tendrán valor se marcan NN. Evita NULLs innecesarios.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23560" y="3236976"/>
            <a:ext cx="32186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23560" y="3236976"/>
            <a:ext cx="64008" cy="7772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32918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 a catálogos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79008" y="35661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de clasificación (categoría, ciudad, estado) apuntan a tablas catálogo via FK.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23560" y="4133088"/>
            <a:ext cx="32186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23560" y="4133088"/>
            <a:ext cx="64008" cy="77724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418795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Índices adicionales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79008" y="446227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que se buscan frecuentemente (nombre, email) deben tener índice para rendimiento.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Intermedia (Pivot / Bridge) – Relaciones N:M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 relación N:M del modelo conceptual se implementa creando una tabla intermedia en el modelo lógico.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48132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ORDEN_PRODUCTO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(pivot)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8132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1874520"/>
            <a:ext cx="365760" cy="0"/>
          </a:xfrm>
          <a:prstGeom prst="line">
            <a:avLst/>
          </a:prstGeom>
          <a:noFill/>
          <a:ln w="25400">
            <a:solidFill>
              <a:srgbClr val="5C3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874520"/>
            <a:ext cx="365760" cy="0"/>
          </a:xfrm>
          <a:prstGeom prst="line">
            <a:avLst/>
          </a:prstGeom>
          <a:noFill/>
          <a:ln w="25400">
            <a:solidFill>
              <a:srgbClr val="5C3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5A0"/>
                </a:solidFill>
              </a:rPr>
              <a:t>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71616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5A0"/>
                </a:solidFill>
              </a:rPr>
              <a:t>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377440"/>
            <a:ext cx="25603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377440"/>
            <a:ext cx="2560320" cy="38404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ORDEN_PRODUCTO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2816352"/>
            <a:ext cx="2560320" cy="347472"/>
          </a:xfrm>
          <a:prstGeom prst="rect">
            <a:avLst/>
          </a:prstGeom>
          <a:solidFill>
            <a:srgbClr val="F5F0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843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→  ORDEN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22783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id_producto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→  PRODUCTO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0" y="3584448"/>
            <a:ext cx="2560320" cy="347472"/>
          </a:xfrm>
          <a:prstGeom prst="rect">
            <a:avLst/>
          </a:prstGeom>
          <a:solidFill>
            <a:srgbClr val="F5F0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6118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NOT NULL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3968496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9959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precio_unit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DECIMAL(12,2)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4352544"/>
            <a:ext cx="2560320" cy="347472"/>
          </a:xfrm>
          <a:prstGeom prst="rect">
            <a:avLst/>
          </a:prstGeom>
          <a:solidFill>
            <a:srgbClr val="F5F0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43799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descuento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DECIMAL(5,2)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2395728"/>
            <a:ext cx="2779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395728"/>
            <a:ext cx="64008" cy="71323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45059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 compuesta obligatoria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" y="27249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pivot usa como PK la combinación de las FK de ambas entidades, garantizando unicidad de la relación.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200400"/>
            <a:ext cx="2779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200400"/>
            <a:ext cx="64008" cy="71323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2552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propios permitidos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" y="35295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relación N:M tiene propiedades (cantidad, fecha, precio), se agregan como columnas adicionales.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005072"/>
            <a:ext cx="2779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005072"/>
            <a:ext cx="64008" cy="71323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059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 descriptivo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" y="43342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en formato ENTIDAD_A + ENTIDAD_B o un verbo: ORDEN_PRODUCTO, INSCRIPCION, EXAMEN_TRATAMIENTO.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2395728"/>
            <a:ext cx="2788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2395728"/>
            <a:ext cx="64008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53912" y="24505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en la tabla pivot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53912" y="27249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cantidad, precio_unit y descuento son propios de la relación, no de ORDEN ni de PRODUCTO.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Catálogo y Tabla de Auditoría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955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Tabla Catálogo (Lookup Table)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07008"/>
            <a:ext cx="3291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07008"/>
            <a:ext cx="32918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609344"/>
            <a:ext cx="32918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3677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id_categoria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93392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2082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32918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048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3320" y="1298448"/>
            <a:ext cx="420624" cy="42062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12801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integridad referencial (no se puede crear un PRODUCTO sin CATEGORÍA válida).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2103120"/>
            <a:ext cx="420624" cy="42062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208483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los valores válidos: para cambiar un nombre solo se edita una fila.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2907792"/>
            <a:ext cx="420624" cy="42062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288950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reportes agrupados: ventas por categoría, clientes por ciudad, etc.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27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🕵️  Tabla de Auditoría (Log / Histórico)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32918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29584"/>
            <a:ext cx="3291840" cy="34747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295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LOG_CAMBIOS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329184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95935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id_log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30682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tabla_afectada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626864"/>
            <a:ext cx="329184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65429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ENUM(INSERT,UPDATE,DELETE)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974336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5001768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5321808"/>
            <a:ext cx="329184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534924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fecha_hora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03320" y="3621024"/>
            <a:ext cx="420624" cy="420624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206240" y="36027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saber quién modificó un registro y cuándo. Clave para cumplimiento normativo.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03320" y="4123944"/>
            <a:ext cx="420624" cy="420624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06240" y="4105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implementa típicamente con triggers de MySQL o en la capa de aplicación.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03320" y="4626864"/>
            <a:ext cx="420624" cy="420624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4626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206240" y="4608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elimina: es un historial inmutable que garantiza trazabilidad completa.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Claves y Llaves – Definición General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"llave" o "clave" en bases de datos es un atributo (o conjunto de atributos) que cumple una función especial en la identificación, integridad o relación entre tablas.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731520" cy="15087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81328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Key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(Clave Primaria)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de forma única cada fila de la tabla. No puede ser NULL ni repetirse. Toda tabla DEBE tener una.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2596896"/>
            <a:ext cx="3291840" cy="329184"/>
          </a:xfrm>
          <a:prstGeom prst="rect">
            <a:avLst/>
          </a:prstGeom>
          <a:solidFill>
            <a:srgbClr val="D62828">
              <a:alpha val="12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615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INT PRIMARY KEY AUTO_INCREMENT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481328"/>
            <a:ext cx="731520" cy="1508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81328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(Clave Foránea)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011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que referencia la PK de otra tabla, estableciendo la relación entre ellas. Garantiza integridad referencial.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2596896"/>
            <a:ext cx="3291840" cy="329184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6984" y="2615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 INT, FOREIGN KEY (id_ciudad) REFERENCES CIUDAD(id_ciudad)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12724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27248"/>
            <a:ext cx="731520" cy="150876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27248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200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Key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(Clave Única)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no haya valores duplicados en esa columna, pero a diferencia de la PK, puede aceptar un NULL.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7280" y="4242816"/>
            <a:ext cx="3291840" cy="329184"/>
          </a:xfrm>
          <a:prstGeom prst="rect">
            <a:avLst/>
          </a:prstGeom>
          <a:solidFill>
            <a:srgbClr val="5C35A0">
              <a:alpha val="12000"/>
            </a:srgbClr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42611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VARCHAR(120) UNIQUE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312724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127248"/>
            <a:ext cx="731520" cy="150876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27248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3200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Key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0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(Clave Compuesta)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3657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formada por dos o más columnas. Típica en tablas pivot (N:M) o cuando ningún campo individual es único.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32120" y="4242816"/>
            <a:ext cx="3291840" cy="329184"/>
          </a:xfrm>
          <a:prstGeom prst="rect">
            <a:avLst/>
          </a:prstGeom>
          <a:solidFill>
            <a:srgbClr val="607080">
              <a:alpha val="12000"/>
            </a:srgbClr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6984" y="42611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(id_orden, id_producto)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Primaria (PK) – Reglas y Estrategias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La PK es la columna más importante de cualquier tabla. Elegirla correctamente impacta en rendimiento, escalabilidad y claridad del esquema.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absolutas de una PK: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384048" cy="38404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contener valores NULL.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384048" cy="38404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ÚNICA en toda la tabla (no se repite).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384048" cy="38404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ESTABLE (no cambiar en el tiempo).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384048" cy="38404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364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simple (1 columna) o compuesta (2+ columnas).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Estrategias de elección: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1810512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6360" y="1810512"/>
            <a:ext cx="64008" cy="8686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186537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Surrogate Key (preferida)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39696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artificial INT AUTO_INCREMENT o UUID. No tiene significado de negocio. Es la más segura y escalable.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21808" y="2505456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INT AUTO_INCREMENT PRIMARY KEY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66360" y="2798064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66360" y="2798064"/>
            <a:ext cx="64008" cy="86868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285292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Key (con cuidado)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312724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dato del negocio como clave: NIT, cédula, código. Riesgosa si el dato puede cambiar.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21808" y="3493008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nit VARCHAR(15) PRIMARY KEY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3785616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66360" y="3785616"/>
            <a:ext cx="64008" cy="86868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384048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Key (tablas pivot)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411480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más FK combinadas. Garantiza que la misma combinación no se repita.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21808" y="4480560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(id_orden, id_producto)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Foránea (FK) – Integridad Referencial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La FK establece y enforza la relación entre dos tablas. Garantiza que los datos referenciados existan realmente.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44752"/>
            <a:ext cx="3291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865376"/>
            <a:ext cx="32918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928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3291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7685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32918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609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2240280"/>
            <a:ext cx="1417320" cy="0"/>
          </a:xfrm>
          <a:prstGeom prst="line">
            <a:avLst/>
          </a:prstGeom>
          <a:noFill/>
          <a:ln w="31750">
            <a:solidFill>
              <a:srgbClr val="0077B6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3840480" y="2029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 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1444752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444752"/>
            <a:ext cx="374904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1865376"/>
            <a:ext cx="37490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189280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2249424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227685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4920" y="2633472"/>
            <a:ext cx="37490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266090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→  CIUDAD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3017520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304495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VARCHAR(120)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de integridad referencial: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20482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023360"/>
            <a:ext cx="2048256" cy="2743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023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" y="43159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elimina/actualiza la fila padre, las filas hijas se eliminan/actualizan automáticamente.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50592" y="4023360"/>
            <a:ext cx="20482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50592" y="4023360"/>
            <a:ext cx="2048256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4023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23744" y="43159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eliminar/actualizar la fila padre si tiene filas hijas referenciando. (Más seguro)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26864" y="4023360"/>
            <a:ext cx="20482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26864" y="4023360"/>
            <a:ext cx="2048256" cy="27432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4023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NULL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00016" y="43159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la FK de las filas hijas en NULL cuando se elimina el padre. Requiere columna nullable.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03136" y="4023360"/>
            <a:ext cx="20482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03136" y="4023360"/>
            <a:ext cx="2048256" cy="27432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4023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76288" y="43159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RESTRICT. Verifica al final de la transacción en vez de inmediatamente.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Key y Composite Key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955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💜  UNIQUE KEY (UK) – Unicidad sin ser PK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261872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no haya dos filas con el mismo valor en esa columna (o combinación de columnas).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8595360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288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la diferencia de la PK?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828800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aceptar un valor NULL (solo uno). Una tabla puede tener varias UK, pero solo una PK.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95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usarla?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395728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campos que deben ser únicos pero no son el identificador principal: email, NIT, código de empleado.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626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en MySQL: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962656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USUARIO ADD UNIQUE (email);   o   email VARCHAR(120) UNIQUE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8595360" cy="36576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0273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COMPOSITE KEY (CK) – Clave Compuesta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00507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032504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 UK formada por dos o más columnas. Ninguna columna por sí sola identifica la fila, pero la combinación sí.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425696"/>
            <a:ext cx="85953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53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típico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40280" y="4453128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pivot N:M: PRIMARY KEY (id_estudiante, id_materia) evita que el mismo estudiante quede inscrito dos veces en la misma materia.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846320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73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en MySQL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487375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INSCRIPCION (id_estudiante INT, id_materia INT, fecha DATE,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(id_estudiante, id_materia));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 de Relaciones – 1:1 (Uno a Uno)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instancia de la tabla A se relaciona con exactamente una instancia de la tabla B, y viceversa.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63040"/>
            <a:ext cx="3840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EMPLEADO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id_empleado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ACCESO_SISTEMA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88366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id_empleado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→ EMPLEADO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224942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VARCHAR(40)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0" y="261518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0" y="298094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ultimo_acceso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06240" y="2249424"/>
            <a:ext cx="822960" cy="0"/>
          </a:xfrm>
          <a:prstGeom prst="line">
            <a:avLst/>
          </a:prstGeom>
          <a:noFill/>
          <a:ln w="3175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24528" y="20299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</a:rPr>
              <a:t>1:1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24528" y="230428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547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de implementación 1:1: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877056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04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¿Dónde va la FK?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06040" y="39044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tabla 'secundaria' o 'dependiente'. En el ejemplo, ACCESO_SISTEMA depende de EMPLEADO.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61104"/>
            <a:ext cx="85953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88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usarla?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06040" y="428853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quiere separar datos opcionales o sensibles de la entidad principal (ej: credenciales de acceso).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72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no fusionar?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06040" y="467258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100% de los EMPLEADOS tuviera acceso al sistema, podría ir en una sola tabla. Pero si es opcional, conviene separar.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 de Relaciones – 1:N (Uno a Muchos)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más común. Una fila de la tabla A puede relacionarse con MUCHAS filas de B, pero cada fila de B pertenece a UNA sola de 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63040"/>
            <a:ext cx="3840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DEPARTAMENTO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id_depto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VARCHAR(60)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EMPLEADO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88366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id_empleado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224942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0" y="2615184"/>
            <a:ext cx="3840480" cy="329184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id_depto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→ DEPARTAMENTO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0" y="298094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DECIMAL(12,2)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06240" y="2249424"/>
            <a:ext cx="822960" cy="0"/>
          </a:xfrm>
          <a:prstGeom prst="line">
            <a:avLst/>
          </a:prstGeom>
          <a:noFill/>
          <a:ln w="31750">
            <a:solidFill>
              <a:srgbClr val="2D3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A8C"/>
                </a:solidFill>
              </a:rPr>
              <a:t>1 : 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51376" y="230428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en N →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3584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de implementación 1:N: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principal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31720" y="3931920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FK SIEMPRE va en la tabla del lado 'muchos' (N). En el ejemplo, EMPLEADO tiene id_depto como FK.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42816"/>
            <a:ext cx="85953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Integridad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31720" y="4261104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RESTRICT (recomendado): no permite eliminar un DEPARTAMENTO si tiene empleados asociados.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590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Indexar la FK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31720" y="459028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crea índice automático en la FK, pero verifica. Las FK sin índice degradan el rendimiento en JOINs.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901184"/>
            <a:ext cx="85953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919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de JOIN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331720" y="4919472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d.nombre FROM EMPLEADO e JOIN DEPARTAMENTO d ON e.id_depto = d.id_depto;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 de Relaciones – N:M (Muchos a Muchos)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relación N:M NUNCA se implementa directamente. Se crea una tabla intermedia (pivot) que convierte el N:M en dos relaciones 1:N.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2834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28346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ESTUDIANTE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283464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0195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231136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4942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283464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9689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semestre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463040"/>
            <a:ext cx="2971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463040"/>
            <a:ext cx="2971800" cy="36576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463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INSCRIPCION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(pivot)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1883664"/>
            <a:ext cx="297180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90195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</a:t>
            </a:r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→ ESTUDIANTE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46120" y="2231136"/>
            <a:ext cx="2971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24942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</a:t>
            </a:r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id_materia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→ MATERIA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46120" y="2578608"/>
            <a:ext cx="297180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59689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fecha_inscripcion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971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944368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nota_final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DECIMAL(4,2)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463040"/>
            <a:ext cx="2834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463040"/>
            <a:ext cx="2834640" cy="36576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1883664"/>
            <a:ext cx="283464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190195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id_materia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2231136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224942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VARCHAR(80)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63640" y="2578608"/>
            <a:ext cx="283464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259689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creditos</a:t>
            </a:r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108960" y="2011680"/>
            <a:ext cx="137160" cy="0"/>
          </a:xfrm>
          <a:prstGeom prst="line">
            <a:avLst/>
          </a:prstGeom>
          <a:noFill/>
          <a:ln w="31750">
            <a:solidFill>
              <a:srgbClr val="5C35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011680"/>
            <a:ext cx="137160" cy="0"/>
          </a:xfrm>
          <a:prstGeom prst="line">
            <a:avLst/>
          </a:prstGeom>
          <a:noFill/>
          <a:ln w="31750">
            <a:solidFill>
              <a:srgbClr val="5C3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1737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16752" y="1737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Pasos para implementar un N:M: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4114800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330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Crear las dos tablas principales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154680" y="41330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y MATERIA con sus PKs y atributos propios.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416552"/>
            <a:ext cx="859536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34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Crear la tabla pivot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54680" y="44348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 con dos columnas FK, una por cada tabla principal.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718304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736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Definir PK compuesta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54680" y="4736592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(id_estudiante, id_materia) — evita duplicados en la relación.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5020056"/>
            <a:ext cx="859536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50383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Agregar atributos propios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154680" y="503834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fecha_inscripcion, nota_final son propios de la relación, no de ninguna entidad.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Integrador – Modelo Lógico de Tienda en Línea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lógico que combina: tablas principales, catálogo, pivot y las tres cardinalidades vistas.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17320"/>
            <a:ext cx="26517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17320"/>
            <a:ext cx="2651760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4173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7465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7739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id_categoria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0574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084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788920"/>
            <a:ext cx="265176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88920"/>
            <a:ext cx="26517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2788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1181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1455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id_producto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290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4564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id_categoria→CATEGORIA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9896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7673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4050792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40782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361688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4389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4173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417320"/>
            <a:ext cx="2651760" cy="329184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14173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17465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17739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20574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2084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id_ciudad→CIUDAD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2368296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2395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2679192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2706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46120" y="301752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017520"/>
            <a:ext cx="2651760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00984" y="30175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46120" y="33467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3741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6576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6850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46120" y="3968496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9959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dpto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1417320"/>
            <a:ext cx="265176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1417320"/>
            <a:ext cx="2651760" cy="329184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14173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17920" y="17465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17739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20574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2084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id_cliente→CLIENTE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2368296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2395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2679192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2706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17920" y="2990088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3017520"/>
            <a:ext cx="265176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217920" y="3017520"/>
            <a:ext cx="2651760" cy="329184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72784" y="30175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ORD_PROD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(pivot)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17920" y="3346704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33741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id_ord+id_prod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17920" y="3657600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91072" y="36850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→ORDEN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17920" y="3968496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91072" y="39959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→PRODUCTO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217920" y="4279392"/>
            <a:ext cx="2651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1072" y="43068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17920" y="4590288"/>
            <a:ext cx="265176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91072" y="46177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precio_unit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solidFill>
            <a:srgbClr val="F0F4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83717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1:N PRODUCTO  |  </a:t>
            </a:r>
            <a:pPr indent="0" marL="0">
              <a:buNone/>
            </a:pPr>
            <a:r>
              <a:rPr lang="en-US" sz="95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1:N ORDEN  |  </a:t>
            </a:r>
            <a:pPr indent="0" marL="0">
              <a:buNone/>
            </a:pPr>
            <a:r>
              <a:rPr lang="en-US" sz="95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N:M PRODUCTO (→ORD_PROD)  |  </a:t>
            </a:r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N:1 CIUDAD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 –  Sesión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Modelamiento de BD II  |  Ingeniería de Sistemas – 4.° Semestre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22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Caso: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Continuación – Sistema de Clínica Médica (Modelo Lógico)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8412480" cy="896112"/>
          </a:xfrm>
          <a:prstGeom prst="rect">
            <a:avLst/>
          </a:prstGeom>
          <a:solidFill>
            <a:srgbClr val="1A2C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Tomando el modelo conceptual de la Sesión 5 (Clínica Médica con PACIENTE, MÉDICO, CITA, ESPECIALIDAD y MEDICAMENTO), deberás construir ahora el Modelo Lógico completo con todas las tablas, columnas, tipos de datos, claves (PK, FK, UK) y relaciones en MySQL Workbench.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(30 minutos — parejas):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8412480" cy="292608"/>
          </a:xfrm>
          <a:prstGeom prst="rect">
            <a:avLst/>
          </a:prstGeom>
          <a:solidFill>
            <a:srgbClr val="1A2C42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95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del ER en una tabla con sus columnas, tipos de datos y restricciones (PK, NOT NULL).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84124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18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relación (1:1, 1:N o N:M) entre cada par de tablas y definir dónde va la FK.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8412480" cy="292608"/>
          </a:xfrm>
          <a:prstGeom prst="rect">
            <a:avLst/>
          </a:prstGeom>
          <a:solidFill>
            <a:srgbClr val="1A2C42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la(s) tabla(s) pivot necesarias para resolver las relaciones N:M encontradas.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770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tabla catálogo (ej: ESPECIALIDAD, TIPO_DOCUMENTO, ESTADO_CITA).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8412480" cy="292608"/>
          </a:xfrm>
          <a:prstGeom prst="rect">
            <a:avLst/>
          </a:prstGeom>
          <a:solidFill>
            <a:srgbClr val="1A2C42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06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EER en MySQL Workbench con todas las tablas, columnas y relaciones con notación crow's foot.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354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</a:t>
            </a:r>
            <a:pPr indent="0" marL="0">
              <a:buNone/>
            </a:pPr>
            <a:r>
              <a:rPr lang="en-US" sz="11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modelo permita responder: ¿qué citas tuvo un paciente?, ¿qué médicos recetaron un medicamento?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Captura del diagrama EER de Workbench + script SQL generado con Forward Engineer.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5120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aprendiste en esta sesión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005840"/>
            <a:ext cx="3200400" cy="457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7043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Tablas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Principal, Intermedia (pivot), Catálogo y Auditoría: cada una con su rol.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Conceptual al Lógico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→ Tabla, Atributo → Columna, Relación → FK o tabla pivot.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35915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cada fila de forma única. Surrogate Key (INT AI) es la opción más segura.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35915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la relación entre tablas. Siempre en la tabla del lado 'muchos'.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54787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y 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 sin ser PK (UK) y claves compuestas (CK) en tablas pivot.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547872"/>
            <a:ext cx="4023360" cy="1078992"/>
          </a:xfrm>
          <a:prstGeom prst="rect">
            <a:avLst/>
          </a:prstGeom>
          <a:solidFill>
            <a:srgbClr val="1B2A4A">
              <a:alpha val="75000"/>
            </a:srgbClr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Cardinalidades SQL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→ FK en secundaria | 1:N → FK en N | N:M → Tabla pivot con PK compuesta.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Normalización – 1FN, 2FN, 3FN y reducción de redundancia.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6 – Modelamiento de Bases de Datos II</dc:title>
  <dc:subject>PptxGenJS Presentation</dc:subject>
  <dc:creator>PptxGenJS</dc:creator>
  <cp:lastModifiedBy>PptxGenJS</cp:lastModifiedBy>
  <cp:revision>1</cp:revision>
  <dcterms:created xsi:type="dcterms:W3CDTF">2026-04-10T23:03:32Z</dcterms:created>
  <dcterms:modified xsi:type="dcterms:W3CDTF">2026-04-10T23:03:32Z</dcterms:modified>
</cp:coreProperties>
</file>