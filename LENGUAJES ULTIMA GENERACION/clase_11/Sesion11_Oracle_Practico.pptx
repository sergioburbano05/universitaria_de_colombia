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" cy="51435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0"/>
            <a:ext cx="146304" cy="5143500"/>
          </a:xfrm>
          <a:prstGeom prst="rect">
            <a:avLst/>
          </a:prstGeom>
          <a:solidFill>
            <a:srgbClr val="E8902A"/>
          </a:solidFill>
          <a:ln w="12700">
            <a:solidFill>
              <a:srgbClr val="E890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548640"/>
            <a:ext cx="3474720" cy="3657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48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11  ·  ORACLE DATABASE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102412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Generales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Lenguaje Oracle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04672" y="25054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0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 · Arquitectura · PL/SQL · Packages · Triggers · Buenas Prácticas · Modelos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" y="2871216"/>
            <a:ext cx="4937760" cy="36576"/>
          </a:xfrm>
          <a:prstGeom prst="rect">
            <a:avLst/>
          </a:prstGeom>
          <a:solidFill>
            <a:srgbClr val="E8902A"/>
          </a:solidFill>
          <a:ln w="12700">
            <a:solidFill>
              <a:srgbClr val="E890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9809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32552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 |  Ingeniería de Sistemas – 4.° Semestre  |  Universitaria de Colombia  | 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" y="3566160"/>
            <a:ext cx="8229600" cy="786384"/>
          </a:xfrm>
          <a:prstGeom prst="rect">
            <a:avLst/>
          </a:prstGeom>
          <a:solidFill>
            <a:srgbClr val="0A1E35"/>
          </a:solidFill>
          <a:ln w="12700">
            <a:solidFill>
              <a:srgbClr val="E890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602736"/>
            <a:ext cx="7973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y aplicar las características generales de Oracle Database: arquitectura, tipos de datos, DDL/DML, PL/SQL (bloques, procedures, functions, packages, triggers) y buenas prácticas para implementar aplicaciones prácticas sobre Oracle XE 21c.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32320" y="91440"/>
            <a:ext cx="2103120" cy="2103120"/>
          </a:xfrm>
          <a:prstGeom prst="ellipse">
            <a:avLst/>
          </a:prstGeom>
          <a:solidFill>
            <a:srgbClr val="C74634">
              <a:alpha val="15000"/>
            </a:srgbClr>
          </a:solidFill>
          <a:ln w="12700">
            <a:solidFill>
              <a:srgbClr val="C74634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– Sesión 11: Oracle Database Completo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49808"/>
            <a:ext cx="621792" cy="126187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749808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" y="1591056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69264" y="82296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 y Arquitectura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1207008"/>
            <a:ext cx="3401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Oracle DB, historia, XE 21c, instancia, SGA/PGA, tablespaces.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749808"/>
            <a:ext cx="621792" cy="12618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749808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0872" y="1591056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04104" y="82296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Oracle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04104" y="1207008"/>
            <a:ext cx="3401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SQL*Plus, SQL Developer, Oracle APEX, comparativa con MariaDB.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13969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139696"/>
            <a:ext cx="621792" cy="12618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139696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6032" y="298094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69264" y="221284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 Oracle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" y="2596896"/>
            <a:ext cx="3401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datos, CREATE TABLE, SEQUENCE+TRIGGER, IDENTITY (12c+).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213969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90872" y="2139696"/>
            <a:ext cx="621792" cy="12618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2139696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90872" y="298094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04104" y="221284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DML Oracle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04104" y="2596896"/>
            <a:ext cx="3401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INSERT/COMMIT, UPDATE, DELETE, SELECT con funciones Oracle.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529584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529584"/>
            <a:ext cx="621792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3529584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6032" y="437083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69264" y="360273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 Fundamentos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9264" y="3986784"/>
            <a:ext cx="3401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Bloques, variables, IF/CASE/LOOP, cursores explícitos e implícitos.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90872" y="3529584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90872" y="3529584"/>
            <a:ext cx="621792" cy="12618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3529584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90872" y="437083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04104" y="360273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Objetos PL/SQL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04104" y="3986784"/>
            <a:ext cx="3401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PROCEDURE, FUNCTION, PACKAGE (spec+body), TRIGGER polimórfico.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Oracle Database? – Definición y Contexto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53035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Database es el Sistema Gestor de Bases de Datos Relacionales (SGBDR) más utilizado en aplicaciones empresariales a nivel mundial, desarrollado por Oracle Corporation desde 1979.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7824" y="146304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SGBDR Empresarial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7824" y="175564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manejar miles de transacciones simultáneas en entornos críticos: bancos, hospitales, gobiernos, telecomunicaciones.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1389888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82312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12664" y="1463040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 Avanzada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12664" y="175564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TDE (Transparent Data Encryption), auditoría fina (Fine-Grained Audit), Virtual Private Database (VPD).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523744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7824" y="259689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Alto Rendimiento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" y="2889504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RAC (Real Application Clusters) para alta disponibilidad. Particionamiento avanzado. In-Memory Column Store.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2523744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82312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12664" y="259689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+ PL/SQL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12664" y="2889504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Extiende el SQL estándar ANSI con PL/SQL: lenguaje procedural nativo para lógica de negocio en la base de datos.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6576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77824" y="373075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Multiplataforma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7824" y="4023360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Windows, AIX, HP-UX, Solaris. Oracle Cloud Infrastructure (OCI). Disponible como Oracle Autonomous DB en cloud.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90872" y="365760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82312" y="37673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🆓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12664" y="373075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XE 21c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12664" y="4023360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Express Edition: versión gratuita para desarrollo y educación. Limitada: 20 GB datos, 2 GB RAM, 2 CPUs. Ideal para aprendizaje.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E8902A"/>
          </a:solidFill>
          <a:ln w="12700">
            <a:solidFill>
              <a:srgbClr val="E89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 y Versiones Oracle – Línea de Tiempo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68096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68096"/>
            <a:ext cx="1005840" cy="38404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7680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1977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89888" y="822960"/>
            <a:ext cx="7333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Ellison, Bob Miner y Ed Oates fundan SDL (Software Development Laboratories).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207008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207008"/>
            <a:ext cx="100584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2070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1979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89888" y="1261872"/>
            <a:ext cx="7333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V2: primer SGBDR comercial que usa SQL. Avant-garde para la época.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645920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645920"/>
            <a:ext cx="10058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645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1983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89888" y="1700784"/>
            <a:ext cx="7333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V3: portado a C → multiplataforma. Primeras instalaciones bancarias.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08483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084832"/>
            <a:ext cx="100584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0848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89888" y="2139696"/>
            <a:ext cx="7333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7: PL/SQL, stored procedures, triggers, referential integrity. Era moderna.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52374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523744"/>
            <a:ext cx="10058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52374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1997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89888" y="2578608"/>
            <a:ext cx="7333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8i: 'i' = Internet. Soporte Java en BD, XML nativo. Java stored procedures.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2962656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62656"/>
            <a:ext cx="10058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9626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89888" y="3017520"/>
            <a:ext cx="7333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11g: SQL Analytics avanzado, Partitioning, RAC mejorado, EXADATA.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401568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401568"/>
            <a:ext cx="100584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40156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89888" y="3456432"/>
            <a:ext cx="7333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12c: 'c' = Cloud. Multitenant (CDB/PDB), columnas IDENTITY, JSON básico.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840480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840480"/>
            <a:ext cx="1005840" cy="384048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8404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389888" y="3895344"/>
            <a:ext cx="7333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19c: Long-Term Release. JSON_TABLE, Machine Learning in-DB, AutoML.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279392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902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4279392"/>
            <a:ext cx="1005840" cy="384048"/>
          </a:xfrm>
          <a:prstGeom prst="rect">
            <a:avLst/>
          </a:prstGeom>
          <a:solidFill>
            <a:srgbClr val="E8902A"/>
          </a:solidFill>
          <a:ln w="12700">
            <a:solidFill>
              <a:srgbClr val="E890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27939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89888" y="4334256"/>
            <a:ext cx="7333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21c / 21 XE: JSON-relational duality, Blockchain tables, In-Memory JSON.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Oracle – Instancia y Base de Datos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separa la INSTANCIA (procesos en memoria) de la BASE DE DATOS (archivos en disco). Una instancia puede montar y abrir una BD.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280160"/>
            <a:ext cx="416052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28016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INSTANCIA (Memoria + Procesos)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664208"/>
            <a:ext cx="41605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 – Shared Global Area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1865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compartida por todos los usuarios conectados.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139696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1579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Buffer Cache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23408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de datos cacheados para evitar I/O a disco.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615184"/>
            <a:ext cx="41605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633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Shared Pool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" y="2816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y PL/SQL compilados (Library Cache + Dictionary Cache).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90672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1089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Redo Log Buffer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" y="32918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pendientes de escribir al redo log para recuperación.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16052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5844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 – Program Global Area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" y="3767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privada por sesión: sort, hash join, bind variables.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0599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Processes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4048" y="4242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DBWR, LGWR, CKPT, SMON, PMON: gestión automática de Oracle.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128016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280160"/>
            <a:ext cx="4160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128016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 BASE DE DATOS (Archivos Disco)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1664208"/>
            <a:ext cx="41605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16824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Files (.dbf)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18888" y="18653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Tablespaces que almacenan las tablas, índices, segmentos.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2139696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21579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Files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18888" y="23408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de la BD: nombre, SCN, checkpoint. Críticos.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2615184"/>
            <a:ext cx="41605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2633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Log Files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18888" y="2816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todos los cambios. Esenciales para recuperación.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3090672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31089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Log Files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18888" y="32918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de redo logs (si ARCHIVELOG mode activo). Backup.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3566160"/>
            <a:ext cx="41605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18888" y="35844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SYSAUX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818888" y="3767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Tablespaces de sistema: diccionario Oracle, datos internos.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4041648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18888" y="40599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Tablespace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18888" y="4242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Tablespace por defecto para objetos de usuarios no DBA.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XE 21c – Instalación y Configuración Inicial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1042416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Oracle XE 21c y primer acceso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8375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Descargar Oracle XE 21c de: oracle.com/database/technologies/xe-downloads.html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Windows: ejecutar OracleXE213_Win64.exe (requiere ~10 GB libre)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Linux (RHEL/Oracle Linux): rpm -i oracle-xe-21c-1.0-1.0.x86_64.rpm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Primer acceso como DBA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sqlplus / as sysdba              -- Conectar al SO como SYSDBA (sin contraseña)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USER hr IDENTIFIED BY hr123 ACCOUNT UNLOCK;  -- Desbloquear usuario HR demo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String de conexión básica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sqlplus hr/hr123@localhost:1521/XE       -- Usuario/Clave@Host:Puerto/ServiceName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sqlplus system/oracle@localhost:1521/XE  -- Usuario system (administración)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65376"/>
            <a:ext cx="8595360" cy="1152144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192024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de estado y verificación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139696"/>
            <a:ext cx="8375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Verificar estado de la instancia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instance_name, status, version FROM v$instance;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open_mode FROM v$database;  -- Estado de la BD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 tablespaces disponibles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tablespace_name, status, ROUND(bytes/1048576,1) AS mb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dba_data_files ORDER BY tablespace_name;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 usuarios creados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username, account_status, created FROM dba_users ORDER BY created;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 objetos del usuario HR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object_type, object_name FROM user_objects WHERE status='VALID' ORDER BY 1,2;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8595360" cy="969264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316382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usuario del curso y otorgar permisos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383280"/>
            <a:ext cx="8375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Crear un usuario para el curso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USER estudiante IDENTIFIED BY est2025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TABLESPACE users TEMPORARY TABLESPACE temp QUOTA UNLIMITED ON users;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Otorgar privilegios necesarios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CONNECT, RESOURCE TO estudiante;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CREATE VIEW, CREATE PROCEDURE, CREATE TRIGGER, CREATE SEQUENCE TO estudiante;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Conectar con el nuevo usuario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estudiante/est2025@localhost:1521/XE;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Oracle – SQL*Plus, SQL Developer y APEX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68096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E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68096"/>
            <a:ext cx="4206240" cy="36576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7680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SQL*Plus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" y="1188720"/>
            <a:ext cx="4023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multiplataforma incluida con Oracle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scripts: @ruta/script.sql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Comandos: SET SERVEROUTPUT ON, SHOW ERRORS, DESC tabla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scripts de deploy y administración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90872" y="768096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768096"/>
            <a:ext cx="4206240" cy="3657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7680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🖥️  Oracle SQL Developer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82312" y="1188720"/>
            <a:ext cx="4023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gratuito de Oracle (descarga en oracle.com)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SQL con autocompletado y syntax highlight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Depurador de PL/SQL paso a paso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Modeler integrado para diagramas E-R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 Oracle, MySQL, PostgreSQL, SQL Server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8346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834640"/>
            <a:ext cx="4206240" cy="3657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834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Oracle APEX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" y="3255264"/>
            <a:ext cx="4023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Express: apps web sobre Oracle BD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formularios, reportes, gráficas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apex.oracle.com (cloud gratis)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Oracle XE 21c (puerto 8443)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a Oracle Forms moderno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90872" y="283464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2834640"/>
            <a:ext cx="42062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834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Oracle Data Modeler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82312" y="3255264"/>
            <a:ext cx="40233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visual de diagramas E-R y relacionales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engineering: diagrama → SQL DDL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engineering: BD Oracle → diagrama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en SQL Developer o standalone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vs MariaDB – Comparativa Técnica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20624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Ambos son SGBDR relacionales, pero con diferencias críticas de sintaxis, licencia y funcionalidades.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43584"/>
            <a:ext cx="1828800" cy="3108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61872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Aspecto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1243584"/>
            <a:ext cx="3383280" cy="310896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6272" y="1261872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Database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243584"/>
            <a:ext cx="320040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9552" y="126187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MariaDB/MySQL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591056"/>
            <a:ext cx="18288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60934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03120" y="1591056"/>
            <a:ext cx="338328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6272" y="1609344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Propietaria (XE gratis con límites)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1591056"/>
            <a:ext cx="32004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9552" y="1609344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(GPL)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847088"/>
            <a:ext cx="1828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86537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103120" y="1847088"/>
            <a:ext cx="33832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76272" y="1865376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+ TRIGGER (clásico) / IDENTITY 12c+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1847088"/>
            <a:ext cx="32004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59552" y="1865376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AUTO_INCREMENT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2103120"/>
            <a:ext cx="18288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12140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tipo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103120" y="2103120"/>
            <a:ext cx="338328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76272" y="212140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VARCHAR2(n), CHAR(n), CLOB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0" y="2103120"/>
            <a:ext cx="32004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59552" y="212140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VARCHAR(n), CHAR(n), TEXT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359152"/>
            <a:ext cx="1828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237744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Fecha/Hora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103120" y="2359152"/>
            <a:ext cx="33832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76272" y="237744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(incluye hora), TIMESTAMP, INTERVAL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0" y="2359152"/>
            <a:ext cx="32004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9552" y="2377440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DATETIME, TIMESTAMP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2615184"/>
            <a:ext cx="18288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263347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103120" y="2615184"/>
            <a:ext cx="338328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76272" y="263347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explícito obligatorio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0" y="2615184"/>
            <a:ext cx="32004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59552" y="2633472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explícito o autocommit=1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2871216"/>
            <a:ext cx="1828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288950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auto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103120" y="2871216"/>
            <a:ext cx="33832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76272" y="2889504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(default: manual COMMIT)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0" y="2871216"/>
            <a:ext cx="32004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59552" y="2889504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(autocommit=1 por defecto)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3127248"/>
            <a:ext cx="18288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314553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103120" y="3127248"/>
            <a:ext cx="338328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76272" y="3145536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propio (bloques, packages, exceptions)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86400" y="3127248"/>
            <a:ext cx="32004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59552" y="3145536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SQL/PSM básico (procedimientos)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3383280"/>
            <a:ext cx="1828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7472" y="34015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103120" y="3383280"/>
            <a:ext cx="33832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76272" y="3401568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(agrupan procedures/functions)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86400" y="3383280"/>
            <a:ext cx="32004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59552" y="340156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(solo procedures/functions sueltos)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4320" y="3639312"/>
            <a:ext cx="18288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7472" y="365760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103120" y="3639312"/>
            <a:ext cx="338328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76272" y="365760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SYSDATE FROM DUAL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486400" y="3639312"/>
            <a:ext cx="32004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59552" y="3657600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NOW() (sin FROM DUAL)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4320" y="3895344"/>
            <a:ext cx="1828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7472" y="391363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en cálculos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2103120" y="3895344"/>
            <a:ext cx="33832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176272" y="391363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opera con todo → NULL (usar NVL)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486400" y="3895344"/>
            <a:ext cx="32004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559552" y="3913632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opera con todo → NULL (usar IFNULL)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74320" y="4151376"/>
            <a:ext cx="18288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7472" y="4169664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paginación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103120" y="4151376"/>
            <a:ext cx="338328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76272" y="4169664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FIRST n ROWS ONLY (12c+) / ROWNUM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486400" y="4151376"/>
            <a:ext cx="320040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59552" y="4169664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n OFFSET m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74320" y="4407408"/>
            <a:ext cx="18288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7472" y="442569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cadenas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2103120" y="4407408"/>
            <a:ext cx="338328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176272" y="4425696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|| ' ' || apellido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486400" y="4407408"/>
            <a:ext cx="320040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559552" y="4425696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CONCAT(nombre,' ',apellido) o ||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Datos Oracle – Referencia Completa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20624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tiene sus propios tipos de datos. Conocerlos es esencial para un DDL correcto.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43584"/>
            <a:ext cx="1463040" cy="274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6187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37360" y="1243584"/>
            <a:ext cx="4297680" cy="27432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0512" y="1261872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Descripción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43584"/>
            <a:ext cx="25603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26187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valor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554480"/>
            <a:ext cx="8595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554480"/>
            <a:ext cx="1463040" cy="274320"/>
          </a:xfrm>
          <a:prstGeom prst="rect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158191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NUMBER(p,s)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92224" y="1581912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Numérico exacto: p dígitos totales, s decimales. p max 38.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63056" y="158191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NUMBER(10,2) → 12345.67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810512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1810512"/>
            <a:ext cx="1463040" cy="274320"/>
          </a:xfrm>
          <a:prstGeom prst="rect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183794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VARCHAR2(n)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92224" y="1837944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caracteres variable. n max 32767. Preferir sobre CHAR.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63056" y="1837944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VARCHAR2(80) → 'Hola'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066544"/>
            <a:ext cx="8595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066544"/>
            <a:ext cx="1463040" cy="274320"/>
          </a:xfrm>
          <a:prstGeom prst="rect">
            <a:avLst/>
          </a:prstGeom>
          <a:solidFill>
            <a:srgbClr val="1A56DB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209397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CHAR(n)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92224" y="2093976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fija (rellena con espacios). Solo para códigos exactos.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63056" y="209397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CHAR(2) → 'CO'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322576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322576"/>
            <a:ext cx="1463040" cy="2743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235000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792224" y="2350008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+ hora (segundos). Incluye HH:MI:SS. ¡Diferente a ANSI SQL!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63056" y="235000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 → '15-JAN-2025 14:30:00'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578608"/>
            <a:ext cx="8595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2578608"/>
            <a:ext cx="1463040" cy="2743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260604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TIMESTAMP(f)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792224" y="2606040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Fecha+hora con fracción de segundo f (0-9). Más preciso que DATE.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63056" y="260604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TIMESTAMP(6) → microsegundos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2834640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2834640"/>
            <a:ext cx="1463040" cy="2743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286207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792224" y="2862072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temporal: YEAR TO MONTH o DAY TO SECOND.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63056" y="286207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 '3' MONTH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090672"/>
            <a:ext cx="8595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3090672"/>
            <a:ext cx="1463040" cy="274320"/>
          </a:xfrm>
          <a:prstGeom prst="rect">
            <a:avLst/>
          </a:prstGeom>
          <a:solidFill>
            <a:srgbClr val="15803D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31181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CLOB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792224" y="3118104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Large Object. Textos hasta 4 GB. Para documentos.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63056" y="3118104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CLOB → contrato_pdf_texto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3346704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3346704"/>
            <a:ext cx="1463040" cy="274320"/>
          </a:xfrm>
          <a:prstGeom prst="rect">
            <a:avLst/>
          </a:prstGeom>
          <a:solidFill>
            <a:srgbClr val="15803D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" y="337413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792224" y="3374136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Large Object. Hasta 4 GB. Para imágenes, archivos.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63056" y="3374136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BLOB → foto_jpg_bytes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3602736"/>
            <a:ext cx="8595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3602736"/>
            <a:ext cx="1463040" cy="27432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184" y="363016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1792224" y="3630168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 PL/SQL (no en tablas). En tablas: NUMBER(1,0) con CHECK.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163056" y="36301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NUMBER(1) DEFAULT 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3858768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74320" y="3858768"/>
            <a:ext cx="1463040" cy="27432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9184" y="388620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RAW(n)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792224" y="3886200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binarios fijos (hex). Para hashes, UUIDs cortos.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163056" y="3886200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RAW(16) → UUID raw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4114800"/>
            <a:ext cx="8595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4114800"/>
            <a:ext cx="1463040" cy="274320"/>
          </a:xfrm>
          <a:prstGeom prst="rect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9184" y="414223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ROWID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1792224" y="4142232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física única de una fila. Muy rápido para acceso puntual.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163056" y="4142232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ROWID → 'AAAEm8AABAAAAcWAAA'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274320" y="4370832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74320" y="4370832"/>
            <a:ext cx="1463040" cy="274320"/>
          </a:xfrm>
          <a:prstGeom prst="rect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9184" y="43982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NVARCHAR2(n)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1792224" y="4398264"/>
            <a:ext cx="4315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VARCHAR2 Unicode (UTF-16). Para idiomas con caracteres especiales.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6163056" y="4398264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NVARCHAR2(200) → japonés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 Oracle – CREATE TABLE y Constraints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133088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Oracle con todos los tipos de constraints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8375904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Crear tabla con todos los tipos de constraints Oracle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empleado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PK: dos opciones según versión Oracle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id_empleado  NUMBER(8)    GENERATED ALWAYS AS IDENTITY PRIMARY KEY,  -- Oracle 12c+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Alternativa clásica (todas las versiones):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id_empleado  NUMBER(8) CONSTRAINT pk_empleado PRIMARY KEY,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codigo       VARCHAR2(12)  NOT NULL CONSTRAINT uq_cod_emp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      VARCHAR2(80) 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apellido     VARCHAR2(80) 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       VARCHAR2(120)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salario      NUMBER(12,2)  DEFAULT 0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fecha_ingreso DATE          DEFAULT SYSDATE,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activo       NUMBER(1,0)   DEFAULT 1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id_depto     NUMBER(6)     NOT NULL,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CONSTRAINTS al final (estilo outline)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ck_salario  CHECK (salario &gt;= 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ck_activo   CHECK (activo IN (0,1)),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fk_emp_dep  FOREIGN KEY (id_depto)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REFERENCES departamento(id_depto)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ON DELETE SET NULL   -- opciones: SET NULL, CASCADE, RESTRICT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TABLESPACE users;  -- Opcional: especificar tablespace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 la estructura de la tabla creada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 empleado;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column_name, data_type, nullable, data_default FROM user_tab_columns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table_name = 'EMPLEADO' ORDER BY column_id;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4983480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ON DELETE: SET NULL conserva la fila hijo pero pone la FK en NULL · CASCADE borra la fila hijo · RESTRICT (por defecto) impide borrar el padre si tiene hijos.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 Oracle – SEQUENCE + TRIGGER: Auto-Incremento Clásico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3891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no tiene AUTO_INCREMENT nativo (&lt; 12c). El patrón clásico usa SEQUENCE + TRIGGER BEFORE INSERT. Esto funciona en TODAS las versiones.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43584"/>
            <a:ext cx="8595360" cy="1700784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298448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usar SEQUENCE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17904"/>
            <a:ext cx="83759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PASO 1: Crear la SEQUENCE (generador de números)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SEQUENCE seq_empleado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 WITH 1          -- Primer valor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INCREMENT BY 1        -- Incremento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MAXVALUE 9999999      -- Límite máximo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NOCYCLE               -- No reiniciar al llegar al máximo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NOCACHE;              -- Sin caché (evita huecos en desarrollo)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-- En producción: CACHE 20 para mayor rendimiento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Usar la secuencia directamente en INSERT: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empleado(id_empleado, codigo, nombre, apellido)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VALUES(seq_empleado.NEXTVAL, 'EMP-001', 'Ana', 'García');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 para ver el último valor asignado: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seq_empleado.CURRVAL FROM DUAL;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035808"/>
            <a:ext cx="8595360" cy="1700784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309067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BEFORE INSERT – Auto-asignación de PK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310128"/>
            <a:ext cx="83759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PASO 2: Crear el TRIGGER para asignación automática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 el trigger, el INSERT no necesita especificar el 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TRIGGER trg_bi_empleado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INSERT ON 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Solo asignar si NO se proporcionó un ID explícito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:NEW.id_empleado IS NULL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 seq_empleado.NEXTVAL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INTO :NEW.id_empleado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 DUAL;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-- El "/" es obligatorio para terminar bloques PL/SQL en SQL*Plus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Ahora el INSERT es transparente (igual que AUTO_INCREMENT):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empleado(codigo, nombre, apellido, id_depto) VALUES('EMP-002','Luis','Torres',1);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  -- ⚠️ En Oracle el COMMIT siempre es EXPLÍCITO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 Oracle – ALTER TABLE, DROP y Gestión de Objetos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4133088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 TABLE y gestión de constraints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3941064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ALTER TABLE Oracle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fecha_nacimiento DATE;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MODIFY nombre VARCHAR2(120);  -- Ampliar tamaño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RENAME COLUMN email TO correo;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 COLUMN fecha_nacimiento;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Agregar constraint después de crear la tabla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empleado ADD CONSTRAINT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ck_email CHECK (correo LIKE '%@%.%');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Deshabilitar/habilitar constraint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empleado DISABLE CONSTRAINT fk_emp_dep;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empleado ENABLE  CONSTRAINT fk_emp_dep;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Crear índice para búsquedas frecuentes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idx_emp_apellido ON empleado(apellido);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UNIQUE INDEX idx_emp_email ON empleado(correo);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 constraints de la tabla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constraint_name, constraint_type,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user_constraints WHERE table_name='EMPLEADO';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4133088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DROP, TRUNCATE, FLASHBACK y gestión de objetos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005840"/>
            <a:ext cx="3941064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DROP objetos Oracle (con cuidado)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empleado;          -- Eliminar tabla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empleado PURGE;    -- Eliminar sin ir a RECYCLE BIN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TABLE empleado CASCADE CONSTRAINTS;  -- Eliminar aunque tenga FK hijos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TRUNCATE: vaciar tabla sin log (más rápido que DELETE sin WHERE)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TRUNCATE TABLE empleado;   -- No se puede ROLLBACK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RECYCLE BIN en Oracle: recuperar tabla borrada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object_name, original_name FROM recyclebin WHERE type='TABLE';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FLASHBACK TABLE empleado TO BEFORE DROP;  -- Restaurar tabla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Crear SINÓNIMO para acceso simplificado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SYNONYM emp FOR hr.empleado;  -- Alias de tabla en otro esquema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emp;  -- Acceder sin especificar esquema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Crear VISTA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VIEW v_empleados_activos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e.id_empleado, e.nombre, e.apellido, d.nombre AS depto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empleado e JOIN departamento d ON e.id_depto=d.id_depto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e.activo=1;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Gestión de objetos del esquema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object_name, object_type,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user_objects ORDER BY object_type, object_name;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DML Oracle – INSERT, UPDATE, DELETE y COMMIT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1956816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con COMMIT explícito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39410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INSERT Oracle: COMMIT siempre explícito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departamento(nombre, ubicacion)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('Tecnología','Piso 4');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  -- Sin COMMIT los cambios son temporales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INSERT múltiple con subquery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empleado_historial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id_empleado, nombre, apellido, SYSDATE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empleado WHERE activo=0;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INSERT ALL Oracle (insertar en múltiples tablas)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INTO dept_log(id,accion,fecha) VALUES(id_depto,'INSERT',SYSDATE)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INTO departamento(nombre) VALUES(nombre)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id_depto, nombre FROM staging_dept;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1956816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 DELETE con COMMIT/ROLLBACK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005840"/>
            <a:ext cx="39410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UPDATE: siempre verificar con SELECT primero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empleado WHERE id_empleado=1; -- Verificar antes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empleado SET salario=salario*1.10, activo=1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id_empleado=1;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UPDATE con subquery (actualizar desde otra tabla)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empleado 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e.salario=(SELECT AVG(salario) FROM empleado WHERE id_depto=e.id_depto)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e.id_depto=2;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DELETE vs TRUNCATE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empleado WHERE activo=0;   -- Con log, puede hacer ROLLBACK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ROLLBACK: deshacer si nos equivocamos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ROLLBACK;  -- Solo hasta el último COMMIT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79776"/>
            <a:ext cx="8595360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83464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(UPSERT) y RETURNING INTO Oracle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054096"/>
            <a:ext cx="83759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MERGE Oracle: INSERT o UPDATE según exista el registro (UPSERT)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INTO empleado e USING staging_empleados s ON (e.codigo = s.codigo)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MATCHED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 SET e.salario=s.salario, e.activo=s.activo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NOT MATCHED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(codigo, nombre, apellido, salario, id_depto)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(s.codigo, s.nombre, s.apellido, s.salario, s.id_depto);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RETURNING INTO: obtener valores generados automáticamente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v_id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INTO empleado(codigo,nombre,apellido,id_depto)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VALUES('EMP-099','Carlos','Ruiz',1) RETURNING id_empleado INTO v_id;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DBMS_OUTPUT.PUT_LINE('ID generado: ' || v_id);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COMMIT;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Funciones Oracle Esenciales – NVL, TO_CHAR, DUAL y más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2029968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y funciones NULL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394106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DUAL: tabla de una fila para funciones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SYSDATE        FROM DUAL; -- Fecha+hora actual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SYSTIMESTAMP   FROM DUAL; -- Con microsegundos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USER           FROM DUAL; -- Usuario conectado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seq_emp.NEXTVAL FROM DUAL; -- Siguiente valor seq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NVL: reemplazar NULL por un valor por defecto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NVL(salario,0) AS salario_safe FROM empleado;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NVL2: diferente según sea NULL o 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NVL2(salario,'Tiene sueldo','Sin sueldo') FROM empleado;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COALESCE: devuelve el primer no-NULL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COALESCE(email, telefono, 'Sin contacto') FROM empleado;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NULLIF: devuelve NULL si los dos valores son iguales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NULLIF(salario, 0) AS salario_real FROM empleado;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2029968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TO_CHAR y TO_DATE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005840"/>
            <a:ext cx="394106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TO_CHAR: fecha → string con formato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TO_CHAR(SYSDATE,'DD/MM/YYYY')      FROM DUAL; -- '20/01/2025'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TO_CHAR(SYSDATE,'DD-MON-YYYY')     FROM DUAL; -- '20-JAN-2025'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TO_CHAR(SYSDATE,'HH24:MI:SS')      FROM DUAL; -- '14:30:00'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TO_CHAR(SYSDATE,'DY DD/MM/YYYY')   FROM DUAL; -- 'MON 20/01/2025'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TO_CHAR(salario,'$999,999.99')     FROM empleado; -- '$5,000.00'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TO_DATE: string → fecha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TO_DATE('15/06/2025','DD/MM/YYYY') FROM DUAL;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empleado(fecha_ingreso) VALUES(TO_DATE('2025-01-20','YYYY-MM-DD'));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TO_NUMBER: string → número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TO_NUMBER('12345.67','99999.99') FROM DUAL;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8595360" cy="1517904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90779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de cadena, matemáticas y DECODE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127248"/>
            <a:ext cx="83759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Funciones de cadena Oracle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UPPER(nombre), LOWER(apellido), INITCAP(ciudad)     FROM empleado;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TRIM(' dato '), LTRIM('  izq'), RTRIM('der  ')       FROM DUAL;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SUBSTR('Oracle',1,3)     FROM DUAL;   -- 'Ora' (desde pos 1, 3 chars)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INSTR('Oracle DB','DB')  FROM DUAL;   -- 7 (posición de 'DB')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LPAD(codigo,10,'0')      FROM empleado;  -- '0000EMP001'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 || ' ' || apellido AS nombre_completo FROM empleado;  -- Concatenar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REGEXP_LIKE(email,'@[a-z]+.[a-z]{2,}') FROM DUAL;  -- Validar email con REGEX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Funciones matemáticas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ROUND(3.14159,2), TRUNC(3.99,0), MOD(17,5), POWER(2,10), SQRT(144) FROM DUAL;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DECODE: equivalente a CASE simple Oracle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DECODE(activo,1,'Activo',0,'Inactivo','Desconocido') AS estado FROM empleado;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Oracle Avanzado – JOINs, Subqueries, Analíticas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1152144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estándar ANSI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837590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JOINs en Oracle (misma sintaxis ANSI que MariaDB)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e.nombre, e.apellido, d.nombre AS departamento, e.salario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empleado 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departamento d ON e.id_depto = d.id_depto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proyecto p ON e.id_proyecto = p.id_proyecto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e.activo = 1 AND e.salario &gt; 3000000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e.apellido, e.nombre;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75104"/>
            <a:ext cx="4160520" cy="1316736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029968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Paginación: ROWNUM vs FETCH FIRST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249424"/>
            <a:ext cx="39410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ROWNUM: paginación clásica Oracle (&lt; 12c)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ROWNUM rn, e.* FROM empleado 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ROWNUM &lt;= 10  -- Primera página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rn &gt; 0;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Oracle 12c+: FETCH FIRST (más limpio)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salario FROM 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salario DESC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FIRST 5 ROWS ONLY;    -- Top 5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 OFFSET para paginación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 10 ROWS FETCH NEXT 5 ROWS ONLY;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1975104"/>
            <a:ext cx="4160520" cy="1316736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2029968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RANK(), AVG() OVER y LISTAGG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18888" y="2249424"/>
            <a:ext cx="394106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Funciones Analíticas Oracle (window functions)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departamento, salario,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RANK()   OVER(PARTITION BY id_depto ORDER BY salario DESC) AS ranking_dept,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AVG(salario) OVER(PARTITION BY id_depto) AS prom_depto,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SUM(salario) OVER(ORDER BY fecha_ingreso ROWS UNBOUNDED PRECEDING) AS acum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v_empleados_activos;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LISTAGG: concatenar valores agrupados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id_depto,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LISTAGG(apellido,', ') WITHIN GROUP(ORDER BY apellido) AS empleados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empleado GROUP BY id_depto;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859536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343814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(WITH clause) Oracle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3657600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CTE (Common Table Expression) Oracle – WITH clause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ventas_mes AS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id_vendedor, SUM(monto) AS total, COUNT(*) AS num_ventas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venta WHERE TRUNC(fecha,'MM')=TRUNC(SYSDATE,'MM')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id_vendedor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ranking AS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id_vendedor, total, RANK() OVER(ORDER BY total DESC) AS pos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ventas_mes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e.nombre, r.total, r.pos FROM ranking r JOIN empleado e ON r.id_vendedor=e.id_empleado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r.pos &lt;= 3;  -- Top 3 vendedores del mes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 – Introducción y Estructura de Bloques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 (Procedural Language / SQL) es el lenguaje de programación procedural nativo de Oracle. Combina SQL con estructuras de control, variables, cursores, manejo de excepciones y objetos reutilizables.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16736"/>
            <a:ext cx="4160520" cy="3273552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37160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completa de bloque PL/SQL anónimo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91056"/>
            <a:ext cx="394106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Estructura de bloque PL/SQL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Sección DECLARATIVA: variables y tipos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v_nombre    VARCHAR2(80);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v_salario   NUMBER(12,2) := 0;        -- Asignación con :=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v_mensaje   VARCHAR2(200);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v_fecha     DATE := SYSDATE;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c_iva       CONSTANT NUMBER := 0.19;   -- CONSTANT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t_nombre IS TABLE OF VARCHAR2(80); -- Tipo colección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v_lista     t_nombre := t_nombre();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Sección EJECUTABLE: lógica del programa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 SERVEROUTPUT ON;                   -- Habilitar salida en SQL*Plus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SELECT INTO: cargar datos en variable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nombre, salario INTO v_nombre, v_salario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empleado WHERE id_empleado = 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v_mensaje := 'Empleado: ' || v_nombre || ', Salario: ' || v_salario;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DBMS_OUTPUT.PUT_LINE(v_mensaje);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Operaciones matemáticas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DBMS_OUTPUT.PUT_LINE('IVA: ' || ROUND(v_salario * c_iva, 2));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Sección de manejo de ERRORES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NO_DATA_FOUND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DBMS_OUTPUT.PUT_LINE('ERROR: Empleado no encontrado');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TOO_MANY_ROWS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DBMS_OUTPUT.PUT_LINE('ERROR: Múltiples resultados para la consulta');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OTHERS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DBMS_OUTPUT.PUT_LINE('Error inesperado: ' || SQLERRM);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ROLLBACK;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-- Ejecutar el bloque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316736"/>
            <a:ext cx="4160520" cy="3273552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18888" y="137160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variables: escalares, %TYPE y %ROWTYPE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8888" y="1591056"/>
            <a:ext cx="394106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TIPOS DE VARIABLES PL/SQL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Tipos escalares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v_n  NUMBER(10,2);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v_s  VARCHAR2(100);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v_d  DATE;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v_b  BOOLEAN := TRUE;     -- Solo en PL/SQL (no en tablas)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%TYPE: tomar el tipo de una columna de tabla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v_nom  empleado.nombre%TYPE;     -- VARCHAR2(80)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v_sal  empleado.salario%TYPE;    -- NUMBER(12,2)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%ROWTYPE: fila completa de una tabla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v_emp  empleado%ROWTYPE;         -- Todos los campos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Tipos compuestos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t_nums IS VARRAY(10) OF NUMBER;  -- Array de máximo 10 nums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t_ids  IS TABLE OF NUMBER;       -- Tabla indexada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Usar %ROWTYPE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* INTO v_emp FROM empleado WHERE id_empleado=1;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DBMS_OUTPUT.PUT_LINE(v_emp.nombre||' '||v_emp.apellido);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DBMS_OUTPUT.PUT_LINE('Dept: '||v_emp.id_depto);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SELECT INTO con %TYPE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nombre, salario INTO v_nom, v_sal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empleado WHERE codigo='EMP-001';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DBMS_OUTPUT.PUT_LINE(v_nom||': $'||v_sal);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 – Estructuras de Control: IF, CASE, Bucles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1975104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IF/ELSIF/ELSE y CASE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3941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IF / ELSIF / ELSE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v_nota NUMBER := 3.8;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v_nota &gt;= 4.5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DBMS_OUTPUT.PUT_LINE('EXCELENTE');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ELSIF v_nota &gt;= 3.5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DBMS_OUTPUT.PUT_LINE('BUENO');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ELSIF v_nota &gt;= 3.0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DBMS_OUTPUT.PUT_LINE('APROBADO');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DBMS_OUTPUT.PUT_LINE('REPROBADO');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CASE (más limpio que múltiples IF)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v_dia NUMBER := TO_NUMBER(TO_CHAR(SYSDATE,'D'));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v_dia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1 THEN DBMS_OUTPUT.PUT_LINE('Domingo');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2 THEN DBMS_OUTPUT.PUT_LINE('Lunes');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7 THEN DBMS_OUTPUT.PUT_LINE('Sábado');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DBMS_OUTPUT.PUT_LINE('Día laboral');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CASE;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1975104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LOOP, FOR y WHILE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005840"/>
            <a:ext cx="3941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LOOP básico (con EXIT WHEN)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v_i NUMBER := 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DBMS_OUTPUT.PUT_LINE('Iteración: ' || v_i);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v_i := v_i + 1;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EXIT WHEN v_i &gt; 5;  -- Condición de salida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LOOP;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FOR (más común para rangos)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1..10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MOD(i,2)=0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DBMS_OUTPUT.PUT_LINE(i || ' es par');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LOOP;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WHILE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v_stock NUMBER := 100;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v_stock &gt; 0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v_stock := v_stock - 15;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DBMS_OUTPUT.PUT_LINE('Stock: ' || v_stock);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LOOP;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98064"/>
            <a:ext cx="8595360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852928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implícito sobre cursor y CONTINUE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072384"/>
            <a:ext cx="83759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FOR LOOP sobre resultado de consulta (implícito)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rec IN (SELECT nombre, apellido, salario FROM empleado WHERE activo=1 ORDER BY salario DESC)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 rec.nombre, rec.apellido, rec.salario están disponibles automáticamente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DBMS_OUTPUT.PUT_LINE(rec.nombre||' '||rec.apellido||': $'||rec.salario);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 EXIT: salir del loop antes del final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EXIT WHEN rec.salario &lt; 2000000;  -- Parar si salario &lt; 2 millones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LOOP;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CONTINUE: saltar al siguiente paso sin salir del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1..20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WHEN MOD(i,2)!=0;    -- Saltar impares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DBMS_OUTPUT.PUT_LINE('Par: ' || i);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LOOP;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 – Cursores Implícitos y Explícitos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implícito y sus atributos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3941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CURSOR IMPLÍCITO: SELECT INTO + atributos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v_nombre VARCHAR2(80);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v_count 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SELECT INTO usa cursor implícito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nombre INTO v_nombre FROM empleado WHERE id_empleado=1;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Atributos del cursor implícito (SQL%):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SQL%FOUND     THEN DBMS_OUTPUT.PUT_LINE('Fila encontrada');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SQL%NOTFOUND  THEN DBMS_OUTPUT.PUT_LINE('No encontrado');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DBMS_OUTPUT.PUT_LINE('Filas afectadas: '||SQL%ROWCOUNT);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Después de UPDATE también: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 empleado SET salario=salario+100 WHERE id_depto=1;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DBMS_OUTPUT.PUT_LINE('Actualizados: '||SQL%ROWCOUNT);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COMMIT;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NO_DATA_FOUND THEN DBMS_OUTPUT.PUT_LINE('Sin resultado');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TOO_MANY_ROWS THEN DBMS_OUTPUT.PUT_LINE('Múltiples filas');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explícito: DECLARE OPEN FETCH CLOSE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005840"/>
            <a:ext cx="3941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CURSOR EXPLÍCITO: control total sobre el recorrido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-- 1. DECLARAR el cursor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CURSOR cur_empleados(p_depto NUMBER) 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 id_empleado, nombre, apellido, salario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 empleado WHERE id_depto=p_depto AND activo=1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ORDER BY apellido;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Variable de tipo fila del cursor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v_rec cur_empleados%ROWTYPE;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-- 2. ABRIR el cursor con parámetros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 cur_empleados(2);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-- 3. FETCH: leer fila a fila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FETCH cur_empleados INTO v_rec;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EXIT WHEN cur_empleados%NOTFOUND;  -- Salir al agotar filas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DBMS_OUTPUT.PUT_LINE(v_rec.nombre||' - $'||v_rec.salario);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LOOP;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-- 4. CERRAR el cursor (liberar recursos)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 cur_empleados;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DBMS_OUTPUT.PUT_LINE('Total: '||cur_empleados%ROWCOUNT||' empleados');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88950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CURSOR – cursor dinámico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108960"/>
            <a:ext cx="8375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REF CURSOR: cursor como parámetro o variable (más flexible)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t_cursor IS REF CURSOR;   -- Tipo genérico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v_cur t_cursor;                -- Variable cursor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v_nom VARCHAR2(80); v_sal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Abrir con cualquier SELECT en tiempo de ejecución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 v_cur FOR 'SELECT nombre, salario FROM empleado WHERE id_depto=:d' USING 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FETCH v_cur INTO v_nom, v_sal;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EXIT WHEN v_cur%NOTFOUND;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DBMS_OUTPUT.PUT_LINE(v_nom || ': $' || v_sal);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LOOP;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 v_cur;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SYS_REFCURSOR es el tipo estándar predefinido (recomendado):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v_cur SYS_REFCURSOR; (en lugar de declarar el TYPE)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 – Stored Procedures: Encapsulamiento de Lógica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151376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 completo – IN/OUT/EXCEPTION/COMMIT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837590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Procedimiento completo con parámetros IN, OUT y manejo de excepciones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PROCEDURE sp_contratar_empleado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p_codigo      IN  VARCHAR2,          -- Parámetro de ENTRADA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p_nombre      IN  VARCHAR2,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p_apellido    IN  VARCHAR2,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p_email       IN  VARCHAR2,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p_salario     IN  NUMBER,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p_id_depto    IN  NUMBER,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p_resultado   OUT VARCHAR2,          -- Parámetro de SALIDA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p_id_generado OUT NUMBER             -- ID del empleado creado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Variables locales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v_count  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exc_codigo EXCEPTION;                -- Excepción personalizada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PRAGMA EXCEPTION_INIT(exc_codigo, -1);  -- ORA-00001: unique constraint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Validar que el departamento existe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COUNT(*) INTO v_count FROM departamento WHERE id_depto = p_id_depto;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v_count = 0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RAISE_APPLICATION_ERROR(-20001, 'Departamento ' || p_id_depto || ' no existe');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Validar salario mínimo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p_salario &lt; 1160000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RAISE_APPLICATION_ERROR(-20002, 'Salario inferior al mínimo legal: $1,160,000');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Insertar 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INTO empleado (codigo, nombre, apellido, email, salario, id_depto)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 (p_codigo, p_nombre, p_apellido, p_email, p_salario, p_id_depto)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RETURNING id_empleado INTO p_id_generado;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COMMIT;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p_resultado := 'OK: Empleado creado con ID=' || p_id_generado;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exc_codigo THEN  -- Código duplicado (unique constraint)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ROLLBACK;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p_resultado := 'ERROR: El código ' || p_codigo || ' ya existe';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OTHERS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ROLLBACK;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p_resultado := 'ERROR: ' || SQLERRM;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sp_contratar_empleado;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Llamar al procedure: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v_res VARCHAR2(200); v_id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sp_contratar_empleado('EMP-999','María','López','mlopez@emp.co',2500000,1,v_res,v_id);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DBMS_OUTPUT.PUT_LINE(v_res);  -- 'OK: Empleado creado con ID=42'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 – Functions: Cálculos Reutilizables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con RETURN y lógica de negocio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39410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Función: calcular salario con prestaciones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FUNCTION fn_salario_total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p_salario_base  NUMBER,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p_antiguedad    NUMBER  -- años trabajados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RETURN NUMBER            -- RETURN es obligatorio en FUNCTION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v_aux_transporte  NUMBER := 140606;  -- Auxilio 2025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v_bonif_antigued  NUMBER :=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v_total          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Calcular bonificación por antigüedad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p_antiguedad &gt;= 10 THEN v_bonif_antigued := p_salario_base * 0.10;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ELSIF p_antiguedad &gt;= 5 THEN v_bonif_antigued := p_salario_base * 0.05;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v_total := p_salario_base + v_bonif_antigued;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Auxilio solo si salario &lt; 2 SMMLV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p_salario_base &lt; 2321200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v_total := v_total + v_aux_transporte;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ROUND(v_total,0);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OTHERS THEN RETURN NULL;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fn_salario_total;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Usar la función en un SELECT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salario,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fn_salario_total(salario, TRUNC(MONTHS_BETWEEN(SYSDATE,fecha_ingreso)/12)) AS total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empleado WHERE activo=1;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con CASE para categorización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005840"/>
            <a:ext cx="39410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Función con cursor y lógica compleja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FUNCTION fn_categoria_emp(p_id NUMBER) RETURN VARCHAR2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v_sal NUMBER; v_anios NUMBER; v_cat VARCHAR2(20);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salario,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TRUNC(MONTHS_BETWEEN(SYSDATE,fecha_ingreso)/12)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INTO v_sal, v_anios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empleado WHERE id_empleado=p_id;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Determinar categoría con CASE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v_cat := CASE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v_sal &gt;= 8000000 AND v_anios &gt;= 5 THEN 'SENIOR'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v_sal &gt;= 4000000                  THEN 'SENIOR'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v_sal &gt;= 2500000 AND v_anios &gt;= 2 THEN 'MEDIO'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v_sal &gt;= 2500000                  THEN 'JUNIOR'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                                       'PRACTICANTE'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v_cat;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 WHEN NO_DATA_FOUND THEN RETURN 'NO EXISTE';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Usar en SELECT: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salario,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fn_categoria_emp(id_empleado) AS categoria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empleado ORDER BY categoria;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383280"/>
            <a:ext cx="8595360" cy="950976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343814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clave: cuándo usar PROCEDURE vs FUNCTION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657600"/>
            <a:ext cx="8375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Diferencia PROCEDURE vs FUNCTION en Oracle: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PROCEDURE: ejecuta acciones (INSERT/UPDATE), puede tener OUT, se llama con CALL/EXEC o en BEGIN/END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FUNCTION: calcula y RETORNA un valor, se usa dentro de SQL SELECT u otras expresiones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¡NO usar COMMIT en FUNCTION que se use en SELECT (Oracle genera error)!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En FUNCTION: DETERMINISTIC = mismo input → mismo output (Oracle puede cachear el resultado)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FUNCTION fn_iva(precio NUMBER) RETURN NUMBER DETERMINISTIC 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RETURN ROUND(precio * 1.19, 2); END; 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nombre, precio, fn_iva(precio) AS precio_con_iva FROM producto;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 – PACKAGES: Agrupación y Encapsulamiento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PACKAGE agrupa procedures, functions, tipos y variables relacionados. Tiene SPEC (interfaz pública) y BODY (implementación privada). El paquete más parecido a una clase en POO.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8595360" cy="1243584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31673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SPEC – Interfaz pública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536192"/>
            <a:ext cx="83759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PACKAGE SPEC: la "interfaz pública" (qué se puede usar externamente)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PACKAGE pkg_empleados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Constante pública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c_salario_minimo CONSTANT NUMBER := 1160000;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Funciones y procedures públicos (disponibles fuera del package)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 fn_categoria(p_id NUMBER) RETURN VARCHAR2;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PROCEDURE sp_contratar(p_cod VARCHAR2, p_nom VARCHAR2, p_sal NUMBER, p_dep NUMBER, p_res OUT VARCHAR2);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PROCEDURE sp_actualizar_salario(p_id NUMBER, p_nuevo_sal NUMBER);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pkg_empleados;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596896"/>
            <a:ext cx="859536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65176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BODY – Implementación pública y privada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2871216"/>
            <a:ext cx="83759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PACKAGE BODY: la implementación (puede tener código privado no visible externamente)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PACKAGE BODY pkg_empleados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FUNCIÓN PRIVADA (solo accesible dentro del package)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valida_depto(p_id NUMBER) RETURN BOOLEAN 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v_c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BEGIN SELECT COUNT(*) INTO v_c FROM departamento WHERE id_depto=p_id;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RETURN v_c &gt; 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valida_depto;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Implementación de la función PÚBLICA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fn_categoria(p_id NUMBER) RETURN VARCHAR2 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v_sal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 salario INTO v_sal FROM empleado WHERE id_empleado=p_id;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v_sal &gt;= 8000000 THEN RETURN 'SENIOR'; ELSIF v_sal &gt;= 3000000 THEN RETURN 'MEDIO';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RETURN 'JUNIOR';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EXCEPTION WHEN NO_DATA_FOUND THEN RETURN 'NO EXISTE';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fn_categoria;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PROCEDURE sp_contratar(p_cod VARCHAR2,p_nom VARCHAR2,p_sal NUMBER,p_dep NUMBER,p_res OUT VARCHAR2) 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valida_depto(p_dep) THEN p_res:='ERROR: Dept no existe'; RETURN;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INSERT INTO empleado(codigo,nombre,salario,id_depto) VALUES(p_cod,p_nom,p_sal,p_dep);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COMMIT; p_res:='OK';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EXCEPTION WHEN OTHERS THEN ROLLBACK; p_res:='ERROR: '||SQLERRM;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sp_contratar;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PROCEDURE sp_actualizar_salario(p_id NUMBER, p_nuevo_sal NUMBER) 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p_nuevo_sal &lt; c_salario_minimo THEN RAISE_APPLICATION_ERROR(-20003,'Salario muy bajo');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UPDATE empleado SET salario=p_nuevo_sal WHERE id_empleado=p_id; COMMIT;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sp_actualizar_salario;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pkg_empleados;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Usar el package: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v_res VARCHAR2(200);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pkg_empleados.sp_contratar('EMP-100','Carlos','Test',2500000,1,v_res);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DBMS_OUTPUT.PUT_LINE(v_res);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DBMS_OUTPUT.PUT_LINE(pkg_empleados.fn_categoria(1));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 – TRIGGERS: Respuesta Automática a Eventos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1444752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BEFORE INSERT – auto-PK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8375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BEFORE INSERT: auto-asignación de PK con SEQUENCE (clásico)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TRIGGER trg_bi_empleado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INSERT ON empleado                -- BEFORE INSERT: antes de insertar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                             -- Por cada fila afectada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:NEW.id_empleado IS NULL THEN     -- :NEW = fila que se va a insertar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 seq_empleado.NEXTVAL INTO :NEW.id_empleado FROM DUAL;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:NEW.fecha_ingreso := NVL(:NEW.fecha_ingreso, SYSDATE);   -- Default de fecha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:NEW.campo = nuevo valor · :OLD.campo = valor anterior (en UPDATE/DELETE)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267712"/>
            <a:ext cx="8595360" cy="1353312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322576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polimórfico – auditoría INSERT/UPDATE/DELETE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542032"/>
            <a:ext cx="83759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POLIMÓRFICO: reacciona diferente según INSERT/UPDATE/DELETE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TRIGGER trg_audit_empleado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OR UPDATE OR DELETE ON empleado     -- Múltiples eventos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v_accion VARCHAR2(10);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v_accion := CASE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INSERTING THEN 'INSERT'           -- Predicados de evento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UPDATING  THEN 'UPDATE'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WHEN DELETING  THEN 'DELETE'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INTO audit_empleado(accion, id_emp, datos_ant, datos_nvo, usuario, fecha)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VALUES(v_accion,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NVL(:NEW.id_empleado, :OLD.id_empleado),   -- :OLD en DELETE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:OLD.nombre || ',' || :OLD.salario,         -- Datos anteriores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:NEW.nombre || ',' || :NEW.salario,         -- Datos nuevos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USER, SYSTIMESTAMP);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⚠️ NO hacer COMMIT dentro del TRIGGER (genera ORA-04092)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712464"/>
            <a:ext cx="8595360" cy="1024128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3767328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de validación de negocio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986784"/>
            <a:ext cx="83759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de validación: impedir operaciones no permitidas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TRIGGER trg_check_salario_bv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UPDATE OF salario ON empleado FOR EACH ROW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No permitir reducción de salario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:NEW.salario &lt; :OLD.salario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RAISE_APPLICATION_ERROR(-20010, 'No se puede reducir salario de ' || :OLD.salario || ' a ' || :NEW.salario);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No permitir incremento mayor al 50%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:NEW.salario &gt; :OLD.salario * 1.5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RAISE_APPLICATION_ERROR(-20011, 'Incremento mayor al 50% requiere aprobación especial');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 – Manejo de Excepciones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predefinidas Oracle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3941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Excepciones predefinidas Oracle (más comunes)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v_nom VARCHAR2(80); v_sal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nombre,salario INTO v_nom,v_sal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empleado WHERE id_depto=1;  -- Puede fallar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DBMS_OUTPUT.PUT_LINE(v_nom||': '||v_sal);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NO_DATA_FOUND THEN      -- ORA-01403: sin resultados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DBMS_OUTPUT.PUT_LINE('No hay empleados en dept 1');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TOO_MANY_ROWS THEN      -- ORA-01422: múltiples filas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DBMS_OUTPUT.PUT_LINE('Hay más de un empleado. Use cursor.');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DUP_VAL_ON_INDEX THEN   -- ORA-00001: unique constraint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DBMS_OUTPUT.PUT_LINE('Registro duplicado');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INVALID_NUMBER THEN     -- ORA-01722: conversión inválida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DBMS_OUTPUT.PUT_LINE('Número inválido');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VALUE_ERROR THEN        -- ORA-06502: overflow de tipo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DBMS_OUTPUT.PUT_LINE('Error de valor/tipo');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OTHERS THEN             -- Captura todo lo demás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DBMS_OUTPUT.PUT_LINE('ORA: '||SQLCODE||' '||SQLERRM);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ROLLBACK;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Excepciones personalizadas con PRAGMA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005840"/>
            <a:ext cx="3941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Excepciones personalizadas (de usuario)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Declarar excepción propia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exc_saldo_insuficiente  EXCEPTION;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exc_cuenta_inactiva     EXCEPTION;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Asociar código de error ORA (-20001 a -20999)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PRAGMA EXCEPTION_INIT(exc_saldo_insuficiente, -20001);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PRAGMA EXCEPTION_INIT(exc_cuenta_inactiva,    -20002);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v_saldo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v_activa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saldo, activa INTO v_saldo, v_activa FROM cuenta WHERE id=1;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v_activa = 0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exc_cuenta_inactiva;       -- RAISE lanza la excepción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v_saldo &lt; 500000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RAISE_APPLICATION_ERROR(-20001,'Saldo insuficiente: '||v_saldo);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exc_cuenta_inactiva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DBMS_OUTPUT.PUT_LINE('Cuenta inactiva: operación denegada');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exc_saldo_insuficiente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DBMS_OUTPUT.PUT_LINE('Error: ' || SQLERRM);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8595360" cy="1316736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88950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SAVEPOINT – Rollback parcial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108960"/>
            <a:ext cx="837590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SAVEPOINT para rollback parcial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INSERT INTO movimiento(tipo,monto) VALUES('deposito',1000000); COMMIT;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SAVEPOINT antes_retiro;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 cuenta SET saldo=saldo-500000 WHERE id=1;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Si algo falla después del savepoint: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 FROM cuenta_temporal WHERE id=99;  -- Error: tabla no existe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OTHERS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ROLLBACK TO antes_retiro;    -- Deshacer solo desde el savepoint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DBMS_OUTPUT.PUT_LINE('Revertido al savepoint: '||SQLERRM);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 El INSERT anterior con COMMIT sigue vigente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 /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1 – Sistema de Ventas Completo en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261104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Ventas: DDL + SEQUENCE + IDENTITY + Package completo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8375904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DDL completo del sistema de ventas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SEQUENCE seq_cliente START WITH 1 INCREMENT BY 1 NOCACHE;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SEQUENCE seq_producto START WITH 1 INCREMENT BY 1 NOCACHE;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SEQUENCE seq_factura  START WITH 1001 INCREMENT BY 1 NOCACHE;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cliente(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id_cliente NUMBER(8) GENERATED ALWAYS AS IDENTITY PRIMARY KEY,  -- Oracle 12c+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    VARCHAR2(80) NOT NULL, apellido VARCHAR2(80)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     VARCHAR2(120) UNIQUE, activo NUMBER(1) DEFAULT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producto(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id_producto NUMBER(8) GENERATED ALWAYS AS IDENTITY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     VARCHAR2(120) NOT NULL, precio NUMBER(12,2)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stock       NUMBER(8)     DEFAULT 0 NOT NULL, activo NUMBER(1) DEFAULT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ck_precio CHECK(precio&gt;0), CONSTRAINT ck_stock CHECK(stock&gt;=0)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factura(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id_factura  NUMBER(8) PRIMARY KEY, id_cliente NUMBER(8)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fecha       DATE DEFAULT SYSDATE, total NUMBER(14,2) DEFAULT 0, estado VARCHAR2(12) DEFAULT 'pendiente',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fk_fac_cli FOREIGN KEY(id_cliente) REFERENCES cliente(id_cliente),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ck_est CHECK(estado IN('pendiente','pagada','cancelada'))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SEQUENCE seq_factura START WITH 1001;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TRIGGER trg_bi_factura BEFORE INSERT ON factura FOR EACH ROW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IF :NEW.id_factura IS NULL THEN SELECT seq_factura.NEXTVAL INTO :NEW.id_factura FROM DUAL; END IF; END; 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detalle_factura(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id_detalle  NUMBER(8) GENERATED ALWAYS AS IDENTITY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id_factura  NUMBER(8) NOT NULL, id_producto NUMBER(8)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cantidad    NUMBER(4) NOT NULL, precio_unit NUMBER(12,2)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fk_det_fac FOREIGN KEY(id_factura)  REFERENCES factura(id_factura) ON DELETE CASCADE,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fk_det_pro FOREIGN KEY(id_producto) REFERENCES producto(id_producto)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Package de ventas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PACKAGE pkg_ventas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PROCEDURE sp_crear_venta(p_cli NUMBER, p_prod NUMBER, p_cant NUMBER, p_res OUT VARCHAR2);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 fn_total_cliente(p_cli NUMBER) RETURN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pkg_ventas;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PACKAGE BODY pkg_ventas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PROCEDURE sp_crear_venta(p_cli NUMBER, p_prod NUMBER, p_cant NUMBER, p_res OUT VARCHAR2) 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v_id_fac NUMBER; v_precio NUMBER; v_stock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SELECT precio, stock INTO v_precio, v_stock FROM producto WHERE id_producto=p_prod;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v_stock &lt; p_cant THEN RAISE_APPLICATION_ERROR(-20001,'Stock insuficiente: '||v_stock);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INSERT INTO factura(id_cliente) VALUES(p_cli) RETURNING id_factura INTO v_id_fac;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INSERT INTO detalle_factura(id_factura,id_producto,cantidad,precio_unit) VALUES(v_id_fac,p_prod,p_cant,v_precio);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UPDATE factura  SET total=p_cant*v_precio WHERE id_factura=v_id_fac;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UPDATE producto SET stock=stock-p_cant    WHERE id_producto=p_prod;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COMMIT; p_res:='OK: Factura #'||v_id_fac||' creada';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EXCEPTION WHEN OTHERS THEN ROLLBACK; p_res:='ERROR: '||SQLERRM;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fn_total_cliente(p_cli NUMBER) RETURN NUMBER IS v_tot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BEGIN SELECT NVL(SUM(total),0) INTO v_tot FROM factura WHERE id_cliente=p_cli AND estado='pagada';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RETURN v_tot; END;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pkg_ventas;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2 – Consultas Analíticas y EXPLAIN PLAN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1426464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functions: RANK, NTILE, LAG, AVG() OVER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83759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Analytic functions – ranking de empleados por depto y salario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e.nombre||' '||e.apellido AS empleado,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d.nombre AS departamento,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e.salario,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RANK()       OVER(PARTITION BY e.id_depto ORDER BY e.salario DESC) AS rank_depto,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DENSE_RANK() OVER(ORDER BY e.salario DESC) AS rank_global,  -- Sin huecos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NTILE(4)     OVER(ORDER BY e.salario DESC) AS cuartil,      -- Cuartiles salariales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LAG(e.salario,1) OVER(PARTITION BY e.id_depto ORDER BY e.fecha_ingreso) AS sal_anterior,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ROUND(e.salario / AVG(e.salario) OVER(PARTITION BY e.id_depto)*100,1)||'%' AS pct_promedio_dept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empleado e JOIN departamento d ON e.id_depto=d.id_depto WHERE e.activo=1;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249424"/>
            <a:ext cx="416052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304288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PLAN y DBMS_STATS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2523744"/>
            <a:ext cx="3941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EXPLAIN PLAN: analizar rendimiento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PLAN FOR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e.nombre, e.salario, d.nombre AS depto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empleado e JOIN departamento 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e.id_depto=d.id_depto WHERE e.activo=1;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 el plan de ejecución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TABLE(DBMS_XPLAN.DISPLAY);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Buscar: INDEX SCAN (bueno) vs FULL TABLE SCAN (lento)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Estadísticas actualizadas para el optimizador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DBMS_STATS.GATHER_TABLE_STATS(USER,'EMPLEADO');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DBMS_STATS.GATHER_TABLE_STATS(USER,'DEPARTAMENTO');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9160" y="2249424"/>
            <a:ext cx="4160520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2304288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índices optimizados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18888" y="2523744"/>
            <a:ext cx="3941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Crear índices basados en el EXPLAIN PLAN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Si el plan muestra FULL TABLE SCAN en id_depto: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idx_emp_depto ON empleado(id_depto);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idx_emp_activo ON empleado(activo, salario);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Índice compuesto para búsquedas combinadas: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idx_emp_depto_sal ON empleado(id_depto, salario DESC);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Verificar índices creados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index_name, index_type, uniqueness, 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user_indexes WHERE table_name='EMPLEADO';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712464"/>
            <a:ext cx="859536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3767328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objetos y errores de compilación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048" y="3986784"/>
            <a:ext cx="8375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Recuentos de objetos del esquema para verificación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object_type, COUNT(*) AS cantidad FROM user_objects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status='VALID' GROUP BY object_type ORDER BY 2 DESC;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Errores de compilación PL/SQL (si un objeto tiene INVALID)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type, line, text FROM user_errors ORDER BY name, line;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Recompilar objetos inválidos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PROCEDURE sp_contratar_empleado COMPILE;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PACKAGE pkg_ventas COMPILE;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PACKAGE BODY pkg_ventas COMPILE BODY;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3 – Sistema de Auditoría Completo con Triggers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206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auditoría completo con trigger polimórfico y granular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837590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Tabla de auditoría genérica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audit_log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id_audit   NUMBER GENERATED ALWAYS AS IDENTITY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tabla_name VARCHAR2(60) 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accion     VARCHAR2(10)  NOT NULL CHECK(accion IN('INSERT','UPDATE','DELETE')),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id_registro NUMBER(10),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campo_mod  VARCHAR2(60),                        -- Campo modificado (UPDATE)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valor_ant  VARCHAR2(500),                        -- Valor anterior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valor_nvo  VARCHAR2(500),                        -- Valor nuevo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usuario    VARCHAR2(80)  DEFAULT USER,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ip_session VARCHAR2(50)  DEFAULT SYS_CONTEXT('USERENV','IP_ADDRESS'),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fecha      TIMESTAMP     DEFAULT SYSTIMESTAMP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genérico de auditoría para 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TRIGGER trg_audit_empleado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INSERT OR UPDATE OR DELETE ON empleado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v_accion VARCHAR2(10);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v_id     NUMBER;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v_accion := CASE WHEN INSERTING THEN 'INSERT' WHEN UPDATING THEN 'UPDATE'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WHEN DELETING THEN 'DELETE' END;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v_id := NVL(:NEW.id_empleado, :OLD.id_empleado);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Para INSERT: registrar valores nuevos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INSERTING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INSERT INTO audit_log(tabla_name,accion,id_registro,valor_nvo)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VALUES('EMPLEADO','INSERT',v_id,:NEW.nombre||','||:NEW.salario||','||:NEW.id_depto);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Para UPDATE: registrar CADA campo modificado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ELSIF UPDATING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NVL(:OLD.nombre,'X') != NVL(:NEW.nombre,'X')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INSERT INTO audit_log(tabla_name,accion,id_registro,campo_mod,valor_ant,valor_nvo)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VALUES('EMPLEADO','UPDATE',v_id,'nombre',:OLD.nombre,:NEW.nombre);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NVL(:OLD.salario,-1) != NVL(:NEW.salario,-1)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INSERT INTO audit_log(tabla_name,accion,id_registro,campo_mod,valor_ant,valor_nvo)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VALUES('EMPLEADO','UPDATE',v_id,'salario',TO_CHAR(:OLD.salario),TO_CHAR(:NEW.salario));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Para DELETE: registrar valores eliminados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INSERT INTO audit_log(tabla_name,accion,id_registro,valor_ant)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VALUES('EMPLEADO','DELETE',v_id,:OLD.nombre||','||:OLD.salario);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Consultar auditoría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tabla_name, accion, campo_mod, valor_ant, valor_nvo,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usuario, TO_CHAR(fecha,'DD/MM/YYYY HH24:MI:SS') AS cuando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audit_log WHERE id_registro=1 ORDER BY fecha DESC;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Oracle – Diseño y Abstracción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trabaja con tres modelos de diseño que van del concepto abstracto a la implementación física en la base de datos.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280160"/>
            <a:ext cx="502920" cy="10972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280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77824" y="1335024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CONCEPTUAL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1627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del mundo real en términos de entidades y sus relaciones. Independiente de la tecnología.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7824" y="2029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Oracle SQL Developer Data Modeler (nivel conceptual)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77840" y="1371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(sustantivos del negocio)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y sus tipos conceptuales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entre entidades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Cardinalidades (1:1, 1:N, N:M)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E-R (notación Chen o crow's foot)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46888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68880"/>
            <a:ext cx="502920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468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77824" y="2523744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LÓGICO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" y="2816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 del modelo conceptual a tablas relacionales con claves primarias y foráneas. Independiente de Oracle.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7824" y="3218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SQL Developer Data Modeler (nivel lógico) o draw.io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77840" y="2560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con columnas y tipos de datos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primarias (PK) y foráneas (FK)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únicos para restricciones UNIQUE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(1FN, 2FN, 3FN)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Relacional / Modelo Lógico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8595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57600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57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77824" y="3712464"/>
            <a:ext cx="7882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FÍSICO (Oracle)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77824" y="4005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concreta en Oracle: tipos de datos específicos, SEQUENCE, tablespaces, índices físicos.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77824" y="4407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Oracle SQL*Plus, SQL Developer o APEX para generar/ejecutar el DDL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77840" y="3749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NUMBER(p,s), VARCHAR2, DATE, CLOB...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+ TRIGGER o IDENTITY para PKs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Tablespaces y almacenamiento físico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Particionamiento de tablas grandes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PLAN + índices optimizados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4882896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El flujo recomendado: Conceptual (negocio) → Lógico (relacional) → Físico (Oracle DDL). Usar SQL Developer Data Modeler para automatizar esta transición.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 Oracle – Estándares de Calidad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0233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Prácticas validadas en entornos empresariales Oracle. Aplicarlas desde el inicio evita problemas costosos.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" cy="69494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28016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46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✔  COMMIT explícito siempre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" y="1572768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NO confirma automáticamente. Sin COMMIT, cambios se pierden al desconectarse.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90872" y="1243584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243584"/>
            <a:ext cx="54864" cy="69494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128016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✔  SEQUENCE separada por tabla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37176" y="1572768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SEQUENCE por tabla. En producción usar CACHE 20 para rendimiento sin bloqueos.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029968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029968"/>
            <a:ext cx="54864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066544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✔  Usar PACKAGES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2336" y="235915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procedures/functions relacionados. Facilita mantenimiento y evita conflictos de nombres.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90872" y="2029968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2029968"/>
            <a:ext cx="54864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37176" y="2066544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✔  RAISE_APPLICATION_ERROR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37176" y="2359152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-20001 a -20999 para errores de negocio. Incluir siempre mensaje descriptivo.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816352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816352"/>
            <a:ext cx="54864" cy="6949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285292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✔  EXPLAIN PLAN antes de producción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" y="31455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consulta sobre tablas &gt; 1000 filas debe analizarse. INDEX SCAN &gt; FULL TABLE SCAN.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90872" y="2816352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90872" y="2816352"/>
            <a:ext cx="54864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7176" y="2852928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✔  NVL/COALESCE para NULLs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37176" y="31455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aritméticas con NULL → NULL en Oracle. Siempre proteger: NVL(salario,0).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3602736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602736"/>
            <a:ext cx="54864" cy="694944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363931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 ✔  Nombrar constraints explícitamente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2336" y="3931920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pk_nombre, fk_nombre, uq_nombre. Facilita diagnóstico de errores ORA-00001.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90872" y="3602736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90872" y="3602736"/>
            <a:ext cx="54864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37176" y="363931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🚫  ✔  No COMMIT dentro de TRIGGER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37176" y="3931920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ORA-04092. El COMMIT lo hace quien ejecuta la operación que disparó el trigger.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4389120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6032" y="4389120"/>
            <a:ext cx="54864" cy="69494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" y="442569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✔  VARCHAR2 sobre CHAR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02336" y="4718304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rellena con espacios y genera comparaciones inesperadas. VARCHAR2 es más predecible.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90872" y="4389120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90872" y="4389120"/>
            <a:ext cx="54864" cy="69494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37176" y="442569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✔  Principio de mínimo privilegio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37176" y="4718304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usuario con solo los privilegios necesarios. No usar SYSTEM/SYS para aplicaciones.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en Oracle – Diagnóstico y Solución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68096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68096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80467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ORA-00942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00584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Tabla o vista no existe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" y="1261872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tabla incorrecto, esquema diferente o sin permiso. Verificar: SELECT table_name FROM user_tables;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90872" y="768096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768096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55464" y="804672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ORA-00001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55464" y="100584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Restricción única violada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1261872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valor duplicado en PK/UNIQUE. Verificar antes con SELECT COUNT(*). Error más frecuente en datos de prueba.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1828800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1828800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1865376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ORA-04092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0624" y="206654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 se puede hacer COMMIT en trigger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" y="2322576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triggers no pueden hacer COMMIT/ROLLBACK. La transacción la controla el bloque que disparó el trigger.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90872" y="1828800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1828800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55464" y="1865376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ORA-01403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55464" y="206654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 data found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55464" y="2322576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INTO sin resultado. Usar COUNT(*) antes o envolver en EXCEPTION WHEN NO_DATA_FOUND.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2889504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2889504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92608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ORA-04098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0624" y="312724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Trigger inválido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0624" y="338328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 compilación en el trigger. Ver: SELECT * FROM user_errors WHERE name='TRG_NOMBRE';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90872" y="2889504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90872" y="2889504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55464" y="2926080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ORA-02291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55464" y="312724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FK padre no existe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55464" y="338328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hijo sin padre en tabla referenciada. Insertar en orden correcto: padre ANTES que hijo.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56032" y="3950208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6032" y="3950208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3986784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ORA-06502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0624" y="4187952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VALUE_ERROR en PL/SQL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20624" y="4443984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muy pequeña para el dato (ej: VARCHAR2(5) recibe 'texto largo'). Aumentar el tamaño de la variable.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90872" y="3950208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90872" y="3950208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3986784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Olvidar /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55464" y="4187952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Bloque PL/SQL sin /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55464" y="4443984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bloque PL/SQL en SQL*Plus termina con / en línea aparte. Sin él, el código queda pendiente de ejecución.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E8902A"/>
          </a:solidFill>
          <a:ln w="12700">
            <a:solidFill>
              <a:srgbClr val="E89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Propuesto – Sistema de Biblioteca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566928"/>
          </a:xfrm>
          <a:prstGeom prst="rect">
            <a:avLst/>
          </a:prstGeom>
          <a:solidFill>
            <a:srgbClr val="0A1E35"/>
          </a:solidFill>
          <a:ln w="12700">
            <a:solidFill>
              <a:srgbClr val="E890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68096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Caso: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biblioteca universitaria gestiona libros, autores, socios y préstamos. Un socio puede tener activos hasta 3 libros prestados simultáneamente. Se cobra multa si se devuelve tarde.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08176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08176"/>
            <a:ext cx="475488" cy="58521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08176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9536" y="1499616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Oracle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TABLE: LIBRO, AUTOR, LIBRO_AUTOR(pivot N:M), SOCIO, PRESTAMO. Usar SEQUENCE+TRIGGER o GENERATED IDENTITY. Constraints: FK ON DELETE RESTRICT, CHECK devolucion_fecha &gt; prestamo_fecha.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066544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66544"/>
            <a:ext cx="47548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066544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2157984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fn_multa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multa por días de retraso: fn_multa(id_prestamo) RETURN NUMBER. Fórmula: si SYSDATE &gt; fecha_devolucion → (SYSDATE - fecha_devolucion) × 1500 pesos/día. Devolver 0 si está en tiempo.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24912"/>
            <a:ext cx="475488" cy="58521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72491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9536" y="2816352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sp_prestar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sp_prestar(p_socio, p_libro, p_resultado OUT). Validar: socio existe y activo, libro disponible (stock&gt;0), el socio no tiene ya ese libro, el socio tiene &lt; 3 préstamos activos. Si todo OK: insertar préstamo y reducir stock. COMMIT.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83280"/>
            <a:ext cx="475488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383280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" y="3474720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trg_audit_prestamo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 OR UPDATE OR DELETE en PRESTAMO. Registrar en AUDIT_LOG: acción, id_prestamo, id_socio, usuario, fecha. Usar INSERTING/UPDATING/DELETING para comportamiento polimórfico.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041648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041648"/>
            <a:ext cx="475488" cy="58521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041648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9536" y="4133088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y CONSULTAS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VIEW v_prestamos_activos con join PRESTAMO+LIBRO+SOCIO. Consulta analítica: socios con más préstamos del mes usando COUNT() + RANK() OVER. Socios con multa usando fn_multa().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700016"/>
            <a:ext cx="8595360" cy="201168"/>
          </a:xfrm>
          <a:prstGeom prst="rect">
            <a:avLst/>
          </a:prstGeom>
          <a:solidFill>
            <a:srgbClr val="E8902A">
              <a:alpha val="12000"/>
            </a:srgbClr>
          </a:solidFill>
          <a:ln w="12700">
            <a:solidFill>
              <a:srgbClr val="E890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4718304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biblioteca_oracle.sql (DDL + DML + FUNCTION + PROCEDURE + TRIGGER + VIEWS) ejecutable en SQL*Plus sin errores.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  TALLER PRÁCTICO – Sesión 11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13232"/>
            <a:ext cx="8412480" cy="566928"/>
          </a:xfrm>
          <a:prstGeom prst="rect">
            <a:avLst/>
          </a:prstGeom>
          <a:solidFill>
            <a:srgbClr val="0A1E35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49808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46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🏨  Caso: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Sistema de Gestión de un Hotel – Oracle Database XE 21c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8412480" cy="877824"/>
          </a:xfrm>
          <a:prstGeom prst="rect">
            <a:avLst/>
          </a:prstGeom>
          <a:solidFill>
            <a:srgbClr val="1A2C42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08176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hotel gestiona habitaciones por tipo (simple, doble, suite), huéspedes, reservas y facturación. Las tarifas varían según el tipo de habitación y temporada. Se aplican descuentos del 10% a huéspedes frecuentes (&gt; 5 reservas). Las reservas tienen estados: pendiente, confirmada, activa, finalizada, cancelada.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591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46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Actividades (2 horas):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8412480" cy="219456"/>
          </a:xfrm>
          <a:prstGeom prst="rect">
            <a:avLst/>
          </a:prstGeom>
          <a:solidFill>
            <a:srgbClr val="1A2C42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7919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DDL: tablas TIPO_HAB, HABITACION, HUESPED, RESERVA, FACTURA con SEQUENCE+TRIGGER, FK y CHECK.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8412480" cy="219456"/>
          </a:xfrm>
          <a:prstGeom prst="rect">
            <a:avLst/>
          </a:prstGeom>
          <a:solidFill>
            <a:srgbClr val="0B1F3A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3522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INSERT datos de prueba: 3 tipos de habitación, 10 habitaciones, 5 huéspedes, 8 reservas.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8412480" cy="219456"/>
          </a:xfrm>
          <a:prstGeom prst="rect">
            <a:avLst/>
          </a:prstGeom>
          <a:solidFill>
            <a:srgbClr val="1A2C42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9125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FUNCTION fn_descuento(p_id_huesped) RETURN NUMBER: devuelve 0.10 si tiene &gt; 5 reservas, 0 si no.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19856"/>
            <a:ext cx="8412480" cy="219456"/>
          </a:xfrm>
          <a:prstGeom prst="rect">
            <a:avLst/>
          </a:prstGeom>
          <a:solidFill>
            <a:srgbClr val="0B1F3A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4728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PROCEDURE sp_check_in(p_reserva, p_resultado OUT): cambiar estado a 'activa', validar disponibilidad.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75888"/>
            <a:ext cx="8412480" cy="219456"/>
          </a:xfrm>
          <a:prstGeom prst="rect">
            <a:avLst/>
          </a:prstGeom>
          <a:solidFill>
            <a:srgbClr val="1A2C42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03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 PROCEDURE sp_check_out(p_reserva, p_resultado OUT): calcular total (días × tarifa × (1-descuento)), crear FACTURA.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8412480" cy="219456"/>
          </a:xfrm>
          <a:prstGeom prst="rect">
            <a:avLst/>
          </a:prstGeom>
          <a:solidFill>
            <a:srgbClr val="0B1F3A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593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 TRIGGER trg_audit_reserva: auditar INSERT/UPDATE/DELETE en RESERVA con comportamiento polimórfico.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187952"/>
            <a:ext cx="8412480" cy="219456"/>
          </a:xfrm>
          <a:prstGeom prst="rect">
            <a:avLst/>
          </a:prstGeom>
          <a:solidFill>
            <a:srgbClr val="1A2C42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21538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g)  VIEW v_ocupacion_actual: habitaciones activas con nombre huésped, fecha entrada, días transcurridos.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462272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hotel_oracle.sql ejecutable en SQL*Plus sin errores + comentarios explicativos.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de Evaluación del Taller S11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68096"/>
            <a:ext cx="281635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68096"/>
            <a:ext cx="2816352" cy="3840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76809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pts  ·  DDL y Estructura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207008"/>
            <a:ext cx="2633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con tipos Oracle correctos (10)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SEQUENCE+TRIGGER o IDENTITY funcionales (5)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FK/CHECK/UNIQUE/NOT NULL (10)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768096"/>
            <a:ext cx="281635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68096"/>
            <a:ext cx="281635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76809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pts  ·  DML y Datos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207008"/>
            <a:ext cx="2633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completo sin errores ORA (10)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correcto de inserción (FK) (5)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coherentes con el negocio (5)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768096"/>
            <a:ext cx="281635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768096"/>
            <a:ext cx="28163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76809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pts  ·  PL/SQL: Function + SP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207008"/>
            <a:ext cx="2633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fn_descuento correcta (10)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sp_check_in con validaciones (7)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sp_check_out con cálculo + factura (8)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724912"/>
            <a:ext cx="281635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724912"/>
            <a:ext cx="2816352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72491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pts  ·  Trigger de Auditoría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163824"/>
            <a:ext cx="2633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Polimórfico INSERT/UPDATE/DELETE (8)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audit_log con datos correctos (4)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COMMIT dentro del trigger (3)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724912"/>
            <a:ext cx="281635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724912"/>
            <a:ext cx="2816352" cy="38404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72491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pts  ·  Vista y Calidad Código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3163824"/>
            <a:ext cx="263347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v_ocupacion_actual correcta (8)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organizado y comentado (4)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ejecuta completo sin errores (3)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645152"/>
            <a:ext cx="8595360" cy="256032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467258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Criterio extra: </a:t>
            </a:r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debe ejecutarse COMPLETO en SQL*Plus o SQL Developer sin errores. Puntos por criterio se reducen proporcionalmente si hay errores de compilación ORA.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Recursos y Documentación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68096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7463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68096"/>
            <a:ext cx="2816352" cy="329184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76809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 Oracle Docs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152144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docs.oracle.com → Oracle Database 21c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Language Reference: tipos, funciones, operadores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Language Reference: bloques, cursores, packages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Express Edition (XE) Documentation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768096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68096"/>
            <a:ext cx="2816352" cy="32918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76809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Oracle Live 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152144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livesql.oracle.com – entorno gratuito online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SQL y PL/SQL sin instalación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ejemplo Oracle incluidos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scripts con enlace permanente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768096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768096"/>
            <a:ext cx="2816352" cy="32918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76809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SQL Developer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152144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oracle.com/tools/sql-developer – gratis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completo + depurador PL/SQL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Modeler para diagramas E-R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múltiples tipos de BD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871216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871216"/>
            <a:ext cx="2816352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87121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Oracle APEX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255264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apex.oracle.com – cloud gratuito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apps web sobre Oracle en minutos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Formularios, reportes, gráficas automáticos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Oracle XE 21c (localhost:8443)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71216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71216"/>
            <a:ext cx="2816352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87121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Libros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3255264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PL/SQL by Example – Rosenzweig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Oracle by Design – Tom Kyte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SQL – Alan Beaulieu (O'Reilly)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12c SQL – Casteel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2871216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44768" y="2871216"/>
            <a:ext cx="2816352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87121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Práctica Online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6208" y="3255264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oracle.com/education → cursos Oracle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hackerrank.com/domains/sql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Analytics SQL Tutorial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University: OCA/OCP certifications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4 – Conectar Python y Java a Oracle XE 21c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11 · Oracle Database  |  Lenguajes de Última Generación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20624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Vista previa de las próximas sesiones (S14-S15): cómo aplicar todo lo aprendido sobre Oracle desde código de aplicación.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25296"/>
            <a:ext cx="4160520" cy="2871216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28016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– oracledb (preview S14)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499616"/>
            <a:ext cx="394106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+ Oracle (Sesión 14)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 install oracledb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oracledb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Conectar a Oracle XE 21c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 = oracledb.connect(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user='hr', password='hr123',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dsn='localhost:1521/XE'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 = conn.cursor()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SELECT con bind variables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cur.execute(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'SELECT nombre, salario FROM empleado 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'WHERE id_depto=:depto AND activo=:act',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{'depto': 1, 'act': 1}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cur.fetchall():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print(row)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Llamar un Stored Procedure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resultado = cur.var(oracledb.STRING)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cur.callproc('sp_contratar_empleado',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['EMP-200','Ana','García',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'ana@co',2500000,1,resultado,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cur.var(int)])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print(resultado.getvalue())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conn.commit()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cur.close()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conn.close()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225296"/>
            <a:ext cx="4160520" cy="2871216"/>
          </a:xfrm>
          <a:prstGeom prst="rect">
            <a:avLst/>
          </a:prstGeom>
          <a:solidFill>
            <a:srgbClr val="0D1117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18888" y="128016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– JDBC Oracle (preview S15)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8888" y="1499616"/>
            <a:ext cx="394106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+ Oracle JDBC (Sesión 15)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Dependencia: ojdbc11.jar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java.sql.*;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OracleDemo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a) throws Exception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Conectar a Oracle XE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url = "jdbc:oracle:thin:@//localhost:1521/XE";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Connection conn = DriverManager.getConnection(url,"hr","hr123");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conn.setAutoCommit(false);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PreparedStatement seguro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sql = "SELECT nombre,salario"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 " FROM empleado WHERE id_depto=?";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PreparedStatement ps = conn.prepareStatement(sql);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ps.setInt(1, 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ResultSet rs = ps.executeQuery();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while(rs.next())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rs.getString("nombre")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+": "+rs.getDouble("salario"));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Llamar SP con CallableStatement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CallableStatement cs=conn.prepareCall(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"{CALL sp_contratar_empleado(?,?,?,?,?,?,?,?)}");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cs.setString(1,"EMP-300");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cs.setString(2,"Luis"); cs.setString(3,"Ramos");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cs.setString(4,"l@co"); cs.setDouble(5,2500000);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cs.setInt(6,1);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cs.registerOutParameter(7, Types.VARCHAR);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cs.registerOutParameter(8, Types.NUMERIC);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cs.execute(); conn.commit();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System.out.println(cs.getString(7));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conn.close();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187952"/>
            <a:ext cx="8595360" cy="329184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42062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 (Python) y S15 (Java)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profundizarán en estas conexiones: connection pools, parámetros tipados, manejo de cursores, REF CURSOR, transacciones multi-sentencia, patron DAO/Repository y frameworks (SQLAlchemy, Spring Boot).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" cy="514350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0"/>
            <a:ext cx="146304" cy="5143500"/>
          </a:xfrm>
          <a:prstGeom prst="rect">
            <a:avLst/>
          </a:prstGeom>
          <a:solidFill>
            <a:srgbClr val="E8902A"/>
          </a:solidFill>
          <a:ln w="12700">
            <a:solidFill>
              <a:srgbClr val="E89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746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S11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" y="457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Database – Características Generales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04672" y="896112"/>
            <a:ext cx="2743200" cy="36576"/>
          </a:xfrm>
          <a:prstGeom prst="rect">
            <a:avLst/>
          </a:prstGeom>
          <a:solidFill>
            <a:srgbClr val="E8902A"/>
          </a:solidFill>
          <a:ln w="12700">
            <a:solidFill>
              <a:srgbClr val="E890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078992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078992"/>
            <a:ext cx="475488" cy="10789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078992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15214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 y Arquitectura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1463040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 empresarial. Instancia (SGA/PGA) ≠ Base de Datos (archivos). Oracle XE 21c gratuito.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19472" y="1078992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9472" y="1078992"/>
            <a:ext cx="475488" cy="10789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078992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15214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1463040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SQL*Plus, SQL Developer, APEX. EXPLAIN PLAN + índices para rendimiento.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" y="2267712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2267712"/>
            <a:ext cx="475488" cy="10789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267712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234086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DDL Oracle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2651760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NUMBER/VARCHAR2/DATE, SEQUENCE+TRIGGER, GENERATED IDENTITY (12c+). Constraints nombrados.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19472" y="2267712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19472" y="2267712"/>
            <a:ext cx="475488" cy="10789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267712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234086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DML Oracle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2651760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con COMMIT explícito. MERGE para UPSERT. RETURNING INTO para obtener ID.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4672" y="3456432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3456432"/>
            <a:ext cx="475488" cy="10789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456432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352958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 – Control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3840480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DECLARE/BEGIN/EXCEPTION, IF/CASE/LOOP/FOR, %TYPE/%ROWTYPE, cursores.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19472" y="3456432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19472" y="3456432"/>
            <a:ext cx="475488" cy="1078992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456432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3529584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0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PL/SQL – Objetos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3840480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(IN/OUT), FUNCTION (RETURN), PACKAGE (spec+body), TRIGGER polimórfico.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12: Herramientas de Desarrollo 4GL – Oracle Forms, Reports, APEX y Generadores de Aplicaciones.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11 – Oracle Database: Características Generales</dc:title>
  <dc:subject>PptxGenJS Presentation</dc:subject>
  <dc:creator>PptxGenJS</dc:creator>
  <cp:lastModifiedBy>PptxGenJS</cp:lastModifiedBy>
  <cp:revision>1</cp:revision>
  <dcterms:created xsi:type="dcterms:W3CDTF">2026-04-19T19:57:47Z</dcterms:created>
  <dcterms:modified xsi:type="dcterms:W3CDTF">2026-04-19T19:57:47Z</dcterms:modified>
</cp:coreProperties>
</file>