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548640"/>
          </a:xfrm>
          <a:prstGeom prst="rect">
            <a:avLst/>
          </a:prstGeom>
          <a:noFill/>
        </p:spPr>
        <p:txBody>
          <a:bodyPr wrap="square">
            <a:spAutoFit/>
          </a:bodyPr>
          <a:lstStyle/>
          <a:p>
            <a:pPr algn="l"/>
            <a:r>
              <a:rPr sz="1900" b="1" i="0">
                <a:solidFill>
                  <a:srgbClr val="00C8E0"/>
                </a:solidFill>
              </a:rPr>
              <a:t>SESIÓN 19 | HERRAMIENTAS CASE | LABORATORIO</a:t>
            </a:r>
          </a:p>
        </p:txBody>
      </p:sp>
      <p:sp>
        <p:nvSpPr>
          <p:cNvPr id="4" name="TextBox 3"/>
          <p:cNvSpPr txBox="1"/>
          <p:nvPr/>
        </p:nvSpPr>
        <p:spPr>
          <a:xfrm>
            <a:off x="365760" y="685800"/>
            <a:ext cx="11430000" cy="502920"/>
          </a:xfrm>
          <a:prstGeom prst="rect">
            <a:avLst/>
          </a:prstGeom>
          <a:noFill/>
        </p:spPr>
        <p:txBody>
          <a:bodyPr wrap="square">
            <a:spAutoFit/>
          </a:bodyPr>
          <a:lstStyle/>
          <a:p>
            <a:pPr algn="l"/>
            <a:r>
              <a:rPr sz="1300" b="0" i="0">
                <a:solidFill>
                  <a:srgbClr val="FFFFFF"/>
                </a:solidFill>
              </a:rPr>
              <a:t>Mg. Sergio Alejandro Burbano Mena | Universitaria de Colombia</a:t>
            </a:r>
          </a:p>
        </p:txBody>
      </p:sp>
      <p:sp>
        <p:nvSpPr>
          <p:cNvPr id="5" name="TextBox 4"/>
          <p:cNvSpPr txBox="1"/>
          <p:nvPr/>
        </p:nvSpPr>
        <p:spPr>
          <a:xfrm>
            <a:off x="457200" y="1554480"/>
            <a:ext cx="11247120" cy="2103120"/>
          </a:xfrm>
          <a:prstGeom prst="rect">
            <a:avLst/>
          </a:prstGeom>
          <a:noFill/>
        </p:spPr>
        <p:txBody>
          <a:bodyPr wrap="square">
            <a:spAutoFit/>
          </a:bodyPr>
          <a:lstStyle/>
          <a:p>
            <a:pPr algn="ctr"/>
            <a:r>
              <a:rPr sz="3500" b="1" i="0">
                <a:solidFill>
                  <a:srgbClr val="FFFFFF"/>
                </a:solidFill>
              </a:rPr>
              <a:t>Sesión 19: Generación de Código y
Laboratorio Oracle Database 12C</a:t>
            </a:r>
          </a:p>
        </p:txBody>
      </p:sp>
      <p:sp>
        <p:nvSpPr>
          <p:cNvPr id="6" name="TextBox 5"/>
          <p:cNvSpPr txBox="1"/>
          <p:nvPr/>
        </p:nvSpPr>
        <p:spPr>
          <a:xfrm>
            <a:off x="457200" y="3749039"/>
            <a:ext cx="11247120" cy="1097280"/>
          </a:xfrm>
          <a:prstGeom prst="rect">
            <a:avLst/>
          </a:prstGeom>
          <a:noFill/>
        </p:spPr>
        <p:txBody>
          <a:bodyPr wrap="square">
            <a:spAutoFit/>
          </a:bodyPr>
          <a:lstStyle/>
          <a:p>
            <a:pPr algn="ctr"/>
            <a:r>
              <a:rPr sz="1900" b="0" i="1">
                <a:solidFill>
                  <a:srgbClr val="00C8E0"/>
                </a:solidFill>
              </a:rPr>
              <a:t>Del repositorio CASE a la implementación real en Oracle</a:t>
            </a:r>
          </a:p>
        </p:txBody>
      </p:sp>
      <p:sp>
        <p:nvSpPr>
          <p:cNvPr id="7" name="Rectangle 6"/>
          <p:cNvSpPr/>
          <p:nvPr/>
        </p:nvSpPr>
        <p:spPr>
          <a:xfrm>
            <a:off x="0" y="5943600"/>
            <a:ext cx="12188952" cy="914400"/>
          </a:xfrm>
          <a:prstGeom prst="rect">
            <a:avLst/>
          </a:prstGeom>
          <a:solidFill>
            <a:srgbClr val="263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053328"/>
            <a:ext cx="11612880" cy="658368"/>
          </a:xfrm>
          <a:prstGeom prst="rect">
            <a:avLst/>
          </a:prstGeom>
          <a:noFill/>
        </p:spPr>
        <p:txBody>
          <a:bodyPr wrap="square">
            <a:spAutoFit/>
          </a:bodyPr>
          <a:lstStyle/>
          <a:p>
            <a:pPr algn="ctr"/>
            <a:r>
              <a:rPr sz="1400" b="0" i="0">
                <a:solidFill>
                  <a:srgbClr val="FFFFFF"/>
                </a:solidFill>
              </a:rPr>
              <a:t>Laboratorio Práctico | Oracle Database 12C | Generación de Código y Documentación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Agenda de la Sesión 19</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1. Repaso Sesión 18: herramientas CASE y Oracle 12C multitenant</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2. Forward Engineering: generación de DDL desde el repositorio CASE</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3. Generación de documentación técnica automática</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4. PL/SQL: lógica de negocio dentro de Oracle 12C</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5. Laboratorio: implementación paso a paso en Oracle 12C</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6. Procedimientos, triggers y packages: código desde CASE</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7. Validación y pruebas del esquema implementado</a:t>
            </a:r>
          </a:p>
        </p:txBody>
      </p:sp>
      <p:sp>
        <p:nvSpPr>
          <p:cNvPr id="18" name="Rectangle 17"/>
          <p:cNvSpPr/>
          <p:nvPr/>
        </p:nvSpPr>
        <p:spPr>
          <a:xfrm>
            <a:off x="274320" y="4901183"/>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 y="4882896"/>
            <a:ext cx="7955279" cy="512064"/>
          </a:xfrm>
          <a:prstGeom prst="rect">
            <a:avLst/>
          </a:prstGeom>
          <a:noFill/>
        </p:spPr>
        <p:txBody>
          <a:bodyPr wrap="square">
            <a:spAutoFit/>
          </a:bodyPr>
          <a:lstStyle/>
          <a:p>
            <a:pPr algn="l"/>
            <a:r>
              <a:rPr sz="1400" b="0" i="0">
                <a:solidFill>
                  <a:srgbClr val="334455"/>
                </a:solidFill>
              </a:rPr>
              <a:t>8. Proyecto final de laboratorio</a:t>
            </a:r>
          </a:p>
        </p:txBody>
      </p:sp>
      <p:sp>
        <p:nvSpPr>
          <p:cNvPr id="20" name="Rectangle 19"/>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Mapa de ruta del laboratorio con checkpoints por cada fase</a:t>
            </a:r>
          </a:p>
        </p:txBody>
      </p:sp>
      <p:sp>
        <p:nvSpPr>
          <p:cNvPr id="22" name="Rectangle 21"/>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Objetivo de la Sesión 19</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Generar código DDL y PL/SQL directamente desde el repositorio de una herramienta CASE.</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Implementar un esquema de BD completo en Oracle Database 12C paso a paso.</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Crear documentación técnica automática desde Oracle Data Modeler.</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Desarrollar procedimientos almacenados, triggers y packages en PL/SQL.</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Validar la integridad del esquema implementado con datos de prueba.</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Relacionar el proceso con el funcionamiento real de los sistemas empresariales.</a:t>
            </a:r>
          </a:p>
        </p:txBody>
      </p:sp>
      <p:sp>
        <p:nvSpPr>
          <p:cNvPr id="16" name="Rectangle 15"/>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Diagrama de objetivos de aprendizaje como nodos de un árbol</a:t>
            </a:r>
          </a:p>
        </p:txBody>
      </p:sp>
      <p:sp>
        <p:nvSpPr>
          <p:cNvPr id="18" name="Rectangle 1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6354F"/>
        </a:solidFill>
        <a:effectLst/>
      </p:bgPr>
    </p:bg>
    <p:spTree>
      <p:nvGrpSpPr>
        <p:cNvPr id="1" name=""/>
        <p:cNvGrpSpPr/>
        <p:nvPr/>
      </p:nvGrpSpPr>
      <p:grpSpPr/>
      <p:sp>
        <p:nvSpPr>
          <p:cNvPr id="2" name="Rectangle 1"/>
          <p:cNvSpPr/>
          <p:nvPr/>
        </p:nvSpPr>
        <p:spPr>
          <a:xfrm>
            <a:off x="0" y="2834640"/>
            <a:ext cx="12188952" cy="914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47120" cy="1645920"/>
          </a:xfrm>
          <a:prstGeom prst="rect">
            <a:avLst/>
          </a:prstGeom>
          <a:noFill/>
        </p:spPr>
        <p:txBody>
          <a:bodyPr wrap="square">
            <a:spAutoFit/>
          </a:bodyPr>
          <a:lstStyle/>
          <a:p>
            <a:pPr algn="ctr"/>
            <a:r>
              <a:rPr sz="3200" b="1" i="0">
                <a:solidFill>
                  <a:srgbClr val="FFFFFF"/>
                </a:solidFill>
              </a:rPr>
              <a:t>Forward Engineering: Del Modelo al Código</a:t>
            </a:r>
          </a:p>
        </p:txBody>
      </p:sp>
      <p:sp>
        <p:nvSpPr>
          <p:cNvPr id="4" name="TextBox 3"/>
          <p:cNvSpPr txBox="1"/>
          <p:nvPr/>
        </p:nvSpPr>
        <p:spPr>
          <a:xfrm>
            <a:off x="457200" y="3063240"/>
            <a:ext cx="11247120" cy="822960"/>
          </a:xfrm>
          <a:prstGeom prst="rect">
            <a:avLst/>
          </a:prstGeom>
          <a:noFill/>
        </p:spPr>
        <p:txBody>
          <a:bodyPr wrap="square">
            <a:spAutoFit/>
          </a:bodyPr>
          <a:lstStyle/>
          <a:p>
            <a:pPr algn="ctr"/>
            <a:r>
              <a:rPr sz="1800" b="0" i="1">
                <a:solidFill>
                  <a:srgbClr val="00C8E0"/>
                </a:solidFill>
              </a:rPr>
              <a:t>Generación de DDL desde el Repositorio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¿Qué es Forward Engineering?</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Forward Engineering: proceso de transformar un modelo CASE en código ejecutable (DDL).</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El Data Modeler genera automáticamente CREATE TABLE, CREATE INDEX, ALTER TABLE... FOREIGN KEY.</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También genera secuencias, constraints, comentarios de tabla y vistas desde el modelo.</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El código generado es 100% compatible con Oracle 12C (o el SGBD configurado).</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Ventaja: el DDL está libre de errores de sintaxis y es consistente con el modelo.</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El proceso es bidireccional: forward (modelo→BD) y reverse (BD→modelo).</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Permite filtrar qué objetos incluir en la generación: solo tablas, solo índices, etc.</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Diagrama: Oracle Data Modeler → [Forward Engineering] → Script DDL → Oracle 12C</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Pasos del Forward Engineering en Oracle Data Modeler</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PASO 1: Verificar el modelo físico está completo (tipos de dato Oracle, tablespaces asignados).</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PASO 2: Menú Engineer → Engineering Properties → Seleccionar objetos a generar.</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PASO 3: Engineer to Relational Model → validar sin errores en el panel de mensajes.</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PASO 4: DDL Preview → revisar el script antes de ejecutarlo.</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PASO 5: Save Script → guardar el .sql versionado en el repositorio.</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PASO 6: Execute en SQL Developer → conectar a la PDB Oracle 12C y ejecutar.</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PASO 7: Verify → ejecutar SELECT count(*) de USER_TABLES para confirmar la creación.</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Capturas simuladas de los 7 pasos en la interfaz de Data Modeler</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DDL Generado: Ejemplo CREATE TABLE en Oracle 12C</a:t>
            </a:r>
          </a:p>
        </p:txBody>
      </p:sp>
      <p:sp>
        <p:nvSpPr>
          <p:cNvPr id="4" name="Rectangle 3"/>
          <p:cNvSpPr/>
          <p:nvPr/>
        </p:nvSpPr>
        <p:spPr>
          <a:xfrm>
            <a:off x="274320" y="1097280"/>
            <a:ext cx="731520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88720"/>
            <a:ext cx="7132320" cy="5029200"/>
          </a:xfrm>
          <a:prstGeom prst="rect">
            <a:avLst/>
          </a:prstGeom>
          <a:noFill/>
        </p:spPr>
        <p:txBody>
          <a:bodyPr wrap="square">
            <a:spAutoFit/>
          </a:bodyPr>
          <a:lstStyle/>
          <a:p>
            <a:pPr algn="l"/>
            <a:r>
              <a:rPr sz="1200" b="0" i="0">
                <a:solidFill>
                  <a:srgbClr val="00C8E0"/>
                </a:solidFill>
              </a:rPr>
              <a:t>-- Generado por Oracle SQL Developer Data Modeler
-- Versión: 23.1.0 | Proyecto: SistemaHotel v2.3
CREATE TABLE HABITACION (
  id_habitacion  NUMBER(10)      NOT NULL,
  numero         VARCHAR2(10)    NOT NULL,
  tipo           VARCHAR2(20)    NOT NULL,
  precio_noche   NUMBER(10,2)    NOT NULL,
  piso           NUMBER(3)       NOT NULL,
  estado         VARCHAR2(20)    DEFAULT 'DISPONIBLE',
  descripcion    VARCHAR2(500),
  CONSTRAINT hab_pk PRIMARY KEY (id_habitacion),
  CONSTRAINT hab_tipo_ck CHECK
    (tipo IN ('SIMPLE','DOBLE','SUITE')),
  CONSTRAINT hab_estado_ck CHECK
    (estado IN ('DISPONIBLE','OCUPADA','MANTENIMIENTO'))
) TABLESPACE TS_DATOS;
CREATE SEQUENCE hab_seq
  START WITH 1 INCREMENT BY 1
  NOCACHE NOCYCLE;
COMMENT ON TABLE HABITACION IS
  'Habitaciones disponibles en el hotel';
COMMENT ON COLUMN HABITACION.tipo IS
  'Tipo: SIMPLE, DOBLE o SUITE';</a:t>
            </a:r>
          </a:p>
        </p:txBody>
      </p:sp>
      <p:sp>
        <p:nvSpPr>
          <p:cNvPr id="6" name="Rectangle 5"/>
          <p:cNvSpPr/>
          <p:nvPr/>
        </p:nvSpPr>
        <p:spPr>
          <a:xfrm>
            <a:off x="7863840" y="1097280"/>
            <a:ext cx="4114800" cy="521208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234440"/>
            <a:ext cx="3931920" cy="5029200"/>
          </a:xfrm>
          <a:prstGeom prst="rect">
            <a:avLst/>
          </a:prstGeom>
          <a:noFill/>
        </p:spPr>
        <p:txBody>
          <a:bodyPr wrap="square">
            <a:spAutoFit/>
          </a:bodyPr>
          <a:lstStyle/>
          <a:p>
            <a:pPr algn="l"/>
            <a:r>
              <a:rPr sz="1200" b="0" i="0">
                <a:solidFill>
                  <a:srgbClr val="FFFFFF"/>
                </a:solidFill>
              </a:rPr>
              <a:t>📝 Explicación:
• NUMBER(10): entero hasta 10 dígitos
• VARCHAR2: cadena variable (estándar Oracle)
• CONSTRAINT INLINE: PK definida en la tabla
• CHECK: validación de dominio en BD
• TABLESPACE: asigna al tablespace de datos
• SEQUENCE: autoincremento Oracle
• COMMENT: documentación en el catálogo</a:t>
            </a:r>
          </a:p>
        </p:txBody>
      </p:sp>
      <p:sp>
        <p:nvSpPr>
          <p:cNvPr id="8" name="Rectangle 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DDL Generado: CREATE TABLE con FK en Oracle 12C</a:t>
            </a:r>
          </a:p>
        </p:txBody>
      </p:sp>
      <p:sp>
        <p:nvSpPr>
          <p:cNvPr id="4" name="Rectangle 3"/>
          <p:cNvSpPr/>
          <p:nvPr/>
        </p:nvSpPr>
        <p:spPr>
          <a:xfrm>
            <a:off x="274320" y="1097280"/>
            <a:ext cx="731520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88720"/>
            <a:ext cx="7132320" cy="5029200"/>
          </a:xfrm>
          <a:prstGeom prst="rect">
            <a:avLst/>
          </a:prstGeom>
          <a:noFill/>
        </p:spPr>
        <p:txBody>
          <a:bodyPr wrap="square">
            <a:spAutoFit/>
          </a:bodyPr>
          <a:lstStyle/>
          <a:p>
            <a:pPr algn="l"/>
            <a:r>
              <a:rPr sz="1200" b="0" i="0">
                <a:solidFill>
                  <a:srgbClr val="00C8E0"/>
                </a:solidFill>
              </a:rPr>
              <a:t>-- Tabla RESERVA con clave foránea
CREATE TABLE RESERVA (
  id_reserva     NUMBER(10)   NOT NULL,
  id_huesped     NUMBER(10)   NOT NULL,
  id_habitacion  NUMBER(10)   NOT NULL,
  fecha_entrada  DATE         NOT NULL,
  fecha_salida   DATE         NOT NULL,
  estado         VARCHAR2(20) DEFAULT 'CONFIRMADA',
  total_estimado NUMBER(12,2),
  CONSTRAINT res_pk
    PRIMARY KEY (id_reserva),
  CONSTRAINT res_huesped_fk
    FOREIGN KEY (id_huesped)
    REFERENCES HUESPED(id_huesped)
    ON DELETE RESTRICT,
  CONSTRAINT res_hab_fk
    FOREIGN KEY (id_habitacion)
    REFERENCES HABITACION(id_habitacion),
  CONSTRAINT res_fechas_ck
    CHECK (fecha_salida &gt; fecha_entrada)
) TABLESPACE TS_DATOS;
-- Índice en FK (generado automáticamente por Data Modeler)
CREATE INDEX idx_res_huesped
  ON RESERVA(id_huesped) TABLESPACE TS_INDICES;
CREATE INDEX idx_res_hab
  ON RESERVA(id_habitacion) TABLESPACE TS_INDICES;</a:t>
            </a:r>
          </a:p>
        </p:txBody>
      </p:sp>
      <p:sp>
        <p:nvSpPr>
          <p:cNvPr id="6" name="Rectangle 5"/>
          <p:cNvSpPr/>
          <p:nvPr/>
        </p:nvSpPr>
        <p:spPr>
          <a:xfrm>
            <a:off x="7863840" y="1097280"/>
            <a:ext cx="4114800" cy="521208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234440"/>
            <a:ext cx="3931920" cy="5029200"/>
          </a:xfrm>
          <a:prstGeom prst="rect">
            <a:avLst/>
          </a:prstGeom>
          <a:noFill/>
        </p:spPr>
        <p:txBody>
          <a:bodyPr wrap="square">
            <a:spAutoFit/>
          </a:bodyPr>
          <a:lstStyle/>
          <a:p>
            <a:pPr algn="l"/>
            <a:r>
              <a:rPr sz="1200" b="0" i="0">
                <a:solidFill>
                  <a:srgbClr val="FFFFFF"/>
                </a:solidFill>
              </a:rPr>
              <a:t>📝 Explicación:
• FK con REFERENCES: integridad referencial
• ON DELETE RESTRICT: protege el registro padre
• CHECK en fechas: regla de negocio en BD
• Índices en FK: automáticos en Data Modeler
• Separación TS_DATOS / TS_INDICES: buena práctica Oracle
• DEFAULT: valor por defecto en columna</a:t>
            </a:r>
          </a:p>
        </p:txBody>
      </p:sp>
      <p:sp>
        <p:nvSpPr>
          <p:cNvPr id="8" name="Rectangle 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354F"/>
        </a:solidFill>
        <a:effectLst/>
      </p:bgPr>
    </p:bg>
    <p:spTree>
      <p:nvGrpSpPr>
        <p:cNvPr id="1" name=""/>
        <p:cNvGrpSpPr/>
        <p:nvPr/>
      </p:nvGrpSpPr>
      <p:grpSpPr/>
      <p:sp>
        <p:nvSpPr>
          <p:cNvPr id="2" name="Rectangle 1"/>
          <p:cNvSpPr/>
          <p:nvPr/>
        </p:nvSpPr>
        <p:spPr>
          <a:xfrm>
            <a:off x="0" y="2834640"/>
            <a:ext cx="12188952" cy="914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47120" cy="1645920"/>
          </a:xfrm>
          <a:prstGeom prst="rect">
            <a:avLst/>
          </a:prstGeom>
          <a:noFill/>
        </p:spPr>
        <p:txBody>
          <a:bodyPr wrap="square">
            <a:spAutoFit/>
          </a:bodyPr>
          <a:lstStyle/>
          <a:p>
            <a:pPr algn="ctr"/>
            <a:r>
              <a:rPr sz="3200" b="1" i="0">
                <a:solidFill>
                  <a:srgbClr val="FFFFFF"/>
                </a:solidFill>
              </a:rPr>
              <a:t>Generación de Documentación Técnica</a:t>
            </a:r>
          </a:p>
        </p:txBody>
      </p:sp>
      <p:sp>
        <p:nvSpPr>
          <p:cNvPr id="4" name="TextBox 3"/>
          <p:cNvSpPr txBox="1"/>
          <p:nvPr/>
        </p:nvSpPr>
        <p:spPr>
          <a:xfrm>
            <a:off x="457200" y="3063240"/>
            <a:ext cx="11247120" cy="822960"/>
          </a:xfrm>
          <a:prstGeom prst="rect">
            <a:avLst/>
          </a:prstGeom>
          <a:noFill/>
        </p:spPr>
        <p:txBody>
          <a:bodyPr wrap="square">
            <a:spAutoFit/>
          </a:bodyPr>
          <a:lstStyle/>
          <a:p>
            <a:pPr algn="ctr"/>
            <a:r>
              <a:rPr sz="1800" b="0" i="1">
                <a:solidFill>
                  <a:srgbClr val="00C8E0"/>
                </a:solidFill>
              </a:rPr>
              <a:t>Diccionario de Datos y Reportes desde el Repositorio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Documentación Automática desde Oracle Data Modeler</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Oracle Data Modeler genera documentación técnica directamente desde el repositorio del modelo.</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DICCIONARIO DE DATOS: tabla por tabla, columna por columna, con tipos, constraints y comentarios.</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REPORTE HTML: navegable en navegador; ideal para compartir con el equipo sin instalar software.</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REPORTE PDF: formato para auditorías, presentaciones a gerencia o entrega al cliente.</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REPORTE DDL: el script SQL completo como documento técnico de referencia.</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DIAGRAMA EN IMAGEN: exporta el ERD como PNG o SVG para insertar en documentos Word/PowerPoint.</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La documentación se regenera automáticamente cuando el modelo se actualiza.</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Captura simulada del reporte HTML generado con el diccionario de datos de 3 tablas</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Contenido del Diccionario de Datos Generado</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TABLA: nombre, descripción, tablespace, número de columnas, fecha de creación del modelo.</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COLUMNA: nombre, tipo de dato, tamaño, nulabilidad, valor default, descripción.</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CONSTRAINT: nombre, tipo (PK/FK/UK/CK), columnas involucradas, tabla referenciada.</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ÍNDICE: nombre, columnas, tipo (B-Tree, Bitmap), tablespace.</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SECUENCIA: nombre, valor inicial, incremento.</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RELACIÓN: entidades involucradas, cardinalidad, nombre semántico.</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GLOSARIO: términos del negocio definidos en el modelo lógico.</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Ejemplo de página de diccionario de datos: ficha de la tabla RESERVA con todos sus campos</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Consultas al Catálogo de Oracle 12C para Validar el Esquema</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USER_TABLES: lista todas las tablas del esquema actual con su tablespace y # de filas.</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USER_COLUMNS: todas las columnas de cada tabla con tipo de dato y nulabilidad.</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USER_CONSTRAINTS: lista de constraints (PK, FK, UK, CK, NOT NULL) del esquema.</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USER_INDEXES: índices del esquema con columnas y estado (VALID/INVALID).</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USER_SEQUENCES: secuencias disponibles con valor actual e incremento.</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USER_OBJECTS: todos los objetos del esquema (tablas, vistas, procedimientos, triggers).</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ALL_* vs USER_*: USER muestra objetos propios; ALL muestra a los que tienes acceso.</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Código SQL: SELECT table_name, num_rows FROM USER_TABLES ORDER BY table_name</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354F"/>
        </a:solidFill>
        <a:effectLst/>
      </p:bgPr>
    </p:bg>
    <p:spTree>
      <p:nvGrpSpPr>
        <p:cNvPr id="1" name=""/>
        <p:cNvGrpSpPr/>
        <p:nvPr/>
      </p:nvGrpSpPr>
      <p:grpSpPr/>
      <p:sp>
        <p:nvSpPr>
          <p:cNvPr id="2" name="Rectangle 1"/>
          <p:cNvSpPr/>
          <p:nvPr/>
        </p:nvSpPr>
        <p:spPr>
          <a:xfrm>
            <a:off x="0" y="2834640"/>
            <a:ext cx="12188952" cy="914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47120" cy="1645920"/>
          </a:xfrm>
          <a:prstGeom prst="rect">
            <a:avLst/>
          </a:prstGeom>
          <a:noFill/>
        </p:spPr>
        <p:txBody>
          <a:bodyPr wrap="square">
            <a:spAutoFit/>
          </a:bodyPr>
          <a:lstStyle/>
          <a:p>
            <a:pPr algn="ctr"/>
            <a:r>
              <a:rPr sz="3200" b="1" i="0">
                <a:solidFill>
                  <a:srgbClr val="FFFFFF"/>
                </a:solidFill>
              </a:rPr>
              <a:t>PL/SQL: Lógica de Negocio en Oracle 12C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¿Qué es PL/SQL y por qué usarlo?</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PL/SQL (Procedural Language/SQL): extensión procedural de SQL diseñada por Oracle.</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Combina el poder de SQL con estructuras de control: IF, LOOP, CURSOR, EXCEPTION.</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Ejecuta en el servidor Oracle: reduce el tráfico de red al centralizar la lógica.</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BLOCKS: DECLARE (variables), BEGIN (lógica), EXCEPTION (manejo de errores), END.</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SUBPROGRAMAS: Procedures (no retornan valor), Functions (retornan un valor).</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PACKAGES: contenedores de procedures y functions relacionados; mejor organización.</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TRIGGERS: código automático que se ejecuta ante eventos DML (INSERT, UPDATE, DELETE).</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Estructura de un bloque PL/SQL con colores por sección: DECLARE/BEGIN/EXCEPTION/END</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PL/SQL: Stored Procedure para Registrar Reserva</a:t>
            </a:r>
          </a:p>
        </p:txBody>
      </p:sp>
      <p:sp>
        <p:nvSpPr>
          <p:cNvPr id="4" name="Rectangle 3"/>
          <p:cNvSpPr/>
          <p:nvPr/>
        </p:nvSpPr>
        <p:spPr>
          <a:xfrm>
            <a:off x="274320" y="1097280"/>
            <a:ext cx="731520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88720"/>
            <a:ext cx="7132320" cy="5029200"/>
          </a:xfrm>
          <a:prstGeom prst="rect">
            <a:avLst/>
          </a:prstGeom>
          <a:noFill/>
        </p:spPr>
        <p:txBody>
          <a:bodyPr wrap="square">
            <a:spAutoFit/>
          </a:bodyPr>
          <a:lstStyle/>
          <a:p>
            <a:pPr algn="l"/>
            <a:r>
              <a:rPr sz="1200" b="0" i="0">
                <a:solidFill>
                  <a:srgbClr val="00C8E0"/>
                </a:solidFill>
              </a:rPr>
              <a:t>CREATE OR REPLACE PROCEDURE registrar_reserva (
  p_id_huesped    IN NUMBER,
  p_id_habitacion IN NUMBER,
  p_fecha_entrada IN DATE,
  p_fecha_salida  IN DATE,
  p_id_reserva   OUT NUMBER
) AS
  v_estado_hab VARCHAR2(20);
  v_precio     NUMBER(10,2);
  v_noches     NUMBER;
BEGIN
  -- Verificar disponibilidad
  SELECT estado, precio_noche
    INTO v_estado_hab, v_precio
    FROM HABITACION
   WHERE id_habitacion = p_id_habitacion;
  IF v_estado_hab != 'DISPONIBLE' THEN
    RAISE_APPLICATION_ERROR(-20001,
      'Habitación no disponible');
  END IF;
  v_noches := p_fecha_salida - p_fecha_entrada;
  INSERT INTO RESERVA
    (id_reserva, id_huesped, id_habitacion,
     fecha_entrada, fecha_salida, total_estimado)
  VALUES
    (res_seq.NEXTVAL, p_id_huesped, p_id_habitacion,
     p_fecha_entrada, p_fecha_salida, v_precio*v_noches)
  RETURNING id_reserva INTO p_id_reserva;
  COMMIT;
EXCEPTION
  WHEN NO_DATA_FOUND THEN
    RAISE_APPLICATION_ERROR(-20002, 'Habitación inexistente');
END registrar_reserva;</a:t>
            </a:r>
          </a:p>
        </p:txBody>
      </p:sp>
      <p:sp>
        <p:nvSpPr>
          <p:cNvPr id="6" name="Rectangle 5"/>
          <p:cNvSpPr/>
          <p:nvPr/>
        </p:nvSpPr>
        <p:spPr>
          <a:xfrm>
            <a:off x="7863840" y="1097280"/>
            <a:ext cx="4114800" cy="521208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234440"/>
            <a:ext cx="3931920" cy="5029200"/>
          </a:xfrm>
          <a:prstGeom prst="rect">
            <a:avLst/>
          </a:prstGeom>
          <a:noFill/>
        </p:spPr>
        <p:txBody>
          <a:bodyPr wrap="square">
            <a:spAutoFit/>
          </a:bodyPr>
          <a:lstStyle/>
          <a:p>
            <a:pPr algn="l"/>
            <a:r>
              <a:rPr sz="1200" b="0" i="0">
                <a:solidFill>
                  <a:srgbClr val="FFFFFF"/>
                </a:solidFill>
              </a:rPr>
              <a:t>📝 Explicación:
• CREATE OR REPLACE: reemplaza si existe
• IN/OUT: dirección de los parámetros
• SELECT INTO: captura valor en variable
• IF/THEN: control condicional
• RAISE_APPLICATION_ERROR: error personalizado
• RETURNING INTO: captura el ID insertado
• COMMIT: confirma la transacción
• EXCEPTION: manejo estructurado de errores</a:t>
            </a:r>
          </a:p>
        </p:txBody>
      </p:sp>
      <p:sp>
        <p:nvSpPr>
          <p:cNvPr id="8" name="Rectangle 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PL/SQL: Trigger de Auditoría en Oracle 12C</a:t>
            </a:r>
          </a:p>
        </p:txBody>
      </p:sp>
      <p:sp>
        <p:nvSpPr>
          <p:cNvPr id="4" name="Rectangle 3"/>
          <p:cNvSpPr/>
          <p:nvPr/>
        </p:nvSpPr>
        <p:spPr>
          <a:xfrm>
            <a:off x="274320" y="1097280"/>
            <a:ext cx="731520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188720"/>
            <a:ext cx="7132320" cy="5029200"/>
          </a:xfrm>
          <a:prstGeom prst="rect">
            <a:avLst/>
          </a:prstGeom>
          <a:noFill/>
        </p:spPr>
        <p:txBody>
          <a:bodyPr wrap="square">
            <a:spAutoFit/>
          </a:bodyPr>
          <a:lstStyle/>
          <a:p>
            <a:pPr algn="l"/>
            <a:r>
              <a:rPr sz="1200" b="0" i="0">
                <a:solidFill>
                  <a:srgbClr val="00C8E0"/>
                </a:solidFill>
              </a:rPr>
              <a:t>-- Tabla de auditoría
CREATE TABLE AUDITORIA_RESERVA (
  id_auditoria   NUMBER GENERATED ALWAYS AS IDENTITY,
  id_reserva     NUMBER,
  operacion      VARCHAR2(10),
  estado_antes   VARCHAR2(20),
  estado_despues VARCHAR2(20),
  usuario_oracle VARCHAR2(50),
  fecha_cambio   TIMESTAMP DEFAULT SYSTIMESTAMP,
  CONSTRAINT aud_pk PRIMARY KEY (id_auditoria)
);
-- Trigger de auditoría
CREATE OR REPLACE TRIGGER trg_aud_reserva
  AFTER UPDATE OF estado ON RESERVA
  FOR EACH ROW
DECLARE
  v_op VARCHAR2(10) := 'UPDATE';
BEGIN
  INSERT INTO AUDITORIA_RESERVA
    (id_reserva, operacion,
     estado_antes, estado_despues,
     usuario_oracle)
  VALUES
    (:OLD.id_reserva, v_op,
     :OLD.estado, :NEW.estado,
     SYS_CONTEXT('USERENV','SESSION_USER'));
END trg_aud_reserva;</a:t>
            </a:r>
          </a:p>
        </p:txBody>
      </p:sp>
      <p:sp>
        <p:nvSpPr>
          <p:cNvPr id="6" name="Rectangle 5"/>
          <p:cNvSpPr/>
          <p:nvPr/>
        </p:nvSpPr>
        <p:spPr>
          <a:xfrm>
            <a:off x="7863840" y="1097280"/>
            <a:ext cx="4114800" cy="521208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79" y="1234440"/>
            <a:ext cx="3931920" cy="5029200"/>
          </a:xfrm>
          <a:prstGeom prst="rect">
            <a:avLst/>
          </a:prstGeom>
          <a:noFill/>
        </p:spPr>
        <p:txBody>
          <a:bodyPr wrap="square">
            <a:spAutoFit/>
          </a:bodyPr>
          <a:lstStyle/>
          <a:p>
            <a:pPr algn="l"/>
            <a:r>
              <a:rPr sz="1200" b="0" i="0">
                <a:solidFill>
                  <a:srgbClr val="FFFFFF"/>
                </a:solidFill>
              </a:rPr>
              <a:t>📝 Explicación:
• GENERATED ALWAYS AS IDENTITY: autoincremento Oracle 12C nativo
• AFTER UPDATE OF: trigger solo en cambio de 'estado'
• FOR EACH ROW: se ejecuta por cada fila afectada
• :OLD / :NEW: valores antes y después del cambio
• SYS_CONTEXT: captura el usuario actual de Oracle
• SYSTIMESTAMP: fecha y hora con precisión de ms
• INSERT sin COMMIT: el trigger hereda la transacción del DML padre</a:t>
            </a:r>
          </a:p>
        </p:txBody>
      </p:sp>
      <p:sp>
        <p:nvSpPr>
          <p:cNvPr id="8" name="Rectangle 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6354F"/>
        </a:solidFill>
        <a:effectLst/>
      </p:bgPr>
    </p:bg>
    <p:spTree>
      <p:nvGrpSpPr>
        <p:cNvPr id="1" name=""/>
        <p:cNvGrpSpPr/>
        <p:nvPr/>
      </p:nvGrpSpPr>
      <p:grpSpPr/>
      <p:sp>
        <p:nvSpPr>
          <p:cNvPr id="2" name="Rectangle 1"/>
          <p:cNvSpPr/>
          <p:nvPr/>
        </p:nvSpPr>
        <p:spPr>
          <a:xfrm>
            <a:off x="0" y="2834640"/>
            <a:ext cx="12188952" cy="914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11247120" cy="1645920"/>
          </a:xfrm>
          <a:prstGeom prst="rect">
            <a:avLst/>
          </a:prstGeom>
          <a:noFill/>
        </p:spPr>
        <p:txBody>
          <a:bodyPr wrap="square">
            <a:spAutoFit/>
          </a:bodyPr>
          <a:lstStyle/>
          <a:p>
            <a:pPr algn="ctr"/>
            <a:r>
              <a:rPr sz="3200" b="1" i="0">
                <a:solidFill>
                  <a:srgbClr val="FFFFFF"/>
                </a:solidFill>
              </a:rPr>
              <a:t>Laboratorio: Implementación en Oracle 12C</a:t>
            </a:r>
          </a:p>
        </p:txBody>
      </p:sp>
      <p:sp>
        <p:nvSpPr>
          <p:cNvPr id="4" name="TextBox 3"/>
          <p:cNvSpPr txBox="1"/>
          <p:nvPr/>
        </p:nvSpPr>
        <p:spPr>
          <a:xfrm>
            <a:off x="457200" y="3063240"/>
            <a:ext cx="11247120" cy="822960"/>
          </a:xfrm>
          <a:prstGeom prst="rect">
            <a:avLst/>
          </a:prstGeom>
          <a:noFill/>
        </p:spPr>
        <p:txBody>
          <a:bodyPr wrap="square">
            <a:spAutoFit/>
          </a:bodyPr>
          <a:lstStyle/>
          <a:p>
            <a:pPr algn="ctr"/>
            <a:r>
              <a:rPr sz="1800" b="0" i="1">
                <a:solidFill>
                  <a:srgbClr val="00C8E0"/>
                </a:solidFill>
              </a:rPr>
              <a:t>Paso a Paso Guiado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0" cy="10058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91440"/>
            <a:ext cx="1280160" cy="804672"/>
          </a:xfrm>
          <a:prstGeom prst="rect">
            <a:avLst/>
          </a:prstGeom>
          <a:noFill/>
        </p:spPr>
        <p:txBody>
          <a:bodyPr wrap="square">
            <a:spAutoFit/>
          </a:bodyPr>
          <a:lstStyle/>
          <a:p>
            <a:pPr algn="ctr"/>
            <a:r>
              <a:rPr sz="1700" b="1" i="0">
                <a:solidFill>
                  <a:srgbClr val="0D1B2A"/>
                </a:solidFill>
              </a:rPr>
              <a:t>LAB
1</a:t>
            </a:r>
          </a:p>
        </p:txBody>
      </p:sp>
      <p:sp>
        <p:nvSpPr>
          <p:cNvPr id="5" name="TextBox 4"/>
          <p:cNvSpPr txBox="1"/>
          <p:nvPr/>
        </p:nvSpPr>
        <p:spPr>
          <a:xfrm>
            <a:off x="1508760" y="109728"/>
            <a:ext cx="10515600" cy="804672"/>
          </a:xfrm>
          <a:prstGeom prst="rect">
            <a:avLst/>
          </a:prstGeom>
          <a:noFill/>
        </p:spPr>
        <p:txBody>
          <a:bodyPr wrap="square">
            <a:spAutoFit/>
          </a:bodyPr>
          <a:lstStyle/>
          <a:p>
            <a:pPr algn="l"/>
            <a:r>
              <a:rPr sz="2300" b="1" i="0">
                <a:solidFill>
                  <a:srgbClr val="FFFFFF"/>
                </a:solidFill>
              </a:rPr>
              <a:t>Conexión a Oracle 12C y Creación del Usuario</a:t>
            </a:r>
          </a:p>
        </p:txBody>
      </p:sp>
      <p:sp>
        <p:nvSpPr>
          <p:cNvPr id="6" name="Rectangle 5"/>
          <p:cNvSpPr/>
          <p:nvPr/>
        </p:nvSpPr>
        <p:spPr>
          <a:xfrm>
            <a:off x="274320" y="1097280"/>
            <a:ext cx="548640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70432"/>
            <a:ext cx="5257800" cy="5074920"/>
          </a:xfrm>
          <a:prstGeom prst="rect">
            <a:avLst/>
          </a:prstGeom>
          <a:noFill/>
        </p:spPr>
        <p:txBody>
          <a:bodyPr wrap="square">
            <a:spAutoFit/>
          </a:bodyPr>
          <a:lstStyle/>
          <a:p>
            <a:pPr algn="l"/>
            <a:r>
              <a:rPr sz="1300" b="0" i="0">
                <a:solidFill>
                  <a:srgbClr val="334455"/>
                </a:solidFill>
              </a:rPr>
              <a:t>📋 Instrucciones:
1. Abrir Oracle SQL Developer.
2. Crear conexión SYSDBA a la CDB:
   Host: localhost | Port: 1521
   SID: orcl | User: sys | Role: SYSDBA
3. Conectar a la PDB de trabajo:
   ALTER SESSION SET CONTAINER = XEPDB1;
4. Crear usuario del esquema:
5. Asignar privilegios.</a:t>
            </a:r>
          </a:p>
        </p:txBody>
      </p:sp>
      <p:sp>
        <p:nvSpPr>
          <p:cNvPr id="8" name="Rectangle 7"/>
          <p:cNvSpPr/>
          <p:nvPr/>
        </p:nvSpPr>
        <p:spPr>
          <a:xfrm>
            <a:off x="6035040" y="1097280"/>
            <a:ext cx="585216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88720"/>
            <a:ext cx="5669280" cy="5074920"/>
          </a:xfrm>
          <a:prstGeom prst="rect">
            <a:avLst/>
          </a:prstGeom>
          <a:noFill/>
        </p:spPr>
        <p:txBody>
          <a:bodyPr wrap="square">
            <a:spAutoFit/>
          </a:bodyPr>
          <a:lstStyle/>
          <a:p>
            <a:pPr algn="l"/>
            <a:r>
              <a:rPr sz="1100" b="0" i="0">
                <a:solidFill>
                  <a:srgbClr val="00C8E0"/>
                </a:solidFill>
              </a:rPr>
              <a:t>-- Conectar al container
ALTER SESSION SET CONTAINER = XEPDB1;
-- Crear usuario del esquema
CREATE USER hotel_usr
  IDENTIFIED BY hotel2025
  DEFAULT TABLESPACE TS_DATOS
  TEMPORARY TABLESPACE TEMP
  QUOTA UNLIMITED ON TS_DATOS
  QUOTA UNLIMITED ON TS_INDICES;
-- Privilegios básicos
GRANT CONNECT, RESOURCE TO hotel_usr;
GRANT CREATE VIEW TO hotel_usr;
GRANT CREATE PROCEDURE TO hotel_usr;
GRANT CREATE TRIGGER TO hotel_usr;
GRANT CREATE SEQUENCE TO hotel_usr;
-- Verificar
SELECT username, default_tablespace
FROM DBA_USERS
WHERE username = 'HOTEL_USR';</a:t>
            </a:r>
          </a:p>
        </p:txBody>
      </p:sp>
      <p:sp>
        <p:nvSpPr>
          <p:cNvPr id="10" name="Rectangle 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0" cy="10058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91440"/>
            <a:ext cx="1280160" cy="804672"/>
          </a:xfrm>
          <a:prstGeom prst="rect">
            <a:avLst/>
          </a:prstGeom>
          <a:noFill/>
        </p:spPr>
        <p:txBody>
          <a:bodyPr wrap="square">
            <a:spAutoFit/>
          </a:bodyPr>
          <a:lstStyle/>
          <a:p>
            <a:pPr algn="ctr"/>
            <a:r>
              <a:rPr sz="1700" b="1" i="0">
                <a:solidFill>
                  <a:srgbClr val="0D1B2A"/>
                </a:solidFill>
              </a:rPr>
              <a:t>LAB
2</a:t>
            </a:r>
          </a:p>
        </p:txBody>
      </p:sp>
      <p:sp>
        <p:nvSpPr>
          <p:cNvPr id="5" name="TextBox 4"/>
          <p:cNvSpPr txBox="1"/>
          <p:nvPr/>
        </p:nvSpPr>
        <p:spPr>
          <a:xfrm>
            <a:off x="1508760" y="109728"/>
            <a:ext cx="10515600" cy="804672"/>
          </a:xfrm>
          <a:prstGeom prst="rect">
            <a:avLst/>
          </a:prstGeom>
          <a:noFill/>
        </p:spPr>
        <p:txBody>
          <a:bodyPr wrap="square">
            <a:spAutoFit/>
          </a:bodyPr>
          <a:lstStyle/>
          <a:p>
            <a:pPr algn="l"/>
            <a:r>
              <a:rPr sz="2300" b="1" i="0">
                <a:solidFill>
                  <a:srgbClr val="FFFFFF"/>
                </a:solidFill>
              </a:rPr>
              <a:t>Creación de Tablespaces y Configuración Storage</a:t>
            </a:r>
          </a:p>
        </p:txBody>
      </p:sp>
      <p:sp>
        <p:nvSpPr>
          <p:cNvPr id="6" name="Rectangle 5"/>
          <p:cNvSpPr/>
          <p:nvPr/>
        </p:nvSpPr>
        <p:spPr>
          <a:xfrm>
            <a:off x="274320" y="1097280"/>
            <a:ext cx="548640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70432"/>
            <a:ext cx="5257800" cy="5074920"/>
          </a:xfrm>
          <a:prstGeom prst="rect">
            <a:avLst/>
          </a:prstGeom>
          <a:noFill/>
        </p:spPr>
        <p:txBody>
          <a:bodyPr wrap="square">
            <a:spAutoFit/>
          </a:bodyPr>
          <a:lstStyle/>
          <a:p>
            <a:pPr algn="l"/>
            <a:r>
              <a:rPr sz="1300" b="0" i="0">
                <a:solidFill>
                  <a:srgbClr val="334455"/>
                </a:solidFill>
              </a:rPr>
              <a:t>📋 Instrucciones:
1. Crear tablespace de datos con autoextend.
2. Crear tablespace de índices separado.
3. Verificar la creación con DBA_TABLESPACES.
4. Dimensionar según el volumen esperado:
   • Tablas pequeñas (&lt;10K filas): 50MB inicial
   • Tablas medias (&lt;1M filas): 200MB inicial
   • Tablas grandes (&gt;1M filas): 1GB+ inicial
5. El autoextend protege contra errores de espacio.</a:t>
            </a:r>
          </a:p>
        </p:txBody>
      </p:sp>
      <p:sp>
        <p:nvSpPr>
          <p:cNvPr id="8" name="Rectangle 7"/>
          <p:cNvSpPr/>
          <p:nvPr/>
        </p:nvSpPr>
        <p:spPr>
          <a:xfrm>
            <a:off x="6035040" y="1097280"/>
            <a:ext cx="585216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88720"/>
            <a:ext cx="5669280" cy="5074920"/>
          </a:xfrm>
          <a:prstGeom prst="rect">
            <a:avLst/>
          </a:prstGeom>
          <a:noFill/>
        </p:spPr>
        <p:txBody>
          <a:bodyPr wrap="square">
            <a:spAutoFit/>
          </a:bodyPr>
          <a:lstStyle/>
          <a:p>
            <a:pPr algn="l"/>
            <a:r>
              <a:rPr sz="1100" b="0" i="0">
                <a:solidFill>
                  <a:srgbClr val="00C8E0"/>
                </a:solidFill>
              </a:rPr>
              <a:t>-- Tablespace para datos
CREATE TABLESPACE TS_DATOS
  DATAFILE '/opt/oracle/oradata/XEPDB1/ts_datos01.dbf'
  SIZE 200M
  AUTOEXTEND ON NEXT 50M MAXSIZE 2G
  EXTENT MANAGEMENT LOCAL AUTOALLOCATE
  SEGMENT SPACE MANAGEMENT AUTO;
-- Tablespace para índices
CREATE TABLESPACE TS_INDICES
  DATAFILE '/opt/oracle/oradata/XEPDB1/ts_idx01.dbf'
  SIZE 100M
  AUTOEXTEND ON NEXT 25M MAXSIZE 1G;
-- Verificar
SELECT tablespace_name, status,
       ROUND(bytes/1048576,1) AS mb_asignados
FROM DBA_DATA_FILES
WHERE tablespace_name IN
  ('TS_DATOS','TS_INDICES');</a:t>
            </a:r>
          </a:p>
        </p:txBody>
      </p:sp>
      <p:sp>
        <p:nvSpPr>
          <p:cNvPr id="10" name="Rectangle 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0" cy="10058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91440"/>
            <a:ext cx="1280160" cy="804672"/>
          </a:xfrm>
          <a:prstGeom prst="rect">
            <a:avLst/>
          </a:prstGeom>
          <a:noFill/>
        </p:spPr>
        <p:txBody>
          <a:bodyPr wrap="square">
            <a:spAutoFit/>
          </a:bodyPr>
          <a:lstStyle/>
          <a:p>
            <a:pPr algn="ctr"/>
            <a:r>
              <a:rPr sz="1700" b="1" i="0">
                <a:solidFill>
                  <a:srgbClr val="0D1B2A"/>
                </a:solidFill>
              </a:rPr>
              <a:t>LAB
3</a:t>
            </a:r>
          </a:p>
        </p:txBody>
      </p:sp>
      <p:sp>
        <p:nvSpPr>
          <p:cNvPr id="5" name="TextBox 4"/>
          <p:cNvSpPr txBox="1"/>
          <p:nvPr/>
        </p:nvSpPr>
        <p:spPr>
          <a:xfrm>
            <a:off x="1508760" y="109728"/>
            <a:ext cx="10515600" cy="804672"/>
          </a:xfrm>
          <a:prstGeom prst="rect">
            <a:avLst/>
          </a:prstGeom>
          <a:noFill/>
        </p:spPr>
        <p:txBody>
          <a:bodyPr wrap="square">
            <a:spAutoFit/>
          </a:bodyPr>
          <a:lstStyle/>
          <a:p>
            <a:pPr algn="l"/>
            <a:r>
              <a:rPr sz="2300" b="1" i="0">
                <a:solidFill>
                  <a:srgbClr val="FFFFFF"/>
                </a:solidFill>
              </a:rPr>
              <a:t>Ejecución del Script DDL Generado por Data Modeler</a:t>
            </a:r>
          </a:p>
        </p:txBody>
      </p:sp>
      <p:sp>
        <p:nvSpPr>
          <p:cNvPr id="6" name="Rectangle 5"/>
          <p:cNvSpPr/>
          <p:nvPr/>
        </p:nvSpPr>
        <p:spPr>
          <a:xfrm>
            <a:off x="274320" y="1097280"/>
            <a:ext cx="548640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70432"/>
            <a:ext cx="5257800" cy="5074920"/>
          </a:xfrm>
          <a:prstGeom prst="rect">
            <a:avLst/>
          </a:prstGeom>
          <a:noFill/>
        </p:spPr>
        <p:txBody>
          <a:bodyPr wrap="square">
            <a:spAutoFit/>
          </a:bodyPr>
          <a:lstStyle/>
          <a:p>
            <a:pPr algn="l"/>
            <a:r>
              <a:rPr sz="1300" b="0" i="0">
                <a:solidFill>
                  <a:srgbClr val="334455"/>
                </a:solidFill>
              </a:rPr>
              <a:t>📋 Instrucciones:
1. Abrir el archivo hotel_ddl_v2.3.sql en SQL Developer.
2. Verificar que la conexión activa sea hotel_usr en XEPDB1.
3. Ejecutar el script completo (F5 o Run Script).
4. Revisar el panel de salida: verificar 0 errores.
5. Validar la creación con USER_TABLES.
6. Revisar que todos los índices estén en estado VALID.
7. Documentar cualquier ajuste necesario en el modelo.</a:t>
            </a:r>
          </a:p>
        </p:txBody>
      </p:sp>
      <p:sp>
        <p:nvSpPr>
          <p:cNvPr id="8" name="Rectangle 7"/>
          <p:cNvSpPr/>
          <p:nvPr/>
        </p:nvSpPr>
        <p:spPr>
          <a:xfrm>
            <a:off x="6035040" y="1097280"/>
            <a:ext cx="585216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88720"/>
            <a:ext cx="5669280" cy="5074920"/>
          </a:xfrm>
          <a:prstGeom prst="rect">
            <a:avLst/>
          </a:prstGeom>
          <a:noFill/>
        </p:spPr>
        <p:txBody>
          <a:bodyPr wrap="square">
            <a:spAutoFit/>
          </a:bodyPr>
          <a:lstStyle/>
          <a:p>
            <a:pPr algn="l"/>
            <a:r>
              <a:rPr sz="1100" b="0" i="0">
                <a:solidFill>
                  <a:srgbClr val="00C8E0"/>
                </a:solidFill>
              </a:rPr>
              <a:t>-- Verificar tablas creadas
SELECT table_name, tablespace_name
FROM USER_TABLES
ORDER BY table_name;
-- Verificar constraints
SELECT constraint_name,
       constraint_type,
       table_name, status
FROM USER_CONSTRAINTS
ORDER BY table_name, constraint_type;
-- Verificar índices
SELECT index_name, table_name,
       status, tablespace_name
FROM USER_INDEXES
ORDER BY table_name;
-- Verificar secuencias
SELECT sequence_name,
       last_number, increment_by
FROM USER_SEQUENCES;</a:t>
            </a:r>
          </a:p>
        </p:txBody>
      </p:sp>
      <p:sp>
        <p:nvSpPr>
          <p:cNvPr id="10" name="Rectangle 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0" cy="1005840"/>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91440"/>
            <a:ext cx="1280160" cy="804672"/>
          </a:xfrm>
          <a:prstGeom prst="rect">
            <a:avLst/>
          </a:prstGeom>
          <a:noFill/>
        </p:spPr>
        <p:txBody>
          <a:bodyPr wrap="square">
            <a:spAutoFit/>
          </a:bodyPr>
          <a:lstStyle/>
          <a:p>
            <a:pPr algn="ctr"/>
            <a:r>
              <a:rPr sz="1700" b="1" i="0">
                <a:solidFill>
                  <a:srgbClr val="0D1B2A"/>
                </a:solidFill>
              </a:rPr>
              <a:t>LAB
4</a:t>
            </a:r>
          </a:p>
        </p:txBody>
      </p:sp>
      <p:sp>
        <p:nvSpPr>
          <p:cNvPr id="5" name="TextBox 4"/>
          <p:cNvSpPr txBox="1"/>
          <p:nvPr/>
        </p:nvSpPr>
        <p:spPr>
          <a:xfrm>
            <a:off x="1508760" y="109728"/>
            <a:ext cx="10515600" cy="804672"/>
          </a:xfrm>
          <a:prstGeom prst="rect">
            <a:avLst/>
          </a:prstGeom>
          <a:noFill/>
        </p:spPr>
        <p:txBody>
          <a:bodyPr wrap="square">
            <a:spAutoFit/>
          </a:bodyPr>
          <a:lstStyle/>
          <a:p>
            <a:pPr algn="l"/>
            <a:r>
              <a:rPr sz="2300" b="1" i="0">
                <a:solidFill>
                  <a:srgbClr val="FFFFFF"/>
                </a:solidFill>
              </a:rPr>
              <a:t>Inserción de Datos de Prueba y Validación</a:t>
            </a:r>
          </a:p>
        </p:txBody>
      </p:sp>
      <p:sp>
        <p:nvSpPr>
          <p:cNvPr id="6" name="Rectangle 5"/>
          <p:cNvSpPr/>
          <p:nvPr/>
        </p:nvSpPr>
        <p:spPr>
          <a:xfrm>
            <a:off x="274320" y="1097280"/>
            <a:ext cx="548640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170432"/>
            <a:ext cx="5257800" cy="5074920"/>
          </a:xfrm>
          <a:prstGeom prst="rect">
            <a:avLst/>
          </a:prstGeom>
          <a:noFill/>
        </p:spPr>
        <p:txBody>
          <a:bodyPr wrap="square">
            <a:spAutoFit/>
          </a:bodyPr>
          <a:lstStyle/>
          <a:p>
            <a:pPr algn="l"/>
            <a:r>
              <a:rPr sz="1300" b="0" i="0">
                <a:solidFill>
                  <a:srgbClr val="334455"/>
                </a:solidFill>
              </a:rPr>
              <a:t>📋 Instrucciones:
1. Insertar datos en tablas maestras primero (HUESPED, HABITACION).
2. Luego insertar en tablas de detalle (RESERVA, CONSUMO).
3. Verificar que las FK funcionan correctamente.
4. Intentar violar un constraint (prueba negativa).
5. Ejecutar una consulta JOIN para validar la estructura.
6. Verificar que la secuencia genera IDs únicos correctamente.
7. Hacer ROLLBACK de los datos de prueba al finalizar.</a:t>
            </a:r>
          </a:p>
        </p:txBody>
      </p:sp>
      <p:sp>
        <p:nvSpPr>
          <p:cNvPr id="8" name="Rectangle 7"/>
          <p:cNvSpPr/>
          <p:nvPr/>
        </p:nvSpPr>
        <p:spPr>
          <a:xfrm>
            <a:off x="6035040" y="1097280"/>
            <a:ext cx="585216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188720"/>
            <a:ext cx="5669280" cy="5074920"/>
          </a:xfrm>
          <a:prstGeom prst="rect">
            <a:avLst/>
          </a:prstGeom>
          <a:noFill/>
        </p:spPr>
        <p:txBody>
          <a:bodyPr wrap="square">
            <a:spAutoFit/>
          </a:bodyPr>
          <a:lstStyle/>
          <a:p>
            <a:pPr algn="l"/>
            <a:r>
              <a:rPr sz="1100" b="0" i="0">
                <a:solidFill>
                  <a:srgbClr val="00C8E0"/>
                </a:solidFill>
              </a:rPr>
              <a:t>-- Insertar habitaciones
INSERT INTO HABITACION VALUES
  (hab_seq.NEXTVAL,'101','SIMPLE',150000,1,
   'DISPONIBLE','Habitación estándar');
INSERT INTO HABITACION VALUES
  (hab_seq.NEXTVAL,'201','DOBLE',250000,2,
   'DISPONIBLE','Habitación doble deluxe');
COMMIT;
-- Insertar huésped
INSERT INTO HUESPED VALUES
  (hue_seq.NEXTVAL,'Juan','Pérez',
   'CC','12345678','juan@email.com','3001234567');
COMMIT;
-- Probar el procedimiento
DECLARE
  v_id NUMBER;
BEGIN
  registrar_reserva(1,1,
    TO_DATE('2025-05-01','YYYY-MM-DD'),
    TO_DATE('2025-05-03','YYYY-MM-DD'),
    v_id);
  DBMS_OUTPUT.PUT_LINE('Reserva ID: '||v_id);
END;</a:t>
            </a:r>
          </a:p>
        </p:txBody>
      </p:sp>
      <p:sp>
        <p:nvSpPr>
          <p:cNvPr id="10" name="Rectangle 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100584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64008"/>
            <a:ext cx="1920240" cy="438912"/>
          </a:xfrm>
          <a:prstGeom prst="rect">
            <a:avLst/>
          </a:prstGeom>
          <a:noFill/>
        </p:spPr>
        <p:txBody>
          <a:bodyPr wrap="square">
            <a:spAutoFit/>
          </a:bodyPr>
          <a:lstStyle/>
          <a:p>
            <a:pPr algn="ctr"/>
            <a:r>
              <a:rPr sz="1400" b="1" i="0">
                <a:solidFill>
                  <a:srgbClr val="FFFFFF"/>
                </a:solidFill>
              </a:rPr>
              <a:t>Ejemplo 1</a:t>
            </a:r>
          </a:p>
        </p:txBody>
      </p:sp>
      <p:sp>
        <p:nvSpPr>
          <p:cNvPr id="5" name="TextBox 4"/>
          <p:cNvSpPr txBox="1"/>
          <p:nvPr/>
        </p:nvSpPr>
        <p:spPr>
          <a:xfrm>
            <a:off x="45720" y="512064"/>
            <a:ext cx="1920240" cy="402336"/>
          </a:xfrm>
          <a:prstGeom prst="rect">
            <a:avLst/>
          </a:prstGeom>
          <a:noFill/>
        </p:spPr>
        <p:txBody>
          <a:bodyPr wrap="square">
            <a:spAutoFit/>
          </a:bodyPr>
          <a:lstStyle/>
          <a:p>
            <a:pPr algn="ctr"/>
            <a:r>
              <a:rPr sz="1100" b="0" i="0">
                <a:solidFill>
                  <a:srgbClr val="00C8E0"/>
                </a:solidFill>
              </a:rPr>
              <a:t>CASO REAL</a:t>
            </a:r>
          </a:p>
        </p:txBody>
      </p:sp>
      <p:sp>
        <p:nvSpPr>
          <p:cNvPr id="6" name="TextBox 5"/>
          <p:cNvSpPr txBox="1"/>
          <p:nvPr/>
        </p:nvSpPr>
        <p:spPr>
          <a:xfrm>
            <a:off x="2103120" y="109728"/>
            <a:ext cx="9784080" cy="804672"/>
          </a:xfrm>
          <a:prstGeom prst="rect">
            <a:avLst/>
          </a:prstGeom>
          <a:noFill/>
        </p:spPr>
        <p:txBody>
          <a:bodyPr wrap="square">
            <a:spAutoFit/>
          </a:bodyPr>
          <a:lstStyle/>
          <a:p>
            <a:pPr algn="l"/>
            <a:r>
              <a:rPr sz="2200" b="1" i="0">
                <a:solidFill>
                  <a:srgbClr val="FFFFFF"/>
                </a:solidFill>
              </a:rPr>
              <a:t>Laboratorio Real: Sistema de Nómina en Oracle 12C – Empresa Bogotá</a:t>
            </a:r>
          </a:p>
        </p:txBody>
      </p:sp>
      <p:sp>
        <p:nvSpPr>
          <p:cNvPr id="7" name="Rectangle 6"/>
          <p:cNvSpPr/>
          <p:nvPr/>
        </p:nvSpPr>
        <p:spPr>
          <a:xfrm>
            <a:off x="274320" y="1097280"/>
            <a:ext cx="77724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7498079" cy="5074920"/>
          </a:xfrm>
          <a:prstGeom prst="rect">
            <a:avLst/>
          </a:prstGeom>
          <a:noFill/>
        </p:spPr>
        <p:txBody>
          <a:bodyPr wrap="square">
            <a:spAutoFit/>
          </a:bodyPr>
          <a:lstStyle/>
          <a:p>
            <a:pPr algn="l"/>
            <a:r>
              <a:rPr sz="1300" b="0" i="0">
                <a:solidFill>
                  <a:srgbClr val="334455"/>
                </a:solidFill>
              </a:rPr>
              <a:t>CONTEXTO: Empresa de 300 empleados implementó nómina en Oracle 12C usando Data Modeler.
PROCESO DE FORWARD ENGINEERING REALIZADO:
1. Data Modeler diseñó el esquema: 18 tablas, 45 columnas promedio, 12 FK.
2. Se generó el DDL completo en Oracle syntax: 420 líneas de SQL.
3. El DDL incluyó automáticamente: sequences, índices en FK, comentarios.
CÓDIGO PL/SQL GENERADO:
• Procedure calcular_nomina: procesa liquidación mensual.
• Function calcular_prestaciones: calcula cesantías y prima.
• Package PKG_NOMINA: agrupa todos los subprogramas relacionados.
• Trigger trg_auditoria: registra cualquier modificación al salario.
TIEMPO: 3 días de implementación vs 3 semanas sin CASE.</a:t>
            </a:r>
          </a:p>
        </p:txBody>
      </p:sp>
      <p:sp>
        <p:nvSpPr>
          <p:cNvPr id="9" name="Rectangle 8"/>
          <p:cNvSpPr/>
          <p:nvPr/>
        </p:nvSpPr>
        <p:spPr>
          <a:xfrm>
            <a:off x="8321040" y="1097280"/>
            <a:ext cx="356616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234440"/>
            <a:ext cx="3383280" cy="5074920"/>
          </a:xfrm>
          <a:prstGeom prst="rect">
            <a:avLst/>
          </a:prstGeom>
          <a:noFill/>
        </p:spPr>
        <p:txBody>
          <a:bodyPr wrap="square">
            <a:spAutoFit/>
          </a:bodyPr>
          <a:lstStyle/>
          <a:p>
            <a:pPr algn="l"/>
            <a:r>
              <a:rPr sz="1200" b="0" i="0">
                <a:solidFill>
                  <a:srgbClr val="FFFFFF"/>
                </a:solidFill>
              </a:rPr>
              <a:t>📊 Visual:
Pantalla de Oracle SQL Developer con el package PKG_NOMINA expandido</a:t>
            </a:r>
          </a:p>
        </p:txBody>
      </p:sp>
      <p:sp>
        <p:nvSpPr>
          <p:cNvPr id="11" name="Rectangle 10"/>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100584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64008"/>
            <a:ext cx="1920240" cy="438912"/>
          </a:xfrm>
          <a:prstGeom prst="rect">
            <a:avLst/>
          </a:prstGeom>
          <a:noFill/>
        </p:spPr>
        <p:txBody>
          <a:bodyPr wrap="square">
            <a:spAutoFit/>
          </a:bodyPr>
          <a:lstStyle/>
          <a:p>
            <a:pPr algn="ctr"/>
            <a:r>
              <a:rPr sz="1400" b="1" i="0">
                <a:solidFill>
                  <a:srgbClr val="FFFFFF"/>
                </a:solidFill>
              </a:rPr>
              <a:t>Ejemplo 2</a:t>
            </a:r>
          </a:p>
        </p:txBody>
      </p:sp>
      <p:sp>
        <p:nvSpPr>
          <p:cNvPr id="5" name="TextBox 4"/>
          <p:cNvSpPr txBox="1"/>
          <p:nvPr/>
        </p:nvSpPr>
        <p:spPr>
          <a:xfrm>
            <a:off x="45720" y="512064"/>
            <a:ext cx="1920240" cy="402336"/>
          </a:xfrm>
          <a:prstGeom prst="rect">
            <a:avLst/>
          </a:prstGeom>
          <a:noFill/>
        </p:spPr>
        <p:txBody>
          <a:bodyPr wrap="square">
            <a:spAutoFit/>
          </a:bodyPr>
          <a:lstStyle/>
          <a:p>
            <a:pPr algn="ctr"/>
            <a:r>
              <a:rPr sz="1100" b="0" i="0">
                <a:solidFill>
                  <a:srgbClr val="00C8E0"/>
                </a:solidFill>
              </a:rPr>
              <a:t>CASO REAL</a:t>
            </a:r>
          </a:p>
        </p:txBody>
      </p:sp>
      <p:sp>
        <p:nvSpPr>
          <p:cNvPr id="6" name="TextBox 5"/>
          <p:cNvSpPr txBox="1"/>
          <p:nvPr/>
        </p:nvSpPr>
        <p:spPr>
          <a:xfrm>
            <a:off x="2103120" y="109728"/>
            <a:ext cx="9784080" cy="804672"/>
          </a:xfrm>
          <a:prstGeom prst="rect">
            <a:avLst/>
          </a:prstGeom>
          <a:noFill/>
        </p:spPr>
        <p:txBody>
          <a:bodyPr wrap="square">
            <a:spAutoFit/>
          </a:bodyPr>
          <a:lstStyle/>
          <a:p>
            <a:pPr algn="l"/>
            <a:r>
              <a:rPr sz="2200" b="1" i="0">
                <a:solidFill>
                  <a:srgbClr val="FFFFFF"/>
                </a:solidFill>
              </a:rPr>
              <a:t>Generación de Documentación Completa – Ministerio de TI (Caso Referencial)</a:t>
            </a:r>
          </a:p>
        </p:txBody>
      </p:sp>
      <p:sp>
        <p:nvSpPr>
          <p:cNvPr id="7" name="Rectangle 6"/>
          <p:cNvSpPr/>
          <p:nvPr/>
        </p:nvSpPr>
        <p:spPr>
          <a:xfrm>
            <a:off x="274320" y="1097280"/>
            <a:ext cx="77724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7498079" cy="5074920"/>
          </a:xfrm>
          <a:prstGeom prst="rect">
            <a:avLst/>
          </a:prstGeom>
          <a:noFill/>
        </p:spPr>
        <p:txBody>
          <a:bodyPr wrap="square">
            <a:spAutoFit/>
          </a:bodyPr>
          <a:lstStyle/>
          <a:p>
            <a:pPr algn="l"/>
            <a:r>
              <a:rPr sz="1300" b="0" i="0">
                <a:solidFill>
                  <a:srgbClr val="334455"/>
                </a:solidFill>
              </a:rPr>
              <a:t>CONTEXTO: Proyecto gubernamental con requerimiento de documentación técnica formal.
DOCUMENTACIÓN GENERADA DESDE ORACLE DATA MODELER:
ENTREGABLE 1 – Diccionario de Datos:
• 95 tablas documentadas con descripción, columnas, tipos y constraints.
• Generado en formato HTML: 180 páginas navegables.
• Generado en formato PDF para archivo físico.
ENTREGABLE 2 – Diagramas ERD:
• 6 diagramas separados por módulo (ciudadanos, trámites, pagos, usuarios, etc.).
• Exportados como PNG de alta resolución para incluir en el SGSI.
ENTREGABLE 3 – Script DDL Oficial:
• Script versionado (v3.2) firmado digitalmente como entregable contractual.
TIEMPO TOTAL: 4 horas vs 6 semanas de documentación manual estimada.</a:t>
            </a:r>
          </a:p>
        </p:txBody>
      </p:sp>
      <p:sp>
        <p:nvSpPr>
          <p:cNvPr id="9" name="Rectangle 8"/>
          <p:cNvSpPr/>
          <p:nvPr/>
        </p:nvSpPr>
        <p:spPr>
          <a:xfrm>
            <a:off x="8321040" y="1097280"/>
            <a:ext cx="356616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234440"/>
            <a:ext cx="3383280" cy="5074920"/>
          </a:xfrm>
          <a:prstGeom prst="rect">
            <a:avLst/>
          </a:prstGeom>
          <a:noFill/>
        </p:spPr>
        <p:txBody>
          <a:bodyPr wrap="square">
            <a:spAutoFit/>
          </a:bodyPr>
          <a:lstStyle/>
          <a:p>
            <a:pPr algn="l"/>
            <a:r>
              <a:rPr sz="1200" b="0" i="0">
                <a:solidFill>
                  <a:srgbClr val="FFFFFF"/>
                </a:solidFill>
              </a:rPr>
              <a:t>📊 Visual:
Portada del diccionario de datos generado con logo institucional y 180 páginas</a:t>
            </a:r>
          </a:p>
        </p:txBody>
      </p:sp>
      <p:sp>
        <p:nvSpPr>
          <p:cNvPr id="11" name="Rectangle 10"/>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100584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64008"/>
            <a:ext cx="1920240" cy="438912"/>
          </a:xfrm>
          <a:prstGeom prst="rect">
            <a:avLst/>
          </a:prstGeom>
          <a:noFill/>
        </p:spPr>
        <p:txBody>
          <a:bodyPr wrap="square">
            <a:spAutoFit/>
          </a:bodyPr>
          <a:lstStyle/>
          <a:p>
            <a:pPr algn="ctr"/>
            <a:r>
              <a:rPr sz="1400" b="1" i="0">
                <a:solidFill>
                  <a:srgbClr val="FFFFFF"/>
                </a:solidFill>
              </a:rPr>
              <a:t>Ejemplo 3</a:t>
            </a:r>
          </a:p>
        </p:txBody>
      </p:sp>
      <p:sp>
        <p:nvSpPr>
          <p:cNvPr id="5" name="TextBox 4"/>
          <p:cNvSpPr txBox="1"/>
          <p:nvPr/>
        </p:nvSpPr>
        <p:spPr>
          <a:xfrm>
            <a:off x="45720" y="512064"/>
            <a:ext cx="1920240" cy="402336"/>
          </a:xfrm>
          <a:prstGeom prst="rect">
            <a:avLst/>
          </a:prstGeom>
          <a:noFill/>
        </p:spPr>
        <p:txBody>
          <a:bodyPr wrap="square">
            <a:spAutoFit/>
          </a:bodyPr>
          <a:lstStyle/>
          <a:p>
            <a:pPr algn="ctr"/>
            <a:r>
              <a:rPr sz="1100" b="0" i="0">
                <a:solidFill>
                  <a:srgbClr val="00C8E0"/>
                </a:solidFill>
              </a:rPr>
              <a:t>CASO REAL</a:t>
            </a:r>
          </a:p>
        </p:txBody>
      </p:sp>
      <p:sp>
        <p:nvSpPr>
          <p:cNvPr id="6" name="TextBox 5"/>
          <p:cNvSpPr txBox="1"/>
          <p:nvPr/>
        </p:nvSpPr>
        <p:spPr>
          <a:xfrm>
            <a:off x="2103120" y="109728"/>
            <a:ext cx="9784080" cy="804672"/>
          </a:xfrm>
          <a:prstGeom prst="rect">
            <a:avLst/>
          </a:prstGeom>
          <a:noFill/>
        </p:spPr>
        <p:txBody>
          <a:bodyPr wrap="square">
            <a:spAutoFit/>
          </a:bodyPr>
          <a:lstStyle/>
          <a:p>
            <a:pPr algn="l"/>
            <a:r>
              <a:rPr sz="2200" b="1" i="0">
                <a:solidFill>
                  <a:srgbClr val="FFFFFF"/>
                </a:solidFill>
              </a:rPr>
              <a:t>Packages PL/SQL: Sistema de Facturación Electrónica Oracle</a:t>
            </a:r>
          </a:p>
        </p:txBody>
      </p:sp>
      <p:sp>
        <p:nvSpPr>
          <p:cNvPr id="7" name="Rectangle 6"/>
          <p:cNvSpPr/>
          <p:nvPr/>
        </p:nvSpPr>
        <p:spPr>
          <a:xfrm>
            <a:off x="274320" y="1097280"/>
            <a:ext cx="77724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7498079" cy="5074920"/>
          </a:xfrm>
          <a:prstGeom prst="rect">
            <a:avLst/>
          </a:prstGeom>
          <a:noFill/>
        </p:spPr>
        <p:txBody>
          <a:bodyPr wrap="square">
            <a:spAutoFit/>
          </a:bodyPr>
          <a:lstStyle/>
          <a:p>
            <a:pPr algn="l"/>
            <a:r>
              <a:rPr sz="1300" b="0" i="0">
                <a:solidFill>
                  <a:srgbClr val="334455"/>
                </a:solidFill>
              </a:rPr>
              <a:t>CONTEXTO: Integración Oracle 12C con DIAN para factura electrónica.
PACKAGE PKG_FACTURACION:
ESPECIFICACIÓN (PKG_FACTURACION.pks):
PROCEDURE generar_factura(p_id_venta IN NUMBER, p_cufe OUT VARCHAR2);
FUNCTION validar_nit(p_nit IN VARCHAR2) RETURN BOOLEAN;
PROCEDURE enviar_dian(p_cufe IN VARCHAR2, p_xml IN CLOB);
BODY (PKG_FACTURACION.pkb):
• Implementación de cada procedure con lógica de negocio.
• El XML de la factura se construye con XMLELEMENT (Oracle XML DB).
• UTL_HTTP envía el XML al web service de la DIAN.
INTEGRACIÓN CON DATA MODELER:
• El modelo físico define la tabla FACTURA con los campos requeridos por la DIAN.
• Data Modeler genera el DDL base; el equipo PL/SQL escribe el package sobre ese esquema.</a:t>
            </a:r>
          </a:p>
        </p:txBody>
      </p:sp>
      <p:sp>
        <p:nvSpPr>
          <p:cNvPr id="9" name="Rectangle 8"/>
          <p:cNvSpPr/>
          <p:nvPr/>
        </p:nvSpPr>
        <p:spPr>
          <a:xfrm>
            <a:off x="8321040" y="1097280"/>
            <a:ext cx="356616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234440"/>
            <a:ext cx="3383280" cy="5074920"/>
          </a:xfrm>
          <a:prstGeom prst="rect">
            <a:avLst/>
          </a:prstGeom>
          <a:noFill/>
        </p:spPr>
        <p:txBody>
          <a:bodyPr wrap="square">
            <a:spAutoFit/>
          </a:bodyPr>
          <a:lstStyle/>
          <a:p>
            <a:pPr algn="l"/>
            <a:r>
              <a:rPr sz="1200" b="0" i="0">
                <a:solidFill>
                  <a:srgbClr val="FFFFFF"/>
                </a:solidFill>
              </a:rPr>
              <a:t>📊 Visual:
Diagrama de secuencia: Sistema → PKG_FACTURACION → UTL_HTTP → DIAN WebService</a:t>
            </a:r>
          </a:p>
        </p:txBody>
      </p:sp>
      <p:sp>
        <p:nvSpPr>
          <p:cNvPr id="11" name="Rectangle 10"/>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100584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 y="64008"/>
            <a:ext cx="1920240" cy="438912"/>
          </a:xfrm>
          <a:prstGeom prst="rect">
            <a:avLst/>
          </a:prstGeom>
          <a:noFill/>
        </p:spPr>
        <p:txBody>
          <a:bodyPr wrap="square">
            <a:spAutoFit/>
          </a:bodyPr>
          <a:lstStyle/>
          <a:p>
            <a:pPr algn="ctr"/>
            <a:r>
              <a:rPr sz="1400" b="1" i="0">
                <a:solidFill>
                  <a:srgbClr val="FFFFFF"/>
                </a:solidFill>
              </a:rPr>
              <a:t>Ejemplo 4</a:t>
            </a:r>
          </a:p>
        </p:txBody>
      </p:sp>
      <p:sp>
        <p:nvSpPr>
          <p:cNvPr id="5" name="TextBox 4"/>
          <p:cNvSpPr txBox="1"/>
          <p:nvPr/>
        </p:nvSpPr>
        <p:spPr>
          <a:xfrm>
            <a:off x="45720" y="512064"/>
            <a:ext cx="1920240" cy="402336"/>
          </a:xfrm>
          <a:prstGeom prst="rect">
            <a:avLst/>
          </a:prstGeom>
          <a:noFill/>
        </p:spPr>
        <p:txBody>
          <a:bodyPr wrap="square">
            <a:spAutoFit/>
          </a:bodyPr>
          <a:lstStyle/>
          <a:p>
            <a:pPr algn="ctr"/>
            <a:r>
              <a:rPr sz="1100" b="0" i="0">
                <a:solidFill>
                  <a:srgbClr val="00C8E0"/>
                </a:solidFill>
              </a:rPr>
              <a:t>CASO REAL</a:t>
            </a:r>
          </a:p>
        </p:txBody>
      </p:sp>
      <p:sp>
        <p:nvSpPr>
          <p:cNvPr id="6" name="TextBox 5"/>
          <p:cNvSpPr txBox="1"/>
          <p:nvPr/>
        </p:nvSpPr>
        <p:spPr>
          <a:xfrm>
            <a:off x="2103120" y="109728"/>
            <a:ext cx="9784080" cy="804672"/>
          </a:xfrm>
          <a:prstGeom prst="rect">
            <a:avLst/>
          </a:prstGeom>
          <a:noFill/>
        </p:spPr>
        <p:txBody>
          <a:bodyPr wrap="square">
            <a:spAutoFit/>
          </a:bodyPr>
          <a:lstStyle/>
          <a:p>
            <a:pPr algn="l"/>
            <a:r>
              <a:rPr sz="2200" b="1" i="0">
                <a:solidFill>
                  <a:srgbClr val="FFFFFF"/>
                </a:solidFill>
              </a:rPr>
              <a:t>Reverse Engineering Masivo: Legado Oracle 8i → Oracle 12C</a:t>
            </a:r>
          </a:p>
        </p:txBody>
      </p:sp>
      <p:sp>
        <p:nvSpPr>
          <p:cNvPr id="7" name="Rectangle 6"/>
          <p:cNvSpPr/>
          <p:nvPr/>
        </p:nvSpPr>
        <p:spPr>
          <a:xfrm>
            <a:off x="274320" y="1097280"/>
            <a:ext cx="777240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7498079" cy="5074920"/>
          </a:xfrm>
          <a:prstGeom prst="rect">
            <a:avLst/>
          </a:prstGeom>
          <a:noFill/>
        </p:spPr>
        <p:txBody>
          <a:bodyPr wrap="square">
            <a:spAutoFit/>
          </a:bodyPr>
          <a:lstStyle/>
          <a:p>
            <a:pPr algn="l"/>
            <a:r>
              <a:rPr sz="1300" b="0" i="0">
                <a:solidFill>
                  <a:srgbClr val="334455"/>
                </a:solidFill>
              </a:rPr>
              <a:t>CONTEXTO: Empresa de seguros con sistema Oracle 8i de 20 años sin documentación.
PROCESO REALIZADO:
1. Oracle Data Modeler conectó a Oracle 8i vía JDBC legacy.
2. Reverse Engineering de 340 tablas, 1.200 procedimientos y 80 triggers.
3. El modelo generado mostró: 45 tablas sin PK, 120 FK no declaradas, 30 duplicados.
4. El equipo limpió el modelo durante 2 semanas (en Data Modeler, no en la BD).
5. Forward Engineering del modelo limpio a Oracle 12C con mejoras incorporadas.
RESULTADO:
• El sistema migrado tiene 18% menos tablas (duplicados eliminados).
• El tiempo de consulta promedio bajó 40% por los índices añadidos en el modelo.
• La documentación técnica que no existía se generó en 8 horas.</a:t>
            </a:r>
          </a:p>
        </p:txBody>
      </p:sp>
      <p:sp>
        <p:nvSpPr>
          <p:cNvPr id="9" name="Rectangle 8"/>
          <p:cNvSpPr/>
          <p:nvPr/>
        </p:nvSpPr>
        <p:spPr>
          <a:xfrm>
            <a:off x="8321040" y="1097280"/>
            <a:ext cx="356616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234440"/>
            <a:ext cx="3383280" cy="5074920"/>
          </a:xfrm>
          <a:prstGeom prst="rect">
            <a:avLst/>
          </a:prstGeom>
          <a:noFill/>
        </p:spPr>
        <p:txBody>
          <a:bodyPr wrap="square">
            <a:spAutoFit/>
          </a:bodyPr>
          <a:lstStyle/>
          <a:p>
            <a:pPr algn="l"/>
            <a:r>
              <a:rPr sz="1200" b="0" i="0">
                <a:solidFill>
                  <a:srgbClr val="FFFFFF"/>
                </a:solidFill>
              </a:rPr>
              <a:t>📊 Visual:
Comparativa: estadísticas del esquema antes (Oracle 8i) y después (Oracle 12C)</a:t>
            </a:r>
          </a:p>
        </p:txBody>
      </p:sp>
      <p:sp>
        <p:nvSpPr>
          <p:cNvPr id="11" name="Rectangle 10"/>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 Buenas Prácticas en Generación de Código y Laboratorio</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Revisa SIEMPRE el DDL generado antes de ejecutarlo: busca tipos de dato no deseados.</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Versiona el script DDL con número de versión y fecha en el nombre del archivo.</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Ejecuta el script DDL primero en un entorno de DESARROLLO antes de producción.</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Prueba los stored procedures con datos válidos E inválidos (prueba de límites).</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Usa DBMS_OUTPUT.PUT_LINE para debug en desarrollo; elimínalo antes de pasar a producción.</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Encapsula lógica relacionada en PACKAGES: facilita mantenimiento y control de acceso.</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Nunca hagas COMMIT dentro de un trigger: puede causar errores de mutación de tabla.</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Pipeline de calidad: Modelo → DDL generado → Revisión → Dev → QA → Producción</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Errores Comunes en Generación de Código y Lab Oracle</a:t>
            </a:r>
          </a:p>
        </p:txBody>
      </p:sp>
      <p:sp>
        <p:nvSpPr>
          <p:cNvPr id="4" name="Rectangle 3"/>
          <p:cNvSpPr/>
          <p:nvPr/>
        </p:nvSpPr>
        <p:spPr>
          <a:xfrm>
            <a:off x="274320" y="1097280"/>
            <a:ext cx="11430000" cy="50292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70432"/>
            <a:ext cx="11247120" cy="384048"/>
          </a:xfrm>
          <a:prstGeom prst="rect">
            <a:avLst/>
          </a:prstGeom>
          <a:noFill/>
        </p:spPr>
        <p:txBody>
          <a:bodyPr wrap="square">
            <a:spAutoFit/>
          </a:bodyPr>
          <a:lstStyle/>
          <a:p>
            <a:pPr algn="l"/>
            <a:r>
              <a:rPr sz="1400" b="1" i="0">
                <a:solidFill>
                  <a:srgbClr val="FFFFFF"/>
                </a:solidFill>
              </a:rPr>
              <a:t>⚠  Errores Comunes en Generación de Código y Laboratorio Oracle</a:t>
            </a:r>
          </a:p>
        </p:txBody>
      </p:sp>
      <p:sp>
        <p:nvSpPr>
          <p:cNvPr id="6" name="Rectangle 5"/>
          <p:cNvSpPr/>
          <p:nvPr/>
        </p:nvSpPr>
        <p:spPr>
          <a:xfrm>
            <a:off x="274320" y="173736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755648"/>
            <a:ext cx="411480" cy="365760"/>
          </a:xfrm>
          <a:prstGeom prst="rect">
            <a:avLst/>
          </a:prstGeom>
          <a:noFill/>
        </p:spPr>
        <p:txBody>
          <a:bodyPr wrap="square">
            <a:spAutoFit/>
          </a:bodyPr>
          <a:lstStyle/>
          <a:p>
            <a:pPr algn="ctr"/>
            <a:r>
              <a:rPr sz="1500" b="1" i="0">
                <a:solidFill>
                  <a:srgbClr val="FFFFFF"/>
                </a:solidFill>
              </a:rPr>
              <a:t>✗</a:t>
            </a:r>
          </a:p>
        </p:txBody>
      </p:sp>
      <p:sp>
        <p:nvSpPr>
          <p:cNvPr id="8" name="TextBox 7"/>
          <p:cNvSpPr txBox="1"/>
          <p:nvPr/>
        </p:nvSpPr>
        <p:spPr>
          <a:xfrm>
            <a:off x="777240" y="1719072"/>
            <a:ext cx="10972800" cy="548640"/>
          </a:xfrm>
          <a:prstGeom prst="rect">
            <a:avLst/>
          </a:prstGeom>
          <a:noFill/>
        </p:spPr>
        <p:txBody>
          <a:bodyPr wrap="square">
            <a:spAutoFit/>
          </a:bodyPr>
          <a:lstStyle/>
          <a:p>
            <a:pPr algn="l"/>
            <a:r>
              <a:rPr sz="1400" b="0" i="0">
                <a:solidFill>
                  <a:srgbClr val="334455"/>
                </a:solidFill>
              </a:rPr>
              <a:t>Ejecutar el DDL generado directamente en producción sin probar en DEV/QA primero.</a:t>
            </a:r>
          </a:p>
        </p:txBody>
      </p:sp>
      <p:sp>
        <p:nvSpPr>
          <p:cNvPr id="9" name="Rectangle 8"/>
          <p:cNvSpPr/>
          <p:nvPr/>
        </p:nvSpPr>
        <p:spPr>
          <a:xfrm>
            <a:off x="274320" y="233172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350008"/>
            <a:ext cx="411480" cy="365760"/>
          </a:xfrm>
          <a:prstGeom prst="rect">
            <a:avLst/>
          </a:prstGeom>
          <a:noFill/>
        </p:spPr>
        <p:txBody>
          <a:bodyPr wrap="square">
            <a:spAutoFit/>
          </a:bodyPr>
          <a:lstStyle/>
          <a:p>
            <a:pPr algn="ctr"/>
            <a:r>
              <a:rPr sz="1500" b="1" i="0">
                <a:solidFill>
                  <a:srgbClr val="FFFFFF"/>
                </a:solidFill>
              </a:rPr>
              <a:t>✗</a:t>
            </a:r>
          </a:p>
        </p:txBody>
      </p:sp>
      <p:sp>
        <p:nvSpPr>
          <p:cNvPr id="11" name="TextBox 10"/>
          <p:cNvSpPr txBox="1"/>
          <p:nvPr/>
        </p:nvSpPr>
        <p:spPr>
          <a:xfrm>
            <a:off x="777240" y="2313432"/>
            <a:ext cx="10972800" cy="548640"/>
          </a:xfrm>
          <a:prstGeom prst="rect">
            <a:avLst/>
          </a:prstGeom>
          <a:noFill/>
        </p:spPr>
        <p:txBody>
          <a:bodyPr wrap="square">
            <a:spAutoFit/>
          </a:bodyPr>
          <a:lstStyle/>
          <a:p>
            <a:pPr algn="l"/>
            <a:r>
              <a:rPr sz="1400" b="0" i="0">
                <a:solidFill>
                  <a:srgbClr val="334455"/>
                </a:solidFill>
              </a:rPr>
              <a:t>No revisar el DDL generado: Data Modeler puede generar tipos por defecto incorrectos.</a:t>
            </a:r>
          </a:p>
        </p:txBody>
      </p:sp>
      <p:sp>
        <p:nvSpPr>
          <p:cNvPr id="12" name="Rectangle 11"/>
          <p:cNvSpPr/>
          <p:nvPr/>
        </p:nvSpPr>
        <p:spPr>
          <a:xfrm>
            <a:off x="274320" y="292608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944368"/>
            <a:ext cx="411480" cy="365760"/>
          </a:xfrm>
          <a:prstGeom prst="rect">
            <a:avLst/>
          </a:prstGeom>
          <a:noFill/>
        </p:spPr>
        <p:txBody>
          <a:bodyPr wrap="square">
            <a:spAutoFit/>
          </a:bodyPr>
          <a:lstStyle/>
          <a:p>
            <a:pPr algn="ctr"/>
            <a:r>
              <a:rPr sz="1500" b="1" i="0">
                <a:solidFill>
                  <a:srgbClr val="FFFFFF"/>
                </a:solidFill>
              </a:rPr>
              <a:t>✗</a:t>
            </a:r>
          </a:p>
        </p:txBody>
      </p:sp>
      <p:sp>
        <p:nvSpPr>
          <p:cNvPr id="14" name="TextBox 13"/>
          <p:cNvSpPr txBox="1"/>
          <p:nvPr/>
        </p:nvSpPr>
        <p:spPr>
          <a:xfrm>
            <a:off x="777240" y="2907791"/>
            <a:ext cx="10972800" cy="548640"/>
          </a:xfrm>
          <a:prstGeom prst="rect">
            <a:avLst/>
          </a:prstGeom>
          <a:noFill/>
        </p:spPr>
        <p:txBody>
          <a:bodyPr wrap="square">
            <a:spAutoFit/>
          </a:bodyPr>
          <a:lstStyle/>
          <a:p>
            <a:pPr algn="l"/>
            <a:r>
              <a:rPr sz="1400" b="0" i="0">
                <a:solidFill>
                  <a:srgbClr val="334455"/>
                </a:solidFill>
              </a:rPr>
              <a:t>Usar COMMIT en triggers: causa ORA-04092 (cannot commit in a trigger).</a:t>
            </a:r>
          </a:p>
        </p:txBody>
      </p:sp>
      <p:sp>
        <p:nvSpPr>
          <p:cNvPr id="15" name="Rectangle 14"/>
          <p:cNvSpPr/>
          <p:nvPr/>
        </p:nvSpPr>
        <p:spPr>
          <a:xfrm>
            <a:off x="274320" y="352044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538728"/>
            <a:ext cx="411480" cy="365760"/>
          </a:xfrm>
          <a:prstGeom prst="rect">
            <a:avLst/>
          </a:prstGeom>
          <a:noFill/>
        </p:spPr>
        <p:txBody>
          <a:bodyPr wrap="square">
            <a:spAutoFit/>
          </a:bodyPr>
          <a:lstStyle/>
          <a:p>
            <a:pPr algn="ctr"/>
            <a:r>
              <a:rPr sz="1500" b="1" i="0">
                <a:solidFill>
                  <a:srgbClr val="FFFFFF"/>
                </a:solidFill>
              </a:rPr>
              <a:t>✗</a:t>
            </a:r>
          </a:p>
        </p:txBody>
      </p:sp>
      <p:sp>
        <p:nvSpPr>
          <p:cNvPr id="17" name="TextBox 16"/>
          <p:cNvSpPr txBox="1"/>
          <p:nvPr/>
        </p:nvSpPr>
        <p:spPr>
          <a:xfrm>
            <a:off x="777240" y="3502152"/>
            <a:ext cx="10972800" cy="548640"/>
          </a:xfrm>
          <a:prstGeom prst="rect">
            <a:avLst/>
          </a:prstGeom>
          <a:noFill/>
        </p:spPr>
        <p:txBody>
          <a:bodyPr wrap="square">
            <a:spAutoFit/>
          </a:bodyPr>
          <a:lstStyle/>
          <a:p>
            <a:pPr algn="l"/>
            <a:r>
              <a:rPr sz="1400" b="0" i="0">
                <a:solidFill>
                  <a:srgbClr val="334455"/>
                </a:solidFill>
              </a:rPr>
              <a:t>No manejar excepciones en PL/SQL: los errores pasan silenciosos o dan mensajes crípticos.</a:t>
            </a:r>
          </a:p>
        </p:txBody>
      </p:sp>
      <p:sp>
        <p:nvSpPr>
          <p:cNvPr id="18" name="Rectangle 17"/>
          <p:cNvSpPr/>
          <p:nvPr/>
        </p:nvSpPr>
        <p:spPr>
          <a:xfrm>
            <a:off x="274320" y="411480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4133087"/>
            <a:ext cx="411480" cy="365760"/>
          </a:xfrm>
          <a:prstGeom prst="rect">
            <a:avLst/>
          </a:prstGeom>
          <a:noFill/>
        </p:spPr>
        <p:txBody>
          <a:bodyPr wrap="square">
            <a:spAutoFit/>
          </a:bodyPr>
          <a:lstStyle/>
          <a:p>
            <a:pPr algn="ctr"/>
            <a:r>
              <a:rPr sz="1500" b="1" i="0">
                <a:solidFill>
                  <a:srgbClr val="FFFFFF"/>
                </a:solidFill>
              </a:rPr>
              <a:t>✗</a:t>
            </a:r>
          </a:p>
        </p:txBody>
      </p:sp>
      <p:sp>
        <p:nvSpPr>
          <p:cNvPr id="20" name="TextBox 19"/>
          <p:cNvSpPr txBox="1"/>
          <p:nvPr/>
        </p:nvSpPr>
        <p:spPr>
          <a:xfrm>
            <a:off x="777240" y="4096512"/>
            <a:ext cx="10972800" cy="548640"/>
          </a:xfrm>
          <a:prstGeom prst="rect">
            <a:avLst/>
          </a:prstGeom>
          <a:noFill/>
        </p:spPr>
        <p:txBody>
          <a:bodyPr wrap="square">
            <a:spAutoFit/>
          </a:bodyPr>
          <a:lstStyle/>
          <a:p>
            <a:pPr algn="l"/>
            <a:r>
              <a:rPr sz="1400" b="0" i="0">
                <a:solidFill>
                  <a:srgbClr val="334455"/>
                </a:solidFill>
              </a:rPr>
              <a:t>Crear tablas en el tablespace SYSTEM en lugar del tablespace de aplicación.</a:t>
            </a:r>
          </a:p>
        </p:txBody>
      </p:sp>
      <p:sp>
        <p:nvSpPr>
          <p:cNvPr id="21" name="Rectangle 20"/>
          <p:cNvSpPr/>
          <p:nvPr/>
        </p:nvSpPr>
        <p:spPr>
          <a:xfrm>
            <a:off x="274320" y="470916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 y="4727448"/>
            <a:ext cx="411480" cy="365760"/>
          </a:xfrm>
          <a:prstGeom prst="rect">
            <a:avLst/>
          </a:prstGeom>
          <a:noFill/>
        </p:spPr>
        <p:txBody>
          <a:bodyPr wrap="square">
            <a:spAutoFit/>
          </a:bodyPr>
          <a:lstStyle/>
          <a:p>
            <a:pPr algn="ctr"/>
            <a:r>
              <a:rPr sz="1500" b="1" i="0">
                <a:solidFill>
                  <a:srgbClr val="FFFFFF"/>
                </a:solidFill>
              </a:rPr>
              <a:t>✗</a:t>
            </a:r>
          </a:p>
        </p:txBody>
      </p:sp>
      <p:sp>
        <p:nvSpPr>
          <p:cNvPr id="23" name="TextBox 22"/>
          <p:cNvSpPr txBox="1"/>
          <p:nvPr/>
        </p:nvSpPr>
        <p:spPr>
          <a:xfrm>
            <a:off x="777240" y="4690872"/>
            <a:ext cx="10972800" cy="548640"/>
          </a:xfrm>
          <a:prstGeom prst="rect">
            <a:avLst/>
          </a:prstGeom>
          <a:noFill/>
        </p:spPr>
        <p:txBody>
          <a:bodyPr wrap="square">
            <a:spAutoFit/>
          </a:bodyPr>
          <a:lstStyle/>
          <a:p>
            <a:pPr algn="l"/>
            <a:r>
              <a:rPr sz="1400" b="0" i="0">
                <a:solidFill>
                  <a:srgbClr val="334455"/>
                </a:solidFill>
              </a:rPr>
              <a:t>Olvidar crear índices en columnas FK: cada JOIN sin índice = full table scan.</a:t>
            </a:r>
          </a:p>
        </p:txBody>
      </p:sp>
      <p:sp>
        <p:nvSpPr>
          <p:cNvPr id="24" name="Rectangle 23"/>
          <p:cNvSpPr/>
          <p:nvPr/>
        </p:nvSpPr>
        <p:spPr>
          <a:xfrm>
            <a:off x="274320" y="5303520"/>
            <a:ext cx="411480" cy="411480"/>
          </a:xfrm>
          <a:prstGeom prst="rect">
            <a:avLst/>
          </a:prstGeom>
          <a:solidFill>
            <a:srgbClr val="E04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5321808"/>
            <a:ext cx="411480" cy="365760"/>
          </a:xfrm>
          <a:prstGeom prst="rect">
            <a:avLst/>
          </a:prstGeom>
          <a:noFill/>
        </p:spPr>
        <p:txBody>
          <a:bodyPr wrap="square">
            <a:spAutoFit/>
          </a:bodyPr>
          <a:lstStyle/>
          <a:p>
            <a:pPr algn="ctr"/>
            <a:r>
              <a:rPr sz="1500" b="1" i="0">
                <a:solidFill>
                  <a:srgbClr val="FFFFFF"/>
                </a:solidFill>
              </a:rPr>
              <a:t>✗</a:t>
            </a:r>
          </a:p>
        </p:txBody>
      </p:sp>
      <p:sp>
        <p:nvSpPr>
          <p:cNvPr id="26" name="TextBox 25"/>
          <p:cNvSpPr txBox="1"/>
          <p:nvPr/>
        </p:nvSpPr>
        <p:spPr>
          <a:xfrm>
            <a:off x="777240" y="5285232"/>
            <a:ext cx="10972800" cy="548640"/>
          </a:xfrm>
          <a:prstGeom prst="rect">
            <a:avLst/>
          </a:prstGeom>
          <a:noFill/>
        </p:spPr>
        <p:txBody>
          <a:bodyPr wrap="square">
            <a:spAutoFit/>
          </a:bodyPr>
          <a:lstStyle/>
          <a:p>
            <a:pPr algn="l"/>
            <a:r>
              <a:rPr sz="1400" b="0" i="0">
                <a:solidFill>
                  <a:srgbClr val="334455"/>
                </a:solidFill>
              </a:rPr>
              <a:t>Actualizar la BD de producción sin actualizar el modelo en Data Modeler → drift del esquema.</a:t>
            </a:r>
          </a:p>
        </p:txBody>
      </p:sp>
      <p:sp>
        <p:nvSpPr>
          <p:cNvPr id="27" name="Rectangle 26"/>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Tipos de Testing del Esquema Oracle Implementado</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TEST ESTRUCTURAL: verificar con USER_TABLES, USER_CONSTRAINTS que todos los objetos existen.</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TEST DE INTEGRIDAD: insertar registros que violan FK y verificar que Oracle rechaza el DML.</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TEST DE PERFORMANCE: ejecutar las consultas críticas y revisar con EXPLAIN PLAN.</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TEST DE CONCURRENCIA: dos sesiones simultáneas insertando en la misma tabla.</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TEST DE STORED PROCEDURES: invocar cada procedure con casos válidos e inválidos.</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TEST DE TRIGGERS: verificar que el trigger se activa y registra correctamente.</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TEST DE ROLLBACK: verificar que un error en mitad de un proceso no deja datos inconsistentes.</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Tabla de test cases con columnas: caso, resultado esperado, resultado real, estado</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Importancia del Laboratorio en el Quehacer Profesional</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La habilidad de implementar BD en Oracle 12C es uno de los skills más demandados en Colombia.</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Los proyectos de TI del sector bancario, gubernamental y asegurador usan Oracle como estándar.</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Un ingeniero que sabe generar código desde CASE + implementar en Oracle reduce tiempos 3x.</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La generación automática de documentación es requerida en licitaciones y auditorías.</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Oracle Certified Associate (OCA) y Oracle Certified Professional (OCP) validan estas habilidades.</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El flujo CASE → DDL → Implementación es el ciclo real de cualquier proyecto de BD en empresa.</a:t>
            </a:r>
          </a:p>
        </p:txBody>
      </p:sp>
      <p:sp>
        <p:nvSpPr>
          <p:cNvPr id="16" name="Rectangle 15"/>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Infografía de perfiles laborales que usan Oracle 12C con rangos salariales en Colombia</a:t>
            </a:r>
          </a:p>
        </p:txBody>
      </p:sp>
      <p:sp>
        <p:nvSpPr>
          <p:cNvPr id="18" name="Rectangle 1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7315200" cy="457200"/>
          </a:xfrm>
          <a:prstGeom prst="rect">
            <a:avLst/>
          </a:prstGeom>
          <a:noFill/>
        </p:spPr>
        <p:txBody>
          <a:bodyPr wrap="square">
            <a:spAutoFit/>
          </a:bodyPr>
          <a:lstStyle/>
          <a:p>
            <a:pPr algn="l"/>
            <a:r>
              <a:rPr sz="1700" b="1" i="0">
                <a:solidFill>
                  <a:srgbClr val="FFFFFF"/>
                </a:solidFill>
              </a:rPr>
              <a:t>✏  PROYECTO FINAL DE LABORATORIO</a:t>
            </a:r>
          </a:p>
        </p:txBody>
      </p:sp>
      <p:sp>
        <p:nvSpPr>
          <p:cNvPr id="4" name="TextBox 3"/>
          <p:cNvSpPr txBox="1"/>
          <p:nvPr/>
        </p:nvSpPr>
        <p:spPr>
          <a:xfrm>
            <a:off x="274320" y="502920"/>
            <a:ext cx="11612880" cy="457200"/>
          </a:xfrm>
          <a:prstGeom prst="rect">
            <a:avLst/>
          </a:prstGeom>
          <a:noFill/>
        </p:spPr>
        <p:txBody>
          <a:bodyPr wrap="square">
            <a:spAutoFit/>
          </a:bodyPr>
          <a:lstStyle/>
          <a:p>
            <a:pPr algn="l"/>
            <a:r>
              <a:rPr sz="1900" b="1" i="0">
                <a:solidFill>
                  <a:srgbClr val="FFFFFF"/>
                </a:solidFill>
              </a:rPr>
              <a:t>Proyecto Final: Sistema de Gestión de Clínica Veterinaria</a:t>
            </a:r>
          </a:p>
        </p:txBody>
      </p:sp>
      <p:sp>
        <p:nvSpPr>
          <p:cNvPr id="5" name="Rectangle 4"/>
          <p:cNvSpPr/>
          <p:nvPr/>
        </p:nvSpPr>
        <p:spPr>
          <a:xfrm>
            <a:off x="274320" y="1097280"/>
            <a:ext cx="11430000" cy="914400"/>
          </a:xfrm>
          <a:prstGeom prst="rect">
            <a:avLst/>
          </a:prstGeom>
          <a:solidFill>
            <a:srgbClr val="263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70432"/>
            <a:ext cx="11155680" cy="822960"/>
          </a:xfrm>
          <a:prstGeom prst="rect">
            <a:avLst/>
          </a:prstGeom>
          <a:noFill/>
        </p:spPr>
        <p:txBody>
          <a:bodyPr wrap="square">
            <a:spAutoFit/>
          </a:bodyPr>
          <a:lstStyle/>
          <a:p>
            <a:pPr algn="l"/>
            <a:r>
              <a:rPr sz="1300" b="0" i="0">
                <a:solidFill>
                  <a:srgbClr val="FFFFFF"/>
                </a:solidFill>
              </a:rPr>
              <a:t>Implementar de extremo a extremo el sistema de clínica veterinaria modelado en la Sesión 18: desde el repositorio de Oracle Data Modeler hasta la base de datos funcional en Oracle 12C con lógica de negocio en PL/SQL y documentación técnica completa.</a:t>
            </a:r>
          </a:p>
        </p:txBody>
      </p:sp>
      <p:sp>
        <p:nvSpPr>
          <p:cNvPr id="7" name="TextBox 6"/>
          <p:cNvSpPr txBox="1"/>
          <p:nvPr/>
        </p:nvSpPr>
        <p:spPr>
          <a:xfrm>
            <a:off x="365760" y="2148840"/>
            <a:ext cx="3657600" cy="365760"/>
          </a:xfrm>
          <a:prstGeom prst="rect">
            <a:avLst/>
          </a:prstGeom>
          <a:noFill/>
        </p:spPr>
        <p:txBody>
          <a:bodyPr wrap="square">
            <a:spAutoFit/>
          </a:bodyPr>
          <a:lstStyle/>
          <a:p>
            <a:pPr algn="l"/>
            <a:r>
              <a:rPr sz="1400" b="1" i="0">
                <a:solidFill>
                  <a:srgbClr val="0D1B2A"/>
                </a:solidFill>
              </a:rPr>
              <a:t>Entregables:</a:t>
            </a:r>
          </a:p>
        </p:txBody>
      </p:sp>
      <p:sp>
        <p:nvSpPr>
          <p:cNvPr id="8" name="Rectangle 7"/>
          <p:cNvSpPr/>
          <p:nvPr/>
        </p:nvSpPr>
        <p:spPr>
          <a:xfrm>
            <a:off x="274320" y="2651760"/>
            <a:ext cx="411480" cy="4114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2670048"/>
            <a:ext cx="411480" cy="365760"/>
          </a:xfrm>
          <a:prstGeom prst="rect">
            <a:avLst/>
          </a:prstGeom>
          <a:noFill/>
        </p:spPr>
        <p:txBody>
          <a:bodyPr wrap="square">
            <a:spAutoFit/>
          </a:bodyPr>
          <a:lstStyle/>
          <a:p>
            <a:pPr algn="ctr"/>
            <a:r>
              <a:rPr sz="1400" b="1" i="0">
                <a:solidFill>
                  <a:srgbClr val="FFFFFF"/>
                </a:solidFill>
              </a:rPr>
              <a:t>1</a:t>
            </a:r>
          </a:p>
        </p:txBody>
      </p:sp>
      <p:sp>
        <p:nvSpPr>
          <p:cNvPr id="10" name="TextBox 9"/>
          <p:cNvSpPr txBox="1"/>
          <p:nvPr/>
        </p:nvSpPr>
        <p:spPr>
          <a:xfrm>
            <a:off x="777240" y="2633472"/>
            <a:ext cx="10972800" cy="530352"/>
          </a:xfrm>
          <a:prstGeom prst="rect">
            <a:avLst/>
          </a:prstGeom>
          <a:noFill/>
        </p:spPr>
        <p:txBody>
          <a:bodyPr wrap="square">
            <a:spAutoFit/>
          </a:bodyPr>
          <a:lstStyle/>
          <a:p>
            <a:pPr algn="l"/>
            <a:r>
              <a:rPr sz="1400" b="0" i="0">
                <a:solidFill>
                  <a:srgbClr val="334455"/>
                </a:solidFill>
              </a:rPr>
              <a:t>DDL completo generado desde Data Modeler y ejecutado exitosamente en Oracle 12C.</a:t>
            </a:r>
          </a:p>
        </p:txBody>
      </p:sp>
      <p:sp>
        <p:nvSpPr>
          <p:cNvPr id="11" name="Rectangle 10"/>
          <p:cNvSpPr/>
          <p:nvPr/>
        </p:nvSpPr>
        <p:spPr>
          <a:xfrm>
            <a:off x="274320" y="3246120"/>
            <a:ext cx="411480" cy="4114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264408"/>
            <a:ext cx="411480" cy="365760"/>
          </a:xfrm>
          <a:prstGeom prst="rect">
            <a:avLst/>
          </a:prstGeom>
          <a:noFill/>
        </p:spPr>
        <p:txBody>
          <a:bodyPr wrap="square">
            <a:spAutoFit/>
          </a:bodyPr>
          <a:lstStyle/>
          <a:p>
            <a:pPr algn="ctr"/>
            <a:r>
              <a:rPr sz="1400" b="1" i="0">
                <a:solidFill>
                  <a:srgbClr val="FFFFFF"/>
                </a:solidFill>
              </a:rPr>
              <a:t>2</a:t>
            </a:r>
          </a:p>
        </p:txBody>
      </p:sp>
      <p:sp>
        <p:nvSpPr>
          <p:cNvPr id="13" name="TextBox 12"/>
          <p:cNvSpPr txBox="1"/>
          <p:nvPr/>
        </p:nvSpPr>
        <p:spPr>
          <a:xfrm>
            <a:off x="777240" y="3227832"/>
            <a:ext cx="10972800" cy="530352"/>
          </a:xfrm>
          <a:prstGeom prst="rect">
            <a:avLst/>
          </a:prstGeom>
          <a:noFill/>
        </p:spPr>
        <p:txBody>
          <a:bodyPr wrap="square">
            <a:spAutoFit/>
          </a:bodyPr>
          <a:lstStyle/>
          <a:p>
            <a:pPr algn="l"/>
            <a:r>
              <a:rPr sz="1400" b="0" i="0">
                <a:solidFill>
                  <a:srgbClr val="334455"/>
                </a:solidFill>
              </a:rPr>
              <a:t>Procedure registrar_consulta con validación de disponibilidad del veterinario.</a:t>
            </a:r>
          </a:p>
        </p:txBody>
      </p:sp>
      <p:sp>
        <p:nvSpPr>
          <p:cNvPr id="14" name="Rectangle 13"/>
          <p:cNvSpPr/>
          <p:nvPr/>
        </p:nvSpPr>
        <p:spPr>
          <a:xfrm>
            <a:off x="274320" y="3840480"/>
            <a:ext cx="411480" cy="4114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3858768"/>
            <a:ext cx="411480" cy="365760"/>
          </a:xfrm>
          <a:prstGeom prst="rect">
            <a:avLst/>
          </a:prstGeom>
          <a:noFill/>
        </p:spPr>
        <p:txBody>
          <a:bodyPr wrap="square">
            <a:spAutoFit/>
          </a:bodyPr>
          <a:lstStyle/>
          <a:p>
            <a:pPr algn="ctr"/>
            <a:r>
              <a:rPr sz="1400" b="1" i="0">
                <a:solidFill>
                  <a:srgbClr val="FFFFFF"/>
                </a:solidFill>
              </a:rPr>
              <a:t>3</a:t>
            </a:r>
          </a:p>
        </p:txBody>
      </p:sp>
      <p:sp>
        <p:nvSpPr>
          <p:cNvPr id="16" name="TextBox 15"/>
          <p:cNvSpPr txBox="1"/>
          <p:nvPr/>
        </p:nvSpPr>
        <p:spPr>
          <a:xfrm>
            <a:off x="777240" y="3822191"/>
            <a:ext cx="10972800" cy="530352"/>
          </a:xfrm>
          <a:prstGeom prst="rect">
            <a:avLst/>
          </a:prstGeom>
          <a:noFill/>
        </p:spPr>
        <p:txBody>
          <a:bodyPr wrap="square">
            <a:spAutoFit/>
          </a:bodyPr>
          <a:lstStyle/>
          <a:p>
            <a:pPr algn="l"/>
            <a:r>
              <a:rPr sz="1400" b="0" i="0">
                <a:solidFill>
                  <a:srgbClr val="334455"/>
                </a:solidFill>
              </a:rPr>
              <a:t>Trigger de auditoría para cambios de estado de MASCOTA.</a:t>
            </a:r>
          </a:p>
        </p:txBody>
      </p:sp>
      <p:sp>
        <p:nvSpPr>
          <p:cNvPr id="17" name="Rectangle 16"/>
          <p:cNvSpPr/>
          <p:nvPr/>
        </p:nvSpPr>
        <p:spPr>
          <a:xfrm>
            <a:off x="274320" y="4434840"/>
            <a:ext cx="411480" cy="4114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4453128"/>
            <a:ext cx="411480" cy="365760"/>
          </a:xfrm>
          <a:prstGeom prst="rect">
            <a:avLst/>
          </a:prstGeom>
          <a:noFill/>
        </p:spPr>
        <p:txBody>
          <a:bodyPr wrap="square">
            <a:spAutoFit/>
          </a:bodyPr>
          <a:lstStyle/>
          <a:p>
            <a:pPr algn="ctr"/>
            <a:r>
              <a:rPr sz="1400" b="1" i="0">
                <a:solidFill>
                  <a:srgbClr val="FFFFFF"/>
                </a:solidFill>
              </a:rPr>
              <a:t>4</a:t>
            </a:r>
          </a:p>
        </p:txBody>
      </p:sp>
      <p:sp>
        <p:nvSpPr>
          <p:cNvPr id="19" name="TextBox 18"/>
          <p:cNvSpPr txBox="1"/>
          <p:nvPr/>
        </p:nvSpPr>
        <p:spPr>
          <a:xfrm>
            <a:off x="777240" y="4416552"/>
            <a:ext cx="10972800" cy="530352"/>
          </a:xfrm>
          <a:prstGeom prst="rect">
            <a:avLst/>
          </a:prstGeom>
          <a:noFill/>
        </p:spPr>
        <p:txBody>
          <a:bodyPr wrap="square">
            <a:spAutoFit/>
          </a:bodyPr>
          <a:lstStyle/>
          <a:p>
            <a:pPr algn="l"/>
            <a:r>
              <a:rPr sz="1400" b="0" i="0">
                <a:solidFill>
                  <a:srgbClr val="334455"/>
                </a:solidFill>
              </a:rPr>
              <a:t>Package PKG_CLINICA con al menos 3 procedures o functions.</a:t>
            </a:r>
          </a:p>
        </p:txBody>
      </p:sp>
      <p:sp>
        <p:nvSpPr>
          <p:cNvPr id="20" name="Rectangle 19"/>
          <p:cNvSpPr/>
          <p:nvPr/>
        </p:nvSpPr>
        <p:spPr>
          <a:xfrm>
            <a:off x="274320" y="5029200"/>
            <a:ext cx="411480" cy="4114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5047488"/>
            <a:ext cx="411480" cy="365760"/>
          </a:xfrm>
          <a:prstGeom prst="rect">
            <a:avLst/>
          </a:prstGeom>
          <a:noFill/>
        </p:spPr>
        <p:txBody>
          <a:bodyPr wrap="square">
            <a:spAutoFit/>
          </a:bodyPr>
          <a:lstStyle/>
          <a:p>
            <a:pPr algn="ctr"/>
            <a:r>
              <a:rPr sz="1400" b="1" i="0">
                <a:solidFill>
                  <a:srgbClr val="FFFFFF"/>
                </a:solidFill>
              </a:rPr>
              <a:t>5</a:t>
            </a:r>
          </a:p>
        </p:txBody>
      </p:sp>
      <p:sp>
        <p:nvSpPr>
          <p:cNvPr id="22" name="TextBox 21"/>
          <p:cNvSpPr txBox="1"/>
          <p:nvPr/>
        </p:nvSpPr>
        <p:spPr>
          <a:xfrm>
            <a:off x="777240" y="5010912"/>
            <a:ext cx="10972800" cy="530352"/>
          </a:xfrm>
          <a:prstGeom prst="rect">
            <a:avLst/>
          </a:prstGeom>
          <a:noFill/>
        </p:spPr>
        <p:txBody>
          <a:bodyPr wrap="square">
            <a:spAutoFit/>
          </a:bodyPr>
          <a:lstStyle/>
          <a:p>
            <a:pPr algn="l"/>
            <a:r>
              <a:rPr sz="1400" b="0" i="0">
                <a:solidFill>
                  <a:srgbClr val="334455"/>
                </a:solidFill>
              </a:rPr>
              <a:t>Diccionario de datos generado automáticamente desde Data Modeler (HTML o PDF).</a:t>
            </a:r>
          </a:p>
        </p:txBody>
      </p:sp>
      <p:sp>
        <p:nvSpPr>
          <p:cNvPr id="23" name="Rectangle 22"/>
          <p:cNvSpPr/>
          <p:nvPr/>
        </p:nvSpPr>
        <p:spPr>
          <a:xfrm>
            <a:off x="274320" y="5623560"/>
            <a:ext cx="411480" cy="411480"/>
          </a:xfrm>
          <a:prstGeom prst="rect">
            <a:avLst/>
          </a:prstGeom>
          <a:solidFill>
            <a:srgbClr val="00A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5641848"/>
            <a:ext cx="411480" cy="365760"/>
          </a:xfrm>
          <a:prstGeom prst="rect">
            <a:avLst/>
          </a:prstGeom>
          <a:noFill/>
        </p:spPr>
        <p:txBody>
          <a:bodyPr wrap="square">
            <a:spAutoFit/>
          </a:bodyPr>
          <a:lstStyle/>
          <a:p>
            <a:pPr algn="ctr"/>
            <a:r>
              <a:rPr sz="1400" b="1" i="0">
                <a:solidFill>
                  <a:srgbClr val="FFFFFF"/>
                </a:solidFill>
              </a:rPr>
              <a:t>6</a:t>
            </a:r>
          </a:p>
        </p:txBody>
      </p:sp>
      <p:sp>
        <p:nvSpPr>
          <p:cNvPr id="25" name="TextBox 24"/>
          <p:cNvSpPr txBox="1"/>
          <p:nvPr/>
        </p:nvSpPr>
        <p:spPr>
          <a:xfrm>
            <a:off x="777240" y="5605272"/>
            <a:ext cx="10972800" cy="530352"/>
          </a:xfrm>
          <a:prstGeom prst="rect">
            <a:avLst/>
          </a:prstGeom>
          <a:noFill/>
        </p:spPr>
        <p:txBody>
          <a:bodyPr wrap="square">
            <a:spAutoFit/>
          </a:bodyPr>
          <a:lstStyle/>
          <a:p>
            <a:pPr algn="l"/>
            <a:r>
              <a:rPr sz="1400" b="0" i="0">
                <a:solidFill>
                  <a:srgbClr val="334455"/>
                </a:solidFill>
              </a:rPr>
              <a:t>Script de datos de prueba (mínimo 5 mascotas, 3 veterinarios, 10 consultas).</a:t>
            </a:r>
          </a:p>
        </p:txBody>
      </p:sp>
      <p:sp>
        <p:nvSpPr>
          <p:cNvPr id="26" name="Rectangle 25"/>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Checklist de Cierre: Sesión 19</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 Realicé forward engineering desde Oracle Data Modeler exitosamente.</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 Ejecuté el DDL generado en Oracle 12C sin errores.</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 Creé al menos un stored procedure en PL/SQL con manejo de excepciones.</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 Creé al menos un trigger en Oracle 12C.</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 Consulté el catálogo de Oracle (USER_TABLES, USER_CONSTRAINTS) para validar el esquema.</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 Generé documentación técnica desde el repositorio de Data Modeler.</a:t>
            </a:r>
          </a:p>
        </p:txBody>
      </p:sp>
      <p:sp>
        <p:nvSpPr>
          <p:cNvPr id="16" name="Rectangle 15"/>
          <p:cNvSpPr/>
          <p:nvPr/>
        </p:nvSpPr>
        <p:spPr>
          <a:xfrm>
            <a:off x="274320" y="4370831"/>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4352544"/>
            <a:ext cx="7955279" cy="512064"/>
          </a:xfrm>
          <a:prstGeom prst="rect">
            <a:avLst/>
          </a:prstGeom>
          <a:noFill/>
        </p:spPr>
        <p:txBody>
          <a:bodyPr wrap="square">
            <a:spAutoFit/>
          </a:bodyPr>
          <a:lstStyle/>
          <a:p>
            <a:pPr algn="l"/>
            <a:r>
              <a:rPr sz="1400" b="0" i="0">
                <a:solidFill>
                  <a:srgbClr val="334455"/>
                </a:solidFill>
              </a:rPr>
              <a:t>☐ Comprendo el ciclo completo: Modelo CASE → Código → BD → Documentación.</a:t>
            </a:r>
          </a:p>
        </p:txBody>
      </p:sp>
      <p:sp>
        <p:nvSpPr>
          <p:cNvPr id="18" name="Rectangle 17"/>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Checklist visual con colores de semáforo: rojo/amarillo/verde por nivel de dominio</a:t>
            </a:r>
          </a:p>
        </p:txBody>
      </p:sp>
      <p:sp>
        <p:nvSpPr>
          <p:cNvPr id="20" name="Rectangle 19"/>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430000" cy="822960"/>
          </a:xfrm>
          <a:prstGeom prst="rect">
            <a:avLst/>
          </a:prstGeom>
          <a:noFill/>
        </p:spPr>
        <p:txBody>
          <a:bodyPr wrap="square">
            <a:spAutoFit/>
          </a:bodyPr>
          <a:lstStyle/>
          <a:p>
            <a:pPr algn="l"/>
            <a:r>
              <a:rPr sz="2400" b="1" i="0">
                <a:solidFill>
                  <a:srgbClr val="FFFFFF"/>
                </a:solidFill>
              </a:rPr>
              <a:t>Preguntas de Reflexión Final: Sesión 19</a:t>
            </a:r>
          </a:p>
        </p:txBody>
      </p:sp>
      <p:sp>
        <p:nvSpPr>
          <p:cNvPr id="4" name="Rectangle 3"/>
          <p:cNvSpPr/>
          <p:nvPr/>
        </p:nvSpPr>
        <p:spPr>
          <a:xfrm>
            <a:off x="274320" y="118872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170432"/>
            <a:ext cx="7955279" cy="512064"/>
          </a:xfrm>
          <a:prstGeom prst="rect">
            <a:avLst/>
          </a:prstGeom>
          <a:noFill/>
        </p:spPr>
        <p:txBody>
          <a:bodyPr wrap="square">
            <a:spAutoFit/>
          </a:bodyPr>
          <a:lstStyle/>
          <a:p>
            <a:pPr algn="l"/>
            <a:r>
              <a:rPr sz="1400" b="0" i="0">
                <a:solidFill>
                  <a:srgbClr val="334455"/>
                </a:solidFill>
              </a:rPr>
              <a:t>¿Por qué es importante crear índices en las columnas de FK y no solo en la PK?</a:t>
            </a:r>
          </a:p>
        </p:txBody>
      </p:sp>
      <p:sp>
        <p:nvSpPr>
          <p:cNvPr id="6" name="Rectangle 5"/>
          <p:cNvSpPr/>
          <p:nvPr/>
        </p:nvSpPr>
        <p:spPr>
          <a:xfrm>
            <a:off x="274320" y="1719072"/>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700784"/>
            <a:ext cx="7955279" cy="512064"/>
          </a:xfrm>
          <a:prstGeom prst="rect">
            <a:avLst/>
          </a:prstGeom>
          <a:noFill/>
        </p:spPr>
        <p:txBody>
          <a:bodyPr wrap="square">
            <a:spAutoFit/>
          </a:bodyPr>
          <a:lstStyle/>
          <a:p>
            <a:pPr algn="l"/>
            <a:r>
              <a:rPr sz="1400" b="0" i="0">
                <a:solidFill>
                  <a:srgbClr val="334455"/>
                </a:solidFill>
              </a:rPr>
              <a:t>¿Cuándo usarías un PACKAGE PL/SQL en lugar de procedures independientes?</a:t>
            </a:r>
          </a:p>
        </p:txBody>
      </p:sp>
      <p:sp>
        <p:nvSpPr>
          <p:cNvPr id="8" name="Rectangle 7"/>
          <p:cNvSpPr/>
          <p:nvPr/>
        </p:nvSpPr>
        <p:spPr>
          <a:xfrm>
            <a:off x="274320" y="2249424"/>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 y="2231136"/>
            <a:ext cx="7955279" cy="512064"/>
          </a:xfrm>
          <a:prstGeom prst="rect">
            <a:avLst/>
          </a:prstGeom>
          <a:noFill/>
        </p:spPr>
        <p:txBody>
          <a:bodyPr wrap="square">
            <a:spAutoFit/>
          </a:bodyPr>
          <a:lstStyle/>
          <a:p>
            <a:pPr algn="l"/>
            <a:r>
              <a:rPr sz="1400" b="0" i="0">
                <a:solidFill>
                  <a:srgbClr val="334455"/>
                </a:solidFill>
              </a:rPr>
              <a:t>¿Qué diferencia hay entre un trigger BEFORE y un trigger AFTER en Oracle?</a:t>
            </a:r>
          </a:p>
        </p:txBody>
      </p:sp>
      <p:sp>
        <p:nvSpPr>
          <p:cNvPr id="10" name="Rectangle 9"/>
          <p:cNvSpPr/>
          <p:nvPr/>
        </p:nvSpPr>
        <p:spPr>
          <a:xfrm>
            <a:off x="274320" y="2779776"/>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 y="2761487"/>
            <a:ext cx="7955279" cy="512064"/>
          </a:xfrm>
          <a:prstGeom prst="rect">
            <a:avLst/>
          </a:prstGeom>
          <a:noFill/>
        </p:spPr>
        <p:txBody>
          <a:bodyPr wrap="square">
            <a:spAutoFit/>
          </a:bodyPr>
          <a:lstStyle/>
          <a:p>
            <a:pPr algn="l"/>
            <a:r>
              <a:rPr sz="1400" b="0" i="0">
                <a:solidFill>
                  <a:srgbClr val="334455"/>
                </a:solidFill>
              </a:rPr>
              <a:t>¿Por qué no se debe hacer COMMIT dentro de un trigger?</a:t>
            </a:r>
          </a:p>
        </p:txBody>
      </p:sp>
      <p:sp>
        <p:nvSpPr>
          <p:cNvPr id="12" name="Rectangle 11"/>
          <p:cNvSpPr/>
          <p:nvPr/>
        </p:nvSpPr>
        <p:spPr>
          <a:xfrm>
            <a:off x="274320" y="3310128"/>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3291839"/>
            <a:ext cx="7955279" cy="512064"/>
          </a:xfrm>
          <a:prstGeom prst="rect">
            <a:avLst/>
          </a:prstGeom>
          <a:noFill/>
        </p:spPr>
        <p:txBody>
          <a:bodyPr wrap="square">
            <a:spAutoFit/>
          </a:bodyPr>
          <a:lstStyle/>
          <a:p>
            <a:pPr algn="l"/>
            <a:r>
              <a:rPr sz="1400" b="0" i="0">
                <a:solidFill>
                  <a:srgbClr val="334455"/>
                </a:solidFill>
              </a:rPr>
              <a:t>¿Cómo garantizarías que el modelo en Data Modeler siempre refleja la BD real en producción?</a:t>
            </a:r>
          </a:p>
        </p:txBody>
      </p:sp>
      <p:sp>
        <p:nvSpPr>
          <p:cNvPr id="14" name="Rectangle 13"/>
          <p:cNvSpPr/>
          <p:nvPr/>
        </p:nvSpPr>
        <p:spPr>
          <a:xfrm>
            <a:off x="274320" y="3840480"/>
            <a:ext cx="109728" cy="347472"/>
          </a:xfrm>
          <a:prstGeom prst="rect">
            <a:avLst/>
          </a:prstGeom>
          <a:solidFill>
            <a:srgbClr val="00C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3822191"/>
            <a:ext cx="7955279" cy="512064"/>
          </a:xfrm>
          <a:prstGeom prst="rect">
            <a:avLst/>
          </a:prstGeom>
          <a:noFill/>
        </p:spPr>
        <p:txBody>
          <a:bodyPr wrap="square">
            <a:spAutoFit/>
          </a:bodyPr>
          <a:lstStyle/>
          <a:p>
            <a:pPr algn="l"/>
            <a:r>
              <a:rPr sz="1400" b="0" i="0">
                <a:solidFill>
                  <a:srgbClr val="334455"/>
                </a:solidFill>
              </a:rPr>
              <a:t>¿Qué herramienta de Oracle usarías para monitorear el rendimiento del esquema implementado?</a:t>
            </a:r>
          </a:p>
        </p:txBody>
      </p:sp>
      <p:sp>
        <p:nvSpPr>
          <p:cNvPr id="16" name="Rectangle 15"/>
          <p:cNvSpPr/>
          <p:nvPr/>
        </p:nvSpPr>
        <p:spPr>
          <a:xfrm>
            <a:off x="8503920" y="1097280"/>
            <a:ext cx="3383280" cy="530352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234440"/>
            <a:ext cx="3200400" cy="5074920"/>
          </a:xfrm>
          <a:prstGeom prst="rect">
            <a:avLst/>
          </a:prstGeom>
          <a:noFill/>
        </p:spPr>
        <p:txBody>
          <a:bodyPr wrap="square">
            <a:spAutoFit/>
          </a:bodyPr>
          <a:lstStyle/>
          <a:p>
            <a:pPr algn="l"/>
            <a:r>
              <a:rPr sz="1200" b="0" i="0">
                <a:solidFill>
                  <a:srgbClr val="FFFFFF"/>
                </a:solidFill>
              </a:rPr>
              <a:t>💡 Visual:
Diagrama de ciclo: pregunta → investigación → práctica → comprensión</a:t>
            </a:r>
          </a:p>
        </p:txBody>
      </p:sp>
      <p:sp>
        <p:nvSpPr>
          <p:cNvPr id="18" name="Rectangle 17"/>
          <p:cNvSpPr/>
          <p:nvPr/>
        </p:nvSpPr>
        <p:spPr>
          <a:xfrm>
            <a:off x="0" y="6400800"/>
            <a:ext cx="12188952" cy="4572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446520"/>
            <a:ext cx="11612880" cy="365760"/>
          </a:xfrm>
          <a:prstGeom prst="rect">
            <a:avLst/>
          </a:prstGeom>
          <a:noFill/>
        </p:spPr>
        <p:txBody>
          <a:bodyPr wrap="square">
            <a:spAutoFit/>
          </a:bodyPr>
          <a:lstStyle/>
          <a:p>
            <a:pPr algn="l"/>
            <a:r>
              <a:rPr sz="1100" b="0" i="0">
                <a:solidFill>
                  <a:srgbClr val="FFFFFF"/>
                </a:solidFill>
              </a:rPr>
              <a:t>Herramientas CASE  |  Sesión 19  |  Mg. Burbano Mena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1612880" cy="841248"/>
          </a:xfrm>
          <a:prstGeom prst="rect">
            <a:avLst/>
          </a:prstGeom>
          <a:noFill/>
        </p:spPr>
        <p:txBody>
          <a:bodyPr wrap="square">
            <a:spAutoFit/>
          </a:bodyPr>
          <a:lstStyle/>
          <a:p>
            <a:pPr algn="ctr"/>
            <a:r>
              <a:rPr sz="2400" b="1" i="0">
                <a:solidFill>
                  <a:srgbClr val="00C8E0"/>
                </a:solidFill>
              </a:rPr>
              <a:t>SESIÓN 19 COMPLETADA  |  LABORATORIO ORACLE 12C</a:t>
            </a:r>
          </a:p>
        </p:txBody>
      </p:sp>
      <p:sp>
        <p:nvSpPr>
          <p:cNvPr id="4" name="TextBox 3"/>
          <p:cNvSpPr txBox="1"/>
          <p:nvPr/>
        </p:nvSpPr>
        <p:spPr>
          <a:xfrm>
            <a:off x="274320" y="822960"/>
            <a:ext cx="11612880" cy="457200"/>
          </a:xfrm>
          <a:prstGeom prst="rect">
            <a:avLst/>
          </a:prstGeom>
          <a:noFill/>
        </p:spPr>
        <p:txBody>
          <a:bodyPr wrap="square">
            <a:spAutoFit/>
          </a:bodyPr>
          <a:lstStyle/>
          <a:p>
            <a:pPr algn="ctr"/>
            <a:r>
              <a:rPr sz="1400" b="0" i="0">
                <a:solidFill>
                  <a:srgbClr val="FFFFFF"/>
                </a:solidFill>
              </a:rPr>
              <a:t>Mg. Sergio Alejandro Burbano Mena</a:t>
            </a:r>
          </a:p>
        </p:txBody>
      </p:sp>
      <p:sp>
        <p:nvSpPr>
          <p:cNvPr id="5" name="TextBox 4"/>
          <p:cNvSpPr txBox="1"/>
          <p:nvPr/>
        </p:nvSpPr>
        <p:spPr>
          <a:xfrm>
            <a:off x="731520" y="1645920"/>
            <a:ext cx="10698480" cy="1737360"/>
          </a:xfrm>
          <a:prstGeom prst="rect">
            <a:avLst/>
          </a:prstGeom>
          <a:noFill/>
        </p:spPr>
        <p:txBody>
          <a:bodyPr wrap="square">
            <a:spAutoFit/>
          </a:bodyPr>
          <a:lstStyle/>
          <a:p>
            <a:pPr algn="ctr"/>
            <a:r>
              <a:rPr sz="2500" b="1" i="1">
                <a:solidFill>
                  <a:srgbClr val="FFFFFF"/>
                </a:solidFill>
              </a:rPr>
              <a:t>"La diferencia entre un modelo y un sistema real
es la disciplina de ejecutar cada paso con precisión."</a:t>
            </a:r>
          </a:p>
        </p:txBody>
      </p:sp>
      <p:sp>
        <p:nvSpPr>
          <p:cNvPr id="6" name="Rectangle 5"/>
          <p:cNvSpPr/>
          <p:nvPr/>
        </p:nvSpPr>
        <p:spPr>
          <a:xfrm>
            <a:off x="457200" y="3474720"/>
            <a:ext cx="11247120" cy="1280160"/>
          </a:xfrm>
          <a:prstGeom prst="rect">
            <a:avLst/>
          </a:prstGeom>
          <a:solidFill>
            <a:srgbClr val="263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566160"/>
            <a:ext cx="10881360" cy="1143000"/>
          </a:xfrm>
          <a:prstGeom prst="rect">
            <a:avLst/>
          </a:prstGeom>
          <a:noFill/>
        </p:spPr>
        <p:txBody>
          <a:bodyPr wrap="square">
            <a:spAutoFit/>
          </a:bodyPr>
          <a:lstStyle/>
          <a:p>
            <a:pPr algn="ctr"/>
            <a:r>
              <a:rPr sz="1400" b="0" i="0">
                <a:solidFill>
                  <a:srgbClr val="FFFFFF"/>
                </a:solidFill>
              </a:rPr>
              <a:t>RESUMEN DEL BLOQUE: Sesiones 16-19
S16: Modelamiento básico y ERD  |  S17: Modelamiento avanzado y patrones  |  S18: Herramientas CASE y Oracle 12C  |  S19: Generación de código y laboratorio</a:t>
            </a:r>
          </a:p>
        </p:txBody>
      </p:sp>
      <p:sp>
        <p:nvSpPr>
          <p:cNvPr id="8" name="Rectangle 7"/>
          <p:cNvSpPr/>
          <p:nvPr/>
        </p:nvSpPr>
        <p:spPr>
          <a:xfrm>
            <a:off x="0" y="5852160"/>
            <a:ext cx="12188952" cy="1005840"/>
          </a:xfrm>
          <a:prstGeom prst="rect">
            <a:avLst/>
          </a:prstGeom>
          <a:solidFill>
            <a:srgbClr val="1B4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5897880"/>
            <a:ext cx="11612880" cy="868680"/>
          </a:xfrm>
          <a:prstGeom prst="rect">
            <a:avLst/>
          </a:prstGeom>
          <a:noFill/>
        </p:spPr>
        <p:txBody>
          <a:bodyPr wrap="square">
            <a:spAutoFit/>
          </a:bodyPr>
          <a:lstStyle/>
          <a:p>
            <a:pPr algn="ctr"/>
            <a:r>
              <a:rPr sz="1400" b="0" i="0">
                <a:solidFill>
                  <a:srgbClr val="FFFFFF"/>
                </a:solidFill>
              </a:rPr>
              <a:t>Universitaria de Colombia | Ingeniería de Sistemas | 4° Semestre
Lenguajes de Última Generación |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