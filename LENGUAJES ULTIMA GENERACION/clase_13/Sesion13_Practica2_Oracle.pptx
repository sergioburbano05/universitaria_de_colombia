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41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64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46304" cy="5143500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04672" y="512064"/>
            <a:ext cx="35661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04672" y="5120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13  ·  CLASE PRÁCTICA II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98755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Académico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+ APEX Web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F5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Oracle  ·  PL/SQL  ·  Datos de prueba  ·  App APEX (formularios + reportes + dashboard)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834640"/>
            <a:ext cx="4572000" cy="36576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04672" y="3255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Lenguajes de Última Generación  |  Universitaria de Colombia  | 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3566160"/>
            <a:ext cx="8229600" cy="804672"/>
          </a:xfrm>
          <a:prstGeom prst="rect">
            <a:avLst/>
          </a:prstGeom>
          <a:solidFill>
            <a:srgbClr val="0A1E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50976" y="3602736"/>
            <a:ext cx="7973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sistema académico universitario completo en Oracle: ejecutar el script DDL con tablas, secuencias y triggers, cargar 20+ registros por tabla, crear packages y triggers de auditoría, y desplegar la solución como app web usando Oracle APEX.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91440"/>
            <a:ext cx="2011680" cy="20116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– Sesión 13: ¿Qué vamos a hacer hoy?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621792" cy="1261872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15910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9264" y="82296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el Script 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1188720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.sql con DDL (7 tablas + sequences + triggers) en SQL Workshop de APEX.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749808"/>
            <a:ext cx="621792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90872" y="749808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15910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04104" y="82296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Cargar Datos de Prueba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1188720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los INSERT (20+ registros por tabla) que vienen en el mismo .sql.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56032" y="2139696"/>
            <a:ext cx="62179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56032" y="2139696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" y="29809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9264" y="22128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PL/SQL en APEX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257860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pkg_academico + trigger de auditoría directamente en SQL Workshop.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04E2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139696"/>
            <a:ext cx="621792" cy="1261872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690872" y="2139696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0872" y="29809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04104" y="22128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App APEX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04104" y="257860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Builder: IR de Estudiantes, Form, IR de Matrículas, Dashboard con Charts.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56032" y="3529584"/>
            <a:ext cx="621792" cy="12618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256032" y="3529584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" y="43708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9264" y="36027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 y Probar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" y="396849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CRUD completo, formato condicional, navegación y exportar datos.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690872" y="3529584"/>
            <a:ext cx="62179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690872" y="3529584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0872" y="43708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04104" y="36027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Autónomo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04104" y="396849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Cine en Oracle + APEX: DDL + datos + app web completa.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Sistema Académico – 7 Tablas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universidad gestiona programas académicos, docentes, estudiantes, materias, matrículas y calificaciones. Todo conectado con Foreign Keys.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1463040" cy="457200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33502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facultad, creditos_min, activo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15179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5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Padre de ESTUDIANTE y MATERIA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audit_log (auditoría de cambios)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14630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320" y="17922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184708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cedula(UQ), nombre, apellido, email, titulo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28800" y="2029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Padre de MATERIA (dicta)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188366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audit_log (auditoría de cambios)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30428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14630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74320" y="2304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ESTUDIANTE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23591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codigo(UQ), nombre, apellido, email, semestre, id_programa(FK)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28800" y="25420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PROGRAMA. Hijo en MATRICULA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3957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audit_log (auditoría de cambios)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81635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74320" y="2816352"/>
            <a:ext cx="14630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74320" y="2816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28712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codigo(UQ), nombre, creditos, id_programa(FK), id_docente(FK)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28800" y="30540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PROGRAMA, DOCENTE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9077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audit_log (auditoría de cambios)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328416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274320" y="3328416"/>
            <a:ext cx="146304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274320" y="33284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SEMESTRE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28800" y="33832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anio, periodo(1/2), fecha_inicio, fecha_fin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0" y="35661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temporal de matrículas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34198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audit_log (auditoría de cambios)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274320" y="3840480"/>
            <a:ext cx="1463040" cy="4572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27432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MATRICULA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28800" y="389534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id_estudiante(FK), id_materia(FK), id_semestre(FK), estado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828800" y="407822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N:M + estado activa/completada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39319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audit_log (auditoría de cambios)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274320" y="4352544"/>
            <a:ext cx="14630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274320" y="43525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CALIFICACION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28800" y="44074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id_matricula(FK UQ), nota_1, nota_2, nota_3, aprobado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828800" y="459028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con MATRICULA. Notas parciales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6480" y="44439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audit_log (auditoría de cambios)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1 – Ejecutar el Script DDL en SQL Workshop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Abrir apex.oracle.com → SQL Workshop → SQL Scripts → Upload el archivo sistema_academico.sql → Run. Todo el DDL se ejecuta de una vez.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475488" cy="493776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129844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" y="1408176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SQL Workshop → SQL Scripts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865376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74320" y="1865376"/>
            <a:ext cx="47548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74320" y="1865376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" y="1975104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'Upload' → seleccionar sistema_academico.sql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432304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2432304"/>
            <a:ext cx="475488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74320" y="2432304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" y="2542032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'Run' → APEX ejecuta todo el script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74320" y="2999232"/>
            <a:ext cx="475488" cy="49377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74320" y="299923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" y="3108960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Verificar: 0 errores en el resultado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475488" cy="4937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274320" y="3566160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9536" y="3675888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Browser → ver las 8 tablas creadas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33088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04E2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74320" y="4133088"/>
            <a:ext cx="475488" cy="493776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274320" y="4133088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9536" y="4242816"/>
            <a:ext cx="791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 → SELECT COUNT(*) FROM estudiante → 20 filas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700016"/>
            <a:ext cx="8595360" cy="20116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20624" y="472744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Alternativa: SQL Workshop → SQL Commands → copiar y pegar bloques del .sql y ejecutar uno a uno (más control pero más lento).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2 – Verificar Tablas y Datos de Prueba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7724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 verificación en SQL Workshop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996696"/>
            <a:ext cx="8375904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 SQL Workshop → SQL Commands, ejecutar estas consultas de verificación: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Ver tablas creadas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table_name FROM user_tables ORDER BY table_name;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Resultado esperado: AUDIT_LOG, CALIFICACION, DOCENTE, ESTUDIANTE, MATERIA, MATRICULA, PROGRAMA, SEMESTRE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Conteo de registros por tabla (todos deben tener 20+)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'PROGRAMA' AS tabla, COUNT(*) AS registros FROM programa UNION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'DOCENTE',  COUNT(*) FROM docente UNION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'ESTUDIANTE', COUNT(*) FROM estudiante UNION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'MATERIA',  COUNT(*) FROM materia UNION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'SEMESTRE', COUNT(*) FROM semestre UNION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'MATRICULA', COUNT(*) FROM matricula UNION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'CALIFICACION', COUNT(*) FROM calificacion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tabla;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Verificar relaciones FK (JOIN de prueba)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e.codigo, e.nombre||' '||e.apellido AS estudiante, p.nombre AS programa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estudiante e JOIN programa p ON e.id_programa = p.id_programa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p.nombre, e.apellido;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-- 4. Ver sequences y triggers creados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sequence_name FROM user_sequences ORDER BY 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trigger_name, status FROM user_triggers ORDER BY 1;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3 – Crear PL/SQL en SQL Workshop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772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SPEC en SQL Workshop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996696"/>
            <a:ext cx="39410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Package pkg_academico (SQL Commands):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pkg_academico AS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fn_promedio(p_est NUMBER, p_sem NUMBER)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NUMBER;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fn_estado(p_id NUMBER)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VARCHAR2;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PROCEDURE sp_matricular(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p_est NUMBER, p_mat NUMBER,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p_sem NUMBER, p_res OUT VARCHAR2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pkg_academico;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Ejecutar primero el SPEC, luego el BODY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(ver el archivo .sql para el BODY completo)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18888" y="7772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 auditoría en SQL Workshop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996696"/>
            <a:ext cx="39410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de auditoría (SQL Commands):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trg_audit_matricula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OR UPDATE OR DELETE ON matricula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audit_log(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tabla_n, accion, id_reg, val_ant, val_nvo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VALUES(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'MATRICULA',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WHEN INSERTING THEN 'INSERT'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WHEN UPDATING THEN 'UPDATE'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ELSE 'DELETE' END,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NVL(:NEW.id_matricula,:OLD.id_matricula),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:OLD.estado, :NEW.estado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Verificar: SELECT * FROM user_triggers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WHERE trigger_name = 'TRG_AUDIT_MATRICULA';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39"/>
            <a:ext cx="8595360" cy="1831489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38912" y="2889504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Verificar que todo compila correctamente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182112"/>
            <a:ext cx="83393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SQL Workshop → SQL Commands ejecutar:
</a:t>
            </a: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object_name, object_type, status FROM user_objects
WHERE object_type IN ('PACKAGE','PACKAGE BODY','TRIGGER','FUNCTION')
ORDER BY object_type, object_name;
</a:t>
            </a: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objetos deben tener status = VALID. Si alguno dice INVALID, revisar errores con: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name, type, line, text FROM user_errors ORDER BY name, line;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4 – Crear la Aplicación APEX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4E2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75488" cy="1298448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8046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4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Builder → Create → New Application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13385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'Sistema Académico'. Tema: Vita (Dark). Features: Access Control 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75488" cy="12984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690872" y="74980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8046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Page → Interactive Report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13385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Estudiantes. Tabla: ESTUDIANTE. Incluir botón Create para ir al Form.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176272"/>
            <a:ext cx="475488" cy="1298448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56032" y="21762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50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Page → 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560320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Editar Estudiante. Tabla: ESTUDIANTE. APEX genera items + proceso DML.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690872" y="2176272"/>
            <a:ext cx="47548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690872" y="21762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Page → Interactive Report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560320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Matrículas. SQL con JOIN: matricula + estudiante + materia + semestre.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56032" y="3602736"/>
            <a:ext cx="475488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56032" y="360273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Page → Dashboard (Blank Page)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867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Dashboard. Agregar después: región Chart + Cards KPI.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690872" y="3602736"/>
            <a:ext cx="475488" cy="1298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690872" y="360273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57800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Application → Run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9867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genera todo: login, home, menú lateral, páginas. Probar en el navegador.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Report – SQL de Estudiantes con JOIN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7724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del Interactive Report – copiar en Region 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996696"/>
            <a:ext cx="83759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SQL del Interactive Report de Estudiantes (Region Source):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e.id_estudiante,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e.codigo,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e.nombre || ' ' || e.apellido                       AS estudiante,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e.email,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p.nombre                                             AS programa,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e.semestre_actual                                    AS semestre,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e.activo WHEN 1 THEN 'Activo' ELSE 'Inactivo' END AS estado,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(SELECT COUNT(*) FROM matricula m WHERE m.id_estudiante = e.id_estudiante) AS materias_inscritas,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TO_CHAR(e.created_at, 'DD/MM/YYYY')                  AS fecha_registro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estudiante 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programa p ON e.id_programa = p.id_programa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p.nombre, e.apellido, e.nombre;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4E2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64008" cy="2011680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38912" y="27980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el IR en Page Designer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090672"/>
            <a:ext cx="3904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Link: ESTUDIANTE → página Form (P3_ID = #ID_ESTUDIANTE#)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columna ID_ESTUDIANTE (visible = No)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condicional: ESTADO = 'Inactivo' → fondo rojo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condicional: MATERIAS_INSCRITAS = 0 → fondo amarillo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SALARIO: Format Mask → $999,999,999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botón 'Crear Estudiante' → ir a Form con P3_ID vacío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64008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73752" y="27980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el IR de Matrículas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3090672"/>
            <a:ext cx="3904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 JOIN de 4 tablas (ver slide siguiente)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estado 'cancelada' → fondo gris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estado 'completada' → fondo verde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estado 'activa' → fondo azul claro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calculada: nota_final con Compute en 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Exportar: el usuario puede descargar CSV/Excel/PDF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Report – SQL de Matrículas con 4 JOINs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2084832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7724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 Matrículas con calificaciones – copiar en Region 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996696"/>
            <a:ext cx="8375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SQL del Interactive Report de Matrículas: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m.id_matricula,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e.codigo                                              AS cod_estudiante,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e.nombre || ' ' || e.apellido                         AS estudiante,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mat.codigo || ' - ' || mat.nombre                     AS materia,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mat.creditos,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s.anio || '-' || s.periodo                            AS semestre,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UPPER(m.estado)                                       AS estado,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TO_CHAR(m.fecha_matricula, 'DD/MM/YYYY')              AS fecha_matricula,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c.nota_1, c.nota_2, c.nota_3,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ROUND(NVL(c.nota_1,0)*0.3 + NVL(c.nota_2,0)*0.3 + NVL(c.nota_3,0)*0.4, 2) AS definitiva,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WHEN (NVL(c.nota_1,0)*0.3+NVL(c.nota_2,0)*0.3+NVL(c.nota_3,0)*0.4) &gt;= 3.0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THEN 'APROBADA' ELSE 'REPROBADA' END             AS resultado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matricula m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estudiante e  ON m.id_estudiante = e.id_estudiante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materia mat   ON m.id_materia    = mat.id_materia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semestre s    ON m.id_semestre   = s.id_semestre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calificacion c ON m.id_matricula = c.id_matricula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s.anio DESC, s.periodo DESC, e.apellido;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20624" y="29352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LEFT JOIN calificacion: porque una matrícula puede no tener notas aún (recién matriculado). Con INNER JOIN se perderían esas filas.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346704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74320" y="3346704"/>
            <a:ext cx="64008" cy="1389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38912" y="34015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condicional en APEX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694176"/>
            <a:ext cx="3904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→ Format → Highlight → Name: 'Reprobada'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Column: RESULTADO, Operator: =, Value: REPROBADA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Color: #FFCDD2 (rojo claro)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para APROBADA → Background: #C8E6C9 (verde)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346704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709160" y="3346704"/>
            <a:ext cx="64008" cy="13898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73752" y="34015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que el usuario obtiene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3694176"/>
            <a:ext cx="3904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Filtrar: buscar por estudiante, materia, semestre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Agrupar: Actions → Group By → semestre o materia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Calcular: Actions → Compute → promedio de notas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Exportar: Actions → Download → CSV, Excel o PDF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APEX – KPIs y Gráficas del Sistema Académico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772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con Cards – SQL en Region 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996696"/>
            <a:ext cx="39410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Región Cards para KPIs: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Region → Type: Cards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Source SQL: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'Estudiantes' AS title,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COUNT(*)||'' AS description,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'fa-users' AS icon, 'u-color-1' AS card_color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estudiante WHERE activo=1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'Materias',COUNT(*)||'','fa-book','u-color-2'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materia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'Matrículas Activas',COUNT(*)||'',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'fa-check-circle','u-color-4'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matricula WHERE estado='activa'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'Promedio General',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ROUND(AVG(NVL(c.nota_1,0)*0.3+NVL(c.nota_2,0)*0.3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+NVL(c.nota_3,0)*0.4),2)||'',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'fa-chart-line','u-color-3'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calificacion c;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18888" y="7772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– Barras y Pie en el 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996696"/>
            <a:ext cx="39410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Región Chart: Estudiantes por Programa (Barras)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Region → Type: Chart → Bar Horizontal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Series SQL: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p.nombre       AS label,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       AS value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estudiante 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programa p ON e.id_programa = p.id_programa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e.activo = 1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p.nombre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value DESC;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Región Chart: Matrículas por Estado (Pie)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Type: Pie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UPPER(estado) AS label, COUNT(*) AS value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matricula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estado;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384048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20624" y="277063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del Dashboard: Fila 1 = Cards KPIs (12 cols) → Fila 2 = Chart Barras (7 cols) + Chart Pie (5 cols) → Fila 3 = IR últimas matrículas (12 cols)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8595360" cy="151790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84048" y="326440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matrículas en el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483864"/>
            <a:ext cx="83759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Región IR en el Dashboard: últimas matrículas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Region → Classic Report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e.codigo, e.nombre||' '||e.apellido AS estudiante,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mat.nombre AS materia, m.estado,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TO_CHAR(m.fecha_matricula,'DD/MM/YYYY') AS fecha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matricula m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estudiante e ON m.id_estudiante=e.id_estudiante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materia mat ON m.id_materia=mat.id_materia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m.fecha_matricula DESC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FIRST 10 ROWS ONLY;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Template: Standard → Alternating Rows para efecto zebra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Formulario de Estudiante – Validaciones en APEX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772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del formulario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996696"/>
            <a:ext cx="394106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Validaciones en el Form Estudiante: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Page → Validations → Create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Nombre requerido: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Item: P3_NOMBRE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Type: Item is NOT NULL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'El nombre es obligatorio.'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Email con formato válido: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Item: P3_EMAIL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Type: Regular Expression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Expr: ^[A-Za-z0-9._%+-]+@[A-Za-z0-9.-]+\.[A-Za-z]{2,}$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'Email inválido.'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Código único (PL/SQL Boolean):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v_c NUMBER;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 INTO v_c FROM estudiante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UPPER(codigo)=UPPER(:P3_CODIGO)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id_estudiante!=NVL(:P3_ID_ESTUDIANTE,0);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v_c = 0;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'El código ya existe.'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18888" y="7772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 dinámicas y Navigation Menu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996696"/>
            <a:ext cx="394106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Select List para PROGRAMA (LOV dinámica):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Item: P3_ID_PROGRAMA → Type: Select List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LOV → SQL Query: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 AS d, id_programa AS r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programa WHERE activo=1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nombre;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Select List para SEMESTRE ACTUAL: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LOV → Static Values: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Display: 1, Return: 1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Display: 2, Return: 2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... hasta 10</a:t>
            </a: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Navigation Menu: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Shared Components → Navigation Menu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Home     (fa-home)       → Page 1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Estudiantes (fa-users)   → Page 2 (IR)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Matrículas  (fa-book)    → Page 4 (IR)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Dashboard   (fa-chart-bar) → Page 5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Nuevo Est.  (fa-plus)    → Page 3 (Form)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64008" cy="14264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38912" y="2980944"/>
            <a:ext cx="8339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 PL/SQL personalizado (opcional – reemplazar DML automático)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255264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necesitas lógica extra al guardar (ej: llamar al package pkg_academico.sp_matricular), puedes reemplazar el proceso DML automático por un bloque PL/SQL personalizado que llame tu SP y muestre el resultado con APEX_APPLICATION.G_PRINT_SUCCESS_MESSAGE.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3785616"/>
            <a:ext cx="8339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formulario básico de Estudiante, el DML automático de APEX es suficiente. Usar PL/SQL personalizado solo cuando hay lógica de negocio compleja (validación de prerequisitos, cálculos, notificaciones).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Completo – Del .sql a la App Web Funcionando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75488" cy="1298448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" y="12618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8046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50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sistema_academico.sql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13385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.sql con DDL (7 tablas + sequences + triggers) + 20 registros por tabla. Lo proporcionó el docente.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749808"/>
            <a:ext cx="47548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90872" y="749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90872" y="12618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8046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Workshop → Upload &amp; Run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113385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.sql → ejecutar. Las tablas se crean con datos. Verificar con SELECT COUNT(*).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56032" y="2176272"/>
            <a:ext cx="47548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56032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56032" y="26883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Commands → PL/SQL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2560320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CREATE PACKAGE + CREATE TRIGGER para lógica de negocio y auditoría.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4E2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176272"/>
            <a:ext cx="475488" cy="1298448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690872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90872" y="26883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4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Builder → Create App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2560320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aplicación con 5 páginas: Home, IR Estudiantes, Form, IR Matrículas, Dashboard.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56032" y="3602736"/>
            <a:ext cx="475488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256032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56032" y="41148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Designer → Configurar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39867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condicional, validaciones, LOVs, Column Links, Charts, Navigation Menu.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690872" y="3602736"/>
            <a:ext cx="475488" cy="1298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690872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690872" y="41148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→ App Web Funcionando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39867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CRUD estudiantes → ver matrículas → dashboard con KPIs → exportar datos.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PRÁCTICO – Sesión 13: Sistema de Cine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solidFill>
            <a:srgbClr val="0A1E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 Caso: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 un Cine – Oracle Database + APEX Web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335024"/>
            <a:ext cx="8412480" cy="749808"/>
          </a:xfrm>
          <a:prstGeom prst="rect">
            <a:avLst/>
          </a:prstGeom>
          <a:solidFill>
            <a:srgbClr val="1A2C42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cine gestiona salas (2D/3D/IMAX), películas, funciones con horarios y precios, clientes y ventas de boletas. Cada venta registra la función, cantidad de boletas y el cliente. Se debe llevar auditoría de ventas y calcular la ocupación por función.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(40 min):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2920" y="25511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Crear DDL Oracle: tablas SALA, PELICULA, FUNCION, CLIENTE, VENTA con IDENTITY, FK, CHECK.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02920" y="28254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Insertar 20+ registros por tabla con datos coherentes (salas reales, películas actuales).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02920" y="3099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Crear en APEX: App 'GestiónCine'. Páginas: IR Funciones, IR Ventas, Form Venta, Dashboard.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33741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IR de Funciones: JOIN sala+película, formato condicional (funciones pasadas gris, futuras verde).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02920" y="36484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Form Venta: Select List película → Select List función (filtrada). Validar cantidad &gt; 0.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895344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2920" y="39227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 Dashboard: KPIs (total funciones, total ventas, ingresos). Chart: ventas por película (barras).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02920" y="41970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 Menú de navegación: Inicio, Funciones, Ventas, Nueva Venta, Dashboard.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4622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URL de la app APEX funcionando en apex.oracle.com + script .sql del DDL + datos.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– Taller S13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2816352" cy="384048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47472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DDL Oracle + 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88720"/>
            <a:ext cx="26334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 con IDENTITY + FK + CHECK (10)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registros por tabla coherentes (5)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ejecuta sin errores ORA (5)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4E2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200400" y="749808"/>
            <a:ext cx="2816352" cy="384048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91840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pts  ·  App APEX Funcional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188720"/>
            <a:ext cx="26334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creada con menú de navegación (5)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 Funciones con JOIN + formato (10)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 Ventas con JOIN + datos (10)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749808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144768" y="749808"/>
            <a:ext cx="28163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236208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Formulario + Validaciones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188720"/>
            <a:ext cx="26334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Venta con Select Lists LOV (10)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cantidad &gt; 0 (5)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DML correcto (5)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743200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56032" y="2743200"/>
            <a:ext cx="28163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27432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pts  · 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182112"/>
            <a:ext cx="26334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funcionales con datos reales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Chart con SQL correcto (7)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816352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2816352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91840" y="27432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Calidad y Entrega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182112"/>
            <a:ext cx="26334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sin errores en ejecución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accesible en apex.oracle.com (7)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limpio y responsive (5)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– Oracle + APEX en la Práctica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54864" cy="1243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02336" y="8046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ORA-02291: FK padre no existe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115568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en orden: PROGRAMA antes que ESTUDIANTE. MATERIA antes que MATRICULA. Siempre padre primero.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749808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54864" cy="12435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37176" y="8046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ORA-00001: duplicado en PK/UNIQUE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37176" y="1115568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ya existe. Verificar con SELECT antes. En datos de prueba usar COMMIT entre bloques de INSERT.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121408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56032" y="2121408"/>
            <a:ext cx="54864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02336" y="21762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Script .sql ejecuta parcialmente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2336" y="2487168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detiene la ejecución. Solución: dividir en bloques. Ejecutar DDL primero, luego INSERT, luego PL/SQL.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0872" y="2121408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690872" y="2121408"/>
            <a:ext cx="54864" cy="1243584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837176" y="21762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50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IR no muestra datos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37176" y="2487168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SQL tiene error o la tabla está vacía. Probar el SQL en SQL Commands primero. Verificar FROM y JOINs.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493008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56032" y="3493008"/>
            <a:ext cx="54864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02336" y="35478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Form no guarda: ORA-01403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2336" y="3858768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item PK (P3_ID) no existe o no tiene source correcta. Verificar en Page Designer: Type=Hidden, Source=Database Column.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90872" y="3493008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690872" y="3493008"/>
            <a:ext cx="54864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37176" y="354787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Formato condicional no aplica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37176" y="3858768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'activa' ≠ 'ACTIVA'. Usar UPPER() en el SQL del reporte para uniformar.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 Rápidos para el Taller APEX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4E2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54864" cy="932688"/>
          </a:xfrm>
          <a:prstGeom prst="rect">
            <a:avLst/>
          </a:prstGeom>
          <a:solidFill>
            <a:srgbClr val="F04E23"/>
          </a:solidFill>
          <a:ln w="12700">
            <a:solidFill>
              <a:srgbClr val="F04E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02336" y="80467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4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Column Link al 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097280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IR → columna NOMBRE → Type: Link → Target Page: 3 → P3_ID = #ID# → Clear Cache: 3.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749808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54864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37176" y="80467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Formato condicional rápido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37176" y="1097280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runtime: Actions → Format → Highlight. Nombre, columna, operador, valor, color. Listo.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1810512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56032" y="1810512"/>
            <a:ext cx="54864" cy="932688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02336" y="186537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50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Chart en 2 minutos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2157984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Region → Chart → Bar/Pie/Line → SQL con label y value. APEX renderiza automáticamente.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0872" y="1810512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690872" y="1810512"/>
            <a:ext cx="54864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837176" y="186537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LOV en Select List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2157984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→ Type: Select List → LOV: SQL Query → SELECT nombre AS d, id AS r FROM tabla ORDER BY nombre.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871216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56032" y="2871216"/>
            <a:ext cx="54864" cy="932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02336" y="292608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Probar responsive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3218688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en Chrome → Device Toolbar → seleccionar iPhone/Android. Verificar que el menú se colapsa.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90872" y="2871216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690872" y="2871216"/>
            <a:ext cx="54864" cy="93268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37176" y="292608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Exportar app como backup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7176" y="3218688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 → Export → genera .sql con toda la app. Importar en otro workspace con Import.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931920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56032" y="3931920"/>
            <a:ext cx="54864" cy="9326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02336" y="3986784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Autorizar botón Delete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2336" y="4279392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→ Authorization: Solo Admin. Aplicar al botón DELETE en el Form.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90872" y="3931920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690872" y="3931920"/>
            <a:ext cx="54864" cy="93268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837176" y="3986784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Dynamic Action: Refresh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37176" y="4279392"/>
            <a:ext cx="3968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→ Event: Change → Item: P1_FILTRO → TRUE Action: Refresh → Region: 'Mi Reporte'. Filtro en tiempo real.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Próxima Sesión 14 – Python + Oracle Database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· Práctica II Oracle + APEX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8595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0D4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64008" cy="2560320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38912" y="804672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S14: Conectar Python a la misma BD Oracle que usas en APEX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097280"/>
            <a:ext cx="833932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oracledb: pip install oracledb (driver oficial Oracle para Python 3.x)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en modo Thin (sin Oracle Client): conn = oracledb.connect(user, pass, dsn)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con bind variables: cursor.execute('SELECT * FROM estudiante WHERE id=:id', {'id': 1})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Stored Procedures: cursor.callproc('sp_matricular', [est, mat, sem, resultado])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API: GET /api/estudiantes, POST /api/matriculas → conectado a la misma BD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APEX y la API Python pueden coexistir sobre la misma base de datos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para usuarios internos (web CRUD) + Python API para móviles y apps externas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que insertas en APEX aparecen en la API Python y viceversa (misma BD)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401568"/>
            <a:ext cx="8595360" cy="310896"/>
          </a:xfrm>
          <a:prstGeom prst="rect">
            <a:avLst/>
          </a:prstGeom>
          <a:solidFill>
            <a:srgbClr val="0A1E35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20624" y="34381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completa: Oracle APEX (web interna) + Python Flask (API REST) + Oracle Database (datos compartidos)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46304" cy="5143500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04672" y="146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S13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" y="4389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II: Oracle + APEX Web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04672" y="859536"/>
            <a:ext cx="2743200" cy="36576"/>
          </a:xfrm>
          <a:prstGeom prst="rect">
            <a:avLst/>
          </a:prstGeom>
          <a:solidFill>
            <a:srgbClr val="1550D4"/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04672" y="1042416"/>
            <a:ext cx="3931920" cy="1060704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04672" y="1042416"/>
            <a:ext cx="475488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04672" y="104241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09728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 .sql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408176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con 7 tablas, sequences, triggers + 20 registros por tabla. Ejecutar en SQL Workshop.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19472" y="1042416"/>
            <a:ext cx="3931920" cy="1060704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919472" y="1042416"/>
            <a:ext cx="475488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919472" y="104241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0" y="109728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408176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pkg_academico + trigger de auditoría. Creados en SQL Commands de APEX.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2212848"/>
            <a:ext cx="3931920" cy="1060704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04672" y="2212848"/>
            <a:ext cx="475488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04672" y="221284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226771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APEX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2578608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páginas: IR Estudiantes, Form, IR Matrículas, Dashboard con Charts y KPIs.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19472" y="2212848"/>
            <a:ext cx="3931920" cy="1060704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919472" y="2212848"/>
            <a:ext cx="475488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919472" y="221284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226771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578608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condicional, validaciones PL/SQL, LOVs dinámicas, Column Links, Navigation Menu.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" y="3383280"/>
            <a:ext cx="3931920" cy="1060704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804672" y="3383280"/>
            <a:ext cx="475488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04672" y="338328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71600" y="343814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Cine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74904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Cine completo: DDL + datos + app APEX con IR + Form + Dashboard.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9472" y="3383280"/>
            <a:ext cx="3931920" cy="1060704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550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4919472" y="3383280"/>
            <a:ext cx="475488" cy="10607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919472" y="338328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86400" y="343814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74904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la app en apex.oracle.com + script .sql. Todo funcionando sin errores.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S14: Python + Oracle Database – oracledb, Flask REST API, Repository Pattern sobre la misma BD Oracle.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4568</Words>
  <Application>Microsoft Office PowerPoint</Application>
  <PresentationFormat>Presentación en pantalla (16:9)</PresentationFormat>
  <Paragraphs>493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13 – Clase Práctica II: Oracle + APEX</dc:title>
  <dc:subject>PptxGenJS Presentation</dc:subject>
  <dc:creator>PptxGenJS</dc:creator>
  <cp:lastModifiedBy>Sergio Alejandro Burbano Mena</cp:lastModifiedBy>
  <cp:revision>2</cp:revision>
  <dcterms:created xsi:type="dcterms:W3CDTF">2026-04-22T11:47:42Z</dcterms:created>
  <dcterms:modified xsi:type="dcterms:W3CDTF">2026-04-22T19:33:01Z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2026-04-22T19:32:59Z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c2d0cb7b-31df-48d0-9068-a623b10bed00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