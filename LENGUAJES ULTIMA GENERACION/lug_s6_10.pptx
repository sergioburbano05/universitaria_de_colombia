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 BD II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tablas, claves y tipos de relaciones en profundidad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6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los tipos de tablas en un esquema relacional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correctamente los tres tipos de relaciones (1:1, 1:N, M:N) en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tablas de intersección para relaciones M:N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restricciones de integridad avanzadas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lógico a partir de un modelo conceptual dado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Tablas en un Esquema Relacional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Maestra / Catálogo (lookup table):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datos de referencia estáticos o semi-estáticos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CIUDAD, CATEGORIA_PRODUCTO, TIPO_CLIENTE, MONEDA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filas, muy consultadas — candidatas a cachear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Datos / Transaccional: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eventos del negocio — crece constantemente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PEDIDO, FACTURA, PAGO, MOVIMIENTO_CUENTA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Intersección / Pivote (para M:N):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relaciones muchos-a-muchos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PEDIDO_PRODUCTO, ESTUDIANTE_MATERIA, ACTOR_PELICULA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Auditoría / Histórico: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cambios sobre otras tablas — trazabilidad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Implementando las Tres Relaciones en SQL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1:1 — La FK va en la tabla con menor número de filas: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EMPLEADO(id_emp PK, nombre) ← CONTRATO(id_contrato PK, id_emp FK UNIQUE, salario)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UNIQUE en id_emp garantiza el 1:1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1:N — La FK va en el lado 'muchos' (N):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CLIENTE(id_cliente PK) ← PEDIDO(id_pedido PK, id_cliente FK NOT NULL)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M:N — Tabla de intersección con dos FKs: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PEDIDO(id_pedido PK) + PRODUCTO(id_producto PK)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PEDIDO_PRODUCTO(id_pedido FK, id_producto FK, cantidad, precio_unitario)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compuesta: PRIMARY KEY(id_pedido, id_producto)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intersección puede tener atributos propios de la relación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y precio_unitario son atributos de la RELACIÓN, no de PEDIDO ni PRODUCTO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 Recursivas y Ternarias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Unaria / Recursiva: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se relaciona consigo misma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EMPLEADO supervisa EMPLEADO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EMPLEADO(id_emp PK, nombre, id_supervisor FK → EMPLEADO.id_emp NULL)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en id_supervisor = jefe máximo (sin supervisor)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Ternaria: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entidades participan en la misma relación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MÉDICO prescribe MEDICAMENTO a PACIENTE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PRESCRIPCION(id_medico FK, id_medicamento FK, id_paciente FK, dosis, frecuencia)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compuesta: (id_medico, id_medicamento, id_paciente, fecha)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la relación tiene atributos propios → siempre necesita tabla propia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Práctico — Sistema de Biblioteca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identificadas: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SOCIO(id, nombre, email, fecha_afiliación)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LIBRO(isbn, título, año, id_editorial FK)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EDITORIAL(id, nombre, ciudad)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AUTOR(id, nombre, nacionalidad)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M:N AUTOR → LIBRO_AUTOR(isbn FK, id_autor FK, rol)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1:N PRÉSTAMO → PRÉSTAMO(id, id_socio FK, isbn FK, fecha_prestamo, fecha_devolucion)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negocio: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fecha_devolucion &gt; fecha_prestamo → CHECK(fecha_devolucion &gt; fecha_prestamo)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socio no puede tener más de 3 libros simultáneos → lógica de aplicación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ISBN: 13 dígitos → CHAR(13) CHECK(LENGTH(isbn)=13)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Comparativa: Modelo Conceptual vs Lógico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Modelo Conceptual (DER)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visual: diagramas 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Notación: Chen o Crow's Foot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tipos de datos específicos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relaciones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muestra PKs/FKs explícitas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del SGBD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analistas y clientes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draw.io, Lucidchart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Modelo Lógico (Relacional)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tablas y columnas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Notación: diagrama relacional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tipos de datos SQL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columnas definidas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y FKs explícitas y nombradas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del hardware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desarrolladores y DBAs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MySQL Workbench, ERwin, DBeaver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Uber — Relaciones M:N entre Conductores, Viajes y Pasajeros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Uber modela millones de viajes con relaciones complejas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simplificado: PASAJERO, CONDUCTOR, VIAJE, VEHICULO, PAGO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 1:N VIAJE (un pasajero hace muchos viajes)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1:N VIAJE (un conductor hace muchos viajes)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 M:N RUTA → tabla VIAJE_RUTA con puntos GPS intermedios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 1:1 PAGO (cada viaje tiene exactamente un pago)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M:N de reseñas: PASAJERO califica CONDUCTOR y CONDUCTOR califica PASAJERO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procesa 19 millones de viajes diarios — el diseño de tablas es crítico para la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Uber procesa $37.9B en reservaciones anuales sobre un modelo relacional bien diseñado con relaciones 1:N y M:N correctamente implementadas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tabla de intersección puede tener atributos propios que no pertenecen ni a una ni a otra entidad?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implementarías la restricción de que un empleado no puede ser su propio supervisor?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una PK compuesta vs una PK sustituta (surrogate key) en una tabla de intersección?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problemas tendría el sistema de Uber si la relación PASAJERO-VIAJE-CONDUCTOR fuera mal modelada?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tablas: maestra, transaccional, intersección, auditoría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→ FK + UNIQUE | 1:N → FK en lado N | M:N → tabla intersección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intersección: pueden tener atributos propios de la relación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recursiva: FK apunta a la misma tabla (supervisor-empleado)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ternaria: 3 entidades → tabla propia con 3 FKs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Uber: 19M viajes/día sobre relaciones bien modeladas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 BD III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Cardinalidad, DER, Formas Normales y SQL CRUD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7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cardinalidad mínima y máxima en un DER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Diagrama Entidad-Relación completo con notación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las formas normales 1FN, 2FN y 3FN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sentencias INSERT, UPDATE, DELETE y SELECT básicas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anomalías de actualización, inserción y eliminación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 — Definición Precisa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 mínima: número mínimo de participaciones de una instancia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participación opcional (PUEDE participar)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participación obligatoria (DEBE participar)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 máxima: número máximo de participaciones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exactamente uno | N = muchos (sin límite)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(mínima, máxima):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(0,1): puede tener uno o ninguno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(1,1): exactamente uno — obligatorio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(0,N): puede tener muchos o ninguno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(1,N): al menos uno y posiblemente más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CLIENTE (1,1) REALIZA (0,N) PEDIDO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Pedido DEBE pertenecer a exactamente 1 Cliente | Un Cliente PUEDE tener 0 o más Pedidos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Entidad-Relación — Construcción Paso a Paso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construcción: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Identificar entidades (sustantivos del dominio)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Identificar atributos de cada entidad (subrayar la clave)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Identificar relaciones (verbos entre entidades)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Determinar cardinalidades (mínima, máxima) para cada extremo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Identificar entidades débiles y sus claves parciales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Verificar completitud con las reglas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buena práctica: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relación debe tener un nombre VERBO activo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relaciones sin nombre — dificultan la lectura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relación tiene atributos → definir si se convierte en entidad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DER con el cliente/analista antes de modelar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Normales — Eliminando Redundancias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Forma Normal (1FN):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atributos son atómicos (valores simples, no compuestos)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grupos repetidos ni atributos multivalorados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violación: Teléfonos='3001234567, 3119876543' en una celda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Forma Normal (2FN):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1FN + todo atributo no clave depende de la PK COMPLETA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cuando la PK es compuesta — elimina dependencias parciales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violación: en PEDIDO_PROD(id_ped, id_prod, nombre_prod)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nombre_prod depende solo de id_prod — no de la PK compuesta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Forma Normal (3FN):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2FN + no hay dependencias transitivas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atributo no clave depende de otro atributo no clave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en EMPLEADO(id, nombre, id_dpto, nombre_dpto) — nombre_dpto depende de id_dpto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Anomalías de Actualización — Por qué Normalizar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NO normalizada: EMPLEADO_PROYECTO(id_emp, nombre, id_proy, nombre_proy, horas)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de actualización: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nombre del proyecto → hay que actualizarlo en TODAS las filas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olvida una fila → datos inconsistentes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de inserción: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agregar un proyecto sin tener empleados asignados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de eliminación: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eliminamos el último empleado del proyecto → perdemos el proyecto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— Descomponer en 3FN: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EMPLEADO(id_emp, nombre) | PROYECTO(id_proy, nombre_proy)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ASIGNACION(id_emp FK, id_proy FK, horas)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nombre_proy: UN solo registro en PROYECTO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CRUD — INSERT, UPDATE, DELETE, SELECT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agregar nuevos registros: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CLIENTE(id_cliente,nombre,email) VALUES(1,'Ana Gómez','ana@mail.com');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modificar registros existentes: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CLIENTE SET email='nuevo@mail.com' WHERE id_cliente=1;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SIEMPRE usar WHERE en UPDATE y DELETE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eliminar registros: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PEDIDO WHERE estado='Cancelado' AND fecha &lt; '2023-01-01';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consultar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nombre, email FROM CLIENTE WHERE ciudad='Bogotá' ORDER BY nombre;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COUNT(*), SUM(total) FROM PEDIDO WHERE YEAR(fecha)=2024;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segura: BEGIN; UPDATE...; DELETE...; COMMIT;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Facebook y la Normalización del News Feed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/ Facebook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normalizar (y denormalizar) para escalar a 3 billones de usuarios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comenzó con un esquema normalizado en MySQL para posts, likes y comentarios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JOIN de USUARIO + POST + COMENTARIO + LIKE para generar el feed era lento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billones de usuarios, la normalización generaba demasiados JOINs costosos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híbrida: datos de perfil en MySQL normalizado + feed precalculado en Cassandra (NoSQL)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normalización garantiza integridad; la denormalización selectiva garantiza velocidad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normalizar primero, denormalizar solo con datos medidos de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Facebook mantiene integridad con MySQL normalizado para perfil y relaciones, y usa Cassandra denormalizado para el feed — arquitectura polyglot persistence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detectas una violación de 2FN? Da un ejemplo con una tabla de tu área de interés.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situación sería aceptable NO normalizar (mantener redundancia intencional)?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consecuencias tiene ejecutar un UPDATE sin cláusula WHERE en una tabla de producción?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Facebook usa tanto MySQL (relacional) como Cassandra (NoSQL) en vez de solo uno?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 (mínima, máxima): (0,1), (1,1), (0,N), (1,N)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DER: entidades, atributos, relaciones con cardinalidad y participación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1FN: atómica | 2FN: sin depend. parcial | 3FN: sin depend. transitiva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Anomalías: actualización, inserción, eliminación — eliminadas por 3FN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CRUD: INSERT, UPDATE (con WHERE!), DELETE (con WHERE!), SELECT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normalizado para integridad + NoSQL para velocidad del feed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 BD IV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completa, DER → Relacional y Estándar 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8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proceso completo de normalización hasta 3FN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un DER en un esquema relacional SQL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comprender el estándar ANSI/ISO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JOIN para combinar tablas en consultas complejas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taller de normalización y SQL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de Normalización — Paso a Paso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no normalizada de ejemplo: FACTURA_CRUDA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id_fact, fecha, id_cli, nombre_cli, ciudad_cli, id_prod, nombre_prod, categoria, precio, cant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→ 1FN: atomizar y eliminar grupos repetidos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múltiples productos en una fila → crear FACTURA + DETALLE_FACTURA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→ 2FN: eliminar dependencias parciales (PK compuesta)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DETALLE(id_fact, id_prod, nombre_prod, precio, cant):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nombre_prod y precio dependen solo de id_prod → extraer tabla PRODUCTO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→ 3FN: eliminar dependencias transitivas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FACTURA(id_fact, fecha, id_cli, nombre_cli, ciudad_cli):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nombre_cli y ciudad_cli dependen de id_cli → extraer tabla CLIENTE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FACTURA + DETALLE + CLIENTE + PRODUCTO — sin redundancias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DER al Modelo Relacional — Reglas de Conversión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1: Cada entidad fuerte → una tabla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la entidad → columnas de la tabla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clave → PRIMARY KEY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2: Cada entidad débil → tabla con PK compuesta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clave parcial + PK de la entidad propietaria (FK)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3: Relación 1:1 → FK en la tabla con menor filas (o fusión)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4: Relación 1:N → FK en la tabla del lado 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5: Relación M:N → tabla nueva con dos FKs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la relación → columnas de la tabla de intersección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6: Atributos multivalorados → tabla separada con FK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7: Relación recursiva → columna adicional FK en la misma tabla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SQL — ANSI/ISO y Dialectos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SQL más importantes: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SQL-86: el primero — muy básico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 (SQL2): el que se enseña como base — JOINs explícitos, subqueries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(SQL3): objetos, triggers, procedimientos almacenados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SQL:2003: XML, MERGE, sequences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SQL:2016: JSON, Row Pattern Recognition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Dialectos principales: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(Microsoft SQL Server): GO, TOP, GETDATE()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(Oracle): bloques BEGIN/END, cursores, excepciones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 (PostgreSQL): similar a PL/SQL, open source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SQL: AUTO_INCREMENT, backticks, NOW()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sentencias DDL/DML básicas son iguales en todos los dialectos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JOINs — Combinando Tablas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JOIN: solo las filas que tienen coincidencia en AMBAS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c.nombre, p.id_pedido, p.total FROM CLIENTE 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PEDIDO p ON c.id_cliente = p.id_cliente;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JOIN: todas las filas de la tabla izquierda (con o sin coincidencia)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c.nombre, p.id_pedido FROM CLIENTE 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PEDIDO p ON c.id_cliente = p.id_cliente;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Muestra clientes SIN pedidos (p.id_pedido = NULL)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JOIN: todas las filas de la tabla derecha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JOIN: todas las filas de ambas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JOIN: producto cartesiano — todas las combinaciones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Mnemónico: INNER = intersección | LEFT/RIGHT = incluye la tabla indicada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Sistema de Nómina del Estado Colombiano — SIGEP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Colombia / DAFP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datos de 1.2 millones de servidores públicos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SIGEP (Sistema de Información y Gestión del Empleo Público) gestiona la nómina del Estado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SIGEP: cada entidad del Estado tenía su propio sistema con datos duplicados y desactualizados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normalización: FUNCIONARIO, CARGO, ENTIDAD, NIVEL_SALARIAL, CONTRATO, NOVEDAD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dependencias transitivas: nombre del cargo no depende del funcionario sino del código de cargo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complejo: FUNCIONARIO ⋈ CONTRATO ⋈ CARGO ⋈ NIVEL_SALARIAL ⋈ ENTIDAD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consultas cruzadas entre 200+ entidades del Estado sobre datos consistentes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SIGEP gestiona la nómina de 1.2M servidores públicos con datos normalizados — ahorro de $50B COP en corrección de inconsistencias en los primeros 2 años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necesario normalizar ANTES de crear las tablas en el SGBD?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un INNER JOIN y un LEFT JOIN? Da un ejemplo donde cada uno es el correcto.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existen dialectos SQL diferentes si hay un estándar ANSI? ¿Qué implica esto para el programador?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detenerse en 3FN y no seguir normalizando a BCNF o 4FN?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Normalización: 1FN(atómico) → 2FN(sin dep. parcial) → 3FN(sin dep. transitiva)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reglas para convertir DER → esquema relacional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ANSI SQL + dialectos: T-SQL, PL/SQL, PL/pgSQL, MySQL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INNER (intersección), LEFT/RIGHT (incluye tabla), CROSS (cartesiano)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 Colombia: 1.2M servidores, normalización = datos consistentes del Estado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Taller: normalizar tabla no-normalizada y construir el esquema SQL completo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de Práctica — Modelamiento y SQL Interactivo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integradores: DER, normalización y consultas SQL reales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9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DER completo desde un enunciado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hasta 3FN y convertir al modelo relacional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ejecutar consultas SQL reales (SELECT con JOINs y agregaciones)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SQL en modo interactivo (consola/IDE) e inmerso (en código)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importancia de los conceptos vistos en el mundo profesional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 vs SQL Inmerso (Embedded SQL)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Interactivo: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 y ejecuta sentencias directamente en 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MySQL Workbench, DBeaver, pgAdmin, SQL*Plus (Oracle)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consultas de análisis, administración, debugging, ETL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Inmerso (Embedded SQL):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 SQL integradas dentro de código de lenguaje anfitrión (Java, Python, C#)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Preprocesador convierte SQL a llamadas al API del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más común: JDBC (Java), SQLAlchemy (Python), ADO.NET (C#), cx_Oracle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Dinámico: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sentencia SQL se construye en tiempo de ejecución como cadena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SQL Injection — SIEMPRE usar Prepared Statements / Parameterized Queries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seguro: conn.execute('SELECT * FROM CLIENTE WHERE id=?', (id_cliente,))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Consultas SQL Avanzadas — Agregaciones y Subqueries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agregación: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COUNT(*), SUM(total), AVG(precio), MAX(fecha), MIN(stock)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id_categoria, COUNT(*), AVG(precio) FROM PRODUCTO GROUP BY id_categoria;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filtrar grupos (no filas individuales):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id_cliente, SUM(total) FROM PEDIDO GROUP BY id_cliente HAVING SUM(total) &gt; 500000;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Subconsultas (Subqueries):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nombre FROM CLIENTE WHERE id_cliente 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id_cliente FROM PEDIDO WHERE total &gt; 1000000);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(CTE — Common Table Expressions):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ventas_altas AS (SELECT id_cli, SUM(total) tot FROM PEDIDO GROUP BY id_cli)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c.nombre, va.tot FROM CLIENTE c JOIN ventas_altas va ON c.id_cliente=va.id_cli;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Integrador — Sistema de Cine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diseña la BD de una cadena de cines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tiene múltiples sedes, cada sede tiene varias salas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sala se proyectan películas en horarios específicos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compran boletos para una función específica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boleto tiene un asiento asignado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Identificar entidades: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SEDE, SALA, PELICULA, FUNCION, CLIENTE, BOLETO, ASIENTO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Relaciones: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1:N SALA | SALA 1:N FUNCION | PELICULA 1:N FUNCION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1:N BOLETO | FUNCION 1:N BOLETO | ASIENTO 1:N BOLETO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SQL: calcular ingresos por película esta semana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p.titulo, SUM(b.precio) total FROM PELICULA p JOIN FUNCION f ON p.id=f.id_peli JOIN BOLETO b ON f.id=b.id_func WHERE f.fecha &gt;= CURDATE()-7 GROUP BY p.titulo ORDER BY total DESC;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 Alta Complejidad — Window Functions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análisis sin perder filas individuales: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ROW_NUMBER(): número de fila dentro de una partición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RANK(): rango con saltos | DENSE_RANK(): rango sin saltos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LAG()/LEAD(): valor de la fila anterior/siguiente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SUM/AVG OVER(): suma/promedio acumulado o de partición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Top 3 productos por categoría: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(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 nombre, categoria, precio,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RANK() OVER(PARTITION BY categoria ORDER BY precio DESC) AS rango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PRODUCTO) ranked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rango &lt;= 3;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Window Functions son SQL:2003 — disponibles en Oracle, PostgreSQL, MySQL 8+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Spotify y sus Consultas SQL de Recomendación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Spotify usa SQL y NoSQL para las canciones más escuchadas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almacena 100M+ canciones y datos de 600M usuarios en PostgreSQL + BigQuery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canciones más escuchadas en Colombia esta semana: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c.titulo, ar.nombre, COUNT(*) reproducciones FROM REPRODUCCION r JOIN CANCION c ON... WHERE r.pais='CO' AND r.fecha &gt;= NOW()-INTERVAL 7 DAY GROUP BY c.id, ar.id ORDER BY reproducciones DESC LIMIT 50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Window Functions permiten el Top 50 por país, ciudad, edad — sin subconsultas lentas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Charts (charts.spotify.com) ejecuta estos queries millones de veces al día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bien escrito puede correr en segundos sobre miles de millones de filas con índices correctos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Spotify Charts (Top 50 por país) se genera con SQL sobre PostgreSQL + BigQuery — los conceptos de GROUP BY, ORDER BY y Window Functions que aprendiste hoy son la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Prepared Statements en SQL Inmerso previene ataques de SQL Injection?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GROUP BY + HAVING vs WHERE para filtrar resultados?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ROW_NUMBER() y RANK() en una Window Function? Da un ejemplo.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aplicarías los conceptos de este módulo en tu proyecto de grado o área de trabajo?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Interactivo: consola del SGBD | SQL Inmerso: dentro del código (JDBC, etc.)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Statements: obligatorio para evitar SQL Injection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Agregaciones: COUNT, SUM, AVG + GROUP BY + HAVING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y CTEs (WITH): consultas modulares y legibles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Functions: ROW_NUMBER, RANK, LAG/LEAD, SUM 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Top 50 por país = GROUP BY + ORDER BY sobre millones de filas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SGBD, SQL Avanzado y Características POO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Consulta Estructurado avanzado y Programación Orientada a Objetos en BD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procedimientos almacenados y triggers en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las características de la POO con el modelo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SGBD relacionales con SGBD Objeto-Relacionales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programa que accede a una BD relacional desde código (JDBC/ODBC)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primer parcial del módulo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Avanzado — Procedimientos Almacenados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Procedure: bloque de código SQL almacenado en el servidor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 reutilización, rendimiento (compilado), seguridad, lógica centralizada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PL/SQL (Oracle):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PROCEDURE registrar_pedido(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p_id_cliente IN NUMBER, p_total IN NUMBER) 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INTO PEDIDO(id_pedido, id_cliente, total, fecha)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VALUES(seq_pedido.NEXTVAL, p_id_cliente, p_total, SYSDATE);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COMMIT;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DBMS_OUTPUT.PUT_LINE('Pedido registrado');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WHEN OTHERS THEN ROLLBACK; RAISE;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registrar_pedido(1001, 250000); — llamada al procedimiento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— Automatización de Reglas de Negocio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código que se ejecuta AUTOMÁTICAMENTE ante un evento en la 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INSERT, UPDATE, DELETE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Momento: BEFORE (antes), AFTER (después), INSTEAD OF (en vistas)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auditoría de cambios en precios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TRIGGER audit_precio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ON PRODUCTO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INTO AUDIT_PRECIO(id_prod, precio_ant, precio_nuevo, usuario, fecha)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VALUES(OLD.id_producto, OLD.precio, NEW.precio, USER(), NOW());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de triggers: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cambios | Validaciones complejas | Sincronización de tablas | Alertas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Abuso de triggers → lógica oculta, difícil de debuggear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POO en Bases de Datos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el contexto de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SGBD Objeto-Relacionales (ORDB) como Oracle, PostgreSQL soportan: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definidos por el usuario (UDT):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TYPE DIRECCION_T AS OBJECT (calle VARCHAR2(100), ciudad VARCHAR2(50))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entre tablas: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EMPLEADO_VIP UNDER EMPLEADO — hereda todas las columnas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(funciones miembro del tipo):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tipo MONEDA_T puede tener un método convertir_a_USD()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ocultan la implementación — acceso vía métodos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puramente OO (OODBMS):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ObjectDB, db4o — almacenan objetos directamente sin mapeo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populares que los ORDB — overhead de mapeo 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ORM — Object-Relational Mapping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del mapeo objeto-relacional (impedance mismatch):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POO tienen herencia, polimorfismo, objetos anidados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SQL son planas, sin herencia directa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ORM traduce automáticamente entre objetos y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ORM más populares: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JPA (Java) — el estándar enterprise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(Python) — ORM y core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(C#/.NET) — integrado con Visual Studio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(Node.js) — para aplicaciones JavaScript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Hibernate: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@Table(name='CLIENTE') public class Cliente {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@Id @Column private int idCliente;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@OneToMany(mappedBy='cliente') private List&lt;Pedido&gt; pedidos; 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LinkedIn y el ORM para 950M perfiles profesionales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/ Microsoft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LinkedIn gestiona la BD más grande de perfiles profesionales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usa Oracle + MySQL con capas ORM en Java (Spring + Hibernate)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POO: clase Perfil tiene objetos Experiencia[], Habilidad[], Educacion[]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ORM Hibernate mapea estos objetos a tablas: PERFIL, EXPERIENCIA, HABILIDAD, EDUCACION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para búsquedas complejas: 'personas con Java en Bogotá en fintech'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de auditoría: cada cambio de perfil se registra para el historial de versiones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millones de perfiles × 20+ tablas = 20+ billones de filas totales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LinkedIn procesa 15,000 queries/segundo con Hibernate ORM + Oracle — el puente entre POO y el modelo relacional es esencial en el desarrollo enterprise moderno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mejor poner la lógica de negocio en procedimientos almacenados vs en el código de la aplicación?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introduce el uso excesivo de triggers en un sistema de producción?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un ORM y cuándo puede ser un problema por sí mismo (over-fetching, N+1)?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 los conceptos de encapsulamiento y herencia de POO con el diseño de tablas?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Procedures: lógica centralizada en el servidor — reutilizable y segura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BEFORE/AFTER INSERT/UPDATE/DELETE — auditoría y validación automática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ORDB: Oracle y PostgreSQL soportan tipos de usuario, herencia y métodos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Mismatch: objetos (POO) vs tablas (SQL) — resuelto por 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ORM: Hibernate, SQLAlchemy, Entity Framework — mapeo automático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950M perfiles = Hibernate + Oracle + Stored Procedures en producción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 — S6 a S10</dc:title>
  <dc:subject>PptxGenJS Presentation</dc:subject>
  <dc:creator>PptxGenJS</dc:creator>
  <cp:lastModifiedBy>PptxGenJS</cp:lastModifiedBy>
  <cp:revision>1</cp:revision>
  <dcterms:created xsi:type="dcterms:W3CDTF">2026-04-05T19:35:20Z</dcterms:created>
  <dcterms:modified xsi:type="dcterms:W3CDTF">2026-04-05T19:35:20Z</dcterms:modified>
</cp:coreProperties>
</file>