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18288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143000"/>
            <a:ext cx="7909560" cy="2880360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1261872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 DE DATOS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1627632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Conceptual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143000" y="24688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0EA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Diseño con MySQL Workbench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200400" y="2944368"/>
            <a:ext cx="2743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30906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 · 4.° Semestre  |  2025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498080" y="4206240"/>
            <a:ext cx="1645920" cy="1645920"/>
          </a:xfrm>
          <a:prstGeom prst="ellipse">
            <a:avLst/>
          </a:prstGeom>
          <a:solidFill>
            <a:srgbClr val="1C7293">
              <a:alpha val="30000"/>
            </a:srgbClr>
          </a:solidFill>
          <a:ln w="12700">
            <a:solidFill>
              <a:srgbClr val="1C7293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0" y="3840480"/>
            <a:ext cx="731520" cy="73152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5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Contenido de la Sesión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· MySQL Workbench  |  Ingeniería de Software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47548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868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" y="90525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al Modelo Conceptual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618488"/>
            <a:ext cx="47548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165506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en el Desarrollo de Software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368296"/>
            <a:ext cx="47548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32688" y="240487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Diferencias: Conceptual, Lógico y Físico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18104"/>
            <a:ext cx="47548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18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32688" y="31546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Elementos: Entidades, Atributos y Relaciones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867912"/>
            <a:ext cx="47548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867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2688" y="390448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Entidad-Relación (ER)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09160" y="868680"/>
            <a:ext cx="47548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868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76088" y="905256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Relaciones (1:1, 1:N, N:M)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1618488"/>
            <a:ext cx="47548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161848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76088" y="1655064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Ejemplos Prácticos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2368296"/>
            <a:ext cx="47548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368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76088" y="2404872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Workbench: Herramienta EER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09160" y="3118104"/>
            <a:ext cx="47548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11810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276088" y="3154680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Buenas Prácticas y Errores Comunes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09160" y="3867912"/>
            <a:ext cx="475488" cy="47548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8679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76088" y="390448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Ejercicio Propuesto · Resumen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el Modelo Conceptual?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· MySQL Workbench  |  Ingeniería de Software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9601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804672"/>
            <a:ext cx="8138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Representación abstracta de la información de un dominio real, sin considerar detalles técnicos de implementación.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2743200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901952"/>
            <a:ext cx="73152" cy="2670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94767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describe?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" y="2267712"/>
            <a:ext cx="2487168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realidad del negocio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cosas importantes (entidades)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relacionan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72968" y="1901952"/>
            <a:ext cx="2743200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72968" y="1901952"/>
            <a:ext cx="73152" cy="2670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194767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¿QUIÉN lo entiende?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267712"/>
            <a:ext cx="2487168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y usuarios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Analistas de negocio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Desarrolladores y DBA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071616" y="1901952"/>
            <a:ext cx="2743200" cy="2670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901952"/>
            <a:ext cx="73152" cy="2670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36208" y="194767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¿CUÁNDO se crea?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6208" y="2267712"/>
            <a:ext cx="2487168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 fase del diseño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modelo lógico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el análisis de requerimientos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Importancia en el Desarrollo de Software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· MySQL Workbench  |  Ingeniería de Software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6060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8686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" y="15087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errores en BD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originan en un mal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conceptual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804672"/>
            <a:ext cx="26060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00400" y="8686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↑ 3×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200400" y="15087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facilidad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con un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bien definido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804672"/>
            <a:ext cx="2606040" cy="1417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080760" y="86868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100%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080760" y="1508760"/>
            <a:ext cx="2606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para el modelo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lógico y físico;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omitir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2395728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" y="24505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Comunicación efectiva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2761488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que técnicos y no técnicos compartan el mismo entendimiento del sistema.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395728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73168" y="245059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🔍  Detección temprana de errores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2761488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requisitos incompletos o contradictorios antes de escribir código.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493008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84048" y="354787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📐  Base sólida de diseño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84048" y="3858768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buen modelo conceptual reduce el retrabajo en fases posteriores del proyecto.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493008"/>
            <a:ext cx="41148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73168" y="3547872"/>
            <a:ext cx="39136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🔄  Mantenibilidad a largo plazo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773168" y="3858768"/>
            <a:ext cx="3913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modificar la BD cuando cambian los requisitos del negocio.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 Tres Niveles de Modelado de Datos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· MySQL Workbench  |  Ingeniería de Software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777240"/>
            <a:ext cx="274320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777240"/>
            <a:ext cx="2743200" cy="6858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80467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CONCEPTUAL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¿Qué?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78308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existe en el negocio?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40487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ER / EER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779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02666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Cliente, Analista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401568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y relaciones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tipos de datos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claves primarias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Lenguaje del dominio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145536" y="777240"/>
            <a:ext cx="274320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145536" y="777240"/>
            <a:ext cx="2743200" cy="685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80467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LÓGICO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255264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¿Qué?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255264" y="178308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estructura la información?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55264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255264" y="240487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Relacional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55264" y="2779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55264" y="302666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Analista, DBA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55264" y="3401568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y columnas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datos definidos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Claves primarias/foráneas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Independiente del motor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035040" y="777240"/>
            <a:ext cx="274320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35040" y="777240"/>
            <a:ext cx="2743200" cy="685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804672"/>
            <a:ext cx="2560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FÍSICO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144768" y="153619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¿Qué?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44768" y="1783080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se almacena realmente?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44768" y="215798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Herramienta: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44768" y="2404872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SQL / DDL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144768" y="27797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Audiencia: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144768" y="3026664"/>
            <a:ext cx="25237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DBA, Desarrollador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44768" y="3401568"/>
            <a:ext cx="2523744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TABLE con índices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(InnoDB, MyISAM)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Particiones, vistas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 para MySQL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2999232" y="2240280"/>
            <a:ext cx="43891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5888736" y="2240280"/>
            <a:ext cx="438912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Elementos del Modelo Conceptual – Entidades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· MySQL Workbench  |  Ingeniería de Software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955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Entidad: objeto o concepto del mundo real sobre el que queremos guardar información.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21945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57276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253288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diagrama 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34640" y="1572768"/>
            <a:ext cx="28346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834640" y="1572768"/>
            <a:ext cx="2834640" cy="4114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6080" y="1572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Entidad FUERTE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26080" y="204825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de forma independiente. Tiene su propia clave primaria.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26080" y="27432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CLIENTE, PRODUCTO, EMPLEADO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52160" y="1572768"/>
            <a:ext cx="2834640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852160" y="1572768"/>
            <a:ext cx="283464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572768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Entidad DÉBIL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0" y="2048256"/>
            <a:ext cx="2651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otra entidad para existir. No tiene clave propia.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0" y="2743200"/>
            <a:ext cx="2651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DEPENDIENTE (depende de EMPLEADO)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520440"/>
            <a:ext cx="841248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0352" y="3566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📌  Convenciones en Diagramas ER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3913632"/>
            <a:ext cx="80467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Rectángulo simple → Entidad fuerte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Rectángulo doble (borde doble) → Entidad débil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en MAYÚSCULAS dentro del rectángulo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entidad es candidata a convertirse en una tabla en el modelo lógico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Elementos del Modelo Conceptual – Atributos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· MySQL Workbench  |  Ingeniería de Software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955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Atributo: propiedad o característica que describe a una entidad o relación.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536192"/>
            <a:ext cx="2788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536192"/>
            <a:ext cx="2788920" cy="38404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361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Simple / Atómico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197510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puede dividir en partes más pequeñas.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26151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edad, precio, stock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82112" y="1536192"/>
            <a:ext cx="2788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82112" y="1536192"/>
            <a:ext cx="278892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73552" y="15361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Compuesto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73552" y="197510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descomponer en sub-atributos.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73552" y="26151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dirección → calle, ciudad, CP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9904" y="1536192"/>
            <a:ext cx="2788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9904" y="1536192"/>
            <a:ext cx="27889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81344" y="1536192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Derivado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81344" y="1975104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calcula a partir de otro atributo.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81344" y="261518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antigüedad (desde fecha_ingreso)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3200400"/>
            <a:ext cx="2788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5A3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00400"/>
            <a:ext cx="2788920" cy="384048"/>
          </a:xfrm>
          <a:prstGeom prst="rect">
            <a:avLst/>
          </a:prstGeom>
          <a:solidFill>
            <a:srgbClr val="5A3E8C"/>
          </a:solidFill>
          <a:ln w="12700">
            <a:solidFill>
              <a:srgbClr val="5A3E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200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Multivaluado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363931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tener varios valores para una misma instancia.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42793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3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teléfonos (celular, fijo, trabajo)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82112" y="3200400"/>
            <a:ext cx="2788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99001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182112" y="3200400"/>
            <a:ext cx="2788920" cy="38404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3552" y="3200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Clave (PK)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273552" y="363931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de manera única cada instancia de la entidad.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273552" y="42793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id_cliente, código_producto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089904" y="3200400"/>
            <a:ext cx="2788920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6474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089904" y="3200400"/>
            <a:ext cx="2788920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81344" y="3200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Nulo (NULL)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181344" y="3639312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 no tener valor para alguna instancia.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181344" y="427939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Ej: segundo_nombre, fax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Elementos del Modelo Conceptual – Relaciones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· MySQL Workbench  |  Ingeniería de Software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955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Relación: asociación o vínculo entre dos o más entidades que tiene significado en el negocio.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600200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6002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566160" y="1975104"/>
            <a:ext cx="100584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1975104"/>
            <a:ext cx="100584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1984248"/>
            <a:ext cx="457200" cy="-29260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0" y="1691640"/>
            <a:ext cx="457200" cy="29260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97680" y="1984248"/>
            <a:ext cx="457200" cy="29260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1984248"/>
            <a:ext cx="457200" cy="292608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94760" y="1737360"/>
            <a:ext cx="1051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1600200"/>
            <a:ext cx="201168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766560" y="160020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PEDIDO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377440" y="1975104"/>
            <a:ext cx="118872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975104"/>
            <a:ext cx="1920240" cy="0"/>
          </a:xfrm>
          <a:prstGeom prst="line">
            <a:avLst/>
          </a:prstGeom>
          <a:noFill/>
          <a:ln w="25400">
            <a:solidFill>
              <a:srgbClr val="065A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87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Cardinalidad: 1  (un cliente realiza muchos pedidos → 1:N)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0779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07792"/>
            <a:ext cx="73152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295351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Nombre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38912" y="323697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 que describe la asociación. Ej: 'realiza', 'contiene', 'pertenece'.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17720" y="290779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17720" y="2907792"/>
            <a:ext cx="73152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82312" y="295351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Cardinalidad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782312" y="323697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instancias de una entidad pueden asociarse con instancias de otra (1:1, 1:N, N:M).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4320" y="382219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822192"/>
            <a:ext cx="73152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" y="386791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Participación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8912" y="415137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si la participación es total (obligatoria) o parcial (opcional).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617720" y="3822192"/>
            <a:ext cx="416052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17720" y="3822192"/>
            <a:ext cx="73152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3867912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Atributos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82312" y="4151376"/>
            <a:ext cx="3913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relación también puede tener atributos propios (ej: fecha_venta en VENDE).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Diagramas Entidad-Relación (ER)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· MySQL Workbench  |  Ingeniería de Software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55778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822960"/>
            <a:ext cx="534924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Propuesto por Peter Chen en 1976, el Diagrama E-R es el estándar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representar modelos conceptuales de bases de datos relacionales.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804672"/>
            <a:ext cx="2743200" cy="3986784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63640" y="8412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SIMBOLOGÍA 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280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Rectángulo</a:t>
            </a:r>
            <a:pPr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Entidad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63640" y="170992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Elipse</a:t>
            </a:r>
            <a:pPr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Atributo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63640" y="2139696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Rombo</a:t>
            </a:r>
            <a:pPr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Relación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63640" y="2569464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</a:t>
            </a:r>
            <a:pPr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Conexión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299923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Elipse doble</a:t>
            </a:r>
            <a:pPr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Atributo multivaluado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63640" y="34290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Elipse punteada</a:t>
            </a:r>
            <a:pPr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Atributo derivado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3858768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Rect. doble</a:t>
            </a:r>
            <a:pPr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Entidad débil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1847088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8470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77824" y="1883664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entidades — </a:t>
            </a:r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Sustantivos relevantes del dominio del negocio.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2459736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597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" y="2496312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atributos — </a:t>
            </a:r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Propiedades de cada entidad; marcar la clave primaria.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072384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0723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77824" y="3108960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relaciones — </a:t>
            </a:r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 que conectan las entidades identificadas.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685032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685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77824" y="3721608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cardinalidades — </a:t>
            </a:r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Cuántas instancias participan en cada relación.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97680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77824" y="4334256"/>
            <a:ext cx="5138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con stakeholders — </a:t>
            </a:r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diagrama con el cliente o usuario.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Relaciones: Cardinalidad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· MySQL Workbench  |  Ingeniería de Software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1325880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804672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: 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719072" y="877824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instancia de A se asocia con exactamente una instancia de B, y viceversa.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719072" y="1444752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PERSONA ← tiene → DNI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719072" y="17373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frecuente. A veces se fusionan en una sola entidad.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629400" y="896112"/>
            <a:ext cx="2084832" cy="1115568"/>
          </a:xfrm>
          <a:prstGeom prst="rect">
            <a:avLst/>
          </a:prstGeom>
          <a:solidFill>
            <a:srgbClr val="02C39A">
              <a:alpha val="12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93408" y="923544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MySQL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Workbench: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693408" y="1307592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Símbolo: —||—||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203704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203704"/>
            <a:ext cx="1325880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2203704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: N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719072" y="2276856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instancia de A se asocia con muchas instancias de B, pero B solo se asocia con una A.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19072" y="2843784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DEPARTAMENTO ← tiene → EMPLEADOS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719072" y="3136392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más común en sistemas reales. La FK va en la entidad 'muchos'.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629400" y="2295144"/>
            <a:ext cx="2084832" cy="1115568"/>
          </a:xfrm>
          <a:prstGeom prst="rect">
            <a:avLst/>
          </a:prstGeom>
          <a:solidFill>
            <a:srgbClr val="1C7293">
              <a:alpha val="12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3408" y="2322576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MySQL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93408" y="2706624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Símbolo: —||—&lt;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3602736"/>
            <a:ext cx="85953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602736"/>
            <a:ext cx="1325880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602736"/>
            <a:ext cx="1325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 : M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1719072" y="3675888"/>
            <a:ext cx="47365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instancia de A se asocia con muchas de B y viceversa.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19072" y="4242816"/>
            <a:ext cx="4736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ESTUDIANTE ← cursa → MATERIAS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719072" y="4535424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Requiere tabla intermedia en el modelo lógico (tabla pivot/bridge).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629400" y="3694176"/>
            <a:ext cx="2084832" cy="1115568"/>
          </a:xfrm>
          <a:prstGeom prst="rect">
            <a:avLst/>
          </a:prstGeom>
          <a:solidFill>
            <a:srgbClr val="065A82">
              <a:alpha val="12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93408" y="372160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MySQL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Workbench: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693408" y="4105656"/>
            <a:ext cx="19568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Símbolo: &gt;—&lt;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Práctico 1 – Sistema de Biblioteca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· MySQL Workbench  |  Ingeniería de Software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229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Contexto: Sistema para gestionar préstamos de libros en una biblioteca universitaria.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6304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63040"/>
            <a:ext cx="39776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4630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190195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id_socio (PK)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apellido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fecha_registro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46304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17720" y="1463040"/>
            <a:ext cx="39776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46304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LIBRO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90195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isbn (PK)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año_publicación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324612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246120"/>
            <a:ext cx="39776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2461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" y="368503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id_autor (PK)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nacionalidad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17720" y="3246120"/>
            <a:ext cx="39776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17720" y="3246120"/>
            <a:ext cx="397764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246120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PRÉSTAMO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3685032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id_préstamo (PK)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fecha_inicio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fecha_límite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572000"/>
            <a:ext cx="8412480" cy="438912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581144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Relaciones:  SOCIO —(realiza)→ PRÉSTAMO (1:N)   |   PRÉSTAMO —(incluye)→ LIBRO (N:M)   |   LIBRO —(escrito por)→ AUTOR (N:M)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Ejemplo Práctico 2 – Sistema de Tienda en Línea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· MySQL Workbench  |  Ingeniería de Software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22960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Contexto: Plataforma de e-commerce con clientes, productos, órdenes y proveedores.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508760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5087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CLIENTE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1508760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66160" y="15087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566160" y="2834640"/>
            <a:ext cx="20116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566160" y="28346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DETALLE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ORDEN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766560" y="1508760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766560" y="150876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66560" y="2834640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766560" y="283464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CATEGORÍA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5A3E8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65760" y="283464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A3E8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PROVEEDOR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377440" y="1865376"/>
            <a:ext cx="1188720" cy="91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ysDash"/>
          </a:ln>
        </p:spPr>
      </p:sp>
      <p:sp>
        <p:nvSpPr>
          <p:cNvPr id="23" name="Text 21"/>
          <p:cNvSpPr/>
          <p:nvPr/>
        </p:nvSpPr>
        <p:spPr>
          <a:xfrm>
            <a:off x="2743200" y="15727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0" y="1865376"/>
            <a:ext cx="9144" cy="969264"/>
          </a:xfrm>
          <a:prstGeom prst="line">
            <a:avLst/>
          </a:prstGeom>
          <a:noFill/>
          <a:ln w="22860">
            <a:solidFill>
              <a:srgbClr val="64748B"/>
            </a:solidFill>
            <a:prstDash val="sysDash"/>
          </a:ln>
        </p:spPr>
      </p:sp>
      <p:sp>
        <p:nvSpPr>
          <p:cNvPr id="25" name="Text 23"/>
          <p:cNvSpPr/>
          <p:nvPr/>
        </p:nvSpPr>
        <p:spPr>
          <a:xfrm>
            <a:off x="4617720" y="23042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contiene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1:N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577840" y="3218688"/>
            <a:ext cx="1188720" cy="9144"/>
          </a:xfrm>
          <a:prstGeom prst="line">
            <a:avLst/>
          </a:prstGeom>
          <a:noFill/>
          <a:ln w="22860">
            <a:solidFill>
              <a:srgbClr val="64748B"/>
            </a:solidFill>
            <a:prstDash val="sysDash"/>
          </a:ln>
        </p:spPr>
      </p:sp>
      <p:sp>
        <p:nvSpPr>
          <p:cNvPr id="27" name="Text 25"/>
          <p:cNvSpPr/>
          <p:nvPr/>
        </p:nvSpPr>
        <p:spPr>
          <a:xfrm>
            <a:off x="5943600" y="294436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incluye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N:M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778240" y="1865376"/>
            <a:ext cx="9144" cy="969264"/>
          </a:xfrm>
          <a:prstGeom prst="line">
            <a:avLst/>
          </a:prstGeom>
          <a:noFill/>
          <a:ln w="22860">
            <a:solidFill>
              <a:srgbClr val="64748B"/>
            </a:solidFill>
            <a:prstDash val="sysDash"/>
          </a:ln>
        </p:spPr>
      </p:sp>
      <p:sp>
        <p:nvSpPr>
          <p:cNvPr id="29" name="Text 27"/>
          <p:cNvSpPr/>
          <p:nvPr/>
        </p:nvSpPr>
        <p:spPr>
          <a:xfrm>
            <a:off x="8823960" y="2304288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pertenece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N:1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274320" y="3822192"/>
            <a:ext cx="85953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38912" y="385876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 Resumen de relaciones: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" y="4151376"/>
            <a:ext cx="8321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1:N ORDEN  |  </a:t>
            </a:r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 1:N DETALLE_ORDEN  |  </a:t>
            </a:r>
            <a:pPr indent="0" marL="0">
              <a:buNone/>
            </a:pPr>
            <a:r>
              <a:rPr lang="en-US" sz="10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DETALLE_ORDEN N:M PRODUCTO  |  </a:t>
            </a:r>
            <a:pPr indent="0" marL="0">
              <a:buNone/>
            </a:pPr>
            <a:r>
              <a:rPr lang="en-US" sz="1050" dirty="0">
                <a:solidFill>
                  <a:srgbClr val="2784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N:1 CATEGORÍA  |  </a:t>
            </a:r>
            <a:pPr indent="0" marL="0">
              <a:buNone/>
            </a:pPr>
            <a:r>
              <a:rPr lang="en-US" sz="1050" dirty="0">
                <a:solidFill>
                  <a:srgbClr val="5A3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 N:M PRODUCTO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 Workbench – Diagrama EER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· MySQL Workbench  |  Ingeniería de Software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777240"/>
            <a:ext cx="8412480" cy="56692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795528"/>
            <a:ext cx="82296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 Workbench incluye un editor visual de diagramas EER (Enhanced Entity-Relationship) para modelado conceptual y lógico.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1481328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481328"/>
            <a:ext cx="50292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48132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77824" y="1572768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MySQL Workbench   </a:t>
            </a:r>
            <a:pPr indent="0" marL="0">
              <a:buNone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Menú: File → New Model → Add Diagram (o presionar Ctrl+D para un nuevo EER Diagram).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148840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148840"/>
            <a:ext cx="50292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1488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77824" y="2240280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Tablas (Entidades)   </a:t>
            </a:r>
            <a:pPr indent="0" marL="0">
              <a:buNone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 en el ícono de tabla en la barra lateral. Doble clic para editar: nombre de tabla y columnas.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4320" y="2816352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816352"/>
            <a:ext cx="50292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281635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" y="290779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Columnas (Atributos)   </a:t>
            </a:r>
            <a:pPr indent="0" marL="0">
              <a:buNone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Columna: nombre, tipo de dato (INT, VARCHAR, DATE…), PK, NN (Not Null), AI (Auto Increment).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3483864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483864"/>
            <a:ext cx="50292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4320" y="348386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7824" y="3575304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Trazar Relaciones   </a:t>
            </a:r>
            <a:pPr indent="0" marL="0">
              <a:buNone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Seleccionar tipo de relación en la barra (1:1, 1:N, N:M). Clic en tabla origen, luego en tabla destino.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74320" y="4151376"/>
            <a:ext cx="85953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4151376"/>
            <a:ext cx="502920" cy="5943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415137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77824" y="4242816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Script SQL   </a:t>
            </a:r>
            <a:pPr indent="0" marL="0">
              <a:buNone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Menú: Database → Forward Engineer → genera el script DDL completo para ejecutar en MySQL.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solidFill>
            <a:srgbClr val="02C39A">
              <a:alpha val="7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800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Tip: En MySQL Workbench, las entidades del modelo EER se llaman 'Tables', aunque conceptualmente representan entidades.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Prácticas al Diseñar Modelos Conceptuales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· MySQL Workbench  |  Ingeniería de Software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896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32688" y="89611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Usar nombres descriptivos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32688" y="1243584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en MAYÚSCULAS para entidades, snake_case para atributos. Evitar abreviaciones ambiguas.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89611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21808" y="896112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Identificar correctamente la PK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21808" y="1243584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entidad debe tener un identificador único. Preferir claves artificiales (id_entidad) sobre naturales.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286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📐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" y="228600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Modelar el dominio, no la BD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32688" y="2633472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conceptual NO debe incluir tipos de datos ni índices. Eso es del modelo físico.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212848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228600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321808" y="2286000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Validar con el cliente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21808" y="2633472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el diagrama con quienes conocen el negocio. Un diagrama incomprendido es un diagrama incorrecto.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02736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65760" y="3675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32688" y="3675888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Normalizar desde el inicio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" y="4023360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no haya redundancia de información y que cada atributo dependa solo de la entidad.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602736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3675888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321808" y="3675888"/>
            <a:ext cx="34015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Documentar las relaciones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21808" y="4023360"/>
            <a:ext cx="3401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Anotar el significado de cada relación: quién, cuándo y bajo qué condiciones se da la asociación.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Errores Comunes en el Modelo Conceptual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· MySQL Workbench  |  Ingeniería de Software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3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22960"/>
            <a:ext cx="73152" cy="1261872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89611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Modelar tablas, no entidades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8912" y="1243584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Agregar campos como 'id_tabla' o estructurar pensando en SQL. El modelo conceptual es independiente del motor.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822960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3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822960"/>
            <a:ext cx="73152" cy="1261872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28032" y="89611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Relaciones sin nombre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28032" y="1243584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Dejar el rombo vacío o usar nombres genéricos como 'tiene'. El verbo debe describir el vínculo claramente.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212848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3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12848"/>
            <a:ext cx="73152" cy="1261872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8912" y="22860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Mezclar niveles de abstracción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" y="2633472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Incluir tipos de datos (INT, VARCHAR), índices o constraints en el modelo conceptual.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2212848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3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212848"/>
            <a:ext cx="73152" cy="1261872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2286000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Olvidar cardinalidades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28032" y="2633472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Dibujar las líneas de relación sin especificar si es 1:1, 1:N o N:M, lo que genera ambigüedad.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602736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3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602736"/>
            <a:ext cx="73152" cy="1261872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67588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Entidades sin atributos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8912" y="402336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entidad sin atributos es incompleta. Al menos debe tener un identificador y 1-2 propiedades.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602736"/>
            <a:ext cx="4160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B030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602736"/>
            <a:ext cx="73152" cy="1261872"/>
          </a:xfrm>
          <a:prstGeom prst="rect">
            <a:avLst/>
          </a:prstGeom>
          <a:solidFill>
            <a:srgbClr val="B03030"/>
          </a:solidFill>
          <a:ln w="12700">
            <a:solidFill>
              <a:srgbClr val="B030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28032" y="3675888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303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✗  No validar con los usuarios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828032" y="4023360"/>
            <a:ext cx="3886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un modelo sin revisión con el cliente o área funcional produce una BD que no refleja la realidad del negocio.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" cy="65836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Ejercicio Propuesto para Estudiantes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4910328"/>
            <a:ext cx="9144000" cy="2331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10328"/>
            <a:ext cx="7772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Conceptual · MySQL Workbench  |  Ingeniería de Software – 4.° Semestre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10328"/>
            <a:ext cx="914400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65760" y="804672"/>
            <a:ext cx="8412480" cy="6217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82296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🏥  Sistema de Gestión de Clínica Médica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8412480" cy="1115568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1572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Descripción del Dominio: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1865376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clínica necesita registrar sus pacientes, médicos y citas. Cada paciente puede tener varias citas con diferentes médicos. Cada médico pertenece a una especialidad y puede atender a muchos pacientes. Cada cita genera un diagnóstico y puede incluir medicamentos recetados.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276148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Actividad (individual o parejas — 30 min):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90672"/>
            <a:ext cx="8412480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3108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a)  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</a:t>
            </a:r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entidades del dominio (mínimo 4).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438144"/>
            <a:ext cx="8412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456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b)  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</a:t>
            </a:r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atributos de cada entidad, incluyendo la clave primaria (subrayada).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785616"/>
            <a:ext cx="8412480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80390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c)  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</a:t>
            </a:r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relaciones entre entidades con su nombre y cardinalidad.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133088"/>
            <a:ext cx="8412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4151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d)  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</a:t>
            </a:r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Diagrama ER completo en MySQL Workbench (herramienta EER Diagram).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480560"/>
            <a:ext cx="8412480" cy="310896"/>
          </a:xfrm>
          <a:prstGeom prst="rect">
            <a:avLst/>
          </a:prstGeom>
          <a:solidFill>
            <a:srgbClr val="F0F8FF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4988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e)  </a:t>
            </a:r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</a:t>
            </a:r>
            <a:pPr indent="0" marL="0">
              <a:buNone/>
            </a:pPr>
            <a:r>
              <a:rPr lang="en-US" sz="1100" dirty="0">
                <a:solidFill>
                  <a:srgbClr val="1A3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el modelo respete las buenas prácticas estudiadas en clase.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Captura del diagrama EER de Workbench + lista de entidades y atributos en documento.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0"/>
            <a:ext cx="182880" cy="51435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6459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RESUMEN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68680" y="530352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 que aprendiste hoy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868680" y="1143000"/>
            <a:ext cx="4005072" cy="1078992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143000"/>
            <a:ext cx="502920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14300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2161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Modelo Conceptual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63040" y="1527048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abstracta del dominio de negocio, independiente de la tecnología.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74920" y="1143000"/>
            <a:ext cx="4005072" cy="1078992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1143000"/>
            <a:ext cx="502920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114300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669280" y="121615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Niveles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0" y="1527048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→ Lógico → Físico: cada uno con un propósito y audiencia distintos.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2331720"/>
            <a:ext cx="4005072" cy="1078992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" y="2331720"/>
            <a:ext cx="502920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233172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63040" y="24048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Elementos 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2715768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(rectángulos), Atributos (elipses) y Relaciones (rombos).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74920" y="2331720"/>
            <a:ext cx="4005072" cy="1078992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4920" y="2331720"/>
            <a:ext cx="502920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33172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0" y="240487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Cardinalidades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69280" y="2715768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· 1:N · N:M → determinan la estructura de FK y tablas pivot.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68680" y="3520440"/>
            <a:ext cx="4005072" cy="1078992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8680" y="3520440"/>
            <a:ext cx="502920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52044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463040" y="35935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MySQL Workbench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63040" y="3904488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EER para construir, visualizar y exportar el modelo a SQL.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074920" y="3520440"/>
            <a:ext cx="4005072" cy="1078992"/>
          </a:xfrm>
          <a:prstGeom prst="rect">
            <a:avLst/>
          </a:prstGeom>
          <a:solidFill>
            <a:srgbClr val="065A82">
              <a:alpha val="7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74920" y="3520440"/>
            <a:ext cx="502920" cy="107899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74920" y="3520440"/>
            <a:ext cx="5029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1B3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69280" y="3593592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Buenas prácticas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669280" y="3904488"/>
            <a:ext cx="3337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0EA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Nombres claros, validación con el cliente, normalizar desde el inicio.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68680" y="4681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"Un buen modelo conceptual es la diferencia entre una base de datos que sirve al negocio y una que lo obstaculiza."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Conceptual en MySQL Workbench</dc:title>
  <dc:subject>PptxGenJS Presentation</dc:subject>
  <dc:creator>Profesor de Ingeniería de Software y Bases de Datos</dc:creator>
  <cp:lastModifiedBy>Profesor de Ingeniería de Software y Bases de Datos</cp:lastModifiedBy>
  <cp:revision>1</cp:revision>
  <dcterms:created xsi:type="dcterms:W3CDTF">2026-04-09T18:37:00Z</dcterms:created>
  <dcterms:modified xsi:type="dcterms:W3CDTF">2026-04-09T18:37:00Z</dcterms:modified>
</cp:coreProperties>
</file>