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SESIÓN 18 | HERRAMIENTAS CASE | GENERACIÓN Y DESARROLLO DE 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Mg. Sergio Alejandro Burbano Mena | Universitaria de Colombia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</a:rPr>
              <a:t>Sesión 18: Herramientas CASE
Oracle Database 12C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FF8C00"/>
                </a:solidFill>
              </a:rPr>
              <a:t>Evolución, beneficios, repositorio y estructura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5332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Herramientas CASE | Oracle Database 12C | Ing. Sistemas 4° Sem.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 de la Sesión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1. ¿Qué son las Herramientas CASE? Definición y clasificación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2. Historia y evolución de Oracle Database: de v1 a 12C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3. Arquitectura multitenant de Oracle 12C (CDB / PDB)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4. Oracle SQL Developer Data Modeler como herramienta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5. Repositorio de Oracle: estructura, almacenamiento y actualización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6. Beneficios empresariales y profesionales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7. Ejemplos reales de implementación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901183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488289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8. Buenas prácticas, errores comunes y ejercicio propuesto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Línea de tiempo de la sesión con íconos para cada bloque temático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Objetivo de la Sesión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Comprender qué son las herramientas CASE y cómo se aplican en el contexto empresarial.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Conocer la evolución histórica de Oracle Database hasta la versión 12C.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Entender la arquitectura multitenant (CDB/PDB) como innovación de Oracle 12C.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Identificar el repositorio de Oracle como elemento central del ciclo de vida de BD.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Relacionar el uso de herramientas CASE con el quehacer profesional del ingeniero de sistemas.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Verificar la comprensión del tema mediante ejercicio práctico.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de objetivos de aprendizaje conectados como 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</a:rPr>
              <a:t>¿Qué son las Herramientas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8C00"/>
                </a:solidFill>
              </a:rPr>
              <a:t>Computer-Aided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Definición y Clasificación de Herramientas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CASE (Computer-Aided Software Engineering): software que asiste en el desarrollo de sistemas.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Automatizan tareas repetitivas del ciclo de vida del software: análisis, diseño, codificación, pruebas.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UPPER CASE: herramientas de análisis y diseño (diagramas, modelos conceptuales).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LOWER CASE: herramientas de codificación, testing y despliegue (generadores de código).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I-CASE (Integrated): combina Upper y Lower CASE con un repositorio central compartido.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 SQL Developer Data Modeler es una herramienta I-CASE especializada en BD.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ERwin, PowerDesigner y Sparx EA son otras herramientas CASE de referencia en la industria.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Pirámide CASE: Upper en la cima, Lower en la base, I-CASE como contenedor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Componentes de una Herramienta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REPOSITORIO: Base de datos central que almacena todos los modelos y metadata.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EDITOR DE MODELOS: Interfaz gráfica para diagramar (ERD, UML, flujos de proceso).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GENERADOR DE CÓDIGO: Transforma modelos en DDL SQL, scripts o código de aplicación.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GENERADOR DE DOCUMENTACIÓN: Produce informes, diccionarios de datos y manuales técnicos.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CONTROL DE VERSIONES: Permite historial de cambios en los modelos (integración con Git).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INGENIERÍA INVERSA (Reverse Engineering): Lee una BD existente y genera el modelo visual.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INGENIERÍA DIRECTA (Forward Engineering): Del modelo genera el script DDL para la BD.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de componentes de una herramienta I-CASE con el repositorio en el centro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Beneficios de las Herramientas CASE en la Empresa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Estandarización: todos los desarrolladores siguen las mismas convenciones de diseño.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Reutilización: los modelos del repositorio se pueden reutilizar en nuevos proyectos.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Trazabilidad: los cambios en el modelo quedan registrados con autor, fecha y razón.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Reducción de errores: la generación automática de DDL elimina errores de transcripción.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Documentación automática: los diccionarios de datos se generan desde el modelo.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Comunicación: los diagramas son el lenguaje común entre negocio y TI.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Reducción de costos: el rediseño de un modelo cuesta 10x menos que rediseñar la BD en producción.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Gráfico de ROI: tiempo de diseño con CASE vs sin CASE por tipo de proyecto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</a:rPr>
              <a:t>Historia y Evolución de Oracle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8C00"/>
                </a:solidFill>
              </a:rPr>
              <a:t>De los años 70 a Oracle 12C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Línea de Tiempo: Oracle Database v1 → Oracle 12C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1977: Larry Ellison funda SDL (Software Development Laboratories), antecesora de Oracle.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1979: Oracle V2 – primer SGBD comercial en implementar SQL (IBM tenía System 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1983: Oracle V3 – primer SGBD en correr en múltiples plataformas (portabilidad).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1992: Oracle 7 – introduce stored procedures, triggers, integridad referencial y PL/SQL.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2001: Oracle 9i – integración con Java, XML nativo y Oracle RAC (Real Application Clusters).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2007: Oracle 11g – compresión avanzada, Real Application Testing, SQL Performance Analyzer.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2013: Oracle 12C – arquitectura multitenant (CDB/PDB), in-memory, Big Data connectors.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Línea de tiempo visual con hitos clave de Oracle Database (1977-2013)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Oracle 12C: La Revolución Multitenant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 12C introduce la arquitectura Container Database (CDB) / Pluggable Database (PDB).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CDB: base de datos contenedora que administra recursos, memoria y procesos del sistema.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PDB: base de datos enchufable con sus propios esquemas, datos y usuarios; se inserta al CDB.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Una CDB puede contener hasta 4.096 PDBs en Oracle 12C Release 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Beneficio clave: consolidación de BD en menos servidores con aislamiento lógico por PDB.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Reducción de costos de licenciamiento: se paga por CDB, no por cada BD individual.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Las PDB pueden migrarse entre CDB como si fueran archivos (plug/unplug).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Diagrama: CDB como contenedor con varias PDB dentro, cada una con su esquema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Arquitectura Interna de Oracle 12C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INSTANCIA: Conjunto de procesos en memoria (SGA + background processes) que gestiona la BD.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SGA (System Global Area): caché compartida; incluye Buffer Cache, Shared Pool, Redo Log Buffer.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PGA (Program Global Area): memoria privada por sesión de usuario.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BACKGROUND PROCESSES: SMON, PMON, DBWR, LGWR, CKPT – cada uno con rol específico.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DATAFILES: Archivos físicos en disco que contienen los datos (tablespaces).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REDO LOGS: Registros de todas las transacciones; permiten recuperación ante fallas.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CONTROL FILE: Registro del estado físico de la BD; crítico para el startup y recovery.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de la arquitectura Oracle 12C: SGA + procesos + archivos físicos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Tipos de Almacenamiento en Oracle 12C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TABLESPACE: Unidad lógica de almacenamiento que agrupa uno o más datafiles físicos.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DATAFILE: Archivo físico en disco asignado a un tablespace (.dbf).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SEGMENT: Estructura lógica dentro de un tablespace (tabla, índice, LOB, rollback).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EXTENT: Conjunto contiguo de bloques asignados a un segmento de una vez.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BLOCK (BLOCK SIZE): Unidad mínima de almacenamiento de Oracle (4K, 8K, 16K, 32K).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UNDO TABLESPACE: Almacena datos antes de una transacción para permitir ROLLBACK.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TEMP TABLESPACE: Área para operaciones de ordenamiento y tablas temporales.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Jerarquía visual: Tablespace → Datafile → Segment → Extent → Block con tamaños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</a:rPr>
              <a:t>Oracle SQL Developer Data Modeler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8C00"/>
                </a:solidFill>
              </a:rPr>
              <a:t>La Herramienta CASE de Oracle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Oracle SQL Developer Data Modeler: ¿Qué 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Herramienta gráfica gratuita de Oracle para modelamiento de bases de datos.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Soporta los 4 modelos: Conceptual (ERD), Lógico (relacional), Físico, Multi-dimensional.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Integrada con Oracle SQL Developer (IDE para desarrollo PL/SQL).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Permite generar DDL para Oracle, PostgreSQL, MySQL, SQL Server y DB2.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Ingeniería inversa: conecta a cualquier BD JDBC y genera el modelo desde el esquema existente.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Ingeniería directa (Forward Engineering): genera scripts DDL y los ejecuta en la BD.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El repositorio se puede conectar a Oracle Database para trabajo colaborativo.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Captura de pantalla simulada del área de trabajo con un modelo ERD en Data Modeler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Vistas del Modelo en Oracle Data Modeler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VISTA RELACIONAL: Tablas, columnas, PK, FK, índices y constraints visualizados como ERD.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VISTA LÓGICA: Entidades y relaciones a nivel de negocio; sin tipos de dato físicos.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VISTA FÍSICA: Configuración de tablespaces, storage, particionamiento y opciones del motor.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VISTA MULTIDIMENSIONAL: Cubos OLAP, dimensiones y jerarquías para BI.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ÁRBOL DE BROWSER: Navegación jerárquica de todos los objetos del modelo.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VENTANA DE PROPIEDADES: Edición detallada de cada objeto seleccionado.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SCRIPT DDL: Previsualización del código SQL que se generará antes de ejecutarlo.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Mockup de la interfaz de Oracle Data Modeler con las 4 vistas etiquetadas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El Repositorio en Oracle Data Modeler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El repositorio es la BD central donde se almacenan todos los modelos y su historial.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Puede ser un archivo local (XML) o una BD Oracle compartida para trabajo en equipo.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VERSIONING: cada cambio guardado en el repositorio lleva número de versión, autor y fecha.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CHECKOUT/CHECKIN: similar a Git; el desarrollador toma el modelo, lo modifica y lo devuelve.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COMPARACIÓN: compara dos versiones del modelo y muestra diferencias destacadas.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MERGE: permite combinar cambios de múltiples analistas en un modelo unificado.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EXPORT: el repositorio se puede exportar a archivos XML para backup o integración CI/CD.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de flujo de trabajo colaborativo: Analista A ↔ Repositorio ↔ Analista 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Estructura del Repositorio Oracle Data Modeler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DOMINIO: Tipos de dato reutilizables definidos una vez y usados en todo el modelo.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ENTIDAD/TABLA: Objeto fundamental; almacena nombre, columnas, reglas y comentarios.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RELACIÓN/FK: La asociación entre tablas; almacenada con cardinalidad y nombre.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TRANSFORMACIÓN: Log de la traducción de lógico a físico.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REPORTE: Configuración de los reportes y diccionarios de datos generados.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SCRIPTS DDL: Los scripts generados quedan guardados con timestamp en el repositorio.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CONEXIONES: Parámetros de conexión a las BD objetivo para forward/reverse engineering.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Árbol de carpetas del repositorio Data Modeler con iconos por tipo de objeto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1005840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6400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51206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9728"/>
            <a:ext cx="9784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Implementación Oracle 12C – Banco de Bogotá (Caso Referencial)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772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49807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CONTEXTO: Grandes bancos colombianos han adoptado Oracle 12C para sus sistemas CORE.
ARQUITECTURA IMPLEMENTADA:
• CDB Principal: Servidor de producción Oracle Exadata.
• PDB_CORE_BANCARIO: Sistema transaccional principal (cuentas, transferencias).
• PDB_CARTERA: Sistema de créditos y cartera.
• PDB_CANALES: API de banca en línea y app móvil.
• PDB_AUDITORIA: Base de datos de auditoría segregada.
HERRAMIENTA CASE: Oracle Data Modeler administra los 4 modelos físicos con repositorio compartido.
BENEFICIO: La consolidación en una CDB redujo el número de servidores de 12 a 3, con reducción del 60% en costos de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097280"/>
            <a:ext cx="356616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34440"/>
            <a:ext cx="3383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📊 Visual:
Diagrama de arquitectura multitenant con CDB y 4 PDBs del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1005840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6400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51206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9728"/>
            <a:ext cx="9784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Migración a Oracle 12C – ERP Empresarial (Manufactura)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772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49807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CONTEXTO: Empresa manufacturera migró de Oracle 11g a Oracle 12C para su ERP.
PROCESO DE MIGRACIÓN CON HERRAMIENTA CASE:
1. Reverse Engineering de Oracle 11g: Data Modeler conectó a la BD legacy y generó el modelo.
2. Revisión del modelo lógico: el equipo identificó 23 tablas redundantes y 15 sin FK definida.
3. Limpieza del modelo: se eliminaron redundancias y se agregaron constraints faltantes.
4. Forward Engineering a Oracle 12C: Data Modeler generó el DDL optimizado.
5. Validación: se ejecutaron 500 casos de prueba contra el nuevo esquema.
RESULTADO:
• 18% de mejora en tiempo de consulta por índices añadidos desde el modelo.
• Documentación automática de 280 tablas generada en 2 horas.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097280"/>
            <a:ext cx="356616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34440"/>
            <a:ext cx="3383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📊 Visual:
Diagrama de proceso de migración: Oracle 11g → Data Modeler → Oracle 12C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1005840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6400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51206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9728"/>
            <a:ext cx="9784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Modeler como Centro de Documentación – Empresa de Telecomunicaciones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772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49807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CONTEXTO: Empresa de telecomunicaciones con 15 años de sistemas heredados.
PROBLEMA: El equipo de TI no tenía documentación actualizada de sus 800+ tablas en Oracle.
SOLUCIÓN CON HERRAMIENTA CASE:
1. Se usó Oracle Data Modeler Reverse Engineering contra las 6 bases de datos Oracle existentes.
2. En 3 días se generaron automáticamente los modelos lógico y físico de 820 tablas.
3. El equipo anotó descripciones de negocio en cada entidad y atributo dentro de Data Modeler.
4. Se generó un diccionario de datos de 180 páginas en formato HTML y PDF.
IMPACTO EMPRESARIAL:
• La documentación redujo el tiempo de onboarding de nuevos desarrolladores de 3 meses a 3 semanas.
• Los auditores de la Superintendencia de TIC encontraron el modelo en lugar de pedir a TI.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097280"/>
            <a:ext cx="356616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34440"/>
            <a:ext cx="3383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📊 Visual:
Ejemplo de diccionario de datos generado automáticamente con metadatos del modelo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1005840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6400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51206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9728"/>
            <a:ext cx="9784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Oracle 12C In-Memory – Sistema de Reportes en Tiempo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772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49807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CONTEXTO: Empresa retail con 50 millones de transacciones diarias necesita reportes en &lt;1 segundo.
TECNOLOGÍA: Oracle Database In-Memory (opción de Oracle 12C).
¿CÓMO FUNCIONA?
• Las tablas críticas se duplican en formato columnar comprimido en el SGA (In-Memory Area).
• Las consultas analíticas se ejecutan sobre la representación columnar (OLAP-style).
• Las transacciones OLTP siguen usando el formato de fila tradicional.
• El motor decide automáticamente qué formato usar por consulta.
RESULTADO MEDIDO:
• Consulta de ventas por categoría: de 45 segundos → 0.3 segundos.
• Sin cambios en la aplicación: solo configuración del parámetro INMEMORY_SIZE.
HERRAMIENTA CASE: Data Modeler marcó las tablas candidatas para In-Memory en el modelo físico.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097280"/>
            <a:ext cx="356616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34440"/>
            <a:ext cx="3383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📊 Visual:
Diagrama: SGA con In-Memory Area separado del Buffer Cache con consulta OLAP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Actualización y Evolución del Repositorio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El repositorio debe actualizarse cada vez que el esquema de BD cambia en producción.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FLUJO RECOMENDADO: Cambio en BD → Reverse Engineering → Modelo actualizado → Repositorio.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Alternativamente: Cambio en modelo → Forward Engineering → Script DDL → BD.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 Data Modeler permite comparar modelo vs BD real y mostrar discrepancias.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Las actualizaciones del repositorio disparan la regeneración automática de documentación.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En equipos grandes: usar workflow de aprobación (como Pull Request) antes de actualizar el repo.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Frecuencia recomendada: sincronizar repositorio cada sprint (2 semanas en metodologías ágiles).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de flujo circular: BD producción ↔ Data Modeler ↔ Repositorio ↔ Equipo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Integración de Oracle 12C con el Ecosistema Empresarial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 APPLICATION EXPRESS (APEX): plataforma Low-Code integrada con Oracle 12C.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 ENTERPRISE MANAGER: consola de administración y monitoreo de CDB/PDB.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 GoldenGate: replicación de datos en tiempo real entre Oracle y otros SGBD.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 DATA INTEGRATOR (ODI): herramienta ETL para alimentar Data Warehouses.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 ANALYTICS CLOUD: BI y reportes conectados directamente a Oracle 12C.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 APEX + Data Modeler: el modelo genera las tablas y APEX crea la UI automáticamente.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Ecosistema Oracle: rueda de productos con Oracle 12C en el centro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Buenas Prácticas con Herramientas CASE y Oracle 12C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Usa siempre el repositorio compartido; nunca guardes modelos solo en tu máquina local.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Nombra los modelos con versión y fecha: 'ModeloVentas_v2.1_2025-03'.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Define dominios (Domain Types) en Data Modeler para reutilizar tipos de dato consistentes.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Genera el DDL desde el modelo; nunca escribas DDL directamente en la BD sin actualizar el modelo.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Documenta CADA entidad y atributo en el modelo: el campo 'comentario' no es opcional.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En Oracle 12C: cada sistema de negocio debe tener su propia PDB, no compartir esquemas.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Realiza reverse engineering periódico para detectar 'drift' entre el modelo y la BD real.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Checklist con íconos de Oracle y check verdes para cada práctica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Errores Comunes con Oracle 12C y Herramientas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430000" cy="502920"/>
          </a:xfrm>
          <a:prstGeom prst="rect">
            <a:avLst/>
          </a:prstGeom>
          <a:solidFill>
            <a:srgbClr val="D63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⚠  Errores Comunes con Oracle 12C y Herramientas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411480" cy="411480"/>
          </a:xfrm>
          <a:prstGeom prst="rect">
            <a:avLst/>
          </a:prstGeom>
          <a:solidFill>
            <a:srgbClr val="D63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Confundir el modelo lógico con el físico: agregar tipos de dato Oracle en el modelo lógico.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411480" cy="411480"/>
          </a:xfrm>
          <a:prstGeom prst="rect">
            <a:avLst/>
          </a:prstGeom>
          <a:solidFill>
            <a:srgbClr val="D63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500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134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Trabajar directamente en la BD sin actualizar el modelo → repositorio queda desactualizado.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411480" cy="411480"/>
          </a:xfrm>
          <a:prstGeom prst="rect">
            <a:avLst/>
          </a:prstGeom>
          <a:solidFill>
            <a:srgbClr val="D63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944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07791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Crear todas las PDB en una sola CDB sin dimensionar la memoria SGA apropiadamente.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20440"/>
            <a:ext cx="411480" cy="411480"/>
          </a:xfrm>
          <a:prstGeom prst="rect">
            <a:avLst/>
          </a:prstGeom>
          <a:solidFill>
            <a:srgbClr val="D63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5387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02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No aprovechar el multitenant: crear instancias Oracle 12C separadas en lugar de PDB.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14800"/>
            <a:ext cx="411480" cy="411480"/>
          </a:xfrm>
          <a:prstGeom prst="rect">
            <a:avLst/>
          </a:prstGeom>
          <a:solidFill>
            <a:srgbClr val="D63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13308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Generar el DDL y ejecutarlo sin revisión: el modelo puede tener errores que se propagan.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09160"/>
            <a:ext cx="411480" cy="411480"/>
          </a:xfrm>
          <a:prstGeom prst="rect">
            <a:avLst/>
          </a:prstGeom>
          <a:solidFill>
            <a:srgbClr val="D63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274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90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Ignorar los tablespaces: poner todo en SYSTEM es un error crítico de producción.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303520"/>
            <a:ext cx="411480" cy="411480"/>
          </a:xfrm>
          <a:prstGeom prst="rect">
            <a:avLst/>
          </a:prstGeom>
          <a:solidFill>
            <a:srgbClr val="D63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3218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85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No documentar los comentarios de tablas y columnas pensando que 'el nombre es suficiente'.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✏  EJERCICIO PROPUESTO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Ejercicio: Modelado con Oracle Data Modeler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430000" cy="9144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Usando Oracle SQL Developer Data Modeler (o dbdiagram.io como alternativa), modela el sistema de gestión de una clínica veterinaria con Oracle 12C como motor de base de datos objetivo.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18"/>
                </a:solidFill>
              </a:rPr>
              <a:t>Actividades: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51760"/>
            <a:ext cx="411480" cy="411480"/>
          </a:xfrm>
          <a:prstGeom prst="rect">
            <a:avLst/>
          </a:prstGeom>
          <a:solidFill>
            <a:srgbClr val="00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670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Identificar entidades: MASCOTA, PROPIETARIO, VETERINARIO, CONSULTA, TRATAMIENTO, MEDICAMENTO.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46120"/>
            <a:ext cx="411480" cy="411480"/>
          </a:xfrm>
          <a:prstGeom prst="rect">
            <a:avLst/>
          </a:prstGeom>
          <a:solidFill>
            <a:srgbClr val="00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2644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278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Crear el modelo lógico relacional con cardinalidades y atributos completos.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411480" cy="411480"/>
          </a:xfrm>
          <a:prstGeom prst="rect">
            <a:avLst/>
          </a:prstGeom>
          <a:solidFill>
            <a:srgbClr val="00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8587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22191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Generar el modelo físico configurando tablespaces: TS_DATOS, TS_INDICES, TS_HISTORICO.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solidFill>
            <a:srgbClr val="00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4531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1655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Configurar el repositorio local de Data Modeler y guardar el modelo versionado.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29200"/>
            <a:ext cx="411480" cy="411480"/>
          </a:xfrm>
          <a:prstGeom prst="rect">
            <a:avLst/>
          </a:prstGeom>
          <a:solidFill>
            <a:srgbClr val="00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0474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1091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Generar el DDL para Oracle 12C y revisar los CREATE TABLE generados.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623560"/>
            <a:ext cx="411480" cy="411480"/>
          </a:xfrm>
          <a:prstGeom prst="rect">
            <a:avLst/>
          </a:prstGeom>
          <a:solidFill>
            <a:srgbClr val="00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6418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0527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Identificar qué tablas podrían beneficiarse de la opción In-Memory de Oracle 12C.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Oracle 12C y su Pertinencia Profesional y Laboral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 es el SGBD más usado en empresas medianas y grandes en Colombia y Latinoamérica.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Certificaciones Oracle (OCP, OCE) son de las más valoradas en el mercado laboral 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Sectores que usan Oracle 12C en Colombia: banca, salud, gobierno, telecomunicaciones, energía.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El ingeniero que maneja Oracle 12C accede a roles de DBA, arquitecto de datos y analista senior.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Los proyectos Oracle típicamente tienen mayor presupuesto y equipos más estructurados.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Conocer herramientas CASE como Data Modeler diferencia al profesional en entrevistas técnicas.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La habilidad de hacer reverse engineering de BD existentes es altamente valorada en consultoría.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Mapa de oportunidades laborales: certificaciones Oracle → roles → salarios referencia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Checklist de Cierre: Sesión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Comprendo qué es una herramienta CASE y su clasificación (Upper, Lower, I-CASE).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Conozco la evolución de Oracle Database hasta la versión 12C.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Entiendo la arquitectura multitenant (CDB/PDB) de Oracle 12C.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Sé qué es el repositorio en Oracle Data Modeler y para qué sirve.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Comprendo el proceso de forward y reverse engineering.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822191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Relaciono el uso de herramientas CASE con el quehacer empresarial.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70831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Identifico los errores comunes en el uso de Oracle 12C y cómo evitarlos.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Checklist visual con iconos de Oracle y check de validación por ítem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Preguntas de Reflexión: Sesión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¿Qué ventaja tiene la arquitectura multitenant de Oracle 12C sobre tener múltiples instancias?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700784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¿Por qué el repositorio de una herramienta CASE debe estar bajo control de versiones?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9424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31136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¿En qué escenario preferirías hacer reverse engineering antes que diseñar el modelo desde cero?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9776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761487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¿Cómo justificarías ante un gerente la inversión en licencias Oracle 12C vs una alternativa open-source?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10128"/>
            <a:ext cx="109728" cy="347472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291839"/>
            <a:ext cx="79552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¿Qué impacto tiene no documentar el modelo de datos en el ciclo de vida del software?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Ícono de bombilla con nube de conceptos clave de la sesión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Herramientas CASE  |  Sesión 18  |  Mg. Burbano Mena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SESIÓN 18 COMPLETADA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FFFFFF"/>
                </a:solidFill>
              </a:rPr>
              <a:t>"Oracle no es solo una base de datos;
es la plataforma donde viven los datos de las empresas más grandes del mundo."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657600"/>
            <a:ext cx="9418320" cy="1463040"/>
          </a:xfrm>
          <a:prstGeom prst="rect">
            <a:avLst/>
          </a:prstGeom>
          <a:solidFill>
            <a:srgbClr val="2B3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749039"/>
            <a:ext cx="9052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Próxima Sesión 19: Generación de código y documentación desde el repositorio CASE
y laboratorio de implementación en Oracle Database 12C.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C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5332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Mg. Sergio Alejandro Burbano Mena | Universitaria de Colombia | Herramientas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