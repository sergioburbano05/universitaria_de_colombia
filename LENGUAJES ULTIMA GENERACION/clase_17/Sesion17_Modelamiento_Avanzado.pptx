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SESIÓN 17 | LENGUAJES DE ÚLTIMA GENERACIÓN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Mg. Sergio Alejandro Burbano Mena | Universitaria de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Sesión 17: Modelamiento Avanzado
y Lenguajes Compatibles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94F37"/>
                </a:solidFill>
              </a:rPr>
              <a:t>Profundización en diseño de bases de datos complejas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Ingeniería de Sistemas | 4° Semestre | 2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 de la Sesión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1. Repaso rápido: Sesión 16 y puntos clave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2. Modelamiento de escenarios complejos (herencia, agregación)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3. Patrones de diseño en BD: EAV, Auditoría, Historización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4. Bases de datos NoSQL: cuándo y por qué usarlas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5. Comparativa SQL vs NoSQL para casos concretos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6. Lenguajes y frameworks compatibles (ORM, ODM)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7. Ejercicio integrador avanzado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292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109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8. Cierre y retroalimentación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Mapa mental de la sesión con los 8 nodos temáticos interconectados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Repaso Rápido: Sesión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modelamiento tiene 3 niveles: Conceptual → Lógico → Físico.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ERD con notación Chen o Crow's Foot para representar entidades y relaciones.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Reglas de transformación ERD → Tablas relacionales.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Normalización: 1NF, 2NF, 3NF para garantizar integridad.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Lenguajes SQL, PL/SQL, T-SQL y PL/pgSQL son compatibles según el SGBD.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Herramientas: Oracle DM, ERwin, dbdiagram.io, MySQL Workbench.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Tarjetas resumen de conceptos clave de la sesión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Conceptos Avanzados de Modelamiento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94F37"/>
                </a:solidFill>
              </a:rPr>
              <a:t>Herencia, Agregación y Patrones de Diseño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Herencia en Bases de Datos Relacionales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modelo relacional NO soporta herencia nativamente; debemos mapearla.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ESTRATEGIA 1 – Tabla única (STI: Single Table Inheritance): Una tabla para toda la jerarquía + columna discriminadora.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ESTRATEGIA 2 – Tabla por tipo concreto: Una tabla por cada subclase; sin tabla padre compartida.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ESTRATEGIA 3 – Tabla por clase (CTI: Class Table Inheritance): Tabla padre + tabla por subclase; se unen por PK=FK.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CTI es la más flexible pero requiere JOIN para reconstruir el objeto completo.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STI es la más simple pero genera columnas NULL para atributos no aplicables.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 elección depende del volumen de datos y la frecuencia de consultas polimórficas.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comparativo de las 3 estrategias con ejemplo de VEHICULO→AUTO/MOTO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Ejemplo: Jerarquía de Empleados en una Empresa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EMPLEADO: id_empleado, nombre, email, fecha_ingreso (tabla base)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EMPLEADO_PLANTA: id_empleado FK, salario_mensual, tipo_contrato, 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EMPLEADO_TEMPORAL: id_empleado FK, empresa_temporal, tarifa_hora, agencia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EMPLEADO_DIRECTIVO: id_empleado FK, area_cargo, nivel_decisorio, bono_anual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Estrategia CTI: cada consulta a subclase hace JOIN con EMPLEADO.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SQL compatible: SELECT e.nombre, p.salario_mensual FROM EMPLEADO e JOIN EMPLEADO_PLANTA p ON e.id_empleado = p.id_empleado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ERD con tabla padre EMPLEADO y 3 tablas hijo unidas por FK=PK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Agregación en el Modelo 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Agregación: relación entre una ENTIDAD y una RELACIÓN como si la relación fuera una entidad.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Útil cuando una relación necesita participar en otra relación.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Ejemplo: CONTRATO entre EMPRESA y PROYECTO, y ese CONTRATO involucra a un SUPERVISOR.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 el modelo relacional, la relación se convierte en tabla para poder relacionarse.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No confundir con composición UML (que implica dependencia de ciclo de vida).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Las herramientas CASE modernas permiten representar agregaciones explícitamente.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ERD con agregación: CONTRATO como entidad derivada de la relación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Patrones de Diseño en Bases de Datos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Patrón de Auditoría: Trazabilidad de Cambios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Objetivo: registrar QUIÉN cambió QUÉ dato, CUÁNDO y desde QUÉ valor.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IMPLEMENTACIÓN 1 – Columnas de auditoría: created_at, updated_at, created_by, updated_by.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IMPLEMENTACIÓN 2 – Tabla de log: AUDITORIA(id, tabla, operacion, dato_anterior, dato_nuevo, usuario, fecha).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IMPLEMENTACIÓN 3 – Triggers de BD: automatizan el registro en cada DML.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Requerimiento común en sistemas financieros, de salud y gubernamentales.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tiene Oracle Audit Vault para auditoría avanzada; PostgreSQL tiene pgaudit.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Diagrama: tabla EMPLEADO con trigger → tabla AUDITORIA_EMPLEADO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Patrón de Historización (SCD Tipo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SCD: Slowly Changing Dimension – dimensiones que cambian lentamente en el tiempo.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Tipo 1 – Sobreescritura: se pierde el historial (no recomendado para análisis).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Tipo 2 – Nueva fila: cada cambio genera un nuevo registro; se mantiene el historial completo.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Columnas adicionales necesarias: fecha_inicio, fecha_fin, es_actual (boolean).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Ejemplo: precio de un producto cambia; se inserta nueva fila, la anterior se cierra.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Ampliamente usado en Data Warehouses (tablas de dimensiones en esquema estrella).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Compatible con SQL estándar; se implementa igual en Oracle, SQL Server y PostgreSQL.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Tabla antes/después de un cambio de precio con el patrón SCD Tipo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Patrón EAV (Entity-Attribute-Value) en Profundidad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Permite atributos dinámicos sin alterar el esquema de la tabla principal.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TABLAS: ENTIDAD, ATRIBUTO_DEF (nombre, tipo), ATRIBUTO_VALOR (id_entidad, id_atributo, valor).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VENTAJAS: Flexible para catálogos con atributos variables por categoría.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DESVENTAJAS: Consultas complejas (pivoting), validación de tipos difícil, rendimiento.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Alternativa moderna: columna JSONB en PostgreSQL; columna JSON en MySQL 5.7+.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 21c+ soporta JSON nativo con índices y funciones de consulta.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EAV es válido para &lt;10.000 registros; para mayor volumen prefiere JSONB o esquema fijo.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Comparación: tabla EAV vs columna JSONB con la misma consulta en cada lado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Bases de Datos NoSQL: ¿Cuándo y Por Qué?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NoSQL NO significa 'sin SQL': significa 'Not Only SQL' (estructura flexible).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TIPOS: Documental (MongoDB), Clave-Valor (Redis), Columnar (Cassandra), Grafos (Neo4j).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CUÁNDO USAR NoSQL: datos no estructurados, esquema cambiante, alta escalabilidad horizontal.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CUÁNDO NO USAR NoSQL: relaciones complejas, integridad transaccional crítica (ACID fuerte).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MongoDB usa BSON (Binary JSON); las colecciones reemplazan a las tablas.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Redis se usa principalmente como caché; los datos son volátiles por defecto.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árbol de tipos NoSQL con logo y caso de uso de cada uno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SQL vs NoSQL: Comparativa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577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612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Bases de Datos SQL (Relacionales)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Esquema rígido y bien definido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219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Relaciones con FK e integridad referencial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52344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Transacciones ACID garantizadas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82696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Lenguaje estándar: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13048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Escalado vertical (más CPU/RAM)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3434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Ideal: finanzas, ERP, CRM, sistemas transaccionales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577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5778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612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Bases de Datos NoSQL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Esquema flexible (schema-less)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219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Relaciones por embedding o referencia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52344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Consistencia eventual (BASE en lugar de ACID)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82696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APIs propias por motor (MQL, CQL, Cypher)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13048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Escalado horizontal (más nodos/shards)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▸ Ideal: Big Data, IoT, redes sociales, catálogos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Modelamiento en MongoDB: Documentos y Colecciones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 lugar de tablas: colecciones (collections) de documentos JSON.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EMBEDDING: los datos relacionados se anidan dentro del documento principal.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REFERENCING: se usa el _id del documento referenciado (similar a FK pero sin constraint).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Regla: si siempre lees A con B → embed. Si lees A sin B frecuentemente →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Un pedido con sus ítems: embedding. Un usuario con sus 1000 pedidos: referencing.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MongoDB no tiene JOIN nativo; usa $lookup en agregaciones (equivalente a LEFT JOIN).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documento PEDIDO con subdocumentos ITEMS incrustados en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Lenguajes de Consulta Compatibles por Motor de BD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Oracle: SQL + PL/SQL (procedural), APEX (aplicaciones web), REST APIs nativas.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PostgreSQL: SQL + PL/pgSQL + extensiones (PostGIS, TimescaleDB, pgvector).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MySQL/MariaDB: SQL + stored procedures, triggers; compatible con frameworks PHP.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SQL Server: T-SQL + SSRS (reportes) + Power BI nativo.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MongoDB: MQL (Mongo Query Language) + Aggregation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Cassandra: CQL (Cassandra Query Language) – similar a SQL pero sin JOINs.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Neo4j: Cypher – lenguaje declarativo para grafos; expresivo y fácil de aprender.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Tabla de compatibilidad: Motor → Lenguaje → Framework → Casos de uso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ORM y ODM: El Puente entre Código y BD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ORM (Object-Relational Mapping): Concepto y Beneficios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Un ORM mapea clases de objetos a tablas relacionales; elimina SQL manual.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desarrollador trabaja con objetos; el ORM genera el SQL internamente.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HIBERNATE (Java): el ORM más maduro; usa HQL (Hibernate Query Language).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SQLALCHEMY (Python): potente y flexible; soporta Oracle, PostgreSQL, MySQL.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SEQUELIZE (Node.js): popular para aplicaciones JavaScript con MySQL/PostgreSQL.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DJANGO ORM (Python): integrado en Django; auto-genera migraciones del esquema.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Entity Framework (C#/.NET): ORM de Microsoft para SQL Server y más.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Diagrama: Clase Empleado en Java ↔ ORM ↔ Tabla EMPLEADO en Oracle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ODM (Object-Document Mapper) y compatibilidad NoSQL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ODM hace lo mismo que un ORM pero para bases de datos documentales (MongoDB).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MONGOOSE (Node.js + MongoDB): define schemas y validaciones sobre documentos.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MONGOENGINE (Python + MongoDB): estilo declarativo similar a Django 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Spring Data MongoDB (Java): integración de Spring con MongoDB.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 elección ORM vs ODM depende del motor de BD elegido en la arquitectura.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Los ORMs modernos (SQLAlchemy, Hibernate) soportan múltiples SGBD con cambio de driver.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capas: App → ODM/ORM → Driver → SGBD con flechas bidireccionales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Sistema de Salud – EPS Colombia: Modelo con Herencia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Una EPS colombiana necesita modelar su sistema de afiliados.
JERARQUÍA IDENTIFICADA:
• AFILIADO (base): id_afiliado, tipo_afiliado, nombre, numero_documento, fecha_nacimiento
• COTIZANTE: id_afiliado FK, empresa_empleadora, NIT_empresa, salario_base, tipo_cotizacion
• BENEFICIARIO: id_afiliado FK, id_cotizante FK (quien lo afilia), parentesco, fecha_inclusion
ESTRATEGIA USADA: CTI (Class Table Inheritance)
- La tabla AFILIADO tiene los datos comunes.
- COTIZANTE y BENEFICIARIO extienden con sus propios atributos.
LENGUAJE: Oracle PL/SQL; trigger valida que cada AFILIADO tenga exactamente un tipo.
RESULTADO: 3 tablas bien estructuradas; JOIN eficiente por PK compartida.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ERD con herencia CTI y trigger de validación de tipo de afiliado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Red Social Educativa – Modelo Híbrido SQL + MongoDB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Plataforma educativa con 50.000 usuarios en Colombia.
DECISIÓN ARQUITECTÓNICA:
• DATOS ESTRUCTURADOS → PostgreSQL:
  USUARIO, CURSO, MATRICULA, CALIFICACION, PAGO
• DATOS NO ESTRUCTURADOS → MongoDB:
  Publicaciones del foro, comentarios, recursos multimedia, actividad de usuario
¿POR QUÉ HÍBRIDO?
- Las matrículas y calificaciones requieren ACID (PostgreSQL ideal).
- Los foros tienen estructura variable y alto volumen de escritura (MongoDB ideal).
COMPATIBILIDAD: La app Node.js usa Sequelize para PostgreSQL y Mongoose para MongoDB.
SINCRONIZACIÓN: El id del usuario es consistente entre ambos motores.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Diagrama de arquitectura: App → Sequelize → PostgreSQL y App → Mongoose → MongoDB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Warehouse – Retailer Colombiano: Esquema Estrella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Cadena de supermercados con 80 tiendas y 5 años de historial de ventas.
MODELO: Esquema Estrella para análisis en Business Intelligence.
TABLA DE HECHOS:
• VENTA_FACT: id_venta, id_tiempo FK, id_producto FK, id_tienda FK, id_cliente FK, cantidad, monto_total
TABLAS DE DIMENSIONES:
• DIM_TIEMPO: id_tiempo, fecha, dia, semana, mes, trimestre, año
• DIM_PRODUCTO: id_producto, nombre, categoria, marca, proveedor (SCD Tipo 2)
• DIM_TIENDA: id_tienda, nombre, ciudad, region, formato
• DIM_CLIENTE: id_cliente, segmento, frecuencia, valor_promedio
HERRAMIENTA: Oracle Analytics Cloud con modelo en Oracle Autonomous DW.
LENGUAJE: SQL con funciones analíticas (RANK, LAG, PARTITION BY).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Diagrama de estrella con VENTA_FACT en el centro y 4 dimensiones en las puntas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"/>
            <a:ext cx="9784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Aplicación IoT – Red de Sensores Ambientales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772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498079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CONTEXTO: Red de 500 sensores de calidad del aire en ciudades colombianas.
VOLUMEN: 10 lecturas/segundo por sensor = 5.000 inserciones/segundo.
MODELO SELECCIONADO: Base de datos de series de tiempo (TimescaleDB sobre PostgreSQL)
TABLAS:
• SENSOR: id_sensor, nombre, ubicacion, latitud, longitud, tipo
• LECTURA: time TIMESTAMPTZ, id_sensor FK, temperatura, humedad, co2, pm25
  (particionada automáticamente por tiempo con TimescaleDB)
CONSULTA TÍPICA:
SELECT time_bucket('1 hour', time) AS hora,
       AVG(pm25) AS promedio_pm25
FROM LECTURA WHERE id_sensor = 42
GROUP BY hora ORDER BY hora;
COMPATIBILIDAD: TimescaleDB es una extensión de PostgreSQL; SQL estándar aplica.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97280"/>
            <a:ext cx="356616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23444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Visual:
Arquitectura: sensores → MQTT → API → TimescaleDB → Grafana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Funciones SQL Avanzadas para Análisis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WINDOW FUNCTIONS: ROW_NUMBER(), RANK(), DENSE_RANK(), NTILE() – sin agrupar filas.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LAG() y LEAD(): acceden a filas anteriores/siguientes en la ventana sin subquery.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SUM() OVER (PARTITION BY … ORDER BY …): acumulados por grupo sin perder detalle.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WITH (CTE – Common Table Expression): factorizar subconsultas para legibilidad.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PIVOT / UNPIVOT: transformar filas en columnas y viceversa (T-SQL y Oracle).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Soporte en Oracle, PostgreSQL y SQL Server; MySQL lo tiene desde versión 8.0.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Ejemplo de código SQL con ROW_NUMBER() OVER PARTITION BY para ranking de ventas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Lenguajes de Modelamiento Gráfico: UML vs IDEF1X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UML (Unified Modeling Language): Diagrama de Clases para modelar BD orientado a objetos.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IDEF1X: Estándar del Departamento de Defensa de EE.UU.; más formal que ERD clásico.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ERD (Chen): académico y expresivo para cardinalidades complejas.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Crow's Foot: práctico e integrado en herramientas CASE comerciales.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DBML (Database Markup Language): declarativo, versionable con Git, genera diagrama visual.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JSON Schema: para modelar documentos MongoDB o APIs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 elección del lenguaje de modelamiento depende del equipo, las herramientas y el cliente.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Tabla comparativa: notación vs características vs herramientas que la soportan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Buenas Prácticas Avanzadas de Modelamiento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Diseña pensando en el RENDIMIENTO desde el modelo físico: columnas de alta cardinalidad merecen índices.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Prefiere claves surrogadas (id numérico) sobre claves naturales (NIT, cédula) para FK.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Versiona los scripts DDL y el modelo con Git: trata el esquema como código.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Usa migraciones automatizadas (Flyway, Liquibase) para evolucionar el esquema en producción.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Documenta las reglas de negocio directamente en el modelo como restricciones CHECK.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Para sistemas analíticos, considera el esquema estrella desde el diseño inicial.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Prueba el modelo con datos realistas antes de implementar: 10.000 filas de prueba revelan problemas.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Pipeline de buenas prácticas: Diseño → Prueba → Versión → Deploy → Monitoreo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Errores Frecuentes en Modelamiento Avanzado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4300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⚠  Errores Comunes en Modelamiento Avanzado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Usar claves naturales (cédula, NIT) como PK en tablas con alta actividad de actualización.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50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Ignorar la partición de tablas cuando se anticipan &gt; 10 millones de filas.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944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0779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Usar EAV cuando el número de atributos es bajo y conocido: introduce complejidad innecesaria.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5387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02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Implementar herencia con STI cuando las subclases tienen más del 50% de columnas propias.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13308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No indexar columnas de FK: cada JOIN sin índice en FK es un full table scan.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6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27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Asumir que NoSQL siempre es más rápido que SQL: depende del patrón de acceso.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0352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3218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85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Modelar para el estado actual sin considerar la evolución histórica del dato.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Caso Integrador: Sistema de Gestión de Proyectos TI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ESCENARIO: Consultora con 200 empleados gestiona proyectos de software para clientes.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DATOS ESTRUCTURADOS: Proyectos, clientes, contratos, facturación → SQL relacional.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DATOS NO ESTRUCTURADOS: Documentos de requisitos, comentarios, historial de cambios → MongoDB.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ANÁLISIS: Dashboard de rentabilidad por proyecto → esquema estrella en DW.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JERARQUÍA: Tipos de empleado (desarrollador, QA, PM, arquitecto) → herencia CTI.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HISTORIAL: El costo por hora del empleado cambia; necesita SCD Tipo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AUDITORÍA: Todos los cambios de estado de proyecto deben ser trazables.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arquitectura del sistema completo con todos los motores involucrados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✏  EJERCICIO PROPUESTO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Ejercicio Integrador: Sistema de Gestión de Transporte Urbano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Una empresa de buses intermunicipales necesita un sistema que gestione rutas, vehículos, conductores, pasajeros, tiquetes y la ubicación en tiempo real de los buses. El sistema debe soportar análisis histórico y reportes de ocupación.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Actividades: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5176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6700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Identificar entidades, atributos y relaciones (mínimo 7 entidades).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4612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2644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278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Aplicar herencia para modelar tipos de vehículo (bus, buseta, ejecutivo).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8587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1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Implementar SCD Tipo 2 para el historial de precios de tiquetes.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4531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165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Diseñar tabla de AUDITORIA para los cambios de estado de ruta.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0474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1091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Modelar el esquema estrella para análisis de ocupación por ruta/fecha.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623560"/>
            <a:ext cx="41148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6418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052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Justificar si usarías SQL puro, NoSQL o modelo híbrido y por qué.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Ciclo de Vida del Dato y el Modelo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CAPTURA: el dato nace en un formulario, sensor o integración externa.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ALMACENAMIENTO: el modelo define cómo y dónde se persiste el dato.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PROCESAMIENTO: SQL, PL/SQL o procedimientos transforman el dato.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ANÁLISIS: el DW y los modelos OLAP permiten análisis multidimensional.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ARCHIVADO: políticas de retención definen cuánto tiempo vive un dato.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ELIMINACIÓN: GDPR, Habeas Data Colombia obligan a garantizar el 'derecho al olvido'.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modelo debe contemplar el ciclo completo, no solo la captura y consulta.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circular del ciclo de vida del dato con flechas entre cada fase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Integración de Modelos: Microservicios y Bases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En arquitectura de microservicios: cada servicio tiene SU PROPIA base de datos.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Patrón Database per Service: evita acoplamiento entre servicios vía BD compartida.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SAGA Pattern: coordina transacciones distribuidas sin JOINs entre servicios.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Event Sourcing: el estado del sistema se reconstruye a partir de una secuencia de eventos.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CQRS (Command Query Responsibility Segregation): BD de escritura separada de la de lectura.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El modelo de datos de un microservicio es pequeño y cohesivo (no un megamodelo).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3 microservicios cada uno con su BD (PostgreSQL, MongoDB, Redis)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Herramientas de Migración y Versionado de Esquemas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FLYWAY: migraciones de BD versionadas en archivos SQL numerados (V1__, V2__).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LIQUIBASE: migraciones en XML, YAML o SQL; más flexible y multiplataforma.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Django Migrations: generación automática de migraciones desde los modelos Python.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Alembic (SQLAlchemy): migraciones de esquema para proyectos Python.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gh-ost: migraciones online para MySQL en producción sin bloqueo de tabla.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pg_migrate: alternativa para PostgreSQL con zero-downtime migrations.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La migración documentada es la historia del modelo a lo largo del tiempo.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Diagrama de pipeline CI/CD: código → Flyway → BD de prueba → BD de producción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Checklist de Cierre: Sesión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Comprendo las 3 estrategias para mapear herencia al modelo relacional.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Conozco el patrón de auditoría con triggers y el patrón SCD Tipo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Sé cuándo elegir SQL, NoSQL o un modelo híbrido.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Entiendo la diferencia entre ORM y ODM y cuándo usar cada uno.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Conozco funciones SQL avanzadas: WINDOW FUNCTIONS, CTEs, PIVOT.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Comprendo el esquema estrella para Data Warehouses.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5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☐ Entiendo por qué versionar el esquema de BD como si fuera código.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Checklist visual con íconos de check por cada ítem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Preguntas de Reflexión: Sesión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¿Cuándo es mejor usar STI vs CTI para modelar herencia? ¿Qué criterios aplicas?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Si un cliente te pide 'usar MongoDB porque es más moderno', ¿cómo evalúas la decisión?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¿Cómo afecta el patrón CQRS al modelamiento de datos en una arquitectura de microservicios?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39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1635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¿Por qué es peligroso usar claves naturales (NIT, número de cédula) como PK de relaciones?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1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¿Qué diferencia hay entre el modelamiento para un sistema OLTP vs un sistema OLAP?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91440" cy="34747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¿Cómo garantizarías el derecho al olvido (GDPR / Habeas Data) en un modelo relacional?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97280"/>
            <a:ext cx="338328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34440"/>
            <a:ext cx="32004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Visual:
Nube de palabras con términos avanzados de la sesión 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17  |  Mg. Burbano Mena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SESIÓN 17 COMPLETADA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</a:rPr>
              <a:t>"Un buen modelo de datos no solo almacena información;
cuenta la historia del negocio con precisión y claridad."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9418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749039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Próxima Sesión 18: Herramientas CASE con Oracle Database 12C
Evolución, beneficios, repositorio y estructura.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0350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Mg. Sergio Alejandro Burbano Mena | Universitaria de Colombia | Lenguajes de Última Generación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