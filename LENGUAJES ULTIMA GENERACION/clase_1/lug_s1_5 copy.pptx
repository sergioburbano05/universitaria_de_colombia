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Presentación e Introducción al Módulo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Sistémico, plataforma Moodle y acuerdos académicos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Última Generación • 3.er Semestre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la Sesión 1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el perfil del docente y la dinámica del módulo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Navegar con fluidez la plataforma Moodle y sus recursos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los protocolos, el syllabus y los acuerdos académicos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Contextualizar históricamente el Pensamiento Sistémico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Relacionar el Pensamiento Sistémico con las bases de datos modernas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estudiaremos? — Mapa del módulo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51206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(S1–S9): Fundamentos de bases de datos relacionales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Conceptos, modelado ER, normalización, SQL estándar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(S10–S13): SGBD, POO y herramientas 4GL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Oracle, generadores de menús/consultas/aplicaciones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(S14–S17): Lenguajes de última generación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5GL, IA, lenguajes declarativos y compatibilidad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(S18–S20): Herramientas CASE y evaluación final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12C, repositorios, generación de código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0" y="932688"/>
            <a:ext cx="3200400" cy="3977640"/>
          </a:xfrm>
          <a:prstGeom prst="rect">
            <a:avLst/>
          </a:prstGeom>
          <a:solidFill>
            <a:srgbClr val="1B1F3A"/>
          </a:solidFill>
          <a:ln w="12700">
            <a:solidFill>
              <a:srgbClr val="1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0" y="10241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¿Por qué importa?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0" y="146304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BD son el núcleo de toda aplicación empresarial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92% de empresas Fortune 500 usan Oracle o SQL Server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dominio de SQL es la habilidad #1 pedida en ofertas de TI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Plataforma Moodle — Guía de Navegación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y configuración del perfil: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institucional → usuario y contraseña provista por la universidad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perfil: foto, ciudad, idioma preferido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curso en Moodle: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de Recursos: syllabus, PPTs, videos, lecturas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de Actividades: talleres, foros, quizzes, tareas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Foro de Novedades: anuncios del docente — ACTIVAR notificaciones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Calendario: fechas de entrega y parciales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Netiqueta y participación en foros: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con fundamento técnico, lenguaje formal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mínimo de participación: 48 horas antes del cierre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Protocolos y Acuerdos del Módulo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 1 (S1-S9): 30% | Parcial 2 (S10-S17): 30% | Final (S18-S20): 40%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Talleres y participación: componente formativo con peso en nota final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entrega: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Trabajos en Moodle antes de la hora límite — no se aceptan por correo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tardía: descuento del 20% por día hábil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académica: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Plagio → calificación de 0 y reporte al comité disciplinario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uso de IA (ChatGPT, etc.) debe declararse y el análisis debe ser propio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a través de Moodle — respuesta en máx. 48 horas hábiles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Reseña Histórica del Pensamiento Sistémico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Orígenes (1940-1950s):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Ludwig von Bertalanffy — Teoría General de Sistemas (1945)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Norbert Wiener — Cibernética: control y comunicación en sistemas (1948)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 (1960-1980s):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 Forrester — Dinámica de sistemas aplicada a empresas (1961)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Senge — La Quinta Disciplina: aprendizaje organizacional (1990)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digital (1990-presente):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Pensamiento Sistémico se traslada a redes, bases de datos e IoT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SGBD es un SISTEMA: entidades, relaciones, flujos de datos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directa con este módulo: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una BD es pensar sistémicamente: entidades, atributos, relaciones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Generaciones de Lenguajes de Programación — Contexto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4114800" cy="3977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Generaciones 1-3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1GL: Lenguaje máquina (binario 0/1)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2GL: Ensamblador — mnemonics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3GL: Lenguajes procedurales — C, Java, Python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legible por humanos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programador DEFINE CÓMO resolver el problema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32688"/>
            <a:ext cx="4206240" cy="3977640"/>
          </a:xfrm>
          <a:prstGeom prst="rect">
            <a:avLst/>
          </a:prstGeom>
          <a:solidFill>
            <a:srgbClr val="1B1F3A"/>
          </a:solidFill>
          <a:ln w="12700">
            <a:solidFill>
              <a:srgbClr val="1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9875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Generaciones 4 y 5 (nuestro foco)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4GL: Lenguajes de cuarta generación — SQL, ABAP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DECLARA QUÉ se quiere, no cómo obtenerlo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5GL/Última generación: lenguajes basados en restricciones e IA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INFIERE la solución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Prolog, Mercury, sistemas expertos modernos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el Pensamiento Sistémico aplicado a BD?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= conjunto de elementos interconectados con un propósito común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base de datos ES un sistema porque tiene: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(elementos): Clientes, Productos, Pedidos, Empleados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(conexiones): un Cliente REALIZA muchos Pedidos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Flujos: datos que entran, se procesan y generan información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Retroalimentación: actualizaciones que modifican el estado del sistema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sistémico en el diseño de BD: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el PROBLEMA completo antes de diseñar tablas individuales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cómo los cambios en una tabla afectan a otras (cascadas)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la organización como sistema antes de modelar sus datos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Caso: El Pensamiento Sistémico en Amazon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00584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Amazon diseñó su sistema de datos para escalar a billones de transacciones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diseñó su base de datos pensando sistémicamente desde 1995: entidades (Usuarios, Productos, Pedidos, Reseñas) y sus relaciones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Aplicó normalización y luego denormalizó estratégicamente para rendimiento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recomendaciones ('los clientes también compraron') emerge de relaciones entre Usuarios, Productos y Pedidos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(Amazon Web Services) nació de la infraestructura de BD que Amazon construyó para sí misma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200+ millones de usuarios activos — imposible sin diseño sistémico desde el inicio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Amazon Revenue 2023: $575B — construido sobre un sistema de datos con pensamiento sistémico desde el día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35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1498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 importante el Pensamiento Sistémico para diseñar bases de datos?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3794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diferencia hay entre un lenguaje de tercera y cuarta generación en términos prácticos?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6090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afecta el diseño de la BD de una empresa su capacidad de crecimiento futuro?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48386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expectativas tienes del módulo y qué aplicación ves en tu perfil profesional?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Conclusiones de la Sesión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Moodle: plataforma central — activar notificaciones y explorar estructura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Sistémico: ver el todo antes de diseñar las partes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Generaciones de lenguajes: de 1GL (máquina) a 5GL (IA/restricciones)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BD son sistemas: entidades, relaciones, flujos, retroalimentación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Evaluación: 30% P1 + 30% P2 + 40% Final — talleres formativos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Amazon: caso real de pensamiento sistémico escalado a billones de usuarios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Definiciones y Conceptos Fundamentales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Terminología esencial de bases de datos — la base de todo lo que sigue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Última Generación • 3.er Semestre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la Sesión 2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con precisión los términos fundamentales de bases de datos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entre datos, información y conocimiento en el contexto TI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los tipos de bases de datos según su modelo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los componentes de un SGBD (Sistema Gestor de BD)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el taller de conceptos básicos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Datos → Información → Conocimiento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51206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Dato: hecho crudo sin contexto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'47239', '2024-03-15', 'MED'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Información: datos con contexto y significado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'El pedido #47239 del 15-marzo-2024 fue a Medellín'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Conocimiento: información procesada para tomar decisiones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'Los pedidos a Medellín aumentan 40% en marzo — aumentar stock'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Datos: colección organizada de datos relacionados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Propósito: almacenar, recuperar, actualizar y eliminar datos eficientemente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BD transforma datos en información → y la información en ventaja competitiva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0" y="932688"/>
            <a:ext cx="3200400" cy="3977640"/>
          </a:xfrm>
          <a:prstGeom prst="rect">
            <a:avLst/>
          </a:prstGeom>
          <a:solidFill>
            <a:srgbClr val="1B1F3A"/>
          </a:solidFill>
          <a:ln w="12700">
            <a:solidFill>
              <a:srgbClr val="1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0" y="10241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Jerarquía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0" y="146304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SABIDURÍA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Conocimiento aplicado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Conocimiento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Información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Datos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Hechos crudos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Componentes de un Sistema de Base de Datos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Hardware: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Servidores, discos de almacenamiento, memoria RAM, red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Software — el SGBD (Sistema Gestor de BD):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que gestiona el acceso, almacenamiento y seguridad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Oracle, MySQL, PostgreSQL, SQL Server, SQLite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almacenados (operacionales) y metadatos (datos sobre datos)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Usuarios: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(Administrador), Programadores, Usuarios finales, Analistas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Procedimientos: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Normas, reglas de negocio, políticas de respaldo y seguridad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Bases de Datos — Panorama Completo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modelo de datos: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 (tablas) — MySQL, Oracle, PostgreSQL → NUESTRO FOCO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Documental (JSON/BSON) — MongoDB, CouchDB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Clave-Valor — Redis, DynamoDB (alta velocidad)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Grafos — Neo4j (redes sociales, rutas)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— Cassandra, BigTable (Big Data)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ubicación: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Centralizada vs Distribuida vs Replicada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acceso: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(transaccional) vs OLAP (analítica/BI)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Conceptos Clave de una Tabla Relacional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(Relación): estructura bidimensional de filas y columnas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llamada: entidad, clase, objeto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(Tupla / Registro): una instancia específica de la entidad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la fila del cliente Carlos Pérez, CC 12345678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 (Atributo / Campo): característica de la entidad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Nombre, Apellido, Teléfono, FechaNacimiento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Dominio: conjunto de valores válidos para un atributo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de 'Género': {'M', 'F', 'No especificado'}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Celda: intersección de fila y columna — valor específico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Esquema: descripción de la estructura de la BD (sin datos)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Instancia: los datos actuales en la BD en un momento dado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SGBD — Funciones y Clasificación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4114800" cy="3977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Funciones del SGBD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datos (DDL): CREATE, ALTER, DROP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Manipulación de datos (DML): INSERT, UPDATE, DELETE, SELECT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(DCL): GRANT, REVOKE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transacciones: BEGIN, COMMIT, ROLLBACK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ante fallos (logs, backups)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concurrencia (múltiples usuarios simultáneos)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32688"/>
            <a:ext cx="4206240" cy="3977640"/>
          </a:xfrm>
          <a:prstGeom prst="rect">
            <a:avLst/>
          </a:prstGeom>
          <a:solidFill>
            <a:srgbClr val="1B1F3A"/>
          </a:solidFill>
          <a:ln w="12700">
            <a:solidFill>
              <a:srgbClr val="1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9875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🗂️ Principales SGBD del mercado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Database: enterprise, alta disponibilidad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MySQL: web, open source, LAMP stack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PostgreSQL: avanzado, open source, cumplimiento SQL estricto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(Microsoft): integración con .NET y Azure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SQLite: embebido, apps móviles, sin servidor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MongoDB: NoSQL documental, startups y apps modernas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Ventajas de un SGBD sobre Archivos Planos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Redundancia controlada: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dato se almacena UNA VEZ — sin duplicados inconsistentes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garantizan que los datos sean correctos y consistentes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por usuario, rol y operación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de datos: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la estructura NO requiere reescribir las aplicaciones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concurrente: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usuarios simultáneos con bloqueos y transacciones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y backups automáticos — recuperar ante fallos de hardware/software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Caso: Colombia y el Sistema de Salud SISPRO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MinSalud Colombia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00584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Colombia gestiona los datos de salud de 50 millones de personas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SISPRO (Sistema Integral de Información de Protección Social) usa Oracle Database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datos de 50+ millones de afiliados al sistema de salud colombiano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SGBD: archivos en papel y hojas de cálculo → duplicados, errores, fraude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SGBD: detección de afiliaciones dobles, cruce con SISBEN, estadísticas epidemiológicas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2020 (COVID-19): el sistema procesó millones de datos de vacunación en tiempo real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correcto de la BD determinó la velocidad de respuesta del Estado ante la pandemia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Reducción del 35% en fraude de afiliaciones y gestión en tiempo real de 50M registros durante COVID-19 — gracias a un SGBD bien diseñado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D35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1498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diferencia fundamental entre dato e información? Da un ejemplo de tu carrera.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3794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una empresa como Amazon no podría funcionar con archivos de Excel en vez de un SGBD?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6090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tipo de base de datos usarías para una red social? ¿Por qué no solo una relacional?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48386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riesgos enfrenta una empresa que almacena datos críticos sin las garantías de un SGBD?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Conclusiones de la Sesión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→ Información → Conocimiento: jerarquía fundamental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= colección organizada; SGBD = software que la gestiona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componentes: hardware, software, datos, usuarios, procedimientos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Tipos: relacional, documental, clave-valor, grafos, columnar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SGBD: redundancia, integridad, seguridad, concurrencia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SISPRO Colombia: 50M registros de salud — caso real de impacto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de Base de Datos Relacional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Estructura, objetivos y fundamentos matemáticos del modelo relacional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Última Generación • 3.er Semestre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la Sesión 3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los fundamentos matemáticos del modelo relacional (álgebra relacional)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la estructura del modelo relacional: relaciones, tuplas, dominios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Enunciar los 12 Reglas de Codd para un SGBD relacional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el modelo relacional de otros modelos de datos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los conceptos a un esquema relacional simple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Modelo Relacional — Edgar F. Codd (1970)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Origen: IBM Research Lab, 1970 — artículo seminal de E. F. Codd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Relational Model of Data for Large Shared Data Banks"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Propuso representar datos como relaciones matemáticas (tablas)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matemática: Álgebra Relacional y Cálculo Relacional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relacional: operaciones sobre conjuntos (SELECT, PROJECT, JOIN, UNION)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relacional: especificar QUÉ se quiere, no CÓMO obtenerlo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Revolución que generó: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física: los datos son independientes del almacenamiento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 lógica: cambiar la estructura no afecta las consultas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como implementación estándar del álgebra relacional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Estructura Formal del Modelo Relacional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(Tabla): R(A1, A2, ..., An)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nombre de la relación | A1..An: atributos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CLIENTE(id_cliente, nombre, apellido, email, telefono)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de una relación: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tuplas duplicadas (cada fila es única)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orden de filas ni de columnas (a nivel formal)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atributo tiene un dominio (tipo de datos válidos)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atómicos: cada celda contiene UN solo valor (1FN)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vs Instancia: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Esquema: CLIENTE(id, nombre, email) — definición estática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Instancia: los datos actuales — cambia con INSERT/UPDATE/DELETE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12 Reglas de Codd (resumen ejecutivo)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1 — Representación de información: toda info en tablas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2 — Acceso garantizado: PK identifica cada tupla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3 — Tratamiento sistemático de nulos: NULL ≠ 0 ≠ vacío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4 — Catálogo online activo: metadatos accesibles con SQL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6 — Actualización de vistas: vistas actualizables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8 — Independencia física de datos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9 — Independencia lógica de datos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10 — Independencia de integridad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12 — No subversión: no saltarse las reglas del SGBD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SGBD actual cumple las 12 reglas al 100% — son un ideal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Relacional vs Otros Modelos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4114800" cy="3977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Modelo Relacional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 (1970): tablas con filas y columnas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como lenguaje estándar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referencial garantizada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ACID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datos estructurados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 en aplicaciones empresariales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Oracle, MySQL, PostgreSQL, SQL Server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32688"/>
            <a:ext cx="4206240" cy="397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9875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5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📜 Otros modelos históricos y modernos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Jerárquico (1960): árbol, padre-hijos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 Red (1969): grafo, múltiples padres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Orientado a Objetos: clases y herencia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Documental: JSON/BSON, flexible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Grafos: nodos y aristas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Clave-Valor: diccionario en memoria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NoSQL: para Big Data, alta escalabilidad horizontal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Álgebra Relacional — Operaciones Fundamentales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unarias (sobre una tabla):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Selección (WHERE): σ_condición(R) — filtra filas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Proyección (SELECT cols): π_atributos(R) — selecciona columnas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Renombramiento: ρ_nuevo_nombre(R)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binarias (entre dos tablas):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⋈ JOIN natural: combina tablas por atributos comunes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Producto cartesiano: todas las combinaciones posibles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∪ Unión, ∩ Intersección, − Diferencia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π_nombre,email(σ_ciudad='Bogotá'(CLIENTE)) ⋈ PEDIDO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nombres y emails de clientes de Bogotá con sus pedidos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Propiedades ACID — El Corazón del Modelo Relacional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Atomicidad: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transacción se ejecuta COMPLETA o NO se ejecuta. Sin medias tintas.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transferencia bancaria — debitar Y acreditar, no solo una de las 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Consistencia: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BD pasa de un estado válido a otro estado válido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restricciones de integridad siempre se mantienen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Aislamiento: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transacciones concurrentes no interfieren entre sí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Durabilidad: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COMMIT es permanente — persiste ante fallos del sistema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es la razón por la que los bancos usan BD relacionales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Caso: Bancolombia y ACID en Transacciones Bancarias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Bancolombia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00584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pasaría si las transacciones bancarias no fueran ACID?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Bancolombia procesa millones de transacciones diarias en Oracle Database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Atomicidad: una transferencia podría debitar pero no acreditar → dinero perdido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Consistencia: un saldo podría quedar negativo sin autorización de crédito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Aislamiento: dos usuarios retirando al mismo tiempo podrían llevarse el mismo dinero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Durabilidad: un corte de luz haría perder transacciones confirmadas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propiedades ACID son obligatorias por regulación bancaria (Superfinanciera Colombia)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ACID no es un lujo — es un requisito legal y ético para manejar dinero de terceros. Por eso Oracle/PostgreSQL dominan en banca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D35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1498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Codd basó el modelo relacional en matemáticas (álgebra de conjuntos)?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3794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consecuencia tendría para un banco que su SGBD no cumpliera la propiedad de Durabilidad?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6090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SQL es un lenguaje declarativo (4GL) y no procedural (3GL)?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48386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elegiría un modelo NoSQL sobre un modelo relacional? ¿Y cuándo al revés?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Conclusiones de la Sesión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Codd 1970: bases matemáticas del modelo relacional — tablas y álgebra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= tabla; Tupla = fila; Atributo = columna; Dominio = tipo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Reglas de Codd: guían la pureza del modelo relacional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relacional: σ (selección), π (proyección), ⋈ (join)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ACID: Atomicidad, Consistencia, Aislamiento, Durabilidad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bancos exigen ACID — por eso Oracle/SQL Server dominan ese sector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Conceptos y Características del Modelo Relacional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Esquemas, claves e introducción a los lenguajes de consulta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Última Generación • 3.er Semestre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la Sesión 4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y distinguir los tipos de claves: PK, FK, CK, SK, AK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esquemas relacionales con integridad referencial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la clasificación de lenguajes de consulta (DDL, DML, DCL, TCL)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sentencias SQL básicas para crear tablas y definir claves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restricciones de integridad en un diseño de BD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Claves en el Modelo Relacional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Clave (SK): cualquier conjunto de atributos que identifica una fila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{id_cliente}, {email}, {id_cliente, nombre} — todas son SK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Candidata (CK): super clave mínima — no se puede reducir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{id_cliente} y {email} son CK de la tabla CLIENTE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Primaria (PK): la CK elegida para identificar la tabla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UNA por tabla | No acepta NULL | Generalmente el ID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Alterna (AK): candidatas no elegidas como PK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email si id_cliente es la PK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Foránea (FK): atributo que referencia la PK de otra tabla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la integridad referencial entre tablas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PEDIDO.id_cliente → CLIENTE.id_cliente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Integridad Referencial — La Columna Vertebral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entidad: ningún valor de PK puede ser NULL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cliente sin ID no existe en la BD — siempre debe identificarse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referencial: cada FK debe apuntar a una PK existente o ser NULL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 existir un Pedido con un id_cliente que no exista en CLIENTE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Comportamientos ante DELETE/UPDATE de la referencia: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CASCADE: propaga el cambio a las filas dependientes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NULL: establece NULL en las FK dependientes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RESTRICT/NO ACTION: bloquea la operación si hay dependencias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DEFAULT: establece el valor por defecto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SQL: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(id_cliente) REFERENCES CLIENTE(id_cliente) ON DELETE CASCADE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Clasificación de Lenguajes SQL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— Data Definition Language (define la estructura):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TABLE, ALTER TABLE, DROP TABLE, CREATE INDEX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— Data Manipulation Language (manipula los datos):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INTO, UPDATE, DELETE FROM, SELECT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 — Data Control Language (controla el acceso):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(otorgar permisos), REVOKE (revocar permisos)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— Transaction Control Language (gestiona transacciones):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TRANSACTION, COMMIT, ROLLBACK, SAVEPOINT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DQL — Data Query Language (consulta — parte de DML):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con WHERE, GROUP BY, HAVING, ORDER BY, JOIN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Esquemas SQL — CREATE TABLE en la Práctica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básica: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CLIENTE (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id_cliente   INT          PRIMARY KEY,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nombre       VARCHAR(100) NOT NULL,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email        VARCHAR(150) UNIQUE NOT NULL,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telefono     VARCHAR(15),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fecha_reg    DATE         DEFAULT CURRENT_DATE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inline: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NULL: el valor es obligatorio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UNIQUE: no puede repetirse (pero puede ser NULL)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valor por defecto si no se especifica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restricción de dominio — CHECK(edad &gt;= 18)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Datos SQL — Los más importantes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4114800" cy="3977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🔢 Numéricos y texto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/ INTEGER: enteros (id, cantidad, edad)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BIGINT: enteros grandes (millones de registros)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DECIMAL(p,s): precisión fija — dinero, porcentajes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FLOAT/REAL: punto flotante — cálculos científicos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VARCHAR(n): texto variable hasta n caracteres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CHAR(n): texto fijo n caracteres (códigos, siglas)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32688"/>
            <a:ext cx="4206240" cy="397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9875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5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📅 Temporales y especiales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fecha (YYYY-MM-DD)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hora (HH:MM:SS)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DATETIME/TIMESTAMP: fecha y hora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BOOLEAN: TRUE/FALSE (o 1/0)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TEXT/CLOB: textos largos (descripciones, notas)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BLOB: datos binarios (imágenes, archivos)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NULL: valor desconocido o no aplicable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Restricciones de Integridad — Implementación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completo con FK y restricciones: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PEDIDO (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id_pedido   INT       PRIMARY KEY,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id_cliente  INT       NOT NULL,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fecha       DATE      NOT NULL DEFAULT CURRENT_DATE,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total       DECIMAL(10,2) CHECK(total &gt; 0),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estado      VARCHAR(20)   DEFAULT 'Pendiente',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FOREIGN KEY (id_cliente) REFERENCES CLIENTE(id_cliente)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ON DELETE CASCADE ON UPDATE CASCADE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imposible crear un Pedido para un cliente inexistente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elimina el cliente → sus pedidos se eliminan automáticamente (CASCADE)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Caso: Catálogo de Netflix — Claves e Integridad Referencial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Netflix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00584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Netflix organiza 15,000+ títulos con integridad relacional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usa una BD relacional (MySQL/PostgreSQL) para su catálogo global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principales: TITULO(id, nombre, año, tipo), GENERO, PAIS, ACTOR, TITULO_ACTOR, TITULO_GENERO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FK TITULO_ACTOR.id_titulo → TITULO.id_titulo previene actores sin película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FK TITULO_GENERO garantiza que no existan géneros huérfanos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eliminan un título: CASCADE elimina sus relaciones con actores y géneros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integridad referencial: búsquedas por género mostrarían resultados rotos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La integridad referencial garantiza que las 15,000+ búsquedas por género, actor y país siempre retornen resultados consistentes para 238M suscriptores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D35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1498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una tabla puede tener varias Claves Candidatas pero solo una Clave Primaria?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3794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consecuencias tiene no implementar integridad referencial en un sistema de facturación?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6090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usarías ON DELETE CASCADE vs ON DELETE RESTRICT? Da un ejemplo real.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48386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SQL se considera un lenguaje de 4ª generación (declarativo) y no de 3ª?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Conclusiones de la Sesión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Claves: SK → CK → PK (elegida) + AK (alternates) + FK (referencia)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identifica únicamente, no NULL; FK: garantiza integridad referencial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(CREATE/ALTER/DROP) + DML (INSERT/UPDATE/DELETE/SELECT)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 (GRANT/REVOKE) + TCL (COMMIT/ROLLBACK)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con: NOT NULL, UNIQUE, DEFAULT, CHECK, FOREIGN KEY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Netflix: integridad referencial para 15,000 títulos y 238M suscriptores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Modelamiento de Bases de Datos 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Conceptual, elementos, atributos y relaciones entre tablas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Última Generación • 3.er Semestre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de la Sesión 5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esta sesión el estudiante podrá: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los tres niveles de diseño: conceptual, lógico y físico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entidades, atributos y relaciones en un problema real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los tipos de atributos: simples, compuestos, derivados, multivalorados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modelo conceptual básico para un caso de negocio dado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el taller de modelamiento conceptual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5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Tres Niveles de Diseño de una BD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Conceptual (¿Qué?): independiente del SGBD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 Diagrama Entidad-Relación (DER) — Chen o Crow's Foot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el 'mundo real' — entidades, atributos, relaciones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entienden: analistas, clientes, diseñadores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Lógico (¿Cómo en tablas?): independiente del hardware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el DER en tablas, columnas y restricciones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 Modelo Relacional — diagrama de tablas con PKs y FKs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entienden: DBA, programadores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Físico (¿Dónde y cómo se guarda?): específico del SGBD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Archivos, índices, particiones, tablespaces en Oracle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entiende: el DBA administrador del servidor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5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Entidad — El Sujeto del Modelo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Definición: objeto del mundo real sobre el que guardamos información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existencia propia e independiente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entidades: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 (independiente): CLIENTE, PRODUCTO, EMPLEADO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tiene su propia PK, no depende de otra entidad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Débil (dependiente): ÍTEM_PEDIDO, DETALLES_FACTURA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su identificación depende de la entidad fuerte padre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identificar entidades?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los SUSTANTIVOS relevantes en la descripción del negocio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¿necesitamos guardar múltiples instancias de este objeto?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'La empresa vende productos a clientes que realizan pedidos'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Entidades: EMPRESA, PRODUCTO, CLIENTE, PEDIDO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5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Atributos — Las Características de la Entidad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(atómico): no se puede dividir más — nombre, precio, email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Compuesto: tiene sub-partes — Dirección = Calle + Ciudad + Depto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BD relacional: generalmente se descompone en columnas separadas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Derivado: se calcula a partir de otros datos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(se calcula de FechaNacimiento), Total (Cantidad × Precio)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Generalmente NO se almacena — se calcula en la consulta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Multivalorado: puede tener múltiples valores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Teléfonos de un cliente — requiere tabla separada (relación 1:N)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Clave: identifica unívocamente la instancia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DER se subraya: id_cliente, codigo_producto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 (NULL-able): puede no tener valor — teléfono, segundo_apellido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5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Relaciones entre Entidades — El 'Verbo' del Modelo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Definición: asociación entre dos o más entidades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representa con un rombo en el modelo Chen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relaciones por cardinalidad: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— un EMPLEADO tiene un CONTRATO (exclusivo)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— un CLIENTE realiza muchos PEDIDOS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 — un ESTUDIANTE cursa muchas MATERIAS (y viceversa)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de la relación: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Binaria (entre 2 entidades) — la más común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Unaria/Recursiva: EMPLEADO supervisa a EMPLEADO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Ternaria: MÉDICO prescribe MEDICAMENTO a PACIENTE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(doble línea): toda instancia DEBE participar — obligatoria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 (línea simple): la instancia PUEDE participar — opcional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5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Notaciones de Modelado — Chen vs Crow's Foot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4114800" cy="3977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Notación Chen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Creada por Peter Chen (1976)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Entidades: rectángulos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Atributos: elipses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Relaciones: rombos con verbo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Cardinalidad: 1, M, N sobre las líneas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explicita todos los atributos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modelos conceptuales académicos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draw.io, Lucidchart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32688"/>
            <a:ext cx="4206240" cy="397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9875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5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🐦 Crow's Foot / IE Notation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Notación más moderna para modelos lógicos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Entidades: rectángulos con columnas listadas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 elipses ni rombos separados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Cardinalidad: símbolos de pata de cuervo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línea = uno | Pata = muchos | Círculo = cero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Ventaja: compacta, fácil de leer para devs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modelos lógicos y documentación técnica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MySQL Workbench, DBeaver, ERwin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5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Taller: Construyendo el Modelo Conceptual de una Librería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2743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5039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una librería online vende libros a clientes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realizan pedidos que contienen uno o más libros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libro tiene uno o más autores y pertenece a una categoría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— Identificar entidades: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CLIENTE, PEDIDO, LIBRO, AUTOR, CATEGORIA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— Definir atributos de CLIENTE: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id_cliente (PK), nombre, apellido, email, dirección (compuesto), fecha_registro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— Identificar relaciones: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(1) REALIZA (N) PEDIDO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(M) CONTIENE (N) LIBRO — relación M:N → tabla intermedia ITEM_PEDIDO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(M) ESCRITO_POR (N) AUTOR — tabla intermedia LIBRO_AUTOR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(N) PERTENECE_A (1) CATEGORIA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5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CASO PRÁCTICO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8404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Caso: Rappi y su Modelo Conceptual de Datos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Rappi Colombia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00584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Rappi modeló su sistema para 5 tipos de tiendas y millones de pedidos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8595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Rappi tiene 5+ tipos de tiendas: restaurantes, supermercados, farmacias, tiendas de ropa, etc.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conceptual: USUARIO, PEDIDO, TIENDA, PRODUCTO, REPARTIDOR, PAGO, CIUDAD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ternaria: REPARTIDOR entrega PEDIDO en CIUDAD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derivado: tiempo_estimado_entrega (calculado de distancia y tráfico)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conceptual correcto permitió escalar de Colombia a 9 países en 3 años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error de modelado habría requerido rediseñar toda la BD al expandir a un nuevo país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7315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Rappi valuada en $5.25B (2021) — el diseño conceptual correcto desde el día 1 permitió escalar a 9 países sin rediseñar la arquitectura de datos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5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D35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Preguntas de Reflexión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1498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un atributo multivalorado (teléfonos de un cliente) requiere una tabla separada?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3794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usarías un atributo derivado y cuándo lo almacenarías físicamente en la BD?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66090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diferencia hay entre una relación 1:N y M:N a nivel de implementación en tablas?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48386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afecta elegir entre participación total y parcial al diseño de las restricciones NOT NULL?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5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Conclusiones de la Sesión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niveles: conceptual (DER) → lógico (tablas) → físico (archivos)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3327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 fuerte (independiente) vs débil (depende de otra)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Atributos: simple, compuesto, derivado, multivalorado, clave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1945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26771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Relaciones: 1:1, 1:N, M:N — con cardinalidad y participación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Chen: rombos y elipses | Crow's Foot: compacto para devs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9000"/>
            <a:ext cx="4297680" cy="1051560"/>
          </a:xfrm>
          <a:prstGeom prst="rect">
            <a:avLst/>
          </a:prstGeom>
          <a:solidFill>
            <a:srgbClr val="2D3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2900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02152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Rappi: modelo conceptual correcto = escala a 9 países sin rediseño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9011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5 • Lenguajes de Última Generación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Lenguajes de Última Generación — S1 a S5</dc:title>
  <dc:subject>PptxGenJS Presentation</dc:subject>
  <dc:creator>PptxGenJS</dc:creator>
  <cp:lastModifiedBy>PptxGenJS</cp:lastModifiedBy>
  <cp:revision>1</cp:revision>
  <dcterms:created xsi:type="dcterms:W3CDTF">2026-04-05T19:31:31Z</dcterms:created>
  <dcterms:modified xsi:type="dcterms:W3CDTF">2026-04-05T19:31:31Z</dcterms:modified>
</cp:coreProperties>
</file>